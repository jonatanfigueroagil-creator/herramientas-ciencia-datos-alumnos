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82" r:id="rId23"/>
    <p:sldId id="258" r:id="rId10"/>
    <p:sldId id="259" r:id="rId11"/>
    <p:sldId id="288" r:id="rId29"/>
    <p:sldId id="283" r:id="rId24"/>
    <p:sldId id="260" r:id="rId12"/>
    <p:sldId id="286" r:id="rId27"/>
    <p:sldId id="284" r:id="rId25"/>
    <p:sldId id="261" r:id="rId13"/>
    <p:sldId id="262" r:id="rId14"/>
    <p:sldId id="263" r:id="rId15"/>
    <p:sldId id="285" r:id="rId26"/>
    <p:sldId id="268" r:id="rId20"/>
    <p:sldId id="269" r:id="rId21"/>
    <p:sldId id="287" r:id="rId28"/>
    <p:sldId id="264" r:id="rId16"/>
    <p:sldId id="265" r:id="rId17"/>
    <p:sldId id="266" r:id="rId18"/>
    <p:sldId id="267" r:id="rId19"/>
    <p:sldId id="281" r:id="rId33"/>
  </p:sldIdLst>
  <p:sldSz cx="12192000" cy="68580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8.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8.xml"/><Relationship Id="rId17" Type="http://schemas.openxmlformats.org/officeDocument/2006/relationships/slide" Target="slides/slide19.xml"/><Relationship Id="rId18" Type="http://schemas.openxmlformats.org/officeDocument/2006/relationships/slide" Target="slides/slide20.xml"/><Relationship Id="rId19" Type="http://schemas.openxmlformats.org/officeDocument/2006/relationships/slide" Target="slides/slide21.xml"/><Relationship Id="rId20" Type="http://schemas.openxmlformats.org/officeDocument/2006/relationships/slide" Target="slides/slide15.xml"/><Relationship Id="rId21" Type="http://schemas.openxmlformats.org/officeDocument/2006/relationships/slide" Target="slides/slide16.xml"/><Relationship Id="rId23" Type="http://schemas.openxmlformats.org/officeDocument/2006/relationships/slide" Target="slides/slide3.xml"/><Relationship Id="rId24" Type="http://schemas.openxmlformats.org/officeDocument/2006/relationships/slide" Target="slides/slide7.xml"/><Relationship Id="rId25" Type="http://schemas.openxmlformats.org/officeDocument/2006/relationships/slide" Target="slides/slide10.xml"/><Relationship Id="rId26" Type="http://schemas.openxmlformats.org/officeDocument/2006/relationships/slide" Target="slides/slide14.xml"/><Relationship Id="rId27" Type="http://schemas.openxmlformats.org/officeDocument/2006/relationships/slide" Target="slides/slide9.xml"/><Relationship Id="rId28" Type="http://schemas.openxmlformats.org/officeDocument/2006/relationships/slide" Target="slides/slide17.xml"/><Relationship Id="rId29" Type="http://schemas.openxmlformats.org/officeDocument/2006/relationships/slide" Target="slides/slide6.xml"/><Relationship Id="rId33"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Abrir la sesión 4. Retomar en una frase la S03 (una sola X, una recta que cuantifica un efecto) y enunciar la promesa: hoy el precio de una vivienda depende de VARIOS factores a la vez —tamaño, calidad, garaje, sótano, año— y se aprende a aislar el efecto de cada uno, a diagnosticar los supuestos y a elegir el modelo que mejor predecirá mañana. El método del deck: cada cifra se muestra contra su fuente y se lee del Excel de resultados. El botón «Abrir en Colab» lleva al cuaderno de la sesión. El OLS simple de S03 se asume cubierto. [Jueves]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Presentar el recorrido tal como avanza el deck: CUATRO actos, los mismos cuatro divisores granates que se verán en pantalla. (1) UN FACTOR NO BASTA (min 4-21): de una a varias X —el coeficiente parcial, ceteris paribus— y la multicolinealidad medida con el VIF, el diagnóstico estrella de la sesión. (2) EL CASO AMES (min 21-33): el dataset que reemplazó a Boston, la réplica de De Cock (2011) con sus cinco ventas atípicas removidas con criterio y el salto del simple al múltiple leído con R² ajustado. (3) ¿ES CONFIABLE EL MODELO? (min 33-51): el cuadro de supuestos con su diagnóstico y corrección (VIF, Breusch-Pagan y errores robustos, Durbin-Watson, Cook), más las transformaciones: dummies e interacción zona × tamaño. (4) EL MODELO QUE DECIDE (min 51-80): la validación cruzada 5-fold elige el modelo por su error FUERA de muestra —no por el R² in-sample— y el modelo se traduce en tres decisiones de pricing; ahí se lanza el trabajo del laboratorio sobre Ames. El cierre (min 80-90) suma bibliografía y entregable. El puente exacto con el cuaderno —cuyas secciones NO coinciden uno a uno con los actos— es el chip «▶ Notebook, sección, celda N» de cada slide. Anunciar el entregable evaluable y el control corto al cierre. [Jueves]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Abrir el arco de contexto. En la S03 el precio dependía de una sola variable; en la realidad depende de muchas a la vez. El salto —de una recta a un modelo de varios predictores— permite estimar la contribución NETA de cada factor, descontando lo que explican los demás. Ese es el coeficiente parcial, y con él aparece un riesgo nuevo: la multicolinealidad. Fuente: DEFINICIONES Sección 2. [Jueves, capítulo 4.1]</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Golpe de apertura. El modelo simple precio ~ superficie habitable explica solo el 52 % de la varianza (R² = 0,52): casi la mitad del precio queda sin explicar (100·(1−R²) ≈ 48 %, cifra computada del Excel). La razón es que el precio de una casa no depende de un solo factor —también pesan la calidad general, el garaje, el sótano y la antigüedad—. Ese vacío es lo que la regresión múltiple viene a llenar aislando el efecto de cada factor. [Jueves, capítulo 4.1]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Definir el concepto que hace distinto al múltiple. En la regresión simple la pendiente carga TODO el efecto de X, incluida la parte que en realidad se debe a variables correlacionadas omitidas. En la múltiple, cada coeficiente mide el cambio esperado en Y por una unidad de su predictor MANTENIENDO CONSTANTES los demás: es el efecto parcial o neto (ceteris paribus). En el cuaderno se ve en vivo (celda 14): el coeficiente de la superficie BAJA al añadir la calidad, porque deja de absorber su efecto. Error de lectura más común: confundir efecto parcial dentro del modelo con efecto causal —eso es exogeneidad, se advierte y se difiere a S12—. [Jueves, capítulo 4.2]</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Mostrar que el modelo múltiple y su diagnóstico de colinealidad son pocas líneas. sm.add_constant añade la columna del intercepto; sm.OLS(y, X).fit() resuelve por mínimos cuadrados sobre log(SalePrice) —el estándar hedónico—; variance_inflation_factor recorre los cinco predictores (se salta el índice 0, el intercepto, que NO se interpreta). Resultado clave: R² = 0,85 y VIF máximo 2,47 (Overall Qual), todos bajo 5. En el cuaderno hay además un bloque 'Cálculo manual' (celda 18) que reconstruye β = (XᵀX)⁻¹Xᵀy y otro que recalcula el VIF con la fórmula 1/(1−R²ⱼ) (celda 27), ambos con assert contra el contrato. [Jueves, capítulo 4.3]</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Diagnóstico numérico de la colinealidad. La multicolinealidad ocurre cuando dos predictores miden casi lo mismo (Garage Cars y Garage Area, r ≈ 0,89): no sesga la predicción, pero infla la varianza de los coeficientes, que se vuelven inestables. El VIF (factor de inflación de la varianza), VIFⱼ = 1/(1−R²ⱼ), mide cuántas veces se infla esa varianza; regla práctica: &gt; 5 atención, &gt; 10 severo. Al incluir ambos garajes, el VIF del par aumenta de forma marcada: en el trío del drill 1 (hoja modelos_drills, n=2924) Garage Cars SUPERA 5 (5,05) y Garage Area queda justo debajo (4,94); la demo del cuaderno (celda 23, otros regresores) da 5,15/4,88. ADVERTENCIA: no decir 'ambos superan 5' — el punto real es que el par es redundante y RONDA el umbral. La decisión clásica —sin técnicas de S05— es conservar UNO, y entonces los cinco predictores quedan con VIF 1,50–2,47. Dos matices: no se interpreta el VIF del intercepto, y la colinealidad compromete la interpretación, no la predicción. Es el drill 1. [Jueves, capítulo 4.3]</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Primera pausa de discusión, que CIERRA el acto 1. Dar 2 minutos en parejas y recoger 2-3 respuestas. Guiar hacia la conclusión: sí. Con predictores muy correlacionados el modelo no puede repartir el efecto entre ellos, así que los coeficientes se vuelven inestables —cambian de magnitud o incluso de signo ante pequeños cambios de datos— y sus errores estándar crecen. Un signo que contradice el sentido de negocio suele delatar colinealidad. La solución en S04 es VIF + decisión manual (quitar/combinar), nunca LASSO (eso es S05). [Jueves, capítulo 4.3]</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Abrir el bloque de evidencia y réplica. Durante décadas el ejemplo docente de regresión fue Boston Housing (1978), que incluía una variable construida sobre la proporción de población afroamericana por barrio —sesgo racial explícito— y por eso fue retirada de scikit-learn. De Cock (2011) publicó Ames Housing como alternativa: 2930 ventas residenciales en Ames, Iowa (2006-2010), con 80 variables por propiedad, base de la competencia de Kaggle. Es el dataset del laboratorio. Fuente: REPLICACION_PAPER.md Sección 1. [Jueves, capítulo 4.5]</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Detenerse aquí antes de cualquier número. De Cock NO propuso una técnica ni publicó un modelo de referencia: se negó a hacerlo, 'para frustrar a mis estudiantes más motivados' (p. 13). Lo que construyó fue un CONJUNTO DE DATOS para un proyecto de fin de semestre, y su pregunta era: ¿existe una base real, actual y comprensible por un lego, con variables y observaciones suficientes para que ningún algoritmo automático de selección agote el problema? La consecuencia para el aula: aquí no se replica el modelo de un autor, se auditan sus decisiones de DISEÑO DE DATOS. Preguntar: '¿por qué no le bastaba con actualizar los precios del Boston Housing?' — porque eso, en sus palabras, cambiaría los datos de reales a verosímiles. Fuente: REPLICACION_PAPER.md Sección 0.1. [Jueves, capítulo 4.5]</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El slide que enseña a DISEÑAR una base, no solo a modelarla. Recorrer las tres tarjetas. (1) La alternativa de menor costo era inflar los precios del dataset de 1978; la descartó porque convertiría datos reales en verosímiles, y porque 506 filas con 14 variables no alcanzan su propia regla de dimensionamiento (de seis a diez observaciones por variable). (2) El volcado del Asesor Municipal traía 113 variables sobre 3970 ventas; publicó 80 variables con un criterio declarado —que un lego las entienda— y lo que quitó fueron las piezas internas del sistema de tasación de la ciudad. Aclaración obligatoria: el texto NO invoca circularidad estadística, invoca comprensibilidad. (3) La tercera es la que ordena el laboratorio: NO removió observaciones por valores extraños; la remoción de las casas grandes es una recomendación al docente, y el criterio de fondo no es el tamaño sino la condición de venta —el umbral en pie² es solo un proxy que un alumno sin álgebra matricial puede aplicar—. Enlazar con el slide siguiente: por eso se abren una por una antes de borrar. Fuente: REPLICACION_PAPER.md Secciones 0.2 y 0.3. [Jueves, capítulo 4.5]</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Núcleo de la réplica: limpiar CON CRITERIO, no borrar de forma indiscriminada. El scatter precio vs. superficie revela cinco casas con más de 4000 pie²: dos son mansiones caras coherentes con la recta, pero tres son 'Partial Sales' (ventas parciales que no reflejan el precio de mercado), de gran superficie pero de precio bajo, que distorsionan la pendiente. El propio De Cock, en la documentación del dataset, recomienda remover toda casa &gt; 4000 pie² (exactamente estas 5). Lección de negocio: no se borra un punto por ser extremo, sino tras ENTENDER por qué lo es. La correlación precio~superficie es 0,71 (n=2930), leída del Excel. [Jueves, capítulo 4.5]</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Concretar la limpieza en una cifra verificable. Son exactamente 5 casas, y su condición de venta lo explica: 3 'Partial' (los verdaderos outliers), 1 'Abnorml' y 1 'Normal'. La distancia de Cook (Dᵢ &gt; 4/n) marcaría ~192 observaciones como candidatas a inspección; eso NO significa borrarlas: 4/n es un umbral sensible que solo lista puntos a revisar. El borrado se justifica por una razón sustantiva —la condición de venta anómala—, no por el número. Regla de oro: investigar antes de eliminar. [Jueves, capítulo 4.4]</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Cuantificar el salto de simple a múltiple SIN mentir con la escala. El simple explica el 52 % de la varianza del PRECIO EN USD; el múltiple en log explica el 85 % de la varianza del LOG del precio. Son respuestas distintas, con denominadores distintos: el 0,52 y el 0,85 NO son comparables y la resta entre ellos NO mide 'cuánto mejora el modelo'. Lo mismo vale para el par 0,820 (múltiple en NIVEL) frente a 0,847 (múltiple en LOG): esa diferencia no es el aporte del log. Regla que hay que dejar dicha: para comparar modelos se usa una métrica en la MISMA escala. Y esa comparación YA ESTÁ HECHA, no es un pendiente: las predicciones del modelo en log se retransforman a dólares con el FACTOR DE SMEARING DE DUAN (1983) —S = 1,0119, es decir +1,19 %, estimado SOLO en el fold de entrenamiento para no filtrar información—, porque exp() sin corrección subestima el precio esperado (la media del log no es el log de la media). Resultado: el modelo en log rinde 27 282 USD de RMSE en CV frente a 33 308 USD del múltiple en nivel, es decir 6 027 USD menos de error por tasación (−18,1 %), ahora sí en la misma moneda. Olvidar el smearing cuesta ~64 USD de RMSE y ~1,2 % de sesgo a la baja. Titular para el aula: el log NO gana 'más R²', gana DÓLARES, y solo se puede afirmar tras retransformar. Dicho eso, sobre el R² mismo: NUNCA baja al añadir variables, aunque sean inútiles; el R² AJUSTADO penaliza por el número de predictores y puede bajar si una variable no aporta —por eso es el de cribado entre modelos del mismo tamaño de respuesta—. El 0,82 que aparece en el acto 4 es el R² de VALIDACIÓN CRUZADA en nivel, no el ajustado en log. Ni el R² ni el ajustado prueban generalización: eso lo decide la validación cruzada del acto 4. Es el drill 3. [Jueves, capítulo 4.4]</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Divisor del capítulo 4.1. Se enuncia la pregunta tal como aparece en el sílabo, la ficha, el cuaderno y la guía: es el mismo código en todos. [Jueves, capítulo 4.1]</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Divisor del capítulo 4.2. Se enuncia la pregunta tal como aparece en el sílabo, la ficha, el cuaderno y la guía: es el mismo código en todos. [Jueves, capítulo 4.2]</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Divisor del capítulo 4.3. Se enuncia la pregunta tal como aparece en el sílabo, la ficha, el cuaderno y la guía: es el mismo código en todos. [Jueves, capítulo 4.3]</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Divisor del capítulo 4.4. Se enuncia la pregunta tal como aparece en el sílabo, la ficha, el cuaderno y la guía: es el mismo código en todos. [Jueves, capítulo 4.4]</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desarrolla el capítulo 4.2. Deriva de la Sección 6 de la guía docente y de la investigación de la sesión; las cifras salen del Excel de resultados. [Viernes, capítulo 4.2]</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desarrolla el capítulo 4.4. Deriva de la Sección 6 de la guía docente y de la investigación de la sesión; las cifras salen del Excel de resultados. [Viernes, capítulo 4.4]</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desarrolla el capítulo 4.1. Deriva de la Sección 6 de la guía docente y de la investigación de la sesión; las cifras salen del Excel de resultados. [Viernes, capítulo 4.1]</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Bibliografía académica de la sesión. ISLR (statlearning.com, PDF libre) capítulos 3.2-3.3 cubren la regresión múltiple, los predictores cualitativos, las interacciones y la colinealidad, y el 5.1 la validación cruzada. De Cock (2011, JSE 19(3), acceso libre) es el paper de la réplica. Los clásicos de diagnóstico —Cook (1977), White (1980), Belsley-Kuh-Welsch (1980)— fundamentan la distancia de Cook, los errores robustos y el VIF. La documentación de statsmodels y scikit-learn es la referencia práctica. Todos los enlaces, verificados el 18/07/2026, están en la bibliografía de la sesión. [Jueves]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olab.research.google.com/github/jonatanfigueroagil-creator/Herramientas-de-Ciencias-de-Datos/blob/master/Sesiones/S04_regresion_multiple/notebook/S04_regresion_multiple.ipynb" TargetMode="Externa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8.png"/><Relationship Id="rId4" Type="http://schemas.openxmlformats.org/officeDocument/2006/relationships/notesSlide" Target="../notesSlides/notesSlide2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6.png"/><Relationship Id="rId4"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8.png"/><Relationship Id="rId4"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8.png"/><Relationship Id="rId4" Type="http://schemas.openxmlformats.org/officeDocument/2006/relationships/notesSlide" Target="../notesSlides/notesSlide2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8.png"/><Relationship Id="rId4" Type="http://schemas.openxmlformats.org/officeDocument/2006/relationships/image" Target="../media/image10.png"/><Relationship Id="rId5" Type="http://schemas.openxmlformats.org/officeDocument/2006/relationships/notesSlide" Target="../notesSlides/notesSlide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E4002B"/>
        </a:solidFill>
        <a:effectLst/>
      </p:bgPr>
    </p:bg>
    <p:spTree>
      <p:nvGrpSpPr>
        <p:cNvPr id="1" name=""/>
        <p:cNvGrpSpPr/>
        <p:nvPr/>
      </p:nvGrpSpPr>
      <p:grpSpPr/>
      <p:sp>
        <p:nvSpPr>
          <p:cNvPr id="2" name="Oval 1"/>
          <p:cNvSpPr/>
          <p:nvPr/>
        </p:nvSpPr>
        <p:spPr>
          <a:xfrm>
            <a:off x="548640" y="64008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600" b="1">
                <a:solidFill>
                  <a:srgbClr val="E4002B"/>
                </a:solidFill>
                <a:latin typeface="Calibri"/>
              </a:rPr>
              <a:t>S04</a:t>
            </a:r>
          </a:p>
        </p:txBody>
      </p:sp>
      <p:sp>
        <p:nvSpPr>
          <p:cNvPr id="3" name="TextBox 2"/>
          <p:cNvSpPr txBox="1"/>
          <p:nvPr/>
        </p:nvSpPr>
        <p:spPr>
          <a:xfrm>
            <a:off x="548640" y="3291840"/>
            <a:ext cx="9906000" cy="2011680"/>
          </a:xfrm>
          <a:prstGeom prst="rect">
            <a:avLst/>
          </a:prstGeom>
          <a:noFill/>
        </p:spPr>
        <p:txBody>
          <a:bodyPr wrap="square" anchor="t" lIns="0" rIns="0" tIns="0" bIns="0">
            <a:spAutoFit/>
          </a:bodyPr>
          <a:lstStyle/>
          <a:p>
            <a:pPr algn="l">
              <a:lnSpc>
                <a:spcPct val="102000"/>
              </a:lnSpc>
            </a:pPr>
            <a:r>
              <a:rPr sz="4800" b="1">
                <a:solidFill>
                  <a:srgbClr val="FFFFFF"/>
                </a:solidFill>
                <a:latin typeface="Calibri"/>
              </a:rPr>
              <a:t>De una recta a un modelo que decide precios</a:t>
            </a:r>
          </a:p>
        </p:txBody>
      </p:sp>
      <p:sp>
        <p:nvSpPr>
          <p:cNvPr id="4" name="TextBox 3"/>
          <p:cNvSpPr txBox="1"/>
          <p:nvPr/>
        </p:nvSpPr>
        <p:spPr>
          <a:xfrm>
            <a:off x="548640" y="5394960"/>
            <a:ext cx="9906000" cy="640080"/>
          </a:xfrm>
          <a:prstGeom prst="rect">
            <a:avLst/>
          </a:prstGeom>
          <a:noFill/>
        </p:spPr>
        <p:txBody>
          <a:bodyPr wrap="square" anchor="t" lIns="0" rIns="0" tIns="0" bIns="0">
            <a:spAutoFit/>
          </a:bodyPr>
          <a:lstStyle/>
          <a:p>
            <a:pPr algn="l"/>
            <a:r>
              <a:rPr sz="2000" b="0">
                <a:solidFill>
                  <a:srgbClr val="FCEDEE"/>
                </a:solidFill>
                <a:latin typeface="Calibri"/>
              </a:rPr>
              <a:t>Regresión múltiple: coeficiente parcial y diagnóstico — réplica de De Cock (2011)</a:t>
            </a:r>
          </a:p>
        </p:txBody>
      </p:sp>
      <p:sp>
        <p:nvSpPr>
          <p:cNvPr id="5" name="TextBox 4"/>
          <p:cNvSpPr txBox="1"/>
          <p:nvPr/>
        </p:nvSpPr>
        <p:spPr>
          <a:xfrm>
            <a:off x="548640" y="6263640"/>
            <a:ext cx="11094720" cy="320040"/>
          </a:xfrm>
          <a:prstGeom prst="rect">
            <a:avLst/>
          </a:prstGeom>
          <a:noFill/>
        </p:spPr>
        <p:txBody>
          <a:bodyPr wrap="square" anchor="t" lIns="0" rIns="0" tIns="0" bIns="0">
            <a:spAutoFit/>
          </a:bodyPr>
          <a:lstStyle/>
          <a:p>
            <a:pPr algn="l"/>
            <a:r>
              <a:rPr sz="1200" b="0">
                <a:solidFill>
                  <a:srgbClr val="FCEDEE"/>
                </a:solidFill>
                <a:latin typeface="Calibri"/>
              </a:rPr>
              <a:t>Herramientas para la Ciencia de Datos, UPC, Facultad de Negocios</a:t>
            </a:r>
          </a:p>
        </p:txBody>
      </p:sp>
      <p:sp>
        <p:nvSpPr>
          <p:cNvPr id="6" name="Rounded Rectangle 5">
            <a:hlinkClick r:id="rId2"/>
          </p:cNvPr>
          <p:cNvSpPr/>
          <p:nvPr/>
        </p:nvSpPr>
        <p:spPr>
          <a:xfrm>
            <a:off x="8549640" y="502920"/>
            <a:ext cx="3154680" cy="475488"/>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E4002B"/>
                </a:solidFill>
              </a:rPr>
              <a:t>▶  Abrir en Google Colab</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MAPA DEL JUEVES — CAPÍTULOS 4.1 A 4.5</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El jueves avanza en cinco capítulos</a:t>
            </a:r>
          </a:p>
        </p:txBody>
      </p:sp>
      <p:sp>
        <p:nvSpPr>
          <p:cNvPr id="4" name="Rounded Rectangle 3"/>
          <p:cNvSpPr/>
          <p:nvPr/>
        </p:nvSpPr>
        <p:spPr>
          <a:xfrm>
            <a:off x="548640" y="1874519"/>
            <a:ext cx="249936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column__FFFFFF.png"/>
          <p:cNvPicPr>
            <a:picLocks noChangeAspect="1"/>
          </p:cNvPicPr>
          <p:nvPr/>
        </p:nvPicPr>
        <p:blipFill>
          <a:blip r:embed="rId2"/>
          <a:stretch>
            <a:fillRect/>
          </a:stretch>
        </p:blipFill>
        <p:spPr>
          <a:xfrm>
            <a:off x="956462" y="2282341"/>
            <a:ext cx="281636" cy="281636"/>
          </a:xfrm>
          <a:prstGeom prst="rect">
            <a:avLst/>
          </a:prstGeom>
        </p:spPr>
      </p:pic>
      <p:sp>
        <p:nvSpPr>
          <p:cNvPr id="7" name="TextBox 6"/>
          <p:cNvSpPr txBox="1"/>
          <p:nvPr/>
        </p:nvSpPr>
        <p:spPr>
          <a:xfrm>
            <a:off x="777240" y="2926079"/>
            <a:ext cx="2042160" cy="640080"/>
          </a:xfrm>
          <a:prstGeom prst="rect">
            <a:avLst/>
          </a:prstGeom>
          <a:noFill/>
        </p:spPr>
        <p:txBody>
          <a:bodyPr wrap="square" anchor="t" lIns="0" rIns="0" tIns="0" bIns="0">
            <a:spAutoFit/>
          </a:bodyPr>
          <a:lstStyle/>
          <a:p>
            <a:pPr algn="l"/>
            <a:r>
              <a:rPr sz="1800" b="1">
                <a:solidFill>
                  <a:srgbClr val="9B1B30"/>
                </a:solidFill>
                <a:latin typeface="Calibri"/>
              </a:rPr>
              <a:t>Capítulo 4.1</a:t>
            </a:r>
          </a:p>
        </p:txBody>
      </p:sp>
      <p:sp>
        <p:nvSpPr>
          <p:cNvPr id="8" name="TextBox 7"/>
          <p:cNvSpPr txBox="1"/>
          <p:nvPr/>
        </p:nvSpPr>
        <p:spPr>
          <a:xfrm>
            <a:off x="777240" y="3611879"/>
            <a:ext cx="204216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¿Por qué una sola variable no explica el precio de una vivienda?</a:t>
            </a:r>
          </a:p>
        </p:txBody>
      </p:sp>
      <p:sp>
        <p:nvSpPr>
          <p:cNvPr id="9" name="TextBox 8"/>
          <p:cNvSpPr txBox="1"/>
          <p:nvPr/>
        </p:nvSpPr>
        <p:spPr>
          <a:xfrm>
            <a:off x="777240" y="5303519"/>
            <a:ext cx="2042160" cy="502920"/>
          </a:xfrm>
          <a:prstGeom prst="rect">
            <a:avLst/>
          </a:prstGeom>
          <a:noFill/>
        </p:spPr>
        <p:txBody>
          <a:bodyPr wrap="square" anchor="t" lIns="0" rIns="0" tIns="0" bIns="0">
            <a:spAutoFit/>
          </a:bodyPr>
          <a:lstStyle/>
          <a:p>
            <a:pPr algn="l"/>
            <a:r>
              <a:rPr sz="1200" b="1">
                <a:solidFill>
                  <a:srgbClr val="9B1B30"/>
                </a:solidFill>
                <a:latin typeface="Calibri"/>
              </a:rPr>
              <a:t>Min 20-40</a:t>
            </a:r>
          </a:p>
        </p:txBody>
      </p:sp>
      <p:sp>
        <p:nvSpPr>
          <p:cNvPr id="10" name="Rounded Rectangle 9"/>
          <p:cNvSpPr/>
          <p:nvPr/>
        </p:nvSpPr>
        <p:spPr>
          <a:xfrm>
            <a:off x="3413760" y="1874519"/>
            <a:ext cx="249936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64236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book-open__FFFFFF.png"/>
          <p:cNvPicPr>
            <a:picLocks noChangeAspect="1"/>
          </p:cNvPicPr>
          <p:nvPr/>
        </p:nvPicPr>
        <p:blipFill>
          <a:blip r:embed="rId3"/>
          <a:stretch>
            <a:fillRect/>
          </a:stretch>
        </p:blipFill>
        <p:spPr>
          <a:xfrm>
            <a:off x="3821582" y="2282341"/>
            <a:ext cx="281636" cy="281636"/>
          </a:xfrm>
          <a:prstGeom prst="rect">
            <a:avLst/>
          </a:prstGeom>
        </p:spPr>
      </p:pic>
      <p:sp>
        <p:nvSpPr>
          <p:cNvPr id="13" name="TextBox 12"/>
          <p:cNvSpPr txBox="1"/>
          <p:nvPr/>
        </p:nvSpPr>
        <p:spPr>
          <a:xfrm>
            <a:off x="3642360" y="2926079"/>
            <a:ext cx="2042160" cy="640080"/>
          </a:xfrm>
          <a:prstGeom prst="rect">
            <a:avLst/>
          </a:prstGeom>
          <a:noFill/>
        </p:spPr>
        <p:txBody>
          <a:bodyPr wrap="square" anchor="t" lIns="0" rIns="0" tIns="0" bIns="0">
            <a:spAutoFit/>
          </a:bodyPr>
          <a:lstStyle/>
          <a:p>
            <a:pPr algn="l"/>
            <a:r>
              <a:rPr sz="1800" b="1">
                <a:solidFill>
                  <a:srgbClr val="9B1B30"/>
                </a:solidFill>
                <a:latin typeface="Calibri"/>
              </a:rPr>
              <a:t>Capítulo 4.2</a:t>
            </a:r>
          </a:p>
        </p:txBody>
      </p:sp>
      <p:sp>
        <p:nvSpPr>
          <p:cNvPr id="14" name="TextBox 13"/>
          <p:cNvSpPr txBox="1"/>
          <p:nvPr/>
        </p:nvSpPr>
        <p:spPr>
          <a:xfrm>
            <a:off x="3642360" y="3611879"/>
            <a:ext cx="204216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¿Qué es un coeficiente parcial?</a:t>
            </a:r>
          </a:p>
        </p:txBody>
      </p:sp>
      <p:sp>
        <p:nvSpPr>
          <p:cNvPr id="15" name="TextBox 14"/>
          <p:cNvSpPr txBox="1"/>
          <p:nvPr/>
        </p:nvSpPr>
        <p:spPr>
          <a:xfrm>
            <a:off x="3642360" y="5303519"/>
            <a:ext cx="2042160" cy="502920"/>
          </a:xfrm>
          <a:prstGeom prst="rect">
            <a:avLst/>
          </a:prstGeom>
          <a:noFill/>
        </p:spPr>
        <p:txBody>
          <a:bodyPr wrap="square" anchor="t" lIns="0" rIns="0" tIns="0" bIns="0">
            <a:spAutoFit/>
          </a:bodyPr>
          <a:lstStyle/>
          <a:p>
            <a:pPr algn="l"/>
            <a:r>
              <a:rPr sz="1200" b="1">
                <a:solidFill>
                  <a:srgbClr val="9B1B30"/>
                </a:solidFill>
                <a:latin typeface="Calibri"/>
              </a:rPr>
              <a:t>Min 40-65</a:t>
            </a:r>
          </a:p>
        </p:txBody>
      </p:sp>
      <p:sp>
        <p:nvSpPr>
          <p:cNvPr id="16" name="Rounded Rectangle 15"/>
          <p:cNvSpPr/>
          <p:nvPr/>
        </p:nvSpPr>
        <p:spPr>
          <a:xfrm>
            <a:off x="6278880" y="1874519"/>
            <a:ext cx="249936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0748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triangle-alert__FFFFFF.png"/>
          <p:cNvPicPr>
            <a:picLocks noChangeAspect="1"/>
          </p:cNvPicPr>
          <p:nvPr/>
        </p:nvPicPr>
        <p:blipFill>
          <a:blip r:embed="rId4"/>
          <a:stretch>
            <a:fillRect/>
          </a:stretch>
        </p:blipFill>
        <p:spPr>
          <a:xfrm>
            <a:off x="6686702" y="2282341"/>
            <a:ext cx="281636" cy="281636"/>
          </a:xfrm>
          <a:prstGeom prst="rect">
            <a:avLst/>
          </a:prstGeom>
        </p:spPr>
      </p:pic>
      <p:sp>
        <p:nvSpPr>
          <p:cNvPr id="19" name="TextBox 18"/>
          <p:cNvSpPr txBox="1"/>
          <p:nvPr/>
        </p:nvSpPr>
        <p:spPr>
          <a:xfrm>
            <a:off x="6507480" y="2926079"/>
            <a:ext cx="2042160" cy="640080"/>
          </a:xfrm>
          <a:prstGeom prst="rect">
            <a:avLst/>
          </a:prstGeom>
          <a:noFill/>
        </p:spPr>
        <p:txBody>
          <a:bodyPr wrap="square" anchor="t" lIns="0" rIns="0" tIns="0" bIns="0">
            <a:spAutoFit/>
          </a:bodyPr>
          <a:lstStyle/>
          <a:p>
            <a:pPr algn="l"/>
            <a:r>
              <a:rPr sz="1800" b="1">
                <a:solidFill>
                  <a:srgbClr val="9B1B30"/>
                </a:solidFill>
                <a:latin typeface="Calibri"/>
              </a:rPr>
              <a:t>Capítulo 4.3</a:t>
            </a:r>
          </a:p>
        </p:txBody>
      </p:sp>
      <p:sp>
        <p:nvSpPr>
          <p:cNvPr id="20" name="TextBox 19"/>
          <p:cNvSpPr txBox="1"/>
          <p:nvPr/>
        </p:nvSpPr>
        <p:spPr>
          <a:xfrm>
            <a:off x="6507480" y="3611879"/>
            <a:ext cx="204216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¿Cómo se obtiene el modelo con varios predictores?</a:t>
            </a:r>
          </a:p>
        </p:txBody>
      </p:sp>
      <p:sp>
        <p:nvSpPr>
          <p:cNvPr id="21" name="TextBox 20"/>
          <p:cNvSpPr txBox="1"/>
          <p:nvPr/>
        </p:nvSpPr>
        <p:spPr>
          <a:xfrm>
            <a:off x="6507480" y="5303519"/>
            <a:ext cx="2042160" cy="502920"/>
          </a:xfrm>
          <a:prstGeom prst="rect">
            <a:avLst/>
          </a:prstGeom>
          <a:noFill/>
        </p:spPr>
        <p:txBody>
          <a:bodyPr wrap="square" anchor="t" lIns="0" rIns="0" tIns="0" bIns="0">
            <a:spAutoFit/>
          </a:bodyPr>
          <a:lstStyle/>
          <a:p>
            <a:pPr algn="l"/>
            <a:r>
              <a:rPr sz="1200" b="1">
                <a:solidFill>
                  <a:srgbClr val="9B1B30"/>
                </a:solidFill>
                <a:latin typeface="Calibri"/>
              </a:rPr>
              <a:t>Min 65-95</a:t>
            </a:r>
          </a:p>
        </p:txBody>
      </p:sp>
      <p:sp>
        <p:nvSpPr>
          <p:cNvPr id="22" name="Rounded Rectangle 21"/>
          <p:cNvSpPr/>
          <p:nvPr/>
        </p:nvSpPr>
        <p:spPr>
          <a:xfrm>
            <a:off x="9144000" y="1874519"/>
            <a:ext cx="249936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37260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git-branch__FFFFFF.png"/>
          <p:cNvPicPr>
            <a:picLocks noChangeAspect="1"/>
          </p:cNvPicPr>
          <p:nvPr/>
        </p:nvPicPr>
        <p:blipFill>
          <a:blip r:embed="rId5"/>
          <a:stretch>
            <a:fillRect/>
          </a:stretch>
        </p:blipFill>
        <p:spPr>
          <a:xfrm>
            <a:off x="9551822" y="2282341"/>
            <a:ext cx="281636" cy="281636"/>
          </a:xfrm>
          <a:prstGeom prst="rect">
            <a:avLst/>
          </a:prstGeom>
        </p:spPr>
      </p:pic>
      <p:sp>
        <p:nvSpPr>
          <p:cNvPr id="25" name="TextBox 24"/>
          <p:cNvSpPr txBox="1"/>
          <p:nvPr/>
        </p:nvSpPr>
        <p:spPr>
          <a:xfrm>
            <a:off x="9372600" y="2926079"/>
            <a:ext cx="2042160" cy="640080"/>
          </a:xfrm>
          <a:prstGeom prst="rect">
            <a:avLst/>
          </a:prstGeom>
          <a:noFill/>
        </p:spPr>
        <p:txBody>
          <a:bodyPr wrap="square" anchor="t" lIns="0" rIns="0" tIns="0" bIns="0">
            <a:spAutoFit/>
          </a:bodyPr>
          <a:lstStyle/>
          <a:p>
            <a:pPr algn="l"/>
            <a:r>
              <a:rPr sz="1800" b="1">
                <a:solidFill>
                  <a:srgbClr val="9B1B30"/>
                </a:solidFill>
                <a:latin typeface="Calibri"/>
              </a:rPr>
              <a:t>Capítulo 4.4 y 4.5</a:t>
            </a:r>
          </a:p>
        </p:txBody>
      </p:sp>
      <p:sp>
        <p:nvSpPr>
          <p:cNvPr id="26" name="TextBox 25"/>
          <p:cNvSpPr txBox="1"/>
          <p:nvPr/>
        </p:nvSpPr>
        <p:spPr>
          <a:xfrm>
            <a:off x="9372600" y="3611879"/>
            <a:ext cx="204216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¿Cómo se mide si la incorporación de variables aportó valor? ¿Se sostiene con datos reales? La réplica de Ames (De Cock, 2011)</a:t>
            </a:r>
          </a:p>
        </p:txBody>
      </p:sp>
      <p:sp>
        <p:nvSpPr>
          <p:cNvPr id="27" name="TextBox 26"/>
          <p:cNvSpPr txBox="1"/>
          <p:nvPr/>
        </p:nvSpPr>
        <p:spPr>
          <a:xfrm>
            <a:off x="9372600" y="5303519"/>
            <a:ext cx="2042160" cy="502920"/>
          </a:xfrm>
          <a:prstGeom prst="rect">
            <a:avLst/>
          </a:prstGeom>
          <a:noFill/>
        </p:spPr>
        <p:txBody>
          <a:bodyPr wrap="square" anchor="t" lIns="0" rIns="0" tIns="0" bIns="0">
            <a:spAutoFit/>
          </a:bodyPr>
          <a:lstStyle/>
          <a:p>
            <a:pPr algn="l"/>
            <a:r>
              <a:rPr sz="1200" b="1">
                <a:solidFill>
                  <a:srgbClr val="9B1B30"/>
                </a:solidFill>
                <a:latin typeface="Calibri"/>
              </a:rPr>
              <a:t>Min 110-180</a:t>
            </a:r>
          </a:p>
        </p:txBody>
      </p:sp>
      <p:sp>
        <p:nvSpPr>
          <p:cNvPr id="28" name="Rounded Rectangle 27"/>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Índice, celda 0</a:t>
            </a:r>
          </a:p>
        </p:txBody>
      </p:sp>
      <p:sp>
        <p:nvSpPr>
          <p:cNvPr id="29" name="Oval 28"/>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S04 — Herramientas para la Ciencia de Datos, UPC</a:t>
            </a:r>
          </a:p>
        </p:txBody>
      </p:sp>
      <p:sp>
        <p:nvSpPr>
          <p:cNvPr id="31" name="TextBox 30"/>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2 / 22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1</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¿Por qué una sola variable no explica el precio de una vivienda?</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Capítulo 4.1 — jueves, bloques A1 y A2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1</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¿Por qué una sola variable no explica el precio de una vivienda?</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¿Por qué una sola variable no explica el precio de una vivienda?</a:t>
            </a:r>
          </a:p>
        </p:txBody>
      </p:sp>
      <p:pic>
        <p:nvPicPr>
          <p:cNvPr id="5" name="Picture 4" descr="chart-column__FFFFFF.png"/>
          <p:cNvPicPr>
            <a:picLocks noChangeAspect="1"/>
          </p:cNvPicPr>
          <p:nvPr/>
        </p:nvPicPr>
        <p:blipFill>
          <a:blip r:embed="rId2"/>
          <a:stretch>
            <a:fillRect/>
          </a:stretch>
        </p:blipFill>
        <p:spPr>
          <a:xfrm>
            <a:off x="10195560" y="640080"/>
            <a:ext cx="1051560" cy="105156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828800"/>
            <a:ext cx="5852160" cy="2926080"/>
          </a:xfrm>
          <a:prstGeom prst="rect">
            <a:avLst/>
          </a:prstGeom>
          <a:noFill/>
        </p:spPr>
        <p:txBody>
          <a:bodyPr wrap="square" anchor="t" lIns="0" rIns="0" tIns="0" bIns="0">
            <a:spAutoFit/>
          </a:bodyPr>
          <a:lstStyle/>
          <a:p>
            <a:pPr algn="l"/>
            <a:r>
              <a:rPr sz="14000" b="1">
                <a:solidFill>
                  <a:srgbClr val="E4002B"/>
                </a:solidFill>
                <a:latin typeface="Calibri"/>
              </a:rPr>
              <a:t>48%</a:t>
            </a:r>
          </a:p>
        </p:txBody>
      </p:sp>
      <p:sp>
        <p:nvSpPr>
          <p:cNvPr id="3" name="TextBox 2"/>
          <p:cNvSpPr txBox="1"/>
          <p:nvPr/>
        </p:nvSpPr>
        <p:spPr>
          <a:xfrm>
            <a:off x="6766560" y="2286000"/>
            <a:ext cx="4846320" cy="1371600"/>
          </a:xfrm>
          <a:prstGeom prst="rect">
            <a:avLst/>
          </a:prstGeom>
          <a:noFill/>
        </p:spPr>
        <p:txBody>
          <a:bodyPr wrap="square" anchor="t" lIns="0" rIns="0" tIns="0" bIns="0">
            <a:spAutoFit/>
          </a:bodyPr>
          <a:lstStyle/>
          <a:p>
            <a:pPr algn="l"/>
            <a:r>
              <a:rPr sz="2600" b="1">
                <a:solidFill>
                  <a:srgbClr val="2D2D2D"/>
                </a:solidFill>
                <a:latin typeface="Calibri"/>
              </a:rPr>
              <a:t>Casi la mitad del precio queda sin explicar con un solo factor</a:t>
            </a:r>
          </a:p>
        </p:txBody>
      </p:sp>
      <p:sp>
        <p:nvSpPr>
          <p:cNvPr id="4" name="TextBox 3"/>
          <p:cNvSpPr txBox="1"/>
          <p:nvPr/>
        </p:nvSpPr>
        <p:spPr>
          <a:xfrm>
            <a:off x="6766560" y="3749039"/>
            <a:ext cx="4846320" cy="2011680"/>
          </a:xfrm>
          <a:prstGeom prst="rect">
            <a:avLst/>
          </a:prstGeom>
          <a:noFill/>
        </p:spPr>
        <p:txBody>
          <a:bodyPr wrap="square" anchor="t" lIns="0" rIns="0" tIns="0" bIns="0">
            <a:spAutoFit/>
          </a:bodyPr>
          <a:lstStyle/>
          <a:p>
            <a:pPr algn="l">
              <a:lnSpc>
                <a:spcPct val="120000"/>
              </a:lnSpc>
            </a:pPr>
            <a:r>
              <a:rPr sz="1500" b="0">
                <a:solidFill>
                  <a:srgbClr val="6E6E6E"/>
                </a:solidFill>
                <a:latin typeface="Calibri"/>
              </a:rPr>
              <a:t>El modelo de una variable (precio ~ superficie) alcanza R² = 0,52: deja fuera calidad, garaje, sótano y año de construcción.</a:t>
            </a:r>
          </a:p>
        </p:txBody>
      </p:sp>
      <p:pic>
        <p:nvPicPr>
          <p:cNvPr id="5" name="Picture 4" descr="triangle-alert__E4002B.png"/>
          <p:cNvPicPr>
            <a:picLocks noChangeAspect="1"/>
          </p:cNvPicPr>
          <p:nvPr/>
        </p:nvPicPr>
        <p:blipFill>
          <a:blip r:embed="rId2"/>
          <a:stretch>
            <a:fillRect/>
          </a:stretch>
        </p:blipFill>
        <p:spPr>
          <a:xfrm>
            <a:off x="6766560" y="1325880"/>
            <a:ext cx="658368" cy="658368"/>
          </a:xfrm>
          <a:prstGeom prst="rect">
            <a:avLst/>
          </a:prstGeom>
        </p:spPr>
      </p:pic>
      <p:sp>
        <p:nvSpPr>
          <p:cNvPr id="6" name="TextBox 5"/>
          <p:cNvSpPr txBox="1"/>
          <p:nvPr/>
        </p:nvSpPr>
        <p:spPr>
          <a:xfrm>
            <a:off x="548640" y="5989320"/>
            <a:ext cx="11091672" cy="292608"/>
          </a:xfrm>
          <a:prstGeom prst="rect">
            <a:avLst/>
          </a:prstGeom>
          <a:noFill/>
        </p:spPr>
        <p:txBody>
          <a:bodyPr wrap="square">
            <a:spAutoFit/>
          </a:bodyPr>
          <a:lstStyle/>
          <a:p>
            <a:r>
              <a:rPr sz="1000">
                <a:solidFill>
                  <a:srgbClr val="6E6E6E"/>
                </a:solidFill>
                <a:latin typeface="Calibri"/>
              </a:rPr>
              <a:t>Ames (De Cock, 2011). R² del modelo simple limpio — resultados/S04_resultados.xlsx!regresion_ames (B4). 48 = 100·(1 − R²).</a:t>
            </a:r>
          </a:p>
        </p:txBody>
      </p:sp>
      <p:sp>
        <p:nvSpPr>
          <p:cNvPr id="7" name="Oval 6"/>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S04 — Herramientas para la Ciencia de Datos, UPC</a:t>
            </a:r>
          </a:p>
        </p:txBody>
      </p:sp>
      <p:sp>
        <p:nvSpPr>
          <p:cNvPr id="9" name="TextBox 8"/>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5 / 22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CAPÍTULO 4.1 — ¿POR QUÉ UNA SOLA VARIABLE NO EXPLICA EL PRECIO?</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Las variables no llegan solas: llegan correlacionadas entre sí</a:t>
            </a:r>
          </a:p>
        </p:txBody>
      </p:sp>
      <p:pic>
        <p:nvPicPr>
          <p:cNvPr id="4" name="Picture 3" descr="S04_eda_heatmap_correlacion.png"/>
          <p:cNvPicPr>
            <a:picLocks noChangeAspect="1"/>
          </p:cNvPicPr>
          <p:nvPr/>
        </p:nvPicPr>
        <p:blipFill>
          <a:blip r:embed="rId2"/>
          <a:stretch>
            <a:fillRect/>
          </a:stretch>
        </p:blipFill>
        <p:spPr>
          <a:xfrm>
            <a:off x="548640" y="1828800"/>
            <a:ext cx="5093689" cy="4480560"/>
          </a:xfrm>
          <a:prstGeom prst="rect">
            <a:avLst/>
          </a:prstGeom>
        </p:spPr>
      </p:pic>
      <p:sp>
        <p:nvSpPr>
          <p:cNvPr id="5" name="Oval 4"/>
          <p:cNvSpPr/>
          <p:nvPr/>
        </p:nvSpPr>
        <p:spPr>
          <a:xfrm>
            <a:off x="7955279" y="2011680"/>
            <a:ext cx="548640" cy="5486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3"/>
          <a:stretch>
            <a:fillRect/>
          </a:stretch>
        </p:blipFill>
        <p:spPr>
          <a:xfrm>
            <a:off x="8108898" y="2165299"/>
            <a:ext cx="241402" cy="241402"/>
          </a:xfrm>
          <a:prstGeom prst="rect">
            <a:avLst/>
          </a:prstGeom>
        </p:spPr>
      </p:pic>
      <p:sp>
        <p:nvSpPr>
          <p:cNvPr id="7" name="TextBox 6"/>
          <p:cNvSpPr txBox="1"/>
          <p:nvPr/>
        </p:nvSpPr>
        <p:spPr>
          <a:xfrm>
            <a:off x="8686800" y="2057400"/>
            <a:ext cx="2926080" cy="548640"/>
          </a:xfrm>
          <a:prstGeom prst="rect">
            <a:avLst/>
          </a:prstGeom>
          <a:noFill/>
        </p:spPr>
        <p:txBody>
          <a:bodyPr wrap="square" anchor="t" lIns="0" rIns="0" tIns="0" bIns="0">
            <a:spAutoFit/>
          </a:bodyPr>
          <a:lstStyle/>
          <a:p>
            <a:pPr algn="l"/>
            <a:r>
              <a:rPr sz="1500" b="1">
                <a:solidFill>
                  <a:srgbClr val="9B1B30"/>
                </a:solidFill>
                <a:latin typeface="Calibri"/>
              </a:rPr>
              <a:t>Lectura de negocio</a:t>
            </a:r>
          </a:p>
        </p:txBody>
      </p:sp>
      <p:sp>
        <p:nvSpPr>
          <p:cNvPr id="8" name="TextBox 7"/>
          <p:cNvSpPr txBox="1"/>
          <p:nvPr/>
        </p:nvSpPr>
        <p:spPr>
          <a:xfrm>
            <a:off x="7955279" y="2880360"/>
            <a:ext cx="3657600" cy="3108960"/>
          </a:xfrm>
          <a:prstGeom prst="rect">
            <a:avLst/>
          </a:prstGeom>
          <a:noFill/>
        </p:spPr>
        <p:txBody>
          <a:bodyPr wrap="square" anchor="t" lIns="0" rIns="0" tIns="0" bIns="0">
            <a:spAutoFit/>
          </a:bodyPr>
          <a:lstStyle/>
          <a:p>
            <a:pPr algn="l">
              <a:lnSpc>
                <a:spcPct val="125000"/>
              </a:lnSpc>
            </a:pPr>
            <a:r>
              <a:rPr sz="1500" b="0">
                <a:solidFill>
                  <a:srgbClr val="2D2D2D"/>
                </a:solidFill>
                <a:latin typeface="Calibri"/>
              </a:rPr>
              <a:t>El mapa de correlaciones de Ames.
Calidad, superficie y antigüedad se mueven juntas, así que una regresión simple sobre cualquiera de ellas recoge también a las otras.
Ese solapamiento es el problema del capítulo.</a:t>
            </a:r>
          </a:p>
        </p:txBody>
      </p:sp>
      <p:sp>
        <p:nvSpPr>
          <p:cNvPr id="9" name="Oval 8"/>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S04 — Herramientas para la Ciencia de Datos, UPC</a:t>
            </a:r>
          </a:p>
        </p:txBody>
      </p:sp>
      <p:sp>
        <p:nvSpPr>
          <p:cNvPr id="11" name="TextBox 10"/>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6 / 22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2</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¿Qué es un coeficiente parcial?</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Capítulo 4.2 — jueves, bloques A1 y A2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57200"/>
            <a:ext cx="11094720" cy="292608"/>
          </a:xfrm>
          <a:prstGeom prst="rect">
            <a:avLst/>
          </a:prstGeom>
          <a:noFill/>
        </p:spPr>
        <p:txBody>
          <a:bodyPr wrap="square" anchor="t" lIns="0" rIns="0" tIns="0" bIns="0">
            <a:spAutoFit/>
          </a:bodyPr>
          <a:lstStyle/>
          <a:p>
            <a:pPr algn="l"/>
            <a:r>
              <a:rPr sz="1300" b="1">
                <a:solidFill>
                  <a:srgbClr val="9B1B30"/>
                </a:solidFill>
                <a:latin typeface="Calibri"/>
              </a:rPr>
              <a:t>EL CONCEPTO QUE SEPARA EL MÚLTIPLE DEL SIMPLE</a:t>
            </a:r>
          </a:p>
        </p:txBody>
      </p:sp>
      <p:sp>
        <p:nvSpPr>
          <p:cNvPr id="3" name="Oval 2"/>
          <p:cNvSpPr/>
          <p:nvPr/>
        </p:nvSpPr>
        <p:spPr>
          <a:xfrm>
            <a:off x="548640" y="1298448"/>
            <a:ext cx="841248" cy="8412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ook-open__FFFFFF.png"/>
          <p:cNvPicPr>
            <a:picLocks noChangeAspect="1"/>
          </p:cNvPicPr>
          <p:nvPr/>
        </p:nvPicPr>
        <p:blipFill>
          <a:blip r:embed="rId2"/>
          <a:stretch>
            <a:fillRect/>
          </a:stretch>
        </p:blipFill>
        <p:spPr>
          <a:xfrm>
            <a:off x="784189" y="1533997"/>
            <a:ext cx="370150" cy="370150"/>
          </a:xfrm>
          <a:prstGeom prst="rect">
            <a:avLst/>
          </a:prstGeom>
        </p:spPr>
      </p:pic>
      <p:sp>
        <p:nvSpPr>
          <p:cNvPr id="5" name="TextBox 4"/>
          <p:cNvSpPr txBox="1"/>
          <p:nvPr/>
        </p:nvSpPr>
        <p:spPr>
          <a:xfrm>
            <a:off x="1719072" y="1280160"/>
            <a:ext cx="9924288" cy="914400"/>
          </a:xfrm>
          <a:prstGeom prst="rect">
            <a:avLst/>
          </a:prstGeom>
          <a:noFill/>
        </p:spPr>
        <p:txBody>
          <a:bodyPr wrap="square" anchor="ctr" lIns="0" rIns="0" tIns="0" bIns="0">
            <a:spAutoFit/>
          </a:bodyPr>
          <a:lstStyle/>
          <a:p>
            <a:pPr algn="l"/>
            <a:r>
              <a:rPr sz="5200" b="1">
                <a:solidFill>
                  <a:srgbClr val="2D2D2D"/>
                </a:solidFill>
                <a:latin typeface="Calibri"/>
              </a:rPr>
              <a:t>Coeficiente parcial</a:t>
            </a:r>
          </a:p>
        </p:txBody>
      </p:sp>
      <p:sp>
        <p:nvSpPr>
          <p:cNvPr id="6" name="TextBox 5"/>
          <p:cNvSpPr txBox="1"/>
          <p:nvPr/>
        </p:nvSpPr>
        <p:spPr>
          <a:xfrm>
            <a:off x="548640" y="2542032"/>
            <a:ext cx="11094720" cy="274320"/>
          </a:xfrm>
          <a:prstGeom prst="rect">
            <a:avLst/>
          </a:prstGeom>
          <a:noFill/>
        </p:spPr>
        <p:txBody>
          <a:bodyPr wrap="square" anchor="t" lIns="0" rIns="0" tIns="0" bIns="0">
            <a:spAutoFit/>
          </a:bodyPr>
          <a:lstStyle/>
          <a:p>
            <a:pPr algn="l"/>
            <a:r>
              <a:rPr sz="1100" b="1">
                <a:solidFill>
                  <a:srgbClr val="9B1B30"/>
                </a:solidFill>
                <a:latin typeface="Calibri"/>
              </a:rPr>
              <a:t>DEFINICIÓN</a:t>
            </a:r>
          </a:p>
        </p:txBody>
      </p:sp>
      <p:sp>
        <p:nvSpPr>
          <p:cNvPr id="7" name="TextBox 6"/>
          <p:cNvSpPr txBox="1"/>
          <p:nvPr/>
        </p:nvSpPr>
        <p:spPr>
          <a:xfrm>
            <a:off x="548640" y="2834640"/>
            <a:ext cx="11094720" cy="1371600"/>
          </a:xfrm>
          <a:prstGeom prst="rect">
            <a:avLst/>
          </a:prstGeom>
          <a:noFill/>
        </p:spPr>
        <p:txBody>
          <a:bodyPr wrap="square" anchor="t" lIns="0" rIns="0" tIns="0" bIns="0">
            <a:spAutoFit/>
          </a:bodyPr>
          <a:lstStyle/>
          <a:p>
            <a:pPr algn="l">
              <a:lnSpc>
                <a:spcPct val="122000"/>
              </a:lnSpc>
            </a:pPr>
            <a:r>
              <a:rPr sz="2000" b="0">
                <a:solidFill>
                  <a:srgbClr val="2D2D2D"/>
                </a:solidFill>
                <a:latin typeface="Calibri"/>
              </a:rPr>
              <a:t>Cambio esperado en Y por una unidad de un predictor MANTENIENDO CONSTANTES los demás (ceteris paribus): el efecto neto, no el bruto.</a:t>
            </a:r>
          </a:p>
        </p:txBody>
      </p:sp>
      <p:sp>
        <p:nvSpPr>
          <p:cNvPr id="8" name="Rounded Rectangle 7"/>
          <p:cNvSpPr/>
          <p:nvPr/>
        </p:nvSpPr>
        <p:spPr>
          <a:xfrm>
            <a:off x="548640" y="4434840"/>
            <a:ext cx="11094720" cy="123444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lightbulb__E4002B.png"/>
          <p:cNvPicPr>
            <a:picLocks noChangeAspect="1"/>
          </p:cNvPicPr>
          <p:nvPr/>
        </p:nvPicPr>
        <p:blipFill>
          <a:blip r:embed="rId3"/>
          <a:stretch>
            <a:fillRect/>
          </a:stretch>
        </p:blipFill>
        <p:spPr>
          <a:xfrm>
            <a:off x="841248" y="4617720"/>
            <a:ext cx="274320" cy="274320"/>
          </a:xfrm>
          <a:prstGeom prst="rect">
            <a:avLst/>
          </a:prstGeom>
        </p:spPr>
      </p:pic>
      <p:sp>
        <p:nvSpPr>
          <p:cNvPr id="10" name="TextBox 9"/>
          <p:cNvSpPr txBox="1"/>
          <p:nvPr/>
        </p:nvSpPr>
        <p:spPr>
          <a:xfrm>
            <a:off x="1207008" y="4608576"/>
            <a:ext cx="2743200" cy="274320"/>
          </a:xfrm>
          <a:prstGeom prst="rect">
            <a:avLst/>
          </a:prstGeom>
          <a:noFill/>
        </p:spPr>
        <p:txBody>
          <a:bodyPr wrap="square" anchor="t" lIns="0" rIns="0" tIns="0" bIns="0">
            <a:spAutoFit/>
          </a:bodyPr>
          <a:lstStyle/>
          <a:p>
            <a:pPr algn="l"/>
            <a:r>
              <a:rPr sz="1100" b="1">
                <a:solidFill>
                  <a:srgbClr val="9B1B30"/>
                </a:solidFill>
                <a:latin typeface="Calibri"/>
              </a:rPr>
              <a:t>EJEMPLO</a:t>
            </a:r>
          </a:p>
        </p:txBody>
      </p:sp>
      <p:sp>
        <p:nvSpPr>
          <p:cNvPr id="11" name="TextBox 10"/>
          <p:cNvSpPr txBox="1"/>
          <p:nvPr/>
        </p:nvSpPr>
        <p:spPr>
          <a:xfrm>
            <a:off x="859536" y="4956048"/>
            <a:ext cx="10472928" cy="640080"/>
          </a:xfrm>
          <a:prstGeom prst="rect">
            <a:avLst/>
          </a:prstGeom>
          <a:noFill/>
        </p:spPr>
        <p:txBody>
          <a:bodyPr wrap="square" anchor="t" lIns="0" rIns="0" tIns="0" bIns="0">
            <a:spAutoFit/>
          </a:bodyPr>
          <a:lstStyle/>
          <a:p>
            <a:pPr algn="l">
              <a:lnSpc>
                <a:spcPct val="115000"/>
              </a:lnSpc>
            </a:pPr>
            <a:r>
              <a:rPr sz="1500" b="0">
                <a:solidFill>
                  <a:srgbClr val="2D2D2D"/>
                </a:solidFill>
                <a:latin typeface="Calibri"/>
              </a:rPr>
              <a:t>El precio marginal del pie² con calidad y zona fijas no es el precio por pie² promedio del mercado.</a:t>
            </a:r>
          </a:p>
        </p:txBody>
      </p:sp>
      <p:sp>
        <p:nvSpPr>
          <p:cNvPr id="12" name="TextBox 11"/>
          <p:cNvSpPr txBox="1"/>
          <p:nvPr/>
        </p:nvSpPr>
        <p:spPr>
          <a:xfrm>
            <a:off x="548640" y="5961888"/>
            <a:ext cx="11094720" cy="292608"/>
          </a:xfrm>
          <a:prstGeom prst="rect">
            <a:avLst/>
          </a:prstGeom>
          <a:noFill/>
        </p:spPr>
        <p:txBody>
          <a:bodyPr wrap="square" anchor="t" lIns="0" rIns="0" tIns="0" bIns="0">
            <a:spAutoFit/>
          </a:bodyPr>
          <a:lstStyle/>
          <a:p>
            <a:pPr algn="l"/>
            <a:r>
              <a:rPr sz="1000" b="0">
                <a:solidFill>
                  <a:srgbClr val="6E6E6E"/>
                </a:solidFill>
                <a:latin typeface="Calibri"/>
              </a:rPr>
              <a:t>Definición: DEFINICIONES Sección 2 — ISLR Sección 3.2 (statlearning.com). Ceteris paribus = exogeneidad de SUPUESTOS_S04.md (Parte 1.2).</a:t>
            </a:r>
          </a:p>
        </p:txBody>
      </p:sp>
      <p:sp>
        <p:nvSpPr>
          <p:cNvPr id="13" name="Rounded Rectangle 12"/>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3.1, celda 14</a:t>
            </a:r>
          </a:p>
        </p:txBody>
      </p:sp>
      <p:sp>
        <p:nvSpPr>
          <p:cNvPr id="14" name="Oval 13"/>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S04 — Herramientas para la Ciencia de Datos, UPC</a:t>
            </a:r>
          </a:p>
        </p:txBody>
      </p:sp>
      <p:sp>
        <p:nvSpPr>
          <p:cNvPr id="16" name="TextBox 15"/>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8 / 22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CAPÍTULO 4.2 — ¿QUÉ ES UN COEFICIENTE PARCIAL?</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El coeficiente parcial responde «a igualdad de lo demás»</a:t>
            </a:r>
          </a:p>
        </p:txBody>
      </p:sp>
      <p:sp>
        <p:nvSpPr>
          <p:cNvPr id="4" name="Rounded Rectangle 3"/>
          <p:cNvSpPr/>
          <p:nvPr/>
        </p:nvSpPr>
        <p:spPr>
          <a:xfrm>
            <a:off x="54864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1</a:t>
            </a:r>
          </a:p>
        </p:txBody>
      </p:sp>
      <p:sp>
        <p:nvSpPr>
          <p:cNvPr id="6" name="TextBox 5"/>
          <p:cNvSpPr txBox="1"/>
          <p:nvPr/>
        </p:nvSpPr>
        <p:spPr>
          <a:xfrm>
            <a:off x="77724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Regresión simple</a:t>
            </a:r>
          </a:p>
        </p:txBody>
      </p:sp>
      <p:sp>
        <p:nvSpPr>
          <p:cNvPr id="7" name="TextBox 6"/>
          <p:cNvSpPr txBox="1"/>
          <p:nvPr/>
        </p:nvSpPr>
        <p:spPr>
          <a:xfrm>
            <a:off x="77724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Un solo predictor carga con el efecto de todos los que faltan, porque correlacionan con él.</a:t>
            </a:r>
          </a:p>
        </p:txBody>
      </p:sp>
      <p:sp>
        <p:nvSpPr>
          <p:cNvPr id="8" name="TextBox 7"/>
          <p:cNvSpPr txBox="1"/>
          <p:nvPr/>
        </p:nvSpPr>
        <p:spPr>
          <a:xfrm>
            <a:off x="77724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R² = 0,518 sobre Ames</a:t>
            </a:r>
          </a:p>
        </p:txBody>
      </p:sp>
      <p:sp>
        <p:nvSpPr>
          <p:cNvPr id="9" name="Rounded Rectangle 8"/>
          <p:cNvSpPr/>
          <p:nvPr/>
        </p:nvSpPr>
        <p:spPr>
          <a:xfrm>
            <a:off x="436880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59740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2</a:t>
            </a:r>
          </a:p>
        </p:txBody>
      </p:sp>
      <p:sp>
        <p:nvSpPr>
          <p:cNvPr id="11" name="TextBox 10"/>
          <p:cNvSpPr txBox="1"/>
          <p:nvPr/>
        </p:nvSpPr>
        <p:spPr>
          <a:xfrm>
            <a:off x="459740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Regresión múltiple</a:t>
            </a:r>
          </a:p>
        </p:txBody>
      </p:sp>
      <p:sp>
        <p:nvSpPr>
          <p:cNvPr id="12" name="TextBox 11"/>
          <p:cNvSpPr txBox="1"/>
          <p:nvPr/>
        </p:nvSpPr>
        <p:spPr>
          <a:xfrm>
            <a:off x="459740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Cada coeficiente mide el efecto de su variable con las demás fijas: eso es lo que una tasación necesita.</a:t>
            </a:r>
          </a:p>
        </p:txBody>
      </p:sp>
      <p:sp>
        <p:nvSpPr>
          <p:cNvPr id="13" name="TextBox 12"/>
          <p:cNvSpPr txBox="1"/>
          <p:nvPr/>
        </p:nvSpPr>
        <p:spPr>
          <a:xfrm>
            <a:off x="459740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R² = 0,847 con el modelo log</a:t>
            </a:r>
          </a:p>
        </p:txBody>
      </p:sp>
      <p:sp>
        <p:nvSpPr>
          <p:cNvPr id="14" name="Rounded Rectangle 13"/>
          <p:cNvSpPr/>
          <p:nvPr/>
        </p:nvSpPr>
        <p:spPr>
          <a:xfrm>
            <a:off x="818896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41756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3</a:t>
            </a:r>
          </a:p>
        </p:txBody>
      </p:sp>
      <p:sp>
        <p:nvSpPr>
          <p:cNvPr id="16" name="TextBox 15"/>
          <p:cNvSpPr txBox="1"/>
          <p:nvPr/>
        </p:nvSpPr>
        <p:spPr>
          <a:xfrm>
            <a:off x="841756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Lo que cambia</a:t>
            </a:r>
          </a:p>
        </p:txBody>
      </p:sp>
      <p:sp>
        <p:nvSpPr>
          <p:cNvPr id="17" name="TextBox 16"/>
          <p:cNvSpPr txBox="1"/>
          <p:nvPr/>
        </p:nvSpPr>
        <p:spPr>
          <a:xfrm>
            <a:off x="841756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No es el ajuste: es qué pregunta se puede responder con el coeficiente.</a:t>
            </a:r>
          </a:p>
        </p:txBody>
      </p:sp>
      <p:sp>
        <p:nvSpPr>
          <p:cNvPr id="18" name="TextBox 17"/>
          <p:cNvSpPr txBox="1"/>
          <p:nvPr/>
        </p:nvSpPr>
        <p:spPr>
          <a:xfrm>
            <a:off x="841756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De describir a tasar</a:t>
            </a:r>
          </a:p>
        </p:txBody>
      </p:sp>
      <p:sp>
        <p:nvSpPr>
          <p:cNvPr id="19" name="Oval 18"/>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S04 — Herramientas para la Ciencia de Datos, UPC</a:t>
            </a:r>
          </a:p>
        </p:txBody>
      </p:sp>
      <p:sp>
        <p:nvSpPr>
          <p:cNvPr id="21" name="TextBox 20"/>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9 / 22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3</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¿Cómo se obtiene el modelo con varios predictores?</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Capítulo 4.3 — jueves, bloques A1 y A2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ASÍ SE HACE — EL AJUSTE QUE PRODUCE LA RÉPLICA</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Así se ajusta el múltiple y se calcula el VIF</a:t>
            </a:r>
          </a:p>
        </p:txBody>
      </p:sp>
      <p:sp>
        <p:nvSpPr>
          <p:cNvPr id="4" name="TextBox 3"/>
          <p:cNvSpPr txBox="1"/>
          <p:nvPr/>
        </p:nvSpPr>
        <p:spPr>
          <a:xfrm>
            <a:off x="548640" y="1755648"/>
            <a:ext cx="11094720" cy="457200"/>
          </a:xfrm>
          <a:prstGeom prst="rect">
            <a:avLst/>
          </a:prstGeom>
          <a:noFill/>
        </p:spPr>
        <p:txBody>
          <a:bodyPr wrap="square" lIns="0" tIns="0" bIns="0">
            <a:spAutoFit/>
          </a:bodyPr>
          <a:lstStyle/>
          <a:p>
            <a:r>
              <a:rPr sz="1400" b="1">
                <a:solidFill>
                  <a:srgbClr val="9B1B30"/>
                </a:solidFill>
                <a:latin typeface="Calibri"/>
              </a:rPr>
              <a:t>▸ Qué hace:  </a:t>
            </a:r>
            <a:r>
              <a:rPr sz="1400">
                <a:solidFill>
                  <a:srgbClr val="2D2D2D"/>
                </a:solidFill>
                <a:latin typeface="Calibri"/>
              </a:rPr>
              <a:t>ajusta log(SalePrice) ~ 5 factores (R² = 0,85) y calcula el VIF de cada predictor: máximo 2,47, todos bajo 5.</a:t>
            </a:r>
          </a:p>
        </p:txBody>
      </p:sp>
      <p:sp>
        <p:nvSpPr>
          <p:cNvPr id="5" name="Rounded Rectangle 4"/>
          <p:cNvSpPr/>
          <p:nvPr/>
        </p:nvSpPr>
        <p:spPr>
          <a:xfrm>
            <a:off x="548640" y="2395728"/>
            <a:ext cx="11094720" cy="2980944"/>
          </a:xfrm>
          <a:prstGeom prst="roundRect">
            <a:avLst/>
          </a:prstGeom>
          <a:solidFill>
            <a:srgbClr val="F4F4F4"/>
          </a:solidFill>
          <a:ln w="9525">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2542032"/>
            <a:ext cx="10637520" cy="256032"/>
          </a:xfrm>
          <a:prstGeom prst="rect">
            <a:avLst/>
          </a:prstGeom>
          <a:noFill/>
        </p:spPr>
        <p:txBody>
          <a:bodyPr wrap="none" lIns="0" tIns="0" bIns="0">
            <a:spAutoFit/>
          </a:bodyPr>
          <a:lstStyle/>
          <a:p>
            <a:r>
              <a:rPr sz="1050" b="1">
                <a:solidFill>
                  <a:srgbClr val="9B1B30"/>
                </a:solidFill>
                <a:latin typeface="Calibri"/>
              </a:rPr>
              <a:t>CÓDIGO REAL DEL CUADERNO</a:t>
            </a:r>
          </a:p>
        </p:txBody>
      </p:sp>
      <p:sp>
        <p:nvSpPr>
          <p:cNvPr id="7" name="TextBox 6"/>
          <p:cNvSpPr txBox="1"/>
          <p:nvPr/>
        </p:nvSpPr>
        <p:spPr>
          <a:xfrm>
            <a:off x="859536" y="2926080"/>
            <a:ext cx="10472928" cy="2377440"/>
          </a:xfrm>
          <a:prstGeom prst="rect">
            <a:avLst/>
          </a:prstGeom>
          <a:noFill/>
        </p:spPr>
        <p:txBody>
          <a:bodyPr wrap="square" lIns="0" tIns="0" bIns="0">
            <a:spAutoFit/>
          </a:bodyPr>
          <a:lstStyle/>
          <a:p>
            <a:pPr>
              <a:lnSpc>
                <a:spcPct val="130000"/>
              </a:lnSpc>
              <a:spcAft>
                <a:spcPts val="400"/>
              </a:spcAft>
            </a:pPr>
            <a:r>
              <a:rPr sz="1200">
                <a:solidFill>
                  <a:srgbClr val="2D2D2D"/>
                </a:solidFill>
                <a:latin typeface="Consolas"/>
              </a:rPr>
              <a:t>import statsmodels.api as sm</a:t>
            </a:r>
          </a:p>
          <a:p>
            <a:pPr>
              <a:lnSpc>
                <a:spcPct val="130000"/>
              </a:lnSpc>
              <a:spcAft>
                <a:spcPts val="400"/>
              </a:spcAft>
            </a:pPr>
            <a:r>
              <a:rPr sz="1200">
                <a:solidFill>
                  <a:srgbClr val="2D2D2D"/>
                </a:solidFill>
                <a:latin typeface="Consolas"/>
              </a:rPr>
              <a:t>from statsmodels.stats.outliers_influence import variance_inflation_factor</a:t>
            </a:r>
          </a:p>
          <a:p>
            <a:pPr>
              <a:lnSpc>
                <a:spcPct val="130000"/>
              </a:lnSpc>
              <a:spcAft>
                <a:spcPts val="400"/>
              </a:spcAft>
            </a:pPr>
            <a:r>
              <a:rPr sz="1200">
                <a:solidFill>
                  <a:srgbClr val="2D2D2D"/>
                </a:solidFill>
                <a:latin typeface="Consolas"/>
              </a:rPr>
              <a:t>X = sm.add_constant(ames[["Overall Qual", "Gr Liv Area", "Garage Cars",</a:t>
            </a:r>
          </a:p>
          <a:p>
            <a:pPr>
              <a:lnSpc>
                <a:spcPct val="130000"/>
              </a:lnSpc>
              <a:spcAft>
                <a:spcPts val="400"/>
              </a:spcAft>
            </a:pPr>
            <a:r>
              <a:rPr sz="1200">
                <a:solidFill>
                  <a:srgbClr val="2D2D2D"/>
                </a:solidFill>
                <a:latin typeface="Consolas"/>
              </a:rPr>
              <a:t>                          "Total Bsmt SF", "Year Built"]])</a:t>
            </a:r>
          </a:p>
          <a:p>
            <a:pPr>
              <a:lnSpc>
                <a:spcPct val="130000"/>
              </a:lnSpc>
              <a:spcAft>
                <a:spcPts val="400"/>
              </a:spcAft>
            </a:pPr>
            <a:r>
              <a:rPr sz="1200">
                <a:solidFill>
                  <a:srgbClr val="2D2D2D"/>
                </a:solidFill>
                <a:latin typeface="Consolas"/>
              </a:rPr>
              <a:t>modelo = sm.OLS(np.log(ames["SalePrice"]), X).fit()   # log(precio) ~ 5 factores</a:t>
            </a:r>
          </a:p>
          <a:p>
            <a:pPr>
              <a:lnSpc>
                <a:spcPct val="130000"/>
              </a:lnSpc>
              <a:spcAft>
                <a:spcPts val="400"/>
              </a:spcAft>
            </a:pPr>
            <a:r>
              <a:rPr sz="1200">
                <a:solidFill>
                  <a:srgbClr val="2D2D2D"/>
                </a:solidFill>
                <a:latin typeface="Consolas"/>
              </a:rPr>
              <a:t>vif = [variance_inflation_factor(X.values, j) for j in range(1, X.shape[1])]</a:t>
            </a:r>
          </a:p>
        </p:txBody>
      </p:sp>
      <p:sp>
        <p:nvSpPr>
          <p:cNvPr id="8" name="TextBox 7"/>
          <p:cNvSpPr txBox="1"/>
          <p:nvPr/>
        </p:nvSpPr>
        <p:spPr>
          <a:xfrm>
            <a:off x="548640" y="5961888"/>
            <a:ext cx="11094720" cy="292608"/>
          </a:xfrm>
          <a:prstGeom prst="rect">
            <a:avLst/>
          </a:prstGeom>
          <a:noFill/>
        </p:spPr>
        <p:txBody>
          <a:bodyPr wrap="square" anchor="t" lIns="0" rIns="0" tIns="0" bIns="0">
            <a:spAutoFit/>
          </a:bodyPr>
          <a:lstStyle/>
          <a:p>
            <a:pPr algn="l"/>
            <a:r>
              <a:rPr sz="1000" b="0">
                <a:solidFill>
                  <a:srgbClr val="6E6E6E"/>
                </a:solidFill>
                <a:latin typeface="Calibri"/>
              </a:rPr>
              <a:t>notebook celdas 74 (ajuste múltiple) y 115 (VIF de la figura). R² y VIF de resultados/S04_resultados.xlsx (regresion_ames, diagnostico_vif).</a:t>
            </a:r>
          </a:p>
        </p:txBody>
      </p:sp>
      <p:sp>
        <p:nvSpPr>
          <p:cNvPr id="9" name="Rounded Rectangle 8"/>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4, T4, celda 74</a:t>
            </a:r>
          </a:p>
        </p:txBody>
      </p:sp>
      <p:sp>
        <p:nvSpPr>
          <p:cNvPr id="10" name="Oval 9"/>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S04 — Herramientas para la Ciencia de Datos, UPC</a:t>
            </a:r>
          </a:p>
        </p:txBody>
      </p:sp>
      <p:sp>
        <p:nvSpPr>
          <p:cNvPr id="12" name="TextBox 11"/>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11 / 22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MULTICOLINEALIDAD — EL DIAGNÓSTICO ESTRELLA DE S04</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Con un solo garaje, los cinco VIF quedan bajo 5</a:t>
            </a:r>
          </a:p>
        </p:txBody>
      </p:sp>
      <p:pic>
        <p:nvPicPr>
          <p:cNvPr id="4" name="Picture 3" descr="deck_vif.png"/>
          <p:cNvPicPr>
            <a:picLocks noChangeAspect="1"/>
          </p:cNvPicPr>
          <p:nvPr/>
        </p:nvPicPr>
        <p:blipFill>
          <a:blip r:embed="rId2"/>
          <a:stretch>
            <a:fillRect/>
          </a:stretch>
        </p:blipFill>
        <p:spPr>
          <a:xfrm>
            <a:off x="548640" y="1828800"/>
            <a:ext cx="6088869" cy="3383280"/>
          </a:xfrm>
          <a:prstGeom prst="rect">
            <a:avLst/>
          </a:prstGeom>
        </p:spPr>
      </p:pic>
      <p:sp>
        <p:nvSpPr>
          <p:cNvPr id="5" name="Oval 4"/>
          <p:cNvSpPr/>
          <p:nvPr/>
        </p:nvSpPr>
        <p:spPr>
          <a:xfrm>
            <a:off x="7955279" y="2011680"/>
            <a:ext cx="548640" cy="5486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ightbulb__FFFFFF.png"/>
          <p:cNvPicPr>
            <a:picLocks noChangeAspect="1"/>
          </p:cNvPicPr>
          <p:nvPr/>
        </p:nvPicPr>
        <p:blipFill>
          <a:blip r:embed="rId3"/>
          <a:stretch>
            <a:fillRect/>
          </a:stretch>
        </p:blipFill>
        <p:spPr>
          <a:xfrm>
            <a:off x="8108898" y="2165299"/>
            <a:ext cx="241402" cy="241402"/>
          </a:xfrm>
          <a:prstGeom prst="rect">
            <a:avLst/>
          </a:prstGeom>
        </p:spPr>
      </p:pic>
      <p:sp>
        <p:nvSpPr>
          <p:cNvPr id="7" name="TextBox 6"/>
          <p:cNvSpPr txBox="1"/>
          <p:nvPr/>
        </p:nvSpPr>
        <p:spPr>
          <a:xfrm>
            <a:off x="8686800" y="2057400"/>
            <a:ext cx="2926080" cy="548640"/>
          </a:xfrm>
          <a:prstGeom prst="rect">
            <a:avLst/>
          </a:prstGeom>
          <a:noFill/>
        </p:spPr>
        <p:txBody>
          <a:bodyPr wrap="square" anchor="t" lIns="0" rIns="0" tIns="0" bIns="0">
            <a:spAutoFit/>
          </a:bodyPr>
          <a:lstStyle/>
          <a:p>
            <a:pPr algn="l"/>
            <a:r>
              <a:rPr sz="1500" b="1">
                <a:solidFill>
                  <a:srgbClr val="9B1B30"/>
                </a:solidFill>
                <a:latin typeface="Calibri"/>
              </a:rPr>
              <a:t>Lectura de negocio</a:t>
            </a:r>
          </a:p>
        </p:txBody>
      </p:sp>
      <p:sp>
        <p:nvSpPr>
          <p:cNvPr id="8" name="TextBox 7"/>
          <p:cNvSpPr txBox="1"/>
          <p:nvPr/>
        </p:nvSpPr>
        <p:spPr>
          <a:xfrm>
            <a:off x="7955279" y="2880360"/>
            <a:ext cx="3657600" cy="3108960"/>
          </a:xfrm>
          <a:prstGeom prst="rect">
            <a:avLst/>
          </a:prstGeom>
          <a:noFill/>
        </p:spPr>
        <p:txBody>
          <a:bodyPr wrap="square" anchor="t" lIns="0" rIns="0" tIns="0" bIns="0">
            <a:spAutoFit/>
          </a:bodyPr>
          <a:lstStyle/>
          <a:p>
            <a:pPr algn="l">
              <a:lnSpc>
                <a:spcPct val="125000"/>
              </a:lnSpc>
            </a:pPr>
            <a:r>
              <a:rPr sz="1500" b="0">
                <a:solidFill>
                  <a:srgbClr val="2D2D2D"/>
                </a:solidFill>
                <a:latin typeface="Calibri"/>
              </a:rPr>
              <a:t>VIF = 1/(1−R²ⱼ); más de 5 preocupa. Overall Qual es el mayor con 2,47: los coeficientes son interpretables con confianza.</a:t>
            </a:r>
          </a:p>
        </p:txBody>
      </p:sp>
      <p:sp>
        <p:nvSpPr>
          <p:cNvPr id="9" name="TextBox 8"/>
          <p:cNvSpPr txBox="1"/>
          <p:nvPr/>
        </p:nvSpPr>
        <p:spPr>
          <a:xfrm>
            <a:off x="548640" y="5961888"/>
            <a:ext cx="11094720" cy="292608"/>
          </a:xfrm>
          <a:prstGeom prst="rect">
            <a:avLst/>
          </a:prstGeom>
          <a:noFill/>
        </p:spPr>
        <p:txBody>
          <a:bodyPr wrap="square" anchor="t" lIns="0" rIns="0" tIns="0" bIns="0">
            <a:spAutoFit/>
          </a:bodyPr>
          <a:lstStyle/>
          <a:p>
            <a:pPr algn="l"/>
            <a:r>
              <a:rPr sz="1000" b="0">
                <a:solidFill>
                  <a:srgbClr val="6E6E6E"/>
                </a:solidFill>
                <a:latin typeface="Calibri"/>
              </a:rPr>
              <a:t>Multicolinealidad y VIF — ISLR Sección 3.3.3 / statsmodels — Ames n=2923 — resultados/S04_resultados.xlsx!diagnostico_vif.</a:t>
            </a:r>
          </a:p>
        </p:txBody>
      </p:sp>
      <p:sp>
        <p:nvSpPr>
          <p:cNvPr id="10" name="Rounded Rectangle 9"/>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8, Diag. 1.5, celda 115</a:t>
            </a:r>
          </a:p>
        </p:txBody>
      </p:sp>
      <p:sp>
        <p:nvSpPr>
          <p:cNvPr id="11" name="Oval 10"/>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S04 — Herramientas para la Ciencia de Datos, UPC</a:t>
            </a:r>
          </a:p>
        </p:txBody>
      </p:sp>
      <p:sp>
        <p:nvSpPr>
          <p:cNvPr id="13" name="TextBox 12"/>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12 / 22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CEDEE"/>
        </a:solidFill>
        <a:effectLst/>
      </p:bgPr>
    </p:bg>
    <p:spTree>
      <p:nvGrpSpPr>
        <p:cNvPr id="1" name=""/>
        <p:cNvGrpSpPr/>
        <p:nvPr/>
      </p:nvGrpSpPr>
      <p:grpSpPr/>
      <p:sp>
        <p:nvSpPr>
          <p:cNvPr id="2" name="Oval 1"/>
          <p:cNvSpPr/>
          <p:nvPr/>
        </p:nvSpPr>
        <p:spPr>
          <a:xfrm>
            <a:off x="5593080" y="914400"/>
            <a:ext cx="1005840" cy="10058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4400" b="1">
                <a:solidFill>
                  <a:srgbClr val="FFFFFF"/>
                </a:solidFill>
                <a:latin typeface="Calibri"/>
              </a:rPr>
              <a:t>?</a:t>
            </a:r>
          </a:p>
        </p:txBody>
      </p:sp>
      <p:sp>
        <p:nvSpPr>
          <p:cNvPr id="3" name="TextBox 2"/>
          <p:cNvSpPr txBox="1"/>
          <p:nvPr/>
        </p:nvSpPr>
        <p:spPr>
          <a:xfrm>
            <a:off x="1371600" y="2468880"/>
            <a:ext cx="9448800" cy="2011680"/>
          </a:xfrm>
          <a:prstGeom prst="rect">
            <a:avLst/>
          </a:prstGeom>
          <a:noFill/>
        </p:spPr>
        <p:txBody>
          <a:bodyPr wrap="square" anchor="t" lIns="0" rIns="0" tIns="0" bIns="0">
            <a:spAutoFit/>
          </a:bodyPr>
          <a:lstStyle/>
          <a:p>
            <a:pPr algn="ctr"/>
            <a:r>
              <a:rPr sz="3200" b="1">
                <a:solidFill>
                  <a:srgbClr val="9B1B30"/>
                </a:solidFill>
                <a:latin typeface="Calibri"/>
              </a:rPr>
              <a:t>¿Puede un coeficiente cambiar de signo al añadir otra variable?</a:t>
            </a:r>
          </a:p>
        </p:txBody>
      </p:sp>
      <p:sp>
        <p:nvSpPr>
          <p:cNvPr id="4" name="TextBox 3"/>
          <p:cNvSpPr txBox="1"/>
          <p:nvPr/>
        </p:nvSpPr>
        <p:spPr>
          <a:xfrm>
            <a:off x="2011680" y="4754880"/>
            <a:ext cx="8168640" cy="1280160"/>
          </a:xfrm>
          <a:prstGeom prst="rect">
            <a:avLst/>
          </a:prstGeom>
          <a:noFill/>
        </p:spPr>
        <p:txBody>
          <a:bodyPr wrap="square" anchor="t" lIns="0" rIns="0" tIns="0" bIns="0">
            <a:spAutoFit/>
          </a:bodyPr>
          <a:lstStyle/>
          <a:p>
            <a:pPr algn="ctr"/>
            <a:r>
              <a:rPr sz="1500" b="0">
                <a:solidFill>
                  <a:srgbClr val="2D2D2D"/>
                </a:solidFill>
                <a:latin typeface="Calibri"/>
              </a:rPr>
              <a:t>Discusión en parejas (2 min): con dos predictores casi idénticos (r ≈ 0,89), ¿por qué se vuelven inestables los coeficientes?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4</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¿Cómo se mide si la incorporación de variables aportó valor?</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Capítulo 4.4 — jueves, bloques A1 y A2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828800"/>
            <a:ext cx="5852160" cy="2926080"/>
          </a:xfrm>
          <a:prstGeom prst="rect">
            <a:avLst/>
          </a:prstGeom>
          <a:noFill/>
        </p:spPr>
        <p:txBody>
          <a:bodyPr wrap="square" anchor="t" lIns="0" rIns="0" tIns="0" bIns="0">
            <a:spAutoFit/>
          </a:bodyPr>
          <a:lstStyle/>
          <a:p>
            <a:pPr algn="l"/>
            <a:r>
              <a:rPr sz="14000" b="1">
                <a:solidFill>
                  <a:srgbClr val="E4002B"/>
                </a:solidFill>
                <a:latin typeface="Calibri"/>
              </a:rPr>
              <a:t>5</a:t>
            </a:r>
          </a:p>
        </p:txBody>
      </p:sp>
      <p:sp>
        <p:nvSpPr>
          <p:cNvPr id="3" name="TextBox 2"/>
          <p:cNvSpPr txBox="1"/>
          <p:nvPr/>
        </p:nvSpPr>
        <p:spPr>
          <a:xfrm>
            <a:off x="6766560" y="2286000"/>
            <a:ext cx="4846320" cy="1371600"/>
          </a:xfrm>
          <a:prstGeom prst="rect">
            <a:avLst/>
          </a:prstGeom>
          <a:noFill/>
        </p:spPr>
        <p:txBody>
          <a:bodyPr wrap="square" anchor="t" lIns="0" rIns="0" tIns="0" bIns="0">
            <a:spAutoFit/>
          </a:bodyPr>
          <a:lstStyle/>
          <a:p>
            <a:pPr algn="l"/>
            <a:r>
              <a:rPr sz="2600" b="1">
                <a:solidFill>
                  <a:srgbClr val="2D2D2D"/>
                </a:solidFill>
                <a:latin typeface="Calibri"/>
              </a:rPr>
              <a:t>Borrar con criterio, no por ser extremo</a:t>
            </a:r>
          </a:p>
        </p:txBody>
      </p:sp>
      <p:sp>
        <p:nvSpPr>
          <p:cNvPr id="4" name="TextBox 3"/>
          <p:cNvSpPr txBox="1"/>
          <p:nvPr/>
        </p:nvSpPr>
        <p:spPr>
          <a:xfrm>
            <a:off x="6766560" y="3749039"/>
            <a:ext cx="4846320" cy="2011680"/>
          </a:xfrm>
          <a:prstGeom prst="rect">
            <a:avLst/>
          </a:prstGeom>
          <a:noFill/>
        </p:spPr>
        <p:txBody>
          <a:bodyPr wrap="square" anchor="t" lIns="0" rIns="0" tIns="0" bIns="0">
            <a:spAutoFit/>
          </a:bodyPr>
          <a:lstStyle/>
          <a:p>
            <a:pPr algn="l">
              <a:lnSpc>
                <a:spcPct val="120000"/>
              </a:lnSpc>
            </a:pPr>
            <a:r>
              <a:rPr sz="1500" b="0">
                <a:solidFill>
                  <a:srgbClr val="6E6E6E"/>
                </a:solidFill>
                <a:latin typeface="Calibri"/>
              </a:rPr>
              <a:t>3 ventas parciales + 1 anormal + 1 normal, todas &gt; 4000 pie². La distancia de Cook las señala como candidatas; el analista decide.</a:t>
            </a:r>
          </a:p>
        </p:txBody>
      </p:sp>
      <p:pic>
        <p:nvPicPr>
          <p:cNvPr id="5" name="Picture 4" descr="circle-check__E4002B.png"/>
          <p:cNvPicPr>
            <a:picLocks noChangeAspect="1"/>
          </p:cNvPicPr>
          <p:nvPr/>
        </p:nvPicPr>
        <p:blipFill>
          <a:blip r:embed="rId2"/>
          <a:stretch>
            <a:fillRect/>
          </a:stretch>
        </p:blipFill>
        <p:spPr>
          <a:xfrm>
            <a:off x="6766560" y="1325880"/>
            <a:ext cx="658368" cy="658368"/>
          </a:xfrm>
          <a:prstGeom prst="rect">
            <a:avLst/>
          </a:prstGeom>
        </p:spPr>
      </p:pic>
      <p:sp>
        <p:nvSpPr>
          <p:cNvPr id="6" name="TextBox 5"/>
          <p:cNvSpPr txBox="1"/>
          <p:nvPr/>
        </p:nvSpPr>
        <p:spPr>
          <a:xfrm>
            <a:off x="548640" y="5989320"/>
            <a:ext cx="11091672" cy="292608"/>
          </a:xfrm>
          <a:prstGeom prst="rect">
            <a:avLst/>
          </a:prstGeom>
          <a:noFill/>
        </p:spPr>
        <p:txBody>
          <a:bodyPr wrap="square">
            <a:spAutoFit/>
          </a:bodyPr>
          <a:lstStyle/>
          <a:p>
            <a:r>
              <a:rPr sz="1000">
                <a:solidFill>
                  <a:srgbClr val="6E6E6E"/>
                </a:solidFill>
                <a:latin typeface="Calibri"/>
              </a:rPr>
              <a:t>Ames (De Cock, 2011). Nº de atípicas — resultados/S04_resultados.xlsx!regresion_ames (B3); condición de venta y distancia de Cook — REPLICACION_PAPER.md Sección 3.</a:t>
            </a:r>
          </a:p>
        </p:txBody>
      </p:sp>
      <p:sp>
        <p:nvSpPr>
          <p:cNvPr id="7" name="Oval 6"/>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S04 — Herramientas para la Ciencia de Datos, UPC</a:t>
            </a:r>
          </a:p>
        </p:txBody>
      </p:sp>
      <p:sp>
        <p:nvSpPr>
          <p:cNvPr id="9" name="TextBox 8"/>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15 / 22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DEL SIMPLE AL MÚLTIPLE — CUÁNTO EXPLICA (Y CON QUÉ REGLA)</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El R² pasa de 0,52 a 0,85, pero no en la misma escala</a:t>
            </a:r>
          </a:p>
        </p:txBody>
      </p:sp>
      <p:pic>
        <p:nvPicPr>
          <p:cNvPr id="4" name="Picture 3" descr="deck_poder_explicativo.png"/>
          <p:cNvPicPr>
            <a:picLocks noChangeAspect="1"/>
          </p:cNvPicPr>
          <p:nvPr/>
        </p:nvPicPr>
        <p:blipFill>
          <a:blip r:embed="rId2"/>
          <a:stretch>
            <a:fillRect/>
          </a:stretch>
        </p:blipFill>
        <p:spPr>
          <a:xfrm>
            <a:off x="548640" y="1828800"/>
            <a:ext cx="5256132" cy="3566160"/>
          </a:xfrm>
          <a:prstGeom prst="rect">
            <a:avLst/>
          </a:prstGeom>
        </p:spPr>
      </p:pic>
      <p:sp>
        <p:nvSpPr>
          <p:cNvPr id="5" name="Oval 4"/>
          <p:cNvSpPr/>
          <p:nvPr/>
        </p:nvSpPr>
        <p:spPr>
          <a:xfrm>
            <a:off x="7955279" y="2011680"/>
            <a:ext cx="548640" cy="5486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ightbulb__FFFFFF.png"/>
          <p:cNvPicPr>
            <a:picLocks noChangeAspect="1"/>
          </p:cNvPicPr>
          <p:nvPr/>
        </p:nvPicPr>
        <p:blipFill>
          <a:blip r:embed="rId3"/>
          <a:stretch>
            <a:fillRect/>
          </a:stretch>
        </p:blipFill>
        <p:spPr>
          <a:xfrm>
            <a:off x="8108898" y="2165299"/>
            <a:ext cx="241402" cy="241402"/>
          </a:xfrm>
          <a:prstGeom prst="rect">
            <a:avLst/>
          </a:prstGeom>
        </p:spPr>
      </p:pic>
      <p:sp>
        <p:nvSpPr>
          <p:cNvPr id="7" name="TextBox 6"/>
          <p:cNvSpPr txBox="1"/>
          <p:nvPr/>
        </p:nvSpPr>
        <p:spPr>
          <a:xfrm>
            <a:off x="8686800" y="2057400"/>
            <a:ext cx="2926080" cy="548640"/>
          </a:xfrm>
          <a:prstGeom prst="rect">
            <a:avLst/>
          </a:prstGeom>
          <a:noFill/>
        </p:spPr>
        <p:txBody>
          <a:bodyPr wrap="square" anchor="t" lIns="0" rIns="0" tIns="0" bIns="0">
            <a:spAutoFit/>
          </a:bodyPr>
          <a:lstStyle/>
          <a:p>
            <a:pPr algn="l"/>
            <a:r>
              <a:rPr sz="1500" b="1">
                <a:solidFill>
                  <a:srgbClr val="9B1B30"/>
                </a:solidFill>
                <a:latin typeface="Calibri"/>
              </a:rPr>
              <a:t>Lectura de negocio</a:t>
            </a:r>
          </a:p>
        </p:txBody>
      </p:sp>
      <p:sp>
        <p:nvSpPr>
          <p:cNvPr id="8" name="TextBox 7"/>
          <p:cNvSpPr txBox="1"/>
          <p:nvPr/>
        </p:nvSpPr>
        <p:spPr>
          <a:xfrm>
            <a:off x="7955279" y="2880360"/>
            <a:ext cx="3657600" cy="3108960"/>
          </a:xfrm>
          <a:prstGeom prst="rect">
            <a:avLst/>
          </a:prstGeom>
          <a:noFill/>
        </p:spPr>
        <p:txBody>
          <a:bodyPr wrap="square" anchor="t" lIns="0" rIns="0" tIns="0" bIns="0">
            <a:spAutoFit/>
          </a:bodyPr>
          <a:lstStyle/>
          <a:p>
            <a:pPr algn="l">
              <a:lnSpc>
                <a:spcPct val="125000"/>
              </a:lnSpc>
            </a:pPr>
            <a:r>
              <a:rPr sz="1500" b="0">
                <a:solidFill>
                  <a:srgbClr val="2D2D2D"/>
                </a:solidFill>
                <a:latin typeface="Calibri"/>
              </a:rPr>
              <a:t>0,52 (NIVEL) y 0,85 (LOG) no son comparables. Ya en USD, el log recorta 6 027 USD de error por tasación.</a:t>
            </a:r>
          </a:p>
        </p:txBody>
      </p:sp>
      <p:sp>
        <p:nvSpPr>
          <p:cNvPr id="9" name="TextBox 8"/>
          <p:cNvSpPr txBox="1"/>
          <p:nvPr/>
        </p:nvSpPr>
        <p:spPr>
          <a:xfrm>
            <a:off x="548640" y="5961888"/>
            <a:ext cx="11094720" cy="292608"/>
          </a:xfrm>
          <a:prstGeom prst="rect">
            <a:avLst/>
          </a:prstGeom>
          <a:noFill/>
        </p:spPr>
        <p:txBody>
          <a:bodyPr wrap="square" anchor="t" lIns="0" rIns="0" tIns="0" bIns="0">
            <a:spAutoFit/>
          </a:bodyPr>
          <a:lstStyle/>
          <a:p>
            <a:pPr algn="l"/>
            <a:r>
              <a:rPr sz="1000" b="0">
                <a:solidFill>
                  <a:srgbClr val="6E6E6E"/>
                </a:solidFill>
                <a:latin typeface="Calibri"/>
              </a:rPr>
              <a:t>R² — ISLR Sección 3.2.2, Ames n=2923, chart reconstruido de resultados/S04_resultados.xlsx!regresion_ames (B4 nivel, B5 log); comparación en USD por retransformación de Duan (1983) — hoja retransformacion_duan (B8).</a:t>
            </a:r>
          </a:p>
        </p:txBody>
      </p:sp>
      <p:sp>
        <p:nvSpPr>
          <p:cNvPr id="10" name="Rounded Rectangle 9"/>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4, T4, celda 74</a:t>
            </a:r>
          </a:p>
        </p:txBody>
      </p:sp>
      <p:sp>
        <p:nvSpPr>
          <p:cNvPr id="11" name="Oval 10"/>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S04 — Herramientas para la Ciencia de Datos, UPC</a:t>
            </a:r>
          </a:p>
        </p:txBody>
      </p:sp>
      <p:sp>
        <p:nvSpPr>
          <p:cNvPr id="13" name="TextBox 12"/>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16 / 22</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CAPÍTULO 4.4 — ¿CÓMO SE MIDE SI LA INCORPORACIÓN APORTÓ VALOR?</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El R² dentro de la muestra siempre sube; el error fuera, no</a:t>
            </a:r>
          </a:p>
        </p:txBody>
      </p:sp>
      <p:pic>
        <p:nvPicPr>
          <p:cNvPr id="4" name="Picture 3" descr="S04_comparacion_cv.png"/>
          <p:cNvPicPr>
            <a:picLocks noChangeAspect="1"/>
          </p:cNvPicPr>
          <p:nvPr/>
        </p:nvPicPr>
        <p:blipFill>
          <a:blip r:embed="rId2"/>
          <a:stretch>
            <a:fillRect/>
          </a:stretch>
        </p:blipFill>
        <p:spPr>
          <a:xfrm>
            <a:off x="548640" y="1828800"/>
            <a:ext cx="6949440" cy="2835201"/>
          </a:xfrm>
          <a:prstGeom prst="rect">
            <a:avLst/>
          </a:prstGeom>
        </p:spPr>
      </p:pic>
      <p:sp>
        <p:nvSpPr>
          <p:cNvPr id="5" name="Oval 4"/>
          <p:cNvSpPr/>
          <p:nvPr/>
        </p:nvSpPr>
        <p:spPr>
          <a:xfrm>
            <a:off x="7955279" y="2011680"/>
            <a:ext cx="548640" cy="5486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3"/>
          <a:stretch>
            <a:fillRect/>
          </a:stretch>
        </p:blipFill>
        <p:spPr>
          <a:xfrm>
            <a:off x="8108898" y="2165299"/>
            <a:ext cx="241402" cy="241402"/>
          </a:xfrm>
          <a:prstGeom prst="rect">
            <a:avLst/>
          </a:prstGeom>
        </p:spPr>
      </p:pic>
      <p:sp>
        <p:nvSpPr>
          <p:cNvPr id="7" name="TextBox 6"/>
          <p:cNvSpPr txBox="1"/>
          <p:nvPr/>
        </p:nvSpPr>
        <p:spPr>
          <a:xfrm>
            <a:off x="8686800" y="2057400"/>
            <a:ext cx="2926080" cy="548640"/>
          </a:xfrm>
          <a:prstGeom prst="rect">
            <a:avLst/>
          </a:prstGeom>
          <a:noFill/>
        </p:spPr>
        <p:txBody>
          <a:bodyPr wrap="square" anchor="t" lIns="0" rIns="0" tIns="0" bIns="0">
            <a:spAutoFit/>
          </a:bodyPr>
          <a:lstStyle/>
          <a:p>
            <a:pPr algn="l"/>
            <a:r>
              <a:rPr sz="1500" b="1">
                <a:solidFill>
                  <a:srgbClr val="9B1B30"/>
                </a:solidFill>
                <a:latin typeface="Calibri"/>
              </a:rPr>
              <a:t>Lectura de negocio</a:t>
            </a:r>
          </a:p>
        </p:txBody>
      </p:sp>
      <p:sp>
        <p:nvSpPr>
          <p:cNvPr id="8" name="TextBox 7"/>
          <p:cNvSpPr txBox="1"/>
          <p:nvPr/>
        </p:nvSpPr>
        <p:spPr>
          <a:xfrm>
            <a:off x="7955279" y="2880360"/>
            <a:ext cx="3657600" cy="3108960"/>
          </a:xfrm>
          <a:prstGeom prst="rect">
            <a:avLst/>
          </a:prstGeom>
          <a:noFill/>
        </p:spPr>
        <p:txBody>
          <a:bodyPr wrap="square" anchor="t" lIns="0" rIns="0" tIns="0" bIns="0">
            <a:spAutoFit/>
          </a:bodyPr>
          <a:lstStyle/>
          <a:p>
            <a:pPr algn="l">
              <a:lnSpc>
                <a:spcPct val="125000"/>
              </a:lnSpc>
            </a:pPr>
            <a:r>
              <a:rPr sz="1500" b="0">
                <a:solidFill>
                  <a:srgbClr val="2D2D2D"/>
                </a:solidFill>
                <a:latin typeface="Calibri"/>
              </a:rPr>
              <a:t>Añadir una variable nunca baja el R².
El R² ajustado descuenta parámetros, pero sigue midiéndose dentro de la muestra.
La única respuesta a «¿generaliza?» es la validación cruzada.</a:t>
            </a:r>
          </a:p>
        </p:txBody>
      </p:sp>
      <p:sp>
        <p:nvSpPr>
          <p:cNvPr id="9" name="Oval 8"/>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S04 — Herramientas para la Ciencia de Datos, UPC</a:t>
            </a:r>
          </a:p>
        </p:txBody>
      </p:sp>
      <p:sp>
        <p:nvSpPr>
          <p:cNvPr id="11" name="TextBox 10"/>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17 / 22</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5</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Capítulo 4.5</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¿Se sostiene con datos reales? La réplica de Ames (De Cock, 2011)</a:t>
            </a:r>
          </a:p>
        </p:txBody>
      </p:sp>
      <p:pic>
        <p:nvPicPr>
          <p:cNvPr id="5" name="Picture 4" descr="book-open__FFFFFF.png"/>
          <p:cNvPicPr>
            <a:picLocks noChangeAspect="1"/>
          </p:cNvPicPr>
          <p:nvPr/>
        </p:nvPicPr>
        <p:blipFill>
          <a:blip r:embed="rId2"/>
          <a:stretch>
            <a:fillRect/>
          </a:stretch>
        </p:blipFill>
        <p:spPr>
          <a:xfrm>
            <a:off x="10195560" y="640080"/>
            <a:ext cx="1051560" cy="105156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2D2D2D"/>
        </a:solidFill>
        <a:effectLst/>
      </p:bgPr>
    </p:bg>
    <p:spTree>
      <p:nvGrpSpPr>
        <p:cNvPr id="1" name=""/>
        <p:cNvGrpSpPr/>
        <p:nvPr/>
      </p:nvGrpSpPr>
      <p:grpSpPr/>
      <p:sp>
        <p:nvSpPr>
          <p:cNvPr id="2" name="Oval 1"/>
          <p:cNvSpPr/>
          <p:nvPr/>
        </p:nvSpPr>
        <p:spPr>
          <a:xfrm>
            <a:off x="5638800" y="914400"/>
            <a:ext cx="914400" cy="91440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4800" b="1">
                <a:solidFill>
                  <a:srgbClr val="FFFFFF"/>
                </a:solidFill>
                <a:latin typeface="Calibri"/>
              </a:rPr>
              <a:t>“</a:t>
            </a:r>
          </a:p>
        </p:txBody>
      </p:sp>
      <p:sp>
        <p:nvSpPr>
          <p:cNvPr id="3" name="TextBox 2"/>
          <p:cNvSpPr txBox="1"/>
          <p:nvPr/>
        </p:nvSpPr>
        <p:spPr>
          <a:xfrm>
            <a:off x="1645920" y="2377440"/>
            <a:ext cx="8900160" cy="2377440"/>
          </a:xfrm>
          <a:prstGeom prst="rect">
            <a:avLst/>
          </a:prstGeom>
          <a:noFill/>
        </p:spPr>
        <p:txBody>
          <a:bodyPr wrap="square" anchor="t" lIns="0" rIns="0" tIns="0" bIns="0">
            <a:spAutoFit/>
          </a:bodyPr>
          <a:lstStyle/>
          <a:p>
            <a:pPr algn="ctr">
              <a:lnSpc>
                <a:spcPct val="125000"/>
              </a:lnSpc>
            </a:pPr>
            <a:r>
              <a:rPr sz="2600" b="0">
                <a:solidFill>
                  <a:srgbClr val="FFFFFF"/>
                </a:solidFill>
                <a:latin typeface="Calibri"/>
              </a:rPr>
              <a:t>Buscaba un conjunto de datos que diera a los estudiantes la oportunidad de mostrar lo aprendido en el curso. Debía tener bastantes variables y observaciones, de modo que tuvieran que ir más allá de un algoritmo simple de selección para construir un modelo final.</a:t>
            </a:r>
          </a:p>
        </p:txBody>
      </p:sp>
      <p:sp>
        <p:nvSpPr>
          <p:cNvPr id="4" name="TextBox 3"/>
          <p:cNvSpPr txBox="1"/>
          <p:nvPr/>
        </p:nvSpPr>
        <p:spPr>
          <a:xfrm>
            <a:off x="1645920" y="5120640"/>
            <a:ext cx="8900160" cy="548640"/>
          </a:xfrm>
          <a:prstGeom prst="rect">
            <a:avLst/>
          </a:prstGeom>
          <a:noFill/>
        </p:spPr>
        <p:txBody>
          <a:bodyPr wrap="square" anchor="t" lIns="0" rIns="0" tIns="0" bIns="0">
            <a:spAutoFit/>
          </a:bodyPr>
          <a:lstStyle/>
          <a:p>
            <a:pPr algn="ctr"/>
            <a:r>
              <a:rPr sz="1500" b="0">
                <a:solidFill>
                  <a:srgbClr val="FCEDEE"/>
                </a:solidFill>
                <a:latin typeface="Calibri"/>
              </a:rPr>
              <a:t>— Dean De Cock, 2011 — objetivo declarado del artículo (p. 2)</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QUÉ PREGUNTABA EL PAPER Y POR QUÉ USÓ LO QUE USÓ</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El dataset no se encontró: se diseñó</a:t>
            </a:r>
          </a:p>
        </p:txBody>
      </p:sp>
      <p:sp>
        <p:nvSpPr>
          <p:cNvPr id="4" name="Rounded Rectangle 3"/>
          <p:cNvSpPr/>
          <p:nvPr/>
        </p:nvSpPr>
        <p:spPr>
          <a:xfrm>
            <a:off x="54864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1</a:t>
            </a:r>
          </a:p>
        </p:txBody>
      </p:sp>
      <p:sp>
        <p:nvSpPr>
          <p:cNvPr id="6" name="TextBox 5"/>
          <p:cNvSpPr txBox="1"/>
          <p:nvPr/>
        </p:nvSpPr>
        <p:spPr>
          <a:xfrm>
            <a:off x="77724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Por qué una base nueva</a:t>
            </a:r>
          </a:p>
        </p:txBody>
      </p:sp>
      <p:sp>
        <p:nvSpPr>
          <p:cNvPr id="7" name="TextBox 6"/>
          <p:cNvSpPr txBox="1"/>
          <p:nvPr/>
        </p:nvSpPr>
        <p:spPr>
          <a:xfrm>
            <a:off x="77724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Actualizar los precios del Boston Housing habría cambiado los datos «de reales a verosímiles». Y con 14 variables no llegaba a la regla del propio autor: de seis a diez observaciones por variable.</a:t>
            </a:r>
          </a:p>
        </p:txBody>
      </p:sp>
      <p:sp>
        <p:nvSpPr>
          <p:cNvPr id="8" name="TextBox 7"/>
          <p:cNvSpPr txBox="1"/>
          <p:nvPr/>
        </p:nvSpPr>
        <p:spPr>
          <a:xfrm>
            <a:off x="77724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Prefirió datos reales a datos actualizados</a:t>
            </a:r>
          </a:p>
        </p:txBody>
      </p:sp>
      <p:sp>
        <p:nvSpPr>
          <p:cNvPr id="9" name="Rounded Rectangle 8"/>
          <p:cNvSpPr/>
          <p:nvPr/>
        </p:nvSpPr>
        <p:spPr>
          <a:xfrm>
            <a:off x="436880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59740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2</a:t>
            </a:r>
          </a:p>
        </p:txBody>
      </p:sp>
      <p:sp>
        <p:nvSpPr>
          <p:cNvPr id="11" name="TextBox 10"/>
          <p:cNvSpPr txBox="1"/>
          <p:nvPr/>
        </p:nvSpPr>
        <p:spPr>
          <a:xfrm>
            <a:off x="459740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Por qué 80 variables y no 113</a:t>
            </a:r>
          </a:p>
        </p:txBody>
      </p:sp>
      <p:sp>
        <p:nvSpPr>
          <p:cNvPr id="12" name="TextBox 11"/>
          <p:cNvSpPr txBox="1"/>
          <p:nvPr/>
        </p:nvSpPr>
        <p:spPr>
          <a:xfrm>
            <a:off x="459740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Del volcado municipal retiró todo lo que exigía conocimiento especializado: los factores de ponderación y ajuste del modelo de tasación de la ciudad.</a:t>
            </a:r>
          </a:p>
        </p:txBody>
      </p:sp>
      <p:sp>
        <p:nvSpPr>
          <p:cNvPr id="13" name="TextBox 12"/>
          <p:cNvSpPr txBox="1"/>
          <p:nvPr/>
        </p:nvSpPr>
        <p:spPr>
          <a:xfrm>
            <a:off x="459740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Criterio declarado: que un lego lo entienda</a:t>
            </a:r>
          </a:p>
        </p:txBody>
      </p:sp>
      <p:sp>
        <p:nvSpPr>
          <p:cNvPr id="14" name="Rounded Rectangle 13"/>
          <p:cNvSpPr/>
          <p:nvPr/>
        </p:nvSpPr>
        <p:spPr>
          <a:xfrm>
            <a:off x="818896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41756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3</a:t>
            </a:r>
          </a:p>
        </p:txBody>
      </p:sp>
      <p:sp>
        <p:nvSpPr>
          <p:cNvPr id="16" name="TextBox 15"/>
          <p:cNvSpPr txBox="1"/>
          <p:nvPr/>
        </p:nvSpPr>
        <p:spPr>
          <a:xfrm>
            <a:off x="841756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Por qué la base llega sin depurar</a:t>
            </a:r>
          </a:p>
        </p:txBody>
      </p:sp>
      <p:sp>
        <p:nvSpPr>
          <p:cNvPr id="17" name="TextBox 16"/>
          <p:cNvSpPr txBox="1"/>
          <p:nvPr/>
        </p:nvSpPr>
        <p:spPr>
          <a:xfrm>
            <a:off x="841756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No removió ninguna observación por valores extraños. Dejó al docente la regla de las casas de más de 4000 pie² y, detrás de ella, el criterio real: la condición de venta.</a:t>
            </a:r>
          </a:p>
        </p:txBody>
      </p:sp>
      <p:sp>
        <p:nvSpPr>
          <p:cNvPr id="18" name="TextBox 17"/>
          <p:cNvSpPr txBox="1"/>
          <p:nvPr/>
        </p:nvSpPr>
        <p:spPr>
          <a:xfrm>
            <a:off x="841756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La limpieza es decisión del analista</a:t>
            </a:r>
          </a:p>
        </p:txBody>
      </p:sp>
      <p:sp>
        <p:nvSpPr>
          <p:cNvPr id="19" name="TextBox 18"/>
          <p:cNvSpPr txBox="1"/>
          <p:nvPr/>
        </p:nvSpPr>
        <p:spPr>
          <a:xfrm>
            <a:off x="548640" y="6108192"/>
            <a:ext cx="11091672" cy="292608"/>
          </a:xfrm>
          <a:prstGeom prst="rect">
            <a:avLst/>
          </a:prstGeom>
          <a:noFill/>
        </p:spPr>
        <p:txBody>
          <a:bodyPr wrap="square">
            <a:spAutoFit/>
          </a:bodyPr>
          <a:lstStyle/>
          <a:p>
            <a:r>
              <a:rPr sz="1000">
                <a:solidFill>
                  <a:srgbClr val="6E6E6E"/>
                </a:solidFill>
                <a:latin typeface="Calibri"/>
              </a:rPr>
              <a:t>Decisiones de diseño de datos documentadas en el original: REPLICACION_PAPER Sección 0.3 (De Cock, 2011, pp. 2-9).</a:t>
            </a:r>
          </a:p>
        </p:txBody>
      </p:sp>
      <p:sp>
        <p:nvSpPr>
          <p:cNvPr id="20" name="Oval 19"/>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S04 — Herramientas para la Ciencia de Datos, UPC</a:t>
            </a:r>
          </a:p>
        </p:txBody>
      </p:sp>
      <p:sp>
        <p:nvSpPr>
          <p:cNvPr id="22" name="TextBox 21"/>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20 / 22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RÉPLICA DE DE COCK (2011) — LIMPIAR CON CRITERIO</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De Cock marca 5 ventas atípicas a remover</a:t>
            </a:r>
          </a:p>
        </p:txBody>
      </p:sp>
      <p:pic>
        <p:nvPicPr>
          <p:cNvPr id="4" name="Picture 3" descr="deck_dispersion.png"/>
          <p:cNvPicPr>
            <a:picLocks noChangeAspect="1"/>
          </p:cNvPicPr>
          <p:nvPr/>
        </p:nvPicPr>
        <p:blipFill>
          <a:blip r:embed="rId2"/>
          <a:stretch>
            <a:fillRect/>
          </a:stretch>
        </p:blipFill>
        <p:spPr>
          <a:xfrm>
            <a:off x="548640" y="1828800"/>
            <a:ext cx="4216903" cy="2880360"/>
          </a:xfrm>
          <a:prstGeom prst="rect">
            <a:avLst/>
          </a:prstGeom>
        </p:spPr>
      </p:pic>
      <p:sp>
        <p:nvSpPr>
          <p:cNvPr id="5" name="Oval 4"/>
          <p:cNvSpPr/>
          <p:nvPr/>
        </p:nvSpPr>
        <p:spPr>
          <a:xfrm>
            <a:off x="7955279" y="2011680"/>
            <a:ext cx="548640" cy="5486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ightbulb__FFFFFF.png"/>
          <p:cNvPicPr>
            <a:picLocks noChangeAspect="1"/>
          </p:cNvPicPr>
          <p:nvPr/>
        </p:nvPicPr>
        <p:blipFill>
          <a:blip r:embed="rId3"/>
          <a:stretch>
            <a:fillRect/>
          </a:stretch>
        </p:blipFill>
        <p:spPr>
          <a:xfrm>
            <a:off x="8108898" y="2165299"/>
            <a:ext cx="241402" cy="241402"/>
          </a:xfrm>
          <a:prstGeom prst="rect">
            <a:avLst/>
          </a:prstGeom>
        </p:spPr>
      </p:pic>
      <p:sp>
        <p:nvSpPr>
          <p:cNvPr id="7" name="TextBox 6"/>
          <p:cNvSpPr txBox="1"/>
          <p:nvPr/>
        </p:nvSpPr>
        <p:spPr>
          <a:xfrm>
            <a:off x="8686800" y="2057400"/>
            <a:ext cx="2926080" cy="548640"/>
          </a:xfrm>
          <a:prstGeom prst="rect">
            <a:avLst/>
          </a:prstGeom>
          <a:noFill/>
        </p:spPr>
        <p:txBody>
          <a:bodyPr wrap="square" anchor="t" lIns="0" rIns="0" tIns="0" bIns="0">
            <a:spAutoFit/>
          </a:bodyPr>
          <a:lstStyle/>
          <a:p>
            <a:pPr algn="l"/>
            <a:r>
              <a:rPr sz="1500" b="1">
                <a:solidFill>
                  <a:srgbClr val="9B1B30"/>
                </a:solidFill>
                <a:latin typeface="Calibri"/>
              </a:rPr>
              <a:t>Lectura de negocio</a:t>
            </a:r>
          </a:p>
        </p:txBody>
      </p:sp>
      <p:sp>
        <p:nvSpPr>
          <p:cNvPr id="8" name="TextBox 7"/>
          <p:cNvSpPr txBox="1"/>
          <p:nvPr/>
        </p:nvSpPr>
        <p:spPr>
          <a:xfrm>
            <a:off x="7955279" y="2880360"/>
            <a:ext cx="3657600" cy="3108960"/>
          </a:xfrm>
          <a:prstGeom prst="rect">
            <a:avLst/>
          </a:prstGeom>
          <a:noFill/>
        </p:spPr>
        <p:txBody>
          <a:bodyPr wrap="square" anchor="t" lIns="0" rIns="0" tIns="0" bIns="0">
            <a:spAutoFit/>
          </a:bodyPr>
          <a:lstStyle/>
          <a:p>
            <a:pPr algn="l">
              <a:lnSpc>
                <a:spcPct val="125000"/>
              </a:lnSpc>
            </a:pPr>
            <a:r>
              <a:rPr sz="1500" b="0">
                <a:solidFill>
                  <a:srgbClr val="2D2D2D"/>
                </a:solidFill>
                <a:latin typeface="Calibri"/>
              </a:rPr>
              <a:t>Cinco casas &gt; 4000 pie² distorsionan la recta. Correlación precio~superficie = 0,71 (n=2930); el propio autor recomienda removerlas.</a:t>
            </a:r>
          </a:p>
        </p:txBody>
      </p:sp>
      <p:sp>
        <p:nvSpPr>
          <p:cNvPr id="9" name="TextBox 8"/>
          <p:cNvSpPr txBox="1"/>
          <p:nvPr/>
        </p:nvSpPr>
        <p:spPr>
          <a:xfrm>
            <a:off x="548640" y="5961888"/>
            <a:ext cx="11094720" cy="292608"/>
          </a:xfrm>
          <a:prstGeom prst="rect">
            <a:avLst/>
          </a:prstGeom>
          <a:noFill/>
        </p:spPr>
        <p:txBody>
          <a:bodyPr wrap="square" anchor="t" lIns="0" rIns="0" tIns="0" bIns="0">
            <a:spAutoFit/>
          </a:bodyPr>
          <a:lstStyle/>
          <a:p>
            <a:pPr algn="l"/>
            <a:r>
              <a:rPr sz="1000" b="0">
                <a:solidFill>
                  <a:srgbClr val="6E6E6E"/>
                </a:solidFill>
                <a:latin typeface="Calibri"/>
              </a:rPr>
              <a:t>resultados/S04_resultados.xlsx!regresion_ames (B2, B3) — REPLICACION_PAPER.md Sección 3.</a:t>
            </a:r>
          </a:p>
        </p:txBody>
      </p:sp>
      <p:sp>
        <p:nvSpPr>
          <p:cNvPr id="10" name="Rounded Rectangle 9"/>
          <p:cNvSpPr/>
          <p:nvPr/>
        </p:nvSpPr>
        <p:spPr>
          <a:xfrm>
            <a:off x="548640" y="4956048"/>
            <a:ext cx="11091672" cy="329184"/>
          </a:xfrm>
          <a:prstGeom prst="roundRect">
            <a:avLst/>
          </a:prstGeom>
          <a:solidFill>
            <a:srgbClr val="FCEDEE"/>
          </a:solidFill>
          <a:ln w="12700">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book-open__E4002B.png"/>
          <p:cNvPicPr>
            <a:picLocks noChangeAspect="1"/>
          </p:cNvPicPr>
          <p:nvPr/>
        </p:nvPicPr>
        <p:blipFill>
          <a:blip r:embed="rId4"/>
          <a:stretch>
            <a:fillRect/>
          </a:stretch>
        </p:blipFill>
        <p:spPr>
          <a:xfrm>
            <a:off x="694944" y="5010912"/>
            <a:ext cx="219456" cy="219456"/>
          </a:xfrm>
          <a:prstGeom prst="rect">
            <a:avLst/>
          </a:prstGeom>
        </p:spPr>
      </p:pic>
      <p:sp>
        <p:nvSpPr>
          <p:cNvPr id="12" name="TextBox 11"/>
          <p:cNvSpPr txBox="1"/>
          <p:nvPr/>
        </p:nvSpPr>
        <p:spPr>
          <a:xfrm>
            <a:off x="1005840" y="4988052"/>
            <a:ext cx="10524744" cy="274320"/>
          </a:xfrm>
          <a:prstGeom prst="rect">
            <a:avLst/>
          </a:prstGeom>
          <a:noFill/>
        </p:spPr>
        <p:txBody>
          <a:bodyPr wrap="square" lIns="0" rIns="0" tIns="0" bIns="0">
            <a:spAutoFit/>
          </a:bodyPr>
          <a:lstStyle/>
          <a:p>
            <a:pPr algn="l"/>
            <a:r>
              <a:rPr sz="1200" b="1">
                <a:solidFill>
                  <a:srgbClr val="9B1B30"/>
                </a:solidFill>
                <a:latin typeface="Calibri"/>
              </a:rPr>
              <a:t>En el paper:  </a:t>
            </a:r>
            <a:r>
              <a:rPr sz="1200" b="1">
                <a:solidFill>
                  <a:srgbClr val="2D2D2D"/>
                </a:solidFill>
                <a:latin typeface="Calibri"/>
              </a:rPr>
              <a:t>De Cock, D. (2011), Journal of Statistics Education 19(3), DOI 10.1080/10691898.2011.11889627 — remover casas &gt; 4000 pie²</a:t>
            </a:r>
          </a:p>
        </p:txBody>
      </p:sp>
      <p:sp>
        <p:nvSpPr>
          <p:cNvPr id="13" name="Rounded Rectangle 12"/>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4, En el paper, celda 66</a:t>
            </a:r>
          </a:p>
        </p:txBody>
      </p:sp>
      <p:sp>
        <p:nvSpPr>
          <p:cNvPr id="14" name="Oval 13"/>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S04 — Herramientas para la Ciencia de Datos, UPC</a:t>
            </a:r>
          </a:p>
        </p:txBody>
      </p:sp>
      <p:sp>
        <p:nvSpPr>
          <p:cNvPr id="16" name="TextBox 15"/>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21 / 22</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BIBLIOGRAFÍA</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Cinco lecturas anclan la regresión múltiple del curso</a:t>
            </a:r>
          </a:p>
        </p:txBody>
      </p:sp>
      <p:sp>
        <p:nvSpPr>
          <p:cNvPr id="4" name="Oval 3"/>
          <p:cNvSpPr/>
          <p:nvPr/>
        </p:nvSpPr>
        <p:spPr>
          <a:xfrm>
            <a:off x="548640" y="1810512"/>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5" name="TextBox 4"/>
          <p:cNvSpPr txBox="1"/>
          <p:nvPr/>
        </p:nvSpPr>
        <p:spPr>
          <a:xfrm>
            <a:off x="1097280" y="1783080"/>
            <a:ext cx="10546080" cy="320040"/>
          </a:xfrm>
          <a:prstGeom prst="rect">
            <a:avLst/>
          </a:prstGeom>
          <a:noFill/>
        </p:spPr>
        <p:txBody>
          <a:bodyPr wrap="square" anchor="t" lIns="0" rIns="0" tIns="0" bIns="0">
            <a:spAutoFit/>
          </a:bodyPr>
          <a:lstStyle/>
          <a:p>
            <a:pPr algn="l"/>
            <a:r>
              <a:rPr sz="1500" b="1">
                <a:solidFill>
                  <a:srgbClr val="2D2D2D"/>
                </a:solidFill>
                <a:latin typeface="Calibri"/>
              </a:rPr>
              <a:t>An Introduction to Statistical Learning, cap. 3.2-3.3 y 5.1</a:t>
            </a:r>
          </a:p>
        </p:txBody>
      </p:sp>
      <p:sp>
        <p:nvSpPr>
          <p:cNvPr id="6" name="TextBox 5"/>
          <p:cNvSpPr txBox="1"/>
          <p:nvPr/>
        </p:nvSpPr>
        <p:spPr>
          <a:xfrm>
            <a:off x="1097280" y="2093976"/>
            <a:ext cx="10546080" cy="274320"/>
          </a:xfrm>
          <a:prstGeom prst="rect">
            <a:avLst/>
          </a:prstGeom>
          <a:noFill/>
        </p:spPr>
        <p:txBody>
          <a:bodyPr wrap="square" anchor="t" lIns="0" rIns="0" tIns="0" bIns="0">
            <a:spAutoFit/>
          </a:bodyPr>
          <a:lstStyle/>
          <a:p>
            <a:pPr algn="l"/>
            <a:r>
              <a:rPr sz="1200" b="0">
                <a:solidFill>
                  <a:srgbClr val="6E6E6E"/>
                </a:solidFill>
                <a:latin typeface="Calibri"/>
              </a:rPr>
              <a:t>James, Witten, Hastie &amp; Tibshirani  —  regresión múltiple, dummies, interacciones y validación cruzada.</a:t>
            </a:r>
          </a:p>
        </p:txBody>
      </p:sp>
      <p:sp>
        <p:nvSpPr>
          <p:cNvPr id="7" name="Oval 6"/>
          <p:cNvSpPr/>
          <p:nvPr/>
        </p:nvSpPr>
        <p:spPr>
          <a:xfrm>
            <a:off x="548640" y="2706624"/>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8" name="TextBox 7"/>
          <p:cNvSpPr txBox="1"/>
          <p:nvPr/>
        </p:nvSpPr>
        <p:spPr>
          <a:xfrm>
            <a:off x="1097280" y="2679192"/>
            <a:ext cx="10546080" cy="320040"/>
          </a:xfrm>
          <a:prstGeom prst="rect">
            <a:avLst/>
          </a:prstGeom>
          <a:noFill/>
        </p:spPr>
        <p:txBody>
          <a:bodyPr wrap="square" anchor="t" lIns="0" rIns="0" tIns="0" bIns="0">
            <a:spAutoFit/>
          </a:bodyPr>
          <a:lstStyle/>
          <a:p>
            <a:pPr algn="l"/>
            <a:r>
              <a:rPr sz="1500" b="1">
                <a:solidFill>
                  <a:srgbClr val="2D2D2D"/>
                </a:solidFill>
                <a:latin typeface="Calibri"/>
              </a:rPr>
              <a:t>Ames, Iowa: Alternative to the Boston Housing Data</a:t>
            </a:r>
          </a:p>
        </p:txBody>
      </p:sp>
      <p:sp>
        <p:nvSpPr>
          <p:cNvPr id="9" name="TextBox 8"/>
          <p:cNvSpPr txBox="1"/>
          <p:nvPr/>
        </p:nvSpPr>
        <p:spPr>
          <a:xfrm>
            <a:off x="1097280" y="2990088"/>
            <a:ext cx="10546080" cy="274320"/>
          </a:xfrm>
          <a:prstGeom prst="rect">
            <a:avLst/>
          </a:prstGeom>
          <a:noFill/>
        </p:spPr>
        <p:txBody>
          <a:bodyPr wrap="square" anchor="t" lIns="0" rIns="0" tIns="0" bIns="0">
            <a:spAutoFit/>
          </a:bodyPr>
          <a:lstStyle/>
          <a:p>
            <a:pPr algn="l"/>
            <a:r>
              <a:rPr sz="1200" b="0">
                <a:solidFill>
                  <a:srgbClr val="6E6E6E"/>
                </a:solidFill>
                <a:latin typeface="Calibri"/>
              </a:rPr>
              <a:t>De Cock (2011), J. of Statistics Education 19(3)  —  el paper de la réplica y la alternativa ética a Boston.</a:t>
            </a:r>
          </a:p>
        </p:txBody>
      </p:sp>
      <p:sp>
        <p:nvSpPr>
          <p:cNvPr id="10" name="Oval 9"/>
          <p:cNvSpPr/>
          <p:nvPr/>
        </p:nvSpPr>
        <p:spPr>
          <a:xfrm>
            <a:off x="548640" y="3602736"/>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11" name="TextBox 10"/>
          <p:cNvSpPr txBox="1"/>
          <p:nvPr/>
        </p:nvSpPr>
        <p:spPr>
          <a:xfrm>
            <a:off x="1097280" y="3575304"/>
            <a:ext cx="10546080" cy="320040"/>
          </a:xfrm>
          <a:prstGeom prst="rect">
            <a:avLst/>
          </a:prstGeom>
          <a:noFill/>
        </p:spPr>
        <p:txBody>
          <a:bodyPr wrap="square" anchor="t" lIns="0" rIns="0" tIns="0" bIns="0">
            <a:spAutoFit/>
          </a:bodyPr>
          <a:lstStyle/>
          <a:p>
            <a:pPr algn="l"/>
            <a:r>
              <a:rPr sz="1500" b="1">
                <a:solidFill>
                  <a:srgbClr val="2D2D2D"/>
                </a:solidFill>
                <a:latin typeface="Calibri"/>
              </a:rPr>
              <a:t>Detection of Influential Observations in Linear Regression</a:t>
            </a:r>
          </a:p>
        </p:txBody>
      </p:sp>
      <p:sp>
        <p:nvSpPr>
          <p:cNvPr id="12" name="TextBox 11"/>
          <p:cNvSpPr txBox="1"/>
          <p:nvPr/>
        </p:nvSpPr>
        <p:spPr>
          <a:xfrm>
            <a:off x="1097280" y="3886200"/>
            <a:ext cx="10546080" cy="274320"/>
          </a:xfrm>
          <a:prstGeom prst="rect">
            <a:avLst/>
          </a:prstGeom>
          <a:noFill/>
        </p:spPr>
        <p:txBody>
          <a:bodyPr wrap="square" anchor="t" lIns="0" rIns="0" tIns="0" bIns="0">
            <a:spAutoFit/>
          </a:bodyPr>
          <a:lstStyle/>
          <a:p>
            <a:pPr algn="l"/>
            <a:r>
              <a:rPr sz="1200" b="0">
                <a:solidFill>
                  <a:srgbClr val="6E6E6E"/>
                </a:solidFill>
                <a:latin typeface="Calibri"/>
              </a:rPr>
              <a:t>Cook (1977), Technometrics 19(1)  —  origen de la distancia de Cook.</a:t>
            </a:r>
          </a:p>
        </p:txBody>
      </p:sp>
      <p:sp>
        <p:nvSpPr>
          <p:cNvPr id="13" name="Oval 12"/>
          <p:cNvSpPr/>
          <p:nvPr/>
        </p:nvSpPr>
        <p:spPr>
          <a:xfrm>
            <a:off x="548640" y="4498848"/>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4</a:t>
            </a:r>
          </a:p>
        </p:txBody>
      </p:sp>
      <p:sp>
        <p:nvSpPr>
          <p:cNvPr id="14" name="TextBox 13"/>
          <p:cNvSpPr txBox="1"/>
          <p:nvPr/>
        </p:nvSpPr>
        <p:spPr>
          <a:xfrm>
            <a:off x="1097280" y="4471416"/>
            <a:ext cx="10546080" cy="320040"/>
          </a:xfrm>
          <a:prstGeom prst="rect">
            <a:avLst/>
          </a:prstGeom>
          <a:noFill/>
        </p:spPr>
        <p:txBody>
          <a:bodyPr wrap="square" anchor="t" lIns="0" rIns="0" tIns="0" bIns="0">
            <a:spAutoFit/>
          </a:bodyPr>
          <a:lstStyle/>
          <a:p>
            <a:pPr algn="l"/>
            <a:r>
              <a:rPr sz="1500" b="1">
                <a:solidFill>
                  <a:srgbClr val="2D2D2D"/>
                </a:solidFill>
                <a:latin typeface="Calibri"/>
              </a:rPr>
              <a:t>A Heteroskedasticity-Consistent Covariance Matrix Estimator</a:t>
            </a:r>
          </a:p>
        </p:txBody>
      </p:sp>
      <p:sp>
        <p:nvSpPr>
          <p:cNvPr id="15" name="TextBox 14"/>
          <p:cNvSpPr txBox="1"/>
          <p:nvPr/>
        </p:nvSpPr>
        <p:spPr>
          <a:xfrm>
            <a:off x="1097280" y="4782312"/>
            <a:ext cx="10546080" cy="274320"/>
          </a:xfrm>
          <a:prstGeom prst="rect">
            <a:avLst/>
          </a:prstGeom>
          <a:noFill/>
        </p:spPr>
        <p:txBody>
          <a:bodyPr wrap="square" anchor="t" lIns="0" rIns="0" tIns="0" bIns="0">
            <a:spAutoFit/>
          </a:bodyPr>
          <a:lstStyle/>
          <a:p>
            <a:pPr algn="l"/>
            <a:r>
              <a:rPr sz="1200" b="0">
                <a:solidFill>
                  <a:srgbClr val="6E6E6E"/>
                </a:solidFill>
                <a:latin typeface="Calibri"/>
              </a:rPr>
              <a:t>White (1980), Econometrica 48(4)  —  origen de los errores estándar robustos.</a:t>
            </a:r>
          </a:p>
        </p:txBody>
      </p:sp>
      <p:sp>
        <p:nvSpPr>
          <p:cNvPr id="16" name="Oval 15"/>
          <p:cNvSpPr/>
          <p:nvPr/>
        </p:nvSpPr>
        <p:spPr>
          <a:xfrm>
            <a:off x="548640" y="5394960"/>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5</a:t>
            </a:r>
          </a:p>
        </p:txBody>
      </p:sp>
      <p:sp>
        <p:nvSpPr>
          <p:cNvPr id="17" name="TextBox 16"/>
          <p:cNvSpPr txBox="1"/>
          <p:nvPr/>
        </p:nvSpPr>
        <p:spPr>
          <a:xfrm>
            <a:off x="1097280" y="5367528"/>
            <a:ext cx="10546080" cy="320040"/>
          </a:xfrm>
          <a:prstGeom prst="rect">
            <a:avLst/>
          </a:prstGeom>
          <a:noFill/>
        </p:spPr>
        <p:txBody>
          <a:bodyPr wrap="square" anchor="t" lIns="0" rIns="0" tIns="0" bIns="0">
            <a:spAutoFit/>
          </a:bodyPr>
          <a:lstStyle/>
          <a:p>
            <a:pPr algn="l"/>
            <a:r>
              <a:rPr sz="1500" b="1">
                <a:solidFill>
                  <a:srgbClr val="2D2D2D"/>
                </a:solidFill>
                <a:latin typeface="Calibri"/>
              </a:rPr>
              <a:t>Regression Diagnostics: Collinearity and Influential Data</a:t>
            </a:r>
          </a:p>
        </p:txBody>
      </p:sp>
      <p:sp>
        <p:nvSpPr>
          <p:cNvPr id="18" name="TextBox 17"/>
          <p:cNvSpPr txBox="1"/>
          <p:nvPr/>
        </p:nvSpPr>
        <p:spPr>
          <a:xfrm>
            <a:off x="1097280" y="5678424"/>
            <a:ext cx="10546080" cy="274320"/>
          </a:xfrm>
          <a:prstGeom prst="rect">
            <a:avLst/>
          </a:prstGeom>
          <a:noFill/>
        </p:spPr>
        <p:txBody>
          <a:bodyPr wrap="square" anchor="t" lIns="0" rIns="0" tIns="0" bIns="0">
            <a:spAutoFit/>
          </a:bodyPr>
          <a:lstStyle/>
          <a:p>
            <a:pPr algn="l"/>
            <a:r>
              <a:rPr sz="1200" b="0">
                <a:solidFill>
                  <a:srgbClr val="6E6E6E"/>
                </a:solidFill>
                <a:latin typeface="Calibri"/>
              </a:rPr>
              <a:t>Belsley, Kuh &amp; Welsch (1980), Wiley  —  referencia clásica de VIF y colinealidad.</a:t>
            </a:r>
          </a:p>
        </p:txBody>
      </p:sp>
      <p:sp>
        <p:nvSpPr>
          <p:cNvPr id="19" name="Oval 18"/>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S04 — Herramientas para la Ciencia de Datos, UPC</a:t>
            </a:r>
          </a:p>
        </p:txBody>
      </p:sp>
      <p:sp>
        <p:nvSpPr>
          <p:cNvPr id="21" name="TextBox 20"/>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22 / 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