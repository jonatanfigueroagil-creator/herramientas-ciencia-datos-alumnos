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87" r:id="rId22"/>
    <p:sldId id="272" r:id="rId24"/>
    <p:sldId id="280" r:id="rId32"/>
    <p:sldId id="281" r:id="rId33"/>
    <p:sldId id="288" r:id="rId23"/>
    <p:sldId id="276" r:id="rId28"/>
    <p:sldId id="277" r:id="rId29"/>
    <p:sldId id="278" r:id="rId30"/>
    <p:sldId id="279" r:id="rId31"/>
    <p:sldId id="282" r:id="rId34"/>
    <p:sldId id="283" r:id="rId35"/>
    <p:sldId id="284" r:id="rId36"/>
    <p:sldId id="290" r:id="rId25"/>
    <p:sldId id="285" r:id="rId37"/>
    <p:sldId id="289" r:id="rId21"/>
    <p:sldId id="286" r:id="rId3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21" Type="http://schemas.openxmlformats.org/officeDocument/2006/relationships/slide" Target="slides/slide17.xml"/><Relationship Id="rId22" Type="http://schemas.openxmlformats.org/officeDocument/2006/relationships/slide" Target="slides/slide3.xml"/><Relationship Id="rId23" Type="http://schemas.openxmlformats.org/officeDocument/2006/relationships/slide" Target="slides/slide7.xml"/><Relationship Id="rId24" Type="http://schemas.openxmlformats.org/officeDocument/2006/relationships/slide" Target="slides/slide4.xml"/><Relationship Id="rId25" Type="http://schemas.openxmlformats.org/officeDocument/2006/relationships/slide" Target="slides/slide15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6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Bienvenida a la S02. Promesa: al terminar, cada estudiante sabrá MIRAR los datos (EDA), MEDIR la incertidumbre (inferencia) y DECIDIR con un experimento (A/B) para emitir una recomendación de negocio. Python, pandas y Colab se asumen de la S01. El botón «Abrir en Colab» lleva al cuaderno de la sesión.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el recorrido tal como avanza el deck: CUATRO actos, los mismos cuatro divisores granates que se verán en pantalla. (1) EXPLORAR (min 4-15): mirar el dato antes de decidir —tipos, descriptivos, atípicos y faltantes— y visualizarlo (histograma, boxplot, violín; scatter, heatmap y pairplot). (2) INFERIR (min 15-44): poner número a la incertidumbre —IC y bootstrap, el árbol que elige la prueba (t, ANOVA, chi², no paramétricas) y los supuestos— con la réplica de Student (1908) y su t pareada. (3) DECIDIR (min 44-71): el experimento controlado —SRM, hipótesis, tamaño y poder, prueba z, lift— y los dos riesgos que producen falsos ganadores: peeking y multiplicidad (Bonferroni y FDR). (4) RECOMENDAR (min 71-86): traducir la evidencia a decisión —efecto con su IC, riesgo e impacto en dinero— sobre el A/B real de Cookie Cats. El cierre (min 86-90) suma bibliografía y entregable. El puente exacto con el cuaderno es el chip «▶ Notebook — sección — celda N» de cada slide. Termina con un entregable evaluable y un control corto.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2.9. Se enuncia la pregunta tal como aparece en el sílabo, la ficha, el cuaderno y la guía: es el mismo código en todos. [Viernes, capítulo 2.9]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2.6. Se enuncia la pregunta tal como aparece en el sílabo, la ficha, el cuaderno y la guía: es el mismo código en todos. [Viernes, capítulo 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Divisor del capítulo 2.7. Se enuncia la pregunta tal como aparece en el sílabo, la ficha, el cuaderno y la guía: es el mismo código en todos. [Viernes, capítulo 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Antes de creer un p-valor o lanzar un test hay que verificar sus supuestos. Normalidad: Q-Q + Shapiro-Wilk (W=0,8299, p=0,0333) y el TCL con n grande; corregir con no paramétrica, bootstrap o transformar. Varianzas: Welch por defecto. SRM: chi-cuadrado sobre 44 700 vs 45 489 — aquí SOLO SE NOMBRA (qué es y su umbral 0,001); su derivación de pizarra abre el Acto 3, donde tiene lámina y minutos propios. Potencia: dimensionar ex-ante (α=0,05, poder=0,8). Multiplicidad: Bonferroni/FDR y declarar la OEC. Los diagnósticos ejecutables están en el cuaderno (celdas 112–124). [Viernes, capítulo 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desarrolla el capítulo 2.8. Deriva de la Sección 6 de la guía docente y de la investigación de la sesión; las cifras salen del Excel de resultados. [Viernes, capítulo 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Leer el A/B como negocio. La retención a 7 días cae de 19,02% (gate_30, control) a 18,20% (gate_40, tratamiento): lift -4,31% con p=0,0016, muy por debajo de 0,05. Regla de la sesión: se comunica el EFECTO CON SU IC, no el p a solas. El efecto (tratamiento − control) es de −0,82 pp, IC 95 % (−1,33; −0,31) pp, que no incluye 0. El IC del lift SIEMPRE lleva su método (hoja ab_intervalos del Excel, Anexo A.1 del cuaderno): (−7,0 %; −1,6 %) [escalado, la diferencia dividida por la base] o (−6,9 %; −1,7 %) [Viernes, capítulo 2.7]; no son el mismo número. En dinero (hoja impacto_negocio del Excel, con SU base en cada fila): esos ≈740 jugadores protegidos por cohorte de 90 189 (ambas ramas) valen 740 × ARPU de ingreso protegido —p. ej. ≈ S/ 3 700 con un ARPU ilustrativo de S/ 5 (supuesto de negocio, no del dataset)—. ATENCIÓN a la base: sobre el BRAZO DE TRATAMIENTO (45 489) serían ≈373, y esa —no los 740— es la que se usa como costo del experimento. La evidencia dice que mover la puerta al nivel 40 PERJUDICA la retención: la recomendación es no desplegar. El p-valor dice «si»; el efecto y su intervalo, «cuánto». [Viernes, capítulo 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A/B también es código. Se cuentan éxitos y usuarios por variante y se contrastan las dos proporciones con proportions_ztest (tratamiento vs control). La salida (z=-3,164, p=0,0016) alimenta el Excel. El cuaderno reconstruye además el z de forma manual (celda 86) con la varianza combinada bajo H0 y un assert contra statsmodels. [Viernes, capítulo 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La métrica y el horizonte cambian la conclusión. A 1 día la diferencia no es significativa (p=0,0744, z=-1,784); a 7 días sí (p=0,0016, z=-3,164). Por eso se declara ANTES la métrica primaria (OEC): si no, se elige a posteriori la que conviene. Conecta con la multiplicidad: mirar muchas métricas produce ganadores por azar. [Viernes, capítulo 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Cifra que sorprende. Detectar un lift relativo de apenas 2% sobre una base de 19,0% exige 168 357 usuarios POR GRUPO para un poder de 0,8 y α=0,05 (tamaño del efecto h=0,0097). El tamaño y el poder se calculan ANTES de lanzar; el experimento real de Cookie Cats, con 44 700 y 45 489 por grupo, alcanzó un poder de 0,89 para el efecto a 7 días. SALVEDAD que hay que decir en voz alta: ese 0,89 es poder POST-HOC (calculado con el efecto ya observado), una reexpresión monótona del p-valor; es señal de dimensionamiento, no veredicto ni validación del resultado. El poder que decide se fija ex-ante, con el MDE de negocio. [Viernes, capítulo 2.7]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Dos riesgos que producen falsos ganadores. Peeking: revisar el test y detenerlo al cruzar 0,05; cada vistazo es otra oportunidad de cruzar el umbral por azar, así que infla los falsos positivos —se evita fijando n y duración—. Multiplicidad: evaluar muchas métricas casi garantiza una «ganadora» espuria; se corrige con Bonferroni (conservador) o FDR de Benjamini-Hochberg (más potente) y declarando la métrica primaria. [Viernes, capítulo 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(drill 3 del sílabo). Con n=50 000, un p=0,04 puede corresponder a un lift de 0,1 % que no paga ni el costo de implementación: significancia estadística sin significancia práctica. Mirar SIEMPRE el tamaño del efecto y su intervalo, no solo el p-valor, y sumar el costo y el riesgo antes de decidir el lanzamiento. [Viernes, capítulo 2.6]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cierre del arco. Con EDA, inferencia y A/B disponibles, corresponde traducir la evidencia a una recomendación de negocio: qué se decide, con qué magnitud (el efecto −0,82 pp con su IC 95 % (−1,33; −0,31) pp; en lift, IC (−7,0 %; −1,6 %) [escalado] o (−6,9 %; −1,7 %) [delta-método], hoja ab_intervalos), con qué riesgo y con qué valor en dinero (hoja impacto_negocio: ≈740 jugadores × ARPU por cohorte de 90 189 —ambas ramas—, ≈ S/ 3 700 con un ARPU ilustrativo de S/ 5; sobre el brazo de tratamiento serían ≈373, que es la base del costo). Es el entregable evaluable de la sesión. [Viernes, capítulo 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el laboratorio y lanzar el trabajo. Primero se replica a Student con sleep (reconocer el diseño pareado); luego se analiza el A/B real de Cookie Cats y se emite una recomendación de negocio documentada: hipótesis, tamaño/poder, p-valor, lift, riesgo de peeking y decisión. Guía en laboratorio/GUIA_LABORATORIO_S02.md; teoría en el cuaderno de Colab. Entrega con rúbrica vigesimal 0-20. [Presentación 72-76, trabajo 76-86, acumulado: 86/90]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Conectar la teoría con la industria (las 5 fuentes verificadas de las fuentes de actualidad de la sesión, las mismas que cita el cuaderno). Miller &amp; Hosanagar (ISR, 2025) auditan 2 000+ A/B tests de 242 empresas y hallan poco p-hacking cuando la plataforma impone guardarraíles. Booking, Netflix y Microsoft convierten la experimentación en cultura. Trabajos recientes cuantifican cuándo la t falla con datos no normales y exploran simular usuarios con agentes LLM. Y Airbnb muestra que el A/B es el estándar pero no siempre el primer paso: el interleaving descarta ideas mucho antes y con mucho menos tráfico. [Viernes, capítulo 2.8]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académica de la sesión (enlaces libres en BIBLIOGRAFIA_ALUMNOS.md y en el cuaderno). Student (1908) origina la t y es el paper de la réplica; Tukey (1977) funda el EDA; el ASA Statement fija qué dice y qué no un p-valor; Kohavi, Tang &amp; Xu (2020) es el manual de experimentación; Benjamini &amp; Hochberg (1995) resuelve las comparaciones múltiples. Se suma Efron (1979) para el bootstrap.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Recapitular en una frase: se MIRÓ el dato (EDA), se MIDIÓ la incertidumbre (inferencia, con la réplica de Student) y se DECIDIÓ con un experimento (A/B) para RECOMENDAR al negocio, distinguiendo significancia estadística de práctica. Recordar el entregable (recomendación de negocio, rúbrica 0-20) y aplicar el control corto. Despedir anunciando la S03: regresión lineal, el primer modelo predictivo. [Viernes, capítulo 2.9]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02_eda_inferencia_ab/notebook/S02_eda_inferencia_ab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Del dato a la decisión: medir para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EDA, inferencia estadística y pruebas A/B — réplica de Student (1908)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2.6 A 2.9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ar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una prueba de hipótesis?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-column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valor p no induce a error?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it-branch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El experimento A/B de Cookie Cats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iefcase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2.9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S03?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¿Cuándo se puede confiar en una prueba de hipótesis?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2.6 — viernes, bloque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DEL DATO A LA DECISIÓN, SUPUESTOS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supuesto se diagnostica y se corrige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Antes de creer un p-valor o lanzar un test se verifica el supuesto y se aplica su corrección.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284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SUPUESTO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212848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21284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CORRIGE (MÉTODO)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05456"/>
            <a:ext cx="11356848" cy="54864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7889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Normalidad / TCL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60320"/>
            <a:ext cx="4069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Q-Q + Shapiro-Wilk (W 0,8299; p 0,0333); regla del TCL (n≥30–40).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60320"/>
            <a:ext cx="4023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No paramétrica (Wilcoxon/Mann-Whitney), bootstrap o transformar.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27889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Igualdad de varianzas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63824"/>
            <a:ext cx="4069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Boxplot/violín + Levene/Brown-Forsythe (p&lt;0,05); cociente de desviaciones.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63824"/>
            <a:ext cx="4023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Welch por defecto (equal_var=False).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712463"/>
            <a:ext cx="11356848" cy="54864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7"/>
            <a:ext cx="27889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Integridad de la asignación (SRM)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67327"/>
            <a:ext cx="4069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Chi-cuadrado sobre 44 700 vs 45 489; SRM si p&lt;0,001.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767327"/>
            <a:ext cx="4023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Investigar el pipeline; no leer el test hasta explicarlo.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70831"/>
            <a:ext cx="27889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Tamaño y potencia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370831"/>
            <a:ext cx="4069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Cálculo ex-ante (MDE, α 0,05, poder 0,8) con solve_power.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370831"/>
            <a:ext cx="4023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Dimensionar antes de lanzar; fijar el MDE de negocio.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919472"/>
            <a:ext cx="11356848" cy="54864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74336"/>
            <a:ext cx="27889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Multiplicidad y peeking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974336"/>
            <a:ext cx="40690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Contar métricas/segmentos; ¿n y duración fijados de antemano?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974336"/>
            <a:ext cx="4023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Bonferroni (α/m) o FDR; declarar la OEC; cerrar la duración.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Supuestos, celda 109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la guía de supuestos de la sesión (Parte 4) — diagnósticos ejecutables en el cuaderno (celdas 112–124). Cifras de la hoja supuestos / ab_retencion / ab_potencia del Excel.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RIESGOS — KOHAVI, TANG &amp; XU (2020); BENJAMINI &amp; HOCHBERG (1995)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Dos riesgos producen falsos ganadores en un A/B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48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490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Peeking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4907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Mirar el test y pararlo al cruzar 0,05 infla los falsos positivos varias veces.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490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Fijar n y duración de antemano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880" y="1874519"/>
            <a:ext cx="536448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07480" y="2926079"/>
            <a:ext cx="490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Multiplicidad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480" y="3611879"/>
            <a:ext cx="4907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 muchas métricas, 1 o 2 saldrán «significativas» por azar; corregir con Bonferroni o FDR.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480" y="5303519"/>
            <a:ext cx="490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Declarar la métrica primaria (OEC)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124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¿Lanzarías un cambio con p=0,04 y n=50 000?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(2 min): el lift podría ser de solo 0,1 %. ¿La significancia estadística basta para decidir?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¿Cómo se verifica que el valor p no induce a error?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2.7 — viernes, bloque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DECIDIR — A/B COOKIE CATS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Mover la puerta al nivel 40 baja la retención a 7 días</a:t>
            </a:r>
          </a:p>
        </p:txBody>
      </p:sp>
      <p:pic>
        <p:nvPicPr>
          <p:cNvPr id="4" name="Picture 3" descr="grafico_deck_ab_re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2872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tratamiento baja la retención de 19,02% a 18,20% (lift -4,31%, p=0,0016): el cambio perjudica.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resultados/S02_resultados.xlsx (hoja ab_retencion, celda 99) — A/B Cookie Cats (90 189 usuarios).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99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DECIDIR — CÓDIGO REAL DEL CUADERNO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Así se contrasta el A/B con la prueba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5648"/>
            <a:ext cx="11094720" cy="457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 b="1">
                <a:solidFill>
                  <a:srgbClr val="9B1B30"/>
                </a:solidFill>
                <a:latin typeface="Calibri"/>
              </a:rPr>
              <a:t>▸ Qué hace:  </a:t>
            </a:r>
            <a:r>
              <a:rPr sz="1400">
                <a:solidFill>
                  <a:srgbClr val="2D2D2D"/>
                </a:solidFill>
                <a:latin typeface="Calibri"/>
              </a:rPr>
              <a:t>Cuenta éxitos por variante y contrasta las dos retenciones a 7 días con la prueba z: z=-3,164, p=0,0016, lift -4,31%.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11094720" cy="3346704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42032"/>
            <a:ext cx="1063752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>
                <a:solidFill>
                  <a:srgbClr val="9B1B30"/>
                </a:solidFill>
                <a:latin typeface="Calibri"/>
              </a:rPr>
              <a:t>CÓDIGO REAL DEL CUADERNO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26080"/>
            <a:ext cx="10472928" cy="2743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g = cc.groupby("version")[metrica].agg(["sum", "count"])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s30, n30 = int(g.loc["gate_30", "sum"]), int(g.loc["gate_30", "count"])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s40, n40 = int(g.loc["gate_40", "sum"]), int(g.loc["gate_40", "count"])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p30, p40 = s30/n30, s40/n40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z, pval = proportions_ztest([s40, s30], [n40, n30])   # tratamiento vs. control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diff = p40 - p30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lift = diff / p30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notebook/S02_eda_inferencia_ab.ipynb, celda 82 (líneas copiadas literalmente del cuerpo de `contraste_retencion`) — alimenta la hoja ab_retencion del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82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DECIDIR — MÉTRICA PRIMARIA DECLARADA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conclusión cambia entre el día 1 y el día 7</a:t>
            </a:r>
          </a:p>
        </p:txBody>
      </p:sp>
      <p:pic>
        <p:nvPicPr>
          <p:cNvPr id="4" name="Picture 3" descr="grafico_deck_ab_dia1_di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4856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Al día 1 la diferencia no es significativa (p=0,0744); al día 7 sí (p=0,0016). El horizonte cambia la decisión.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resultados/S02_resultados.xlsx (hoja ab_retencion) — métrica primaria (OEC) declarada de antemano.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82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Un lift de solo 2 % exige 168 357 usuarios por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Con poder 0,8 y α 0,05 sobre una base de 19,0%. El tamaño se fija ANTES; subdimensionar desperdicia el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Decidir, celda 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resultados/S02_resultados.xlsx (hoja ab_potencia, celda 90), Kohavi, Tang &amp; Xu (2020), tamaño muestral y poder.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Capítulo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¿Qué decisión habilita? El experimento A/B de Cookie Cats</a:t>
            </a:r>
          </a:p>
        </p:txBody>
      </p:sp>
      <p:pic>
        <p:nvPicPr>
          <p:cNvPr id="5" name="Picture 4" descr="briefc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RECOMENDAR — 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laboratorio analiza un A/B real y emite una recomendación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73200" y="2802255"/>
            <a:ext cx="9245600" cy="1905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30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Réplica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Reproducir a Student (sleep)</a:t>
            </a:r>
          </a:p>
        </p:txBody>
      </p:sp>
      <p:sp>
        <p:nvSpPr>
          <p:cNvPr id="8" name="Oval 7"/>
          <p:cNvSpPr/>
          <p:nvPr/>
        </p:nvSpPr>
        <p:spPr>
          <a:xfrm>
            <a:off x="297942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91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091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Mirar y verificar supuestos</a:t>
            </a:r>
          </a:p>
        </p:txBody>
      </p:sp>
      <p:sp>
        <p:nvSpPr>
          <p:cNvPr id="11" name="Oval 10"/>
          <p:cNvSpPr/>
          <p:nvPr/>
        </p:nvSpPr>
        <p:spPr>
          <a:xfrm>
            <a:off x="482854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3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Prueba correcta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3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Pareada, no dos muestras</a:t>
            </a:r>
          </a:p>
        </p:txBody>
      </p:sp>
      <p:sp>
        <p:nvSpPr>
          <p:cNvPr id="14" name="Oval 13"/>
          <p:cNvSpPr/>
          <p:nvPr/>
        </p:nvSpPr>
        <p:spPr>
          <a:xfrm>
            <a:off x="667766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A/B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915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Cookie Cats: gate 30 vs 40</a:t>
            </a:r>
          </a:p>
        </p:txBody>
      </p:sp>
      <p:sp>
        <p:nvSpPr>
          <p:cNvPr id="17" name="Oval 16"/>
          <p:cNvSpPr/>
          <p:nvPr/>
        </p:nvSpPr>
        <p:spPr>
          <a:xfrm>
            <a:off x="852678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827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Lift y riesgos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827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Poder, peeking, múltiples métricas</a:t>
            </a:r>
          </a:p>
        </p:txBody>
      </p:sp>
      <p:sp>
        <p:nvSpPr>
          <p:cNvPr id="20" name="Oval 19"/>
          <p:cNvSpPr/>
          <p:nvPr/>
        </p:nvSpPr>
        <p:spPr>
          <a:xfrm>
            <a:off x="1037590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73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Recomendación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73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Decisión de negocio documentada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92608"/>
            <a:ext cx="3154680" cy="384048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Laboratorio, celda 105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A/B TESTING HOY (2025)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industria convierte la experimentación en cultura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¿Hay p-hacking en el A/B real de e-commerce?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Miller &amp; Hosanagar, ISR (2025)  —  2 000+ tests de 242 empresas; la disciplina se puede auditar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Escalar la experimentación como Netflix y Microsoft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Venue (14/12/2025)  —  el valor está en el sistema, no en un test aislado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Cuando la prueba t falla con datos no normales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— Beyond Normality (26/10/2025)  —  por eso se verifica normalidad y se consideran alternativas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Pruebas A/B a escala con agentes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— AgentA/B (13/04/2025)  —  simular usuarios antes de exponer tráfico real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Airbnb acelera su ranking con interleaving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— Airbnb (01/08/2025)  —  hasta 100× más sensible para descartar ideas antes del A/B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CAPÍTULO 2.8 — ¿QUÉ DECISIÓN HABILITA?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decisión del A/B: retener a siete días, no a uno</a:t>
            </a:r>
          </a:p>
        </p:txBody>
      </p:sp>
      <p:pic>
        <p:nvPicPr>
          <p:cNvPr id="4" name="Picture 3" descr="grafico_ab_reten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4856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La métrica primaria se declara antes de ver los datos.
A un día no se distingue del azar; a siete, sí.
Elegirla después es escoger la que confirma.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LECTURAS Y PAPERS — BIBLIOGRAFIA_ALUMNOS.MD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Cinco lecturas anclan la inferencia y el A/B testing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Probable Error of a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Student (1908), Biometrika 6(1)  —  origen de la prueba t — paper de la réplica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Tukey (1977)  —  obra fundacional del EDA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ASA Statement on p-Values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Wasserstein &amp; Lazar (2016), Am. Statistician 70(2)  —  qué dice y qué no un p-valor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71416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Trustworthy Online Controlled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82312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Kohavi, Tang &amp; Xu (2020)  —  manual de A/B: poder, peeking, OEC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67528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Controlling the False Discovery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78424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Benjamini &amp; Hochberg (1995), JRSS-B 57(1)  —  comparaciones múltiples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¿Qué no se puede afirmar, y qué sigue en S03?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Capítulo 2.9 — viernes, bloque 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Tu recomendación de negocio es el entregable de S02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Analizar el A/B real (Cookie Cats) y emitir una recomendación: hipótesis, poder, p-valor, lift y riesgo de peeking.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al cierre; los drills practican elegir la prueba y leer un p-valor.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S03, Regresión lineal: del patrón explorado hoy al primer modelo predictivo.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S02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