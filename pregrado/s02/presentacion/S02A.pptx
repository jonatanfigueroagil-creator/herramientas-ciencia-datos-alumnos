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86" r:id="rId28"/>
    <p:sldId id="258" r:id="rId10"/>
    <p:sldId id="259" r:id="rId11"/>
    <p:sldId id="260" r:id="rId12"/>
    <p:sldId id="261" r:id="rId13"/>
    <p:sldId id="287" r:id="rId29"/>
    <p:sldId id="262" r:id="rId14"/>
    <p:sldId id="266" r:id="rId18"/>
    <p:sldId id="267" r:id="rId19"/>
    <p:sldId id="268" r:id="rId20"/>
    <p:sldId id="273" r:id="rId25"/>
    <p:sldId id="274" r:id="rId26"/>
    <p:sldId id="275" r:id="rId27"/>
    <p:sldId id="288" r:id="rId30"/>
    <p:sldId id="263" r:id="rId15"/>
    <p:sldId id="264" r:id="rId16"/>
    <p:sldId id="265" r:id="rId17"/>
    <p:sldId id="269" r:id="rId21"/>
    <p:sldId id="270" r:id="rId22"/>
    <p:sldId id="271" r:id="rId23"/>
    <p:sldId id="285" r:id="rId37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9.xml"/><Relationship Id="rId15" Type="http://schemas.openxmlformats.org/officeDocument/2006/relationships/slide" Target="slides/slide17.xml"/><Relationship Id="rId16" Type="http://schemas.openxmlformats.org/officeDocument/2006/relationships/slide" Target="slides/slide18.xml"/><Relationship Id="rId17" Type="http://schemas.openxmlformats.org/officeDocument/2006/relationships/slide" Target="slides/slide1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3.xml"/><Relationship Id="rId29" Type="http://schemas.openxmlformats.org/officeDocument/2006/relationships/slide" Target="slides/slide8.xml"/><Relationship Id="rId30" Type="http://schemas.openxmlformats.org/officeDocument/2006/relationships/slide" Target="slides/slide16.xml"/><Relationship Id="rId37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Bienvenida a la S02. Promesa: al terminar, cada estudiante sabrá MIRAR los datos (EDA), MEDIR la incertidumbre (inferencia) y DECIDIR con un experimento (A/B) para emitir una recomendación de negocio. Python, pandas y Colab se asumen de la S01. El botón «Abrir en Colab» lleva al cuaderno de la sesión. [Jueves]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Presentar el recorrido tal como avanza el deck: CUATRO actos, los mismos cuatro divisores granates que se verán en pantalla. (1) EXPLORAR (min 4-15): mirar el dato antes de decidir —tipos, descriptivos, atípicos y faltantes— y visualizarlo (histograma, boxplot, violín; scatter, heatmap y pairplot). (2) INFERIR (min 15-44): poner número a la incertidumbre —IC y bootstrap, el árbol que elige la prueba (t, ANOVA, chi², no paramétricas) y los supuestos— con la réplica de Student (1908) y su t pareada. (3) DECIDIR (min 44-71): el experimento controlado —SRM, hipótesis, tamaño y poder, prueba z, lift— y los dos riesgos que producen falsos ganadores: peeking y multiplicidad (Bonferroni y FDR). (4) RECOMENDAR (min 71-86): traducir la evidencia a decisión —efecto con su IC, riesgo e impacto en dinero— sobre el A/B real de Cookie Cats. El cierre (min 86-90) suma bibliografía y entregable. El puente exacto con el cuaderno es el chip «▶ Notebook — sección — celda N» de cada slide. Termina con un entregable evaluable y un control corto. [Jueves]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Abrir el primer acto. Antes de cualquier prueba o modelo se MIRA el dato. El análisis exploratorio (EDA) evita construir decisiones sobre datos sucios o mal entendidos, donde se va la mayor parte del tiempo de un proyecto. [Jueves, capítulo 2.1]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Definir EDA (Tukey, 1977): actitud y técnicas, sobre todo gráficas, para descubrir estructura, atípicos, faltantes y supuestos ANTES de modelar. Tres ideas: los tipos de variable deciden qué gráfico y prueba valen; un atípico o un patrón de faltantes sesga un KPI —decidir qué hacer es decisión de negocio—; el heatmap EXPLORA asociación, pero asociación no implica causa (eso se ve en A/B y en S12). [Jueves, capítulo 2.2]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Concretar el EDA en el dataset de la réplica (sleep, Student 1908): horas extra de sueño con dos fármacos. La media del fármaco 2 (2,33 h) supera a la del 1 (0,75 h): diferencia observada de 1,58 h. El boxplot muestra dispersión y atípicos por grupo. El EDA solo DESCRIBE; describir no es concluir. [Jueves, capítulo 2.2]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Primera pausa. 2 minutos en parejas y recoger 2-3 respuestas. Guiar hacia el error clásico: confundir correlación con causalidad. El EDA explora asociación; para atribuir causa hace falta un experimento (A/B) o un diseño causal (S12, solo se nombra). Cerrar: para pasar de «lo veo» a «lo decido» hay que medir la incertidumbre. [Jueves, capítulo 2.2]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Abrir el segundo acto. La inferencia pone número a la incertidumbre: intervalos de confianza y pruebas de hipótesis. El hilo es la réplica del paper seminal de Student (1908), «The Probable Error of a Mean», nacido en Guinness para decidir con muestras pequeñas. [Jueves, capítulo 2.3]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Detenerse aquí antes de cualquier número. Student NO se propuso comparar dos somníferos ni bautizar un estadístico: se propuso determinar A PARTIR DE QUÉ TAMAÑO DE MUESTRA deja de ser fiable la tabla normal, y construir la tabla alternativa para cuando la muestra es demasiado pequeña. El fármaco ocupa media página al final del artículo, y el estadístico que define y tabula se llama z, no t. La pregunta estaba abierta: nadie había dicho aún con claridad dónde trazar el límite entre muestra grande y pequeña. Y su respuesta habilita una decisión concreta (conclusión IV del paper): si una serie de experimentos ya alcanza la exactitud requerida o si hay que continuar la investigación — literalmente el dilema de cerrar un A/B o mantenerlo activo, que se verá en el Acto 3. Preguntar al aula: '¿por qué a alguien de una cervecería le urgía esa frontera?'. Fuente: REPLICACION_PAPER.md Sección 0.1. [Jueves, capítulo 2.5]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Este es el slide que enseña a ELEGIR un método, no solo a aplicarlo. Recorrer las tres tarjetas. Primera: con n=10 la curva normal atribuye a un límite unas 7000 a 1 cuando lo real ronda 550 a 1 (p. 13 del paper); el error es tratar una s ESTIMADA como si fuera una sigma CONOCIDA. Segunda: sin sigma disponible hay que dividir por la desviación de la propia muestra y asumir que ese denominador también es aleatorio; derivar la distribución del cociente completo es lo que produce las colas gruesas de la t. Tercera, la que define este laboratorio: ante los dos fármacos Student escribió 'This we must test by making a new series, subtracting 1 from 2' y explicó el porqué, la correlación entre resultados del mismo paciente. El pareo ESTÁ en el paper, con su justificación: no es un tecnicismo moderno impuesto sobre datos antiguos, y por eso la t de dos muestras será un error de DISEÑO, no un desvío numérico. Dato de interés: no había tablas ni cómputo, así que la comprobación empírica se hizo con 3000 fichas de cartón barajadas manualmente. Fuente: REPLICACION_PAPER.md Secciones 0.2 y 0.3. [Jueves, capítulo 2.5]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Procedencia exacta de la réplica. Student es el seudónimo de W. S. Gosset, químico de Guinness que debía decidir con muestras pequeñas. Reanalizó los datos de sueño de Cushny &amp; Peebles (1905): 10 pacientes, dos fármacos. La tabla muestra que cada sujeto tiene sus dos medidas: es un diseño PAREADO y se trabajan las diferencias (media 1,58 h). Base original: sí. [Jueves, capítulo 2.5]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Definir el p-valor con rigor (ASA Statement, Wasserstein &amp; Lazar 2016): probabilidad de un estadístico tan extremo o más SI H0 fuera cierta; NO es P(H0) ni el tamaño del efecto. Definir el IC (ISLR cap. 3): rango plausible del parámetro; si no incluye 0, coherente con un efecto, y su amplitud mide la precisión. Significancia estadística (p&lt;α) no es significancia práctica. [Jueves, capítulo 2.4]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Ordenar la caja de herramientas con un árbol de decisión. La elección se guía por el tipo de dato y el diseño: dos grupos independientes -&gt; t de Welch (por defecto); mismos sujetos -&gt; t pareada (la de la réplica); 3+ grupos -&gt; ANOVA; categóricas -&gt; chi-cuadrado; no normales -&gt; Mann-Whitney. Antes de una prueba paramétrica se verifica normalidad con Shapiro-Wilk y un Q-Q. Contenido de S02; no se adelanta modelado (S03+). [Jueves, capítulo 2.4]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Cifra clave. El fármaco 2 añade en promedio 1,58 h de sueño; la t pareada (gl=9) da t=4,0621 y p=0,0028, por debajo de 0,05: se rechaza H0. El IC (0,70 a 2,46 h) no incluye 0 y el efecto es grande (d_z=1,28). PROCEDENCIA (no fundir las columnas): la diferencia media de 1,58 h es la cifra PUBLICADA por Student en 1908 sobre los datos de Cushny &amp; Peebles; t, p, IC y d_z son CÁLCULO PROPIO del curso, coincidente con R t.test(paired=TRUE). Todas las cifras proceden del Excel de resultados. [Jueves, capítulo 2.4]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Mostrar que la réplica es código verificable, no una caja negra. scipy.stats.ttest_rel(g2, g1) trabaja las diferencias intra-sujeto; se leen t, p, IC y se calcula d_z. La salida (1,58, 4,0621, 0,0028) reproduce a Student y es lo que se exporta al Excel. En el cuaderno hay además un bloque «Cálculo manual» (celda 53) con assert contra scipy. [Jueves, capítulo 2.5]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Núcleo de la réplica. El CSV sleep parece dos grupos, pero son los MISMOS 10 pacientes con ambos fármacos: diseño PAREADO. La t pareada da t=4,06 (p=0,0028) y reproduce la diferencia media publicada por Student en 1908 (1,58 h; t y p son cálculo propio verificado contra R); la t de dos muestras independientes da t=1,86 (p=0,079) y ni siquiera alcanza significancia. Respetar el diseño cambia la conclusión y aumenta la potencia. [Jueves, capítulo 2.5]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Segunda pausa. Con los mismos datos, una prueba concluye «hay efecto» y la otra «no». La correcta es la pareada: cada sujeto es su propio control; ignorar el pareo desperdicia potencia. Corolario: un «no significativo» con bajo poder no prueba ausencia de efecto —ausencia de evidencia no es evidencia de ausencia—. [Jueves, capítulo 2.5]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Abrir el tercer acto. Si la correlación no basta para atribuir causa, el A/B sí: asigna usuarios al azar a control y tratamiento y compara una métrica. Es el estándar de oro para decidir un cambio de producto antes de desplegarlo. Caso: Cookie Cats, un juego móvil que mueve la «puerta» del nivel 30 al 40. AVISO de guion: el acto ABRE con la derivación de pizarra del χ² del SRM (la lámina siguiente), que en el Acto 2 solo se nombró. [Jueves, capítulo 2.4]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 [PIZARRA]: Esta es la derivación que el Acto 2 dejó pendiente y aquí tiene tiempo propio. Se escriben en vivo los dos conteos (44 700 y 45 489) y el esperado por el diseño 50/50 (45 094,5), se plantean los DOS sumandos —3,45 y 3,45— y se suman: χ² = 6,90 con gl=1, que se traduce a p = 0,0086. Cierre visual: una recta con dos marcas, 0,001 (umbral SRM) y 0,05 (umbral corriente); el p cae ENTRE ambas, así que NO se declara SRM y se sigue adelante. Insistir en por qué el umbral es tan estricto: con n muy grande, un desbalance trivial da p pequeño. Y en la corrección: si se activa, se investiga el pipeline de asignación, no se retoca el número. [Jueves, capítulo 2.4]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Definir A/B testing (Kohavi et al., 2009): experimento aleatorizado que, por la asignación al azar, atribuye causalmente el efecto de un cambio. Lift: cambio relativo del KPI, el lenguaje de impacto, distinto del p-valor (que dice «si», no «cuánto»). OEC: la métrica primaria se declara antes de mirar resultados, para no elegir la ganadora a conveniencia. [Jueves, capítulo 2.4]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Divisor del capítulo 2.1. Se enuncia la pregunta tal como aparece en el sílabo, la ficha, el cuaderno y la guía: es el mismo código en todos. [Jueves, capítulo 2.1]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Divisor del capítulo 2.3. Se enuncia la pregunta tal como aparece en el sílabo, la ficha, el cuaderno y la guía: es el mismo código en todos. [Jueves, capítulo 2.3]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Divisor del capítulo 2.5. Se enuncia la pregunta tal como aparece en el sílabo, la ficha, el cuaderno y la guía: es el mismo código en todos. [Jueves, capítulo 2.5]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Bibliografía académica de la sesión (enlaces libres en BIBLIOGRAFIA_ALUMNOS.md y en el cuaderno). Student (1908) origina la t y es el paper de la réplica; Tukey (1977) funda el EDA; el ASA Statement fija qué dice y qué no un p-valor; Kohavi, Tang &amp; Xu (2020) es el manual de experimentación; Benjamini &amp; Hochberg (1995) resuelve las comparaciones múltiples. Se suma Efron (1979) para el bootstrap. [Jueves]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olab.research.google.com/github/jonatanfigueroagil-creator/Herramientas-de-Ciencias-de-Datos/blob/master/Sesiones/S02_eda_inferencia_ab/notebook/S02_eda_inferencia_ab.ipynb" TargetMode="Externa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2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00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640080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E4002B"/>
                </a:solidFill>
                <a:latin typeface="Calibri"/>
              </a:rPr>
              <a:t>S02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91840"/>
            <a:ext cx="99060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800" b="1">
                <a:solidFill>
                  <a:srgbClr val="FFFFFF"/>
                </a:solidFill>
                <a:latin typeface="Calibri"/>
              </a:rPr>
              <a:t>Del dato a la decisión: medir para decidir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94960"/>
            <a:ext cx="990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FCEDEE"/>
                </a:solidFill>
                <a:latin typeface="Calibri"/>
              </a:rPr>
              <a:t>EDA, inferencia estadística y pruebas A/B — réplica de Student (1908)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109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CEDEE"/>
                </a:solidFill>
                <a:latin typeface="Calibri"/>
              </a:rPr>
              <a:t>Herramientas para la Ciencia de Datos, UPC, Facultad de Negocios</a:t>
            </a:r>
          </a:p>
        </p:txBody>
      </p:sp>
      <p:sp>
        <p:nvSpPr>
          <p:cNvPr id="6" name="Rounded Rectangle 5">
            <a:hlinkClick r:id="rId2"/>
          </p:cNvPr>
          <p:cNvSpPr/>
          <p:nvPr/>
        </p:nvSpPr>
        <p:spPr>
          <a:xfrm>
            <a:off x="8549640" y="502920"/>
            <a:ext cx="3154680" cy="4754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4002B"/>
                </a:solidFill>
              </a:rPr>
              <a:t>▶  Abrir en Google Colab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MAPA DEL JUEVES — CAPÍTULOS 2.1 A 2.5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El jueves avanza en cinco capítulos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249936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arch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462" y="2282341"/>
            <a:ext cx="281636" cy="281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2926079"/>
            <a:ext cx="204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Capítulo 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11879"/>
            <a:ext cx="2042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¿Por qué no corresponde modelar apenas se reciben los datos?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303519"/>
            <a:ext cx="2042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Min 20-40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3760" y="1874519"/>
            <a:ext cx="249936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4236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hart-column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1582" y="2282341"/>
            <a:ext cx="281636" cy="2816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42360" y="2926079"/>
            <a:ext cx="204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Capítulo 2.2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360" y="3611879"/>
            <a:ext cx="2042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¿Qué es un análisis exploratorio y qué debe responder siempre?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2360" y="5303519"/>
            <a:ext cx="2042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Min 40-65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880" y="1874519"/>
            <a:ext cx="249936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0748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git-branch_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702" y="2282341"/>
            <a:ext cx="281636" cy="28163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07480" y="2926079"/>
            <a:ext cx="204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Capítulo 2.3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480" y="3611879"/>
            <a:ext cx="2042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¿Cómo se visualiza aquello que los estadísticos no revelan?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480" y="5303519"/>
            <a:ext cx="2042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Min 65-95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1874519"/>
            <a:ext cx="249936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7260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briefcase_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1822" y="2282341"/>
            <a:ext cx="281636" cy="28163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372600" y="2926079"/>
            <a:ext cx="204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Capítulo 2.4 y 2.5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3611879"/>
            <a:ext cx="2042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¿Cómo se determina si una diferencia es real o atribuible al azar? ¿Se sostiene con datos reales? La réplica de Student (1908)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5303519"/>
            <a:ext cx="2042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Min 110-180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03920" y="292608"/>
            <a:ext cx="3154680" cy="384048"/>
          </a:xfrm>
          <a:prstGeom prst="roundRect">
            <a:avLst/>
          </a:prstGeom>
          <a:solidFill>
            <a:srgbClr val="FCEDEE"/>
          </a:solidFill>
          <a:ln w="15875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>
                <a:solidFill>
                  <a:srgbClr val="9B1B30"/>
                </a:solidFill>
                <a:latin typeface="Calibri"/>
              </a:rPr>
              <a:t>▶  Notebook, Índice, celda 0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S02 — Herramientas para la Ciencia de Datos, UPC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2103120"/>
            <a:ext cx="2377440" cy="2377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0" b="1">
                <a:solidFill>
                  <a:srgbClr val="9B1B30"/>
                </a:solidFill>
                <a:latin typeface="Calibri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2651760"/>
            <a:ext cx="7589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¿Por qué no corresponde modelar apenas se reciben los datos?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3977639"/>
            <a:ext cx="7589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FCEDEE"/>
                </a:solidFill>
                <a:latin typeface="Calibri"/>
              </a:rPr>
              <a:t>Capítulo 2.1 — jueves, bloques A1 y A2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2103120"/>
            <a:ext cx="2377440" cy="2377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0" b="1">
                <a:solidFill>
                  <a:srgbClr val="9B1B30"/>
                </a:solidFill>
                <a:latin typeface="Calibri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2651760"/>
            <a:ext cx="7589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Capítulo 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3977639"/>
            <a:ext cx="7589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FCEDEE"/>
                </a:solidFill>
                <a:latin typeface="Calibri"/>
              </a:rPr>
              <a:t>¿Qué es un análisis exploratorio y qué debe responder siempre?</a:t>
            </a:r>
          </a:p>
        </p:txBody>
      </p:sp>
      <p:pic>
        <p:nvPicPr>
          <p:cNvPr id="5" name="Picture 4" descr="search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640080"/>
            <a:ext cx="105156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EXPLORAR, TUKEY (1977); ISLR CAP. 2, DEFINICIONES.MD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El EDA explora los datos antes de decidir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345440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arch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462" y="2282341"/>
            <a:ext cx="281636" cy="281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2926079"/>
            <a:ext cx="2997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Qué 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11879"/>
            <a:ext cx="2997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Examinar los datos, sobre todo en gráficos, para hallar estructura, atípicos y supuestos antes de modelar.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303519"/>
            <a:ext cx="299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La actitud de «mirar» de Tukey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800" y="1874519"/>
            <a:ext cx="345440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9740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riangle-alert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6622" y="2282341"/>
            <a:ext cx="281636" cy="2816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97400" y="2926079"/>
            <a:ext cx="2997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Atípicos y faltantes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7400" y="3611879"/>
            <a:ext cx="2997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Un pedido erróneo desvía un KPI; los faltantes rara vez son aleatorios.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7400" y="5303519"/>
            <a:ext cx="299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Decidir: corregir, imputar o marcar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8960" y="1874519"/>
            <a:ext cx="345440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756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hart-column_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6782" y="2282341"/>
            <a:ext cx="281636" cy="28163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417560" y="2926079"/>
            <a:ext cx="2997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Correlación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7560" y="3611879"/>
            <a:ext cx="2997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El heatmap explora la asociación entre métricas; asociación no es causa.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7560" y="5303519"/>
            <a:ext cx="299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La causa exige un experimento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03920" y="292608"/>
            <a:ext cx="3154680" cy="384048"/>
          </a:xfrm>
          <a:prstGeom prst="roundRect">
            <a:avLst/>
          </a:prstGeom>
          <a:solidFill>
            <a:srgbClr val="FCEDEE"/>
          </a:solidFill>
          <a:ln w="15875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>
                <a:solidFill>
                  <a:srgbClr val="9B1B30"/>
                </a:solidFill>
                <a:latin typeface="Calibri"/>
              </a:rPr>
              <a:t>▶  Notebook, Explorar, celda 9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S02 — Herramientas para la Ciencia de Datos, UPC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EXPLORAR — DATOS CRUDOS DE SLEEP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El fármaco 2 induce más sueño: 2,33 h vs 0,75 h</a:t>
            </a:r>
          </a:p>
        </p:txBody>
      </p:sp>
      <p:pic>
        <p:nvPicPr>
          <p:cNvPr id="4" name="Picture 3" descr="deck_eda_sl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949440" cy="2590013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7955279" y="2011680"/>
            <a:ext cx="548640" cy="5486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ightbulb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898" y="2165299"/>
            <a:ext cx="241402" cy="2414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B1B30"/>
                </a:solidFill>
                <a:latin typeface="Calibri"/>
              </a:rPr>
              <a:t>Lectura de negocio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880360"/>
            <a:ext cx="36576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D2D2D"/>
                </a:solidFill>
                <a:latin typeface="Calibri"/>
              </a:rPr>
              <a:t>El EDA ya insinúa la diferencia (medias 2,33 h vs 0,75 h). La inferencia dirá si es real o azar.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61888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Calibri"/>
              </a:rPr>
              <a:t>Figura del laboratorio S02 (datos CRUDOS de sleep, celda 44) — medias de la hoja descriptivos del Excel.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292608"/>
            <a:ext cx="3154680" cy="384048"/>
          </a:xfrm>
          <a:prstGeom prst="roundRect">
            <a:avLst/>
          </a:prstGeom>
          <a:solidFill>
            <a:srgbClr val="FCEDEE"/>
          </a:solidFill>
          <a:ln w="15875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>
                <a:solidFill>
                  <a:srgbClr val="9B1B30"/>
                </a:solidFill>
                <a:latin typeface="Calibri"/>
              </a:rPr>
              <a:t>▶  Notebook, Explorar, celda 44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S02 — Herramientas para la Ciencia de Datos, UPC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D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93080" y="914400"/>
            <a:ext cx="1005840" cy="10058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9448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9B1B30"/>
                </a:solidFill>
                <a:latin typeface="Calibri"/>
              </a:rPr>
              <a:t>¿La correlación que ves justifica ya una decisión?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4754880"/>
            <a:ext cx="8168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2D2D2D"/>
                </a:solidFill>
                <a:latin typeface="Calibri"/>
              </a:rPr>
              <a:t>Discusión (2 min): dos métricas suben juntas en el heatmap. ¿Basta para actuar o hace falta un experimento?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2103120"/>
            <a:ext cx="2377440" cy="2377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0" b="1">
                <a:solidFill>
                  <a:srgbClr val="9B1B30"/>
                </a:solidFill>
                <a:latin typeface="Calibri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2651760"/>
            <a:ext cx="7589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¿Cómo se visualiza aquello que los estadísticos no revelan?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3977639"/>
            <a:ext cx="7589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FCEDEE"/>
                </a:solidFill>
                <a:latin typeface="Calibri"/>
              </a:rPr>
              <a:t>Capítulo 2.3 — jueves, bloques A1 y A2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2103120"/>
            <a:ext cx="2377440" cy="2377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0" b="1">
                <a:solidFill>
                  <a:srgbClr val="9B1B30"/>
                </a:solidFill>
                <a:latin typeface="Calibri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2651760"/>
            <a:ext cx="7589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Capítulo 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3977639"/>
            <a:ext cx="7589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FCEDEE"/>
                </a:solidFill>
                <a:latin typeface="Calibri"/>
              </a:rPr>
              <a:t>¿Cómo se determina si una diferencia es real o atribuible al azar?</a:t>
            </a:r>
          </a:p>
        </p:txBody>
      </p:sp>
      <p:pic>
        <p:nvPicPr>
          <p:cNvPr id="5" name="Picture 4" descr="chart-column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640080"/>
            <a:ext cx="105156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INFERIR, WASSERSTEIN &amp; LAZAR (2016); ISLR CAP. 3, DEFINICIONES.MD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El p-valor mide evidencia contra H0, no la verdad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345440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arget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462" y="2282341"/>
            <a:ext cx="281636" cy="281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2926079"/>
            <a:ext cx="2997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p-valor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11879"/>
            <a:ext cx="2997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Probabilidad de un resultado tan extremo si H0 fuese cierta; no es P(H0 verdadera).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303519"/>
            <a:ext cx="299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Se compara con un α fijado ANTES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800" y="1874519"/>
            <a:ext cx="345440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9740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hart-column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6622" y="2282341"/>
            <a:ext cx="281636" cy="2816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97400" y="2926079"/>
            <a:ext cx="2997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Intervalo 95%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7400" y="3611879"/>
            <a:ext cx="2997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Rango plausible del efecto: si no incluye 0, hay señal; su amplitud mide la precisión.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7400" y="5303519"/>
            <a:ext cx="299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Más informativo que el p-valor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8960" y="1874519"/>
            <a:ext cx="345440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756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lightbulb_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6782" y="2282341"/>
            <a:ext cx="281636" cy="28163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417560" y="2926079"/>
            <a:ext cx="2997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Efecto vs azar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7560" y="3611879"/>
            <a:ext cx="2997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Significativo no es importante: mirar el tamaño del efecto y su intervalo.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7560" y="5303519"/>
            <a:ext cx="299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La magnitud decide el negocio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03920" y="292608"/>
            <a:ext cx="3154680" cy="384048"/>
          </a:xfrm>
          <a:prstGeom prst="roundRect">
            <a:avLst/>
          </a:prstGeom>
          <a:solidFill>
            <a:srgbClr val="FCEDEE"/>
          </a:solidFill>
          <a:ln w="15875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>
                <a:solidFill>
                  <a:srgbClr val="9B1B30"/>
                </a:solidFill>
                <a:latin typeface="Calibri"/>
              </a:rPr>
              <a:t>▶  Notebook, Inferir, celda 14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S02 — Herramientas para la Ciencia de Datos, UPC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SELECCIÓN DE LA PRUEBA — PLANTILLA ARBOL_DECISION_PRUEBA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Un árbol elige la prueba según el dato y el diseño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28800"/>
          <a:ext cx="11094720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240"/>
                <a:gridCol w="3698240"/>
                <a:gridCol w="3698240"/>
              </a:tblGrid>
              <a:tr h="4145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Situación</a:t>
                      </a:r>
                    </a:p>
                  </a:txBody>
                  <a:tcPr>
                    <a:solidFill>
                      <a:srgbClr val="9B1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Prueba</a:t>
                      </a:r>
                    </a:p>
                  </a:txBody>
                  <a:tcPr>
                    <a:solidFill>
                      <a:srgbClr val="9B1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Cuándo se usa</a:t>
                      </a:r>
                    </a:p>
                  </a:txBody>
                  <a:tcPr>
                    <a:solidFill>
                      <a:srgbClr val="9B1B30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Calibri"/>
                        </a:rPr>
                        <a:t>2 grupos independientes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Calibri"/>
                        </a:rPr>
                        <a:t>t de Welch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Calibri"/>
                        </a:rPr>
                        <a:t>Comparar dos medias, varianzas distintas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Calibri"/>
                        </a:rPr>
                        <a:t>Mismos sujetos (antes/después)</a:t>
                      </a:r>
                    </a:p>
                  </a:txBody>
                  <a:tcPr>
                    <a:solidFill>
                      <a:srgbClr val="FCED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Calibri"/>
                        </a:rPr>
                        <a:t>t pareada</a:t>
                      </a:r>
                    </a:p>
                  </a:txBody>
                  <a:tcPr>
                    <a:solidFill>
                      <a:srgbClr val="FCED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Calibri"/>
                        </a:rPr>
                        <a:t>Diseño intra-sujeto (la réplica)</a:t>
                      </a:r>
                    </a:p>
                  </a:txBody>
                  <a:tcPr>
                    <a:solidFill>
                      <a:srgbClr val="FCEDEE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Calibri"/>
                        </a:rPr>
                        <a:t>3 o más grupos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Calibri"/>
                        </a:rPr>
                        <a:t>ANOVA (F)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Calibri"/>
                        </a:rPr>
                        <a:t>Comparar varias medias a la vez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Calibri"/>
                        </a:rPr>
                        <a:t>Variables categóricas</a:t>
                      </a:r>
                    </a:p>
                  </a:txBody>
                  <a:tcPr>
                    <a:solidFill>
                      <a:srgbClr val="FCED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Calibri"/>
                        </a:rPr>
                        <a:t>Chi-cuadrado</a:t>
                      </a:r>
                    </a:p>
                  </a:txBody>
                  <a:tcPr>
                    <a:solidFill>
                      <a:srgbClr val="FCED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Calibri"/>
                        </a:rPr>
                        <a:t>Proporciones y conteos</a:t>
                      </a:r>
                    </a:p>
                  </a:txBody>
                  <a:tcPr>
                    <a:solidFill>
                      <a:srgbClr val="FCEDEE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Calibri"/>
                        </a:rPr>
                        <a:t>No normal o muy sesgado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Calibri"/>
                        </a:rPr>
                        <a:t>Mann-Whitney 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Calibri"/>
                        </a:rPr>
                        <a:t>Usa rangos; robusta a atípicos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503920" y="292608"/>
            <a:ext cx="3154680" cy="384048"/>
          </a:xfrm>
          <a:prstGeom prst="roundRect">
            <a:avLst/>
          </a:prstGeom>
          <a:solidFill>
            <a:srgbClr val="FCEDEE"/>
          </a:solidFill>
          <a:ln w="15875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>
                <a:solidFill>
                  <a:srgbClr val="9B1B30"/>
                </a:solidFill>
                <a:latin typeface="Calibri"/>
              </a:rPr>
              <a:t>▶  Notebook, Inferir, celda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E6E6E"/>
                </a:solidFill>
                <a:latin typeface="Calibri"/>
              </a:rPr>
              <a:t>Árbol de decisión de la sesión — DEFINICIONES.md (t, ANOVA, chi², Mann-Whitney); normalidad: Shapiro-Wilk + Q-Q.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S02 — Herramientas para la Ciencia de Datos, UPC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58521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0" b="1">
                <a:solidFill>
                  <a:srgbClr val="E4002B"/>
                </a:solidFill>
                <a:latin typeface="Calibri"/>
              </a:rPr>
              <a:t>1,58 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0" y="228600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2D2D2D"/>
                </a:solidFill>
                <a:latin typeface="Calibri"/>
              </a:rPr>
              <a:t>Más sueño con el fármaco 2, y no es azar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0" y="3749039"/>
            <a:ext cx="48463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E6E6E"/>
                </a:solidFill>
                <a:latin typeface="Calibri"/>
              </a:rPr>
              <a:t>Prueba t pareada (gl=9): t=4,0621, p=0,0028; IC 95 % de 0,70 a 2,46 h. Efecto grande (d_z=1,28).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03920" y="292608"/>
            <a:ext cx="3154680" cy="384048"/>
          </a:xfrm>
          <a:prstGeom prst="roundRect">
            <a:avLst/>
          </a:prstGeom>
          <a:solidFill>
            <a:srgbClr val="FCEDEE"/>
          </a:solidFill>
          <a:ln w="15875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>
                <a:solidFill>
                  <a:srgbClr val="9B1B30"/>
                </a:solidFill>
                <a:latin typeface="Calibri"/>
              </a:rPr>
              <a:t>▶  Notebook, Inferir, celda 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E6E6E"/>
                </a:solidFill>
                <a:latin typeface="Calibri"/>
              </a:rPr>
              <a:t>resultados/S02_resultados.xlsx (hoja prueba_t_pareada, celda 61) — Student (1908); datos de Cushny &amp; Peebles.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S02 — Herramientas para la Ciencia de Datos, UPC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2103120"/>
            <a:ext cx="2377440" cy="2377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0" b="1">
                <a:solidFill>
                  <a:srgbClr val="9B1B30"/>
                </a:solidFill>
                <a:latin typeface="Calibri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2651760"/>
            <a:ext cx="7589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Capítulo 2.4 (continúa)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3977639"/>
            <a:ext cx="7589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FCEDEE"/>
                </a:solidFill>
                <a:latin typeface="Calibri"/>
              </a:rPr>
              <a:t>¿Cómo se determina si una diferencia es real o atribuible al azar?</a:t>
            </a:r>
          </a:p>
        </p:txBody>
      </p:sp>
      <p:pic>
        <p:nvPicPr>
          <p:cNvPr id="5" name="Picture 4" descr="git-branch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640080"/>
            <a:ext cx="105156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DECIDIR, GUARDARRAÍL SRM, [PIZARRA]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El reparto 50/50 se verifica antes de leer la métrica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27632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E6E6E"/>
                </a:solidFill>
                <a:latin typeface="Calibri"/>
              </a:rPr>
              <a:t>Chi-cuadrado de bondad de ajuste: lo observado contra lo que exige el diseño.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84831"/>
          <a:ext cx="6126480" cy="1261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1620"/>
                <a:gridCol w="1531620"/>
                <a:gridCol w="1531620"/>
                <a:gridCol w="1531620"/>
              </a:tblGrid>
              <a:tr h="31546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Grupo</a:t>
                      </a:r>
                    </a:p>
                  </a:txBody>
                  <a:tcPr marT="18288" marB="18288">
                    <a:solidFill>
                      <a:srgbClr val="9B1B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Observado</a:t>
                      </a:r>
                    </a:p>
                  </a:txBody>
                  <a:tcPr marT="18288" marB="18288">
                    <a:solidFill>
                      <a:srgbClr val="9B1B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Esperado (50/50)</a:t>
                      </a:r>
                    </a:p>
                  </a:txBody>
                  <a:tcPr marT="18288" marB="18288">
                    <a:solidFill>
                      <a:srgbClr val="9B1B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(O − E)² / E</a:t>
                      </a:r>
                    </a:p>
                  </a:txBody>
                  <a:tcPr marT="18288" marB="18288">
                    <a:solidFill>
                      <a:srgbClr val="9B1B30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2D2D"/>
                          </a:solidFill>
                          <a:latin typeface="Calibri"/>
                        </a:rPr>
                        <a:t>gate_30 (control)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2D2D"/>
                          </a:solidFill>
                          <a:latin typeface="Calibri"/>
                        </a:rPr>
                        <a:t>44 700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2D2D"/>
                          </a:solidFill>
                          <a:latin typeface="Calibri"/>
                        </a:rPr>
                        <a:t>45 094,5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2D2D"/>
                          </a:solidFill>
                          <a:latin typeface="Calibri"/>
                        </a:rPr>
                        <a:t>3,45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2D2D"/>
                          </a:solidFill>
                          <a:latin typeface="Calibri"/>
                        </a:rPr>
                        <a:t>gate_40 (tratamiento)</a:t>
                      </a:r>
                    </a:p>
                  </a:txBody>
                  <a:tcPr marT="18288" marB="18288">
                    <a:solidFill>
                      <a:srgbClr val="FCE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2D2D"/>
                          </a:solidFill>
                          <a:latin typeface="Calibri"/>
                        </a:rPr>
                        <a:t>45 489</a:t>
                      </a:r>
                    </a:p>
                  </a:txBody>
                  <a:tcPr marT="18288" marB="18288">
                    <a:solidFill>
                      <a:srgbClr val="FCE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2D2D"/>
                          </a:solidFill>
                          <a:latin typeface="Calibri"/>
                        </a:rPr>
                        <a:t>45 094,5</a:t>
                      </a:r>
                    </a:p>
                  </a:txBody>
                  <a:tcPr marT="18288" marB="18288">
                    <a:solidFill>
                      <a:srgbClr val="FCE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2D2D"/>
                          </a:solidFill>
                          <a:latin typeface="Calibri"/>
                        </a:rPr>
                        <a:t>3,45</a:t>
                      </a:r>
                    </a:p>
                  </a:txBody>
                  <a:tcPr marT="18288" marB="18288">
                    <a:solidFill>
                      <a:srgbClr val="FCEDEE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2D2D"/>
                          </a:solidFill>
                          <a:latin typeface="Calibri"/>
                        </a:rPr>
                        <a:t>χ² (gl = 1) = suma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2D2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2D2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2D2D"/>
                          </a:solidFill>
                          <a:latin typeface="Calibri"/>
                        </a:rPr>
                        <a:t>6,90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903720" y="2084831"/>
            <a:ext cx="4754880" cy="347472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riangle-alert__E4002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328" y="2359151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0" y="2377439"/>
            <a:ext cx="3749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9B1B30"/>
                </a:solidFill>
                <a:latin typeface="Calibri"/>
              </a:rPr>
              <a:t>χ² = 6,90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14616" y="3090671"/>
            <a:ext cx="42062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2D2D2D"/>
                </a:solidFill>
                <a:latin typeface="Calibri"/>
              </a:rPr>
              <a:t>χ² = Σ (O − E)² / E = 3,45 + 3,45 = 6,90, con gl = 1 → p = 0,0086. El umbral del SRM es 0,001, mucho más estricto que 0,05: con muestras muy grandes un desbalance trivial daría p pequeño. Aquí p queda POR ENCIMA → no se declara SRM y la métrica se puede leer. Si se activara, no se modifica el número: se investiga el pipeline de asignación.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292608"/>
            <a:ext cx="3154680" cy="384048"/>
          </a:xfrm>
          <a:prstGeom prst="roundRect">
            <a:avLst/>
          </a:prstGeom>
          <a:solidFill>
            <a:srgbClr val="FCEDEE"/>
          </a:solidFill>
          <a:ln w="15875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>
                <a:solidFill>
                  <a:srgbClr val="9B1B30"/>
                </a:solidFill>
                <a:latin typeface="Calibri"/>
              </a:rPr>
              <a:t>▶  Notebook, Supuestos, celda 118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4360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E6E6E"/>
                </a:solidFill>
                <a:latin typeface="Calibri"/>
              </a:rPr>
              <a:t>resultados/S02_resultados.xlsx (hoja srm, Anexo A.5, celda 140), diagnóstico ejecutable en la celda 118 — SUPUESTOS_S02.md, Parte 2.4 (umbral de Kohavi/Fabijan).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S02 — Herramientas para la Ciencia de Datos, UPC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DECIDIR, KOHAVI ET AL. (2009); KOHAVI, TANG &amp; XU (2020), DEFINICIONES.MD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El A/B test es el estándar de oro para atribuir causa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345440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it-branch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462" y="2282341"/>
            <a:ext cx="281636" cy="281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2926079"/>
            <a:ext cx="2997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A/B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11879"/>
            <a:ext cx="2997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Usuarios asignados al azar a control (A) y tratamiento (B); la aleatorización habilita la causa.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303519"/>
            <a:ext cx="299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Estándar para decidir un cambio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800" y="1874519"/>
            <a:ext cx="345440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9740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rending-up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6622" y="2282341"/>
            <a:ext cx="281636" cy="2816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97400" y="2926079"/>
            <a:ext cx="2997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Lift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7400" y="3611879"/>
            <a:ext cx="2997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Cambio relativo del KPI: (B − A) / A; el «cuánto mejora» del negocio.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7400" y="5303519"/>
            <a:ext cx="299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Distinto del p-valor (el «si»)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8960" y="1874519"/>
            <a:ext cx="345440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756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target_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6782" y="2282341"/>
            <a:ext cx="281636" cy="28163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417560" y="2926079"/>
            <a:ext cx="2997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OEC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7560" y="3611879"/>
            <a:ext cx="2997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Se declara ANTES la métrica primaria que decide; el resto es diagnóstico o guardarraíl.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7560" y="5303519"/>
            <a:ext cx="299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Evita elegir la «ganadora» a posteriori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03920" y="292608"/>
            <a:ext cx="3154680" cy="384048"/>
          </a:xfrm>
          <a:prstGeom prst="roundRect">
            <a:avLst/>
          </a:prstGeom>
          <a:solidFill>
            <a:srgbClr val="FCEDEE"/>
          </a:solidFill>
          <a:ln w="15875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>
                <a:solidFill>
                  <a:srgbClr val="9B1B30"/>
                </a:solidFill>
                <a:latin typeface="Calibri"/>
              </a:rPr>
              <a:t>▶  Notebook, Decidir, celda 82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S02 — Herramientas para la Ciencia de Datos, UPC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2103120"/>
            <a:ext cx="2377440" cy="2377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0" b="1">
                <a:solidFill>
                  <a:srgbClr val="9B1B30"/>
                </a:solidFill>
                <a:latin typeface="Calibri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2651760"/>
            <a:ext cx="7589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¿Se sostiene con datos reales? La réplica de Student (1908)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3977639"/>
            <a:ext cx="7589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FCEDEE"/>
                </a:solidFill>
                <a:latin typeface="Calibri"/>
              </a:rPr>
              <a:t>Capítulo 2.5 — jueves, bloques A1 y A2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38800" y="914400"/>
            <a:ext cx="914400" cy="91440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2377440"/>
            <a:ext cx="89001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>
                <a:solidFill>
                  <a:srgbClr val="FFFFFF"/>
                </a:solidFill>
                <a:latin typeface="Calibri"/>
              </a:rPr>
              <a:t>El objeto del presente trabajo es determinar el punto a partir del cual podemos usar las tablas de la integral de probabilidad para juzgar la significación de la media de una serie de experimentos, y proporcionar tablas alternativas para cuando el número de experimentos es demasiado escaso.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5120640"/>
            <a:ext cx="890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FCEDEE"/>
                </a:solidFill>
                <a:latin typeface="Calibri"/>
              </a:rPr>
              <a:t>— Student (W. S. Gosset), 1908 — segunda página del artículo (p. 2)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QUÉ PREGUNTABA EL PAPER Y POR QUÉ USÓ LO QUE USÓ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Ninguna de sus decisiones fue casual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345440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riangle-alert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462" y="2282341"/>
            <a:ext cx="281636" cy="281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2926079"/>
            <a:ext cx="2997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Por qué no la curva normal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11879"/>
            <a:ext cx="2997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Con pocos datos la desviación estimada arrastra un error creciente y los juicios se vuelven engañosos: la normal da «una falsa sensación de seguridad».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303519"/>
            <a:ext cx="299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El fallo no está en la media, sino en el denominador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800" y="1874519"/>
            <a:ext cx="345440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9740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atabase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6622" y="2282341"/>
            <a:ext cx="281636" cy="2816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97400" y="2926079"/>
            <a:ext cx="2997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Por qué la propia muestra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7400" y="3611879"/>
            <a:ext cx="2997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No existía ninguna sigma poblacional a la que recurrir: la muestra es la única indicación de la variabilidad de que se dispone.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7400" y="5303519"/>
            <a:ext cx="299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Aceptó un denominador aleatorio, y de ahí las colas gruesas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8960" y="1874519"/>
            <a:ext cx="345440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756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git-branch_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6782" y="2282341"/>
            <a:ext cx="281636" cy="28163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417560" y="2926079"/>
            <a:ext cx="2997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Por qué una serie de diferencias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7560" y="3611879"/>
            <a:ext cx="2997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Los dos fármacos actúan de forma parecida en el mismo paciente, así que las dos columnas están correlacionadas y restarlas cancela el ruido entre personas.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7560" y="5303519"/>
            <a:ext cx="299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En el paper: desviación 1,17 frente a 1,70 y 1,90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94360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E6E6E"/>
                </a:solidFill>
                <a:latin typeface="Calibri"/>
              </a:rPr>
              <a:t>Decisiones documentadas en el original — REPLICACION_PAPER Sección 0.3 (Student 1908, pp. 1-2, 13 y Sección IX). Cifras de desviación: del paper.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S02 — Herramientas para la Ciencia de Datos, UPC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INFERIR, PROCEDENCIA DEL 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Los mismos 10 pacientes: el diseño es pareado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27632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E6E6E"/>
                </a:solidFill>
                <a:latin typeface="Calibri"/>
              </a:rPr>
              <a:t>Los «dos grupos» son los mismos 10 sujetos con ambos fármacos; Student trabajó las diferencias.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84831"/>
          <a:ext cx="6126480" cy="3470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1620"/>
                <a:gridCol w="1531620"/>
                <a:gridCol w="1531620"/>
                <a:gridCol w="1531620"/>
              </a:tblGrid>
              <a:tr h="31546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Sujeto</a:t>
                      </a:r>
                    </a:p>
                  </a:txBody>
                  <a:tcPr marT="18288" marB="18288">
                    <a:solidFill>
                      <a:srgbClr val="9B1B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Fármaco 1 (h)</a:t>
                      </a:r>
                    </a:p>
                  </a:txBody>
                  <a:tcPr marT="18288" marB="18288">
                    <a:solidFill>
                      <a:srgbClr val="9B1B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Fármaco 2 (h)</a:t>
                      </a:r>
                    </a:p>
                  </a:txBody>
                  <a:tcPr marT="18288" marB="18288">
                    <a:solidFill>
                      <a:srgbClr val="9B1B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 = F2 − F1</a:t>
                      </a:r>
                    </a:p>
                  </a:txBody>
                  <a:tcPr marT="18288" marB="18288">
                    <a:solidFill>
                      <a:srgbClr val="9B1B30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2D2D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2D2D"/>
                          </a:solidFill>
                          <a:latin typeface="Calibri"/>
                        </a:rPr>
                        <a:t>0,7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2D2D"/>
                          </a:solidFill>
                          <a:latin typeface="Calibri"/>
                        </a:rPr>
                        <a:t>1,9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2D2D"/>
                          </a:solidFill>
                          <a:latin typeface="Calibri"/>
                        </a:rPr>
                        <a:t>1,2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2D2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T="18288" marB="18288">
                    <a:solidFill>
                      <a:srgbClr val="FCE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2D2D"/>
                          </a:solidFill>
                          <a:latin typeface="Calibri"/>
                        </a:rPr>
                        <a:t>−1,6</a:t>
                      </a:r>
                    </a:p>
                  </a:txBody>
                  <a:tcPr marT="18288" marB="18288">
                    <a:solidFill>
                      <a:srgbClr val="FCE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2D2D"/>
                          </a:solidFill>
                          <a:latin typeface="Calibri"/>
                        </a:rPr>
                        <a:t>0,8</a:t>
                      </a:r>
                    </a:p>
                  </a:txBody>
                  <a:tcPr marT="18288" marB="18288">
                    <a:solidFill>
                      <a:srgbClr val="FCE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2D2D"/>
                          </a:solidFill>
                          <a:latin typeface="Calibri"/>
                        </a:rPr>
                        <a:t>2,4</a:t>
                      </a:r>
                    </a:p>
                  </a:txBody>
                  <a:tcPr marT="18288" marB="18288">
                    <a:solidFill>
                      <a:srgbClr val="FCEDEE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2D2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2D2D"/>
                          </a:solidFill>
                          <a:latin typeface="Calibri"/>
                        </a:rPr>
                        <a:t>−0,2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2D2D"/>
                          </a:solidFill>
                          <a:latin typeface="Calibri"/>
                        </a:rPr>
                        <a:t>1,1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2D2D"/>
                          </a:solidFill>
                          <a:latin typeface="Calibri"/>
                        </a:rPr>
                        <a:t>1,3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2D2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T="18288" marB="18288">
                    <a:solidFill>
                      <a:srgbClr val="FCE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2D2D"/>
                          </a:solidFill>
                          <a:latin typeface="Calibri"/>
                        </a:rPr>
                        <a:t>−1,2</a:t>
                      </a:r>
                    </a:p>
                  </a:txBody>
                  <a:tcPr marT="18288" marB="18288">
                    <a:solidFill>
                      <a:srgbClr val="FCE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2D2D"/>
                          </a:solidFill>
                          <a:latin typeface="Calibri"/>
                        </a:rPr>
                        <a:t>0,1</a:t>
                      </a:r>
                    </a:p>
                  </a:txBody>
                  <a:tcPr marT="18288" marB="18288">
                    <a:solidFill>
                      <a:srgbClr val="FCE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2D2D"/>
                          </a:solidFill>
                          <a:latin typeface="Calibri"/>
                        </a:rPr>
                        <a:t>1,3</a:t>
                      </a:r>
                    </a:p>
                  </a:txBody>
                  <a:tcPr marT="18288" marB="18288">
                    <a:solidFill>
                      <a:srgbClr val="FCEDEE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2D2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2D2D"/>
                          </a:solidFill>
                          <a:latin typeface="Calibri"/>
                        </a:rPr>
                        <a:t>−0,1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2D2D"/>
                          </a:solidFill>
                          <a:latin typeface="Calibri"/>
                        </a:rPr>
                        <a:t>−0,1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2D2D"/>
                          </a:solidFill>
                          <a:latin typeface="Calibri"/>
                        </a:rPr>
                        <a:t>0,0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2D2D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T="18288" marB="18288">
                    <a:solidFill>
                      <a:srgbClr val="FCE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2D2D"/>
                          </a:solidFill>
                          <a:latin typeface="Calibri"/>
                        </a:rPr>
                        <a:t>3,4</a:t>
                      </a:r>
                    </a:p>
                  </a:txBody>
                  <a:tcPr marT="18288" marB="18288">
                    <a:solidFill>
                      <a:srgbClr val="FCE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2D2D"/>
                          </a:solidFill>
                          <a:latin typeface="Calibri"/>
                        </a:rPr>
                        <a:t>4,4</a:t>
                      </a:r>
                    </a:p>
                  </a:txBody>
                  <a:tcPr marT="18288" marB="18288">
                    <a:solidFill>
                      <a:srgbClr val="FCE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2D2D"/>
                          </a:solidFill>
                          <a:latin typeface="Calibri"/>
                        </a:rPr>
                        <a:t>1,0</a:t>
                      </a:r>
                    </a:p>
                  </a:txBody>
                  <a:tcPr marT="18288" marB="18288">
                    <a:solidFill>
                      <a:srgbClr val="FCEDEE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2D2D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2D2D"/>
                          </a:solidFill>
                          <a:latin typeface="Calibri"/>
                        </a:rPr>
                        <a:t>3,7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2D2D"/>
                          </a:solidFill>
                          <a:latin typeface="Calibri"/>
                        </a:rPr>
                        <a:t>5,5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2D2D"/>
                          </a:solidFill>
                          <a:latin typeface="Calibri"/>
                        </a:rPr>
                        <a:t>1,8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2D2D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T="18288" marB="18288">
                    <a:solidFill>
                      <a:srgbClr val="FCE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2D2D"/>
                          </a:solidFill>
                          <a:latin typeface="Calibri"/>
                        </a:rPr>
                        <a:t>0,8</a:t>
                      </a:r>
                    </a:p>
                  </a:txBody>
                  <a:tcPr marT="18288" marB="18288">
                    <a:solidFill>
                      <a:srgbClr val="FCE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2D2D"/>
                          </a:solidFill>
                          <a:latin typeface="Calibri"/>
                        </a:rPr>
                        <a:t>1,6</a:t>
                      </a:r>
                    </a:p>
                  </a:txBody>
                  <a:tcPr marT="18288" marB="18288">
                    <a:solidFill>
                      <a:srgbClr val="FCE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2D2D"/>
                          </a:solidFill>
                          <a:latin typeface="Calibri"/>
                        </a:rPr>
                        <a:t>0,8</a:t>
                      </a:r>
                    </a:p>
                  </a:txBody>
                  <a:tcPr marT="18288" marB="18288">
                    <a:solidFill>
                      <a:srgbClr val="FCEDEE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2D2D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2D2D"/>
                          </a:solidFill>
                          <a:latin typeface="Calibri"/>
                        </a:rPr>
                        <a:t>0,0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2D2D"/>
                          </a:solidFill>
                          <a:latin typeface="Calibri"/>
                        </a:rPr>
                        <a:t>4,6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2D2D"/>
                          </a:solidFill>
                          <a:latin typeface="Calibri"/>
                        </a:rPr>
                        <a:t>4,6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2D2D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T="18288" marB="18288">
                    <a:solidFill>
                      <a:srgbClr val="FCE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2D2D"/>
                          </a:solidFill>
                          <a:latin typeface="Calibri"/>
                        </a:rPr>
                        <a:t>2,0</a:t>
                      </a:r>
                    </a:p>
                  </a:txBody>
                  <a:tcPr marT="18288" marB="18288">
                    <a:solidFill>
                      <a:srgbClr val="FCE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2D2D"/>
                          </a:solidFill>
                          <a:latin typeface="Calibri"/>
                        </a:rPr>
                        <a:t>3,4</a:t>
                      </a:r>
                    </a:p>
                  </a:txBody>
                  <a:tcPr marT="18288" marB="18288">
                    <a:solidFill>
                      <a:srgbClr val="FCE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2D2D"/>
                          </a:solidFill>
                          <a:latin typeface="Calibri"/>
                        </a:rPr>
                        <a:t>1,4</a:t>
                      </a:r>
                    </a:p>
                  </a:txBody>
                  <a:tcPr marT="18288" marB="18288">
                    <a:solidFill>
                      <a:srgbClr val="FCEDEE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903720" y="2084831"/>
            <a:ext cx="4754880" cy="347472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ook-open__E4002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328" y="2359151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0" y="2377439"/>
            <a:ext cx="3749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9B1B30"/>
                </a:solidFill>
                <a:latin typeface="Calibri"/>
              </a:rPr>
              <a:t>Student (1908)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14616" y="3090671"/>
            <a:ext cx="42062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2D2D2D"/>
                </a:solidFill>
                <a:latin typeface="Calibri"/>
              </a:rPr>
              <a:t>«The Probable Error of a Mean», Biometrika 6(1), 1–25. Gosset firmó como «Student» en la cervecería Guinness; los datos son de Cushny &amp; Peebles (1905), hoy el dataset sleep. Base original: sí — diferencia media replicada = 1,58 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292608"/>
            <a:ext cx="3154680" cy="384048"/>
          </a:xfrm>
          <a:prstGeom prst="roundRect">
            <a:avLst/>
          </a:prstGeom>
          <a:solidFill>
            <a:srgbClr val="FCEDEE"/>
          </a:solidFill>
          <a:ln w="15875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>
                <a:solidFill>
                  <a:srgbClr val="9B1B30"/>
                </a:solidFill>
                <a:latin typeface="Calibri"/>
              </a:rPr>
              <a:t>▶  Notebook, Inferir, celda 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4360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E6E6E"/>
                </a:solidFill>
                <a:latin typeface="Calibri"/>
              </a:rPr>
              <a:t>la ficha de la sesión de réplica del paper (Sección 3-4) — Student (1908), Biometrika 6(1); CSV sleep (Rdatasets). Dato CRUDO del paper, no del Excel.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S02 — Herramientas para la Ciencia de Datos, UPC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INFERIR — CÓDIGO REAL DEL CUADERNO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Así se reproduce a Student: la t pareada en 5 líneas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55648"/>
            <a:ext cx="11094720" cy="4572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400" b="1">
                <a:solidFill>
                  <a:srgbClr val="9B1B30"/>
                </a:solidFill>
                <a:latin typeface="Calibri"/>
              </a:rPr>
              <a:t>▸ Qué hace:  </a:t>
            </a:r>
            <a:r>
              <a:rPr sz="1400">
                <a:solidFill>
                  <a:srgbClr val="2D2D2D"/>
                </a:solidFill>
                <a:latin typeface="Calibri"/>
              </a:rPr>
              <a:t>Aplica la prueba t pareada (scipy) sobre las diferencias y obtiene t=4,0621, p=0,0028, IC 95 % (0,70; 2,46) h y d_z=1,28.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95728"/>
            <a:ext cx="11094720" cy="3346704"/>
          </a:xfrm>
          <a:prstGeom prst="roundRect">
            <a:avLst/>
          </a:prstGeom>
          <a:solidFill>
            <a:srgbClr val="F4F4F4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2542032"/>
            <a:ext cx="10637520" cy="256032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050" b="1">
                <a:solidFill>
                  <a:srgbClr val="9B1B30"/>
                </a:solidFill>
                <a:latin typeface="Calibri"/>
              </a:rPr>
              <a:t>CÓDIGO REAL DEL CUADERNO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926080"/>
            <a:ext cx="10472928" cy="27432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res_sp = stats.ttest_rel(g2, g1)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ic = res_sp.confidence_interval(0.95)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dif_media = float(d.mean())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t_pareado = float(res_sp.statistic)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p_valor = float(res_sp.pvalue)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ic_inf, ic_sup = float(ic.low), float(ic.high)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cohen_dz = dif_media / float(d.std(ddof=1))   # d_z (pareado) = 1.58 / 1.2300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61888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Calibri"/>
              </a:rPr>
              <a:t>notebook/S02_eda_inferencia_ab.ipynb, celda 61 (líneas copiadas literalmente) — alimenta la hoja prueba_t_pareada del Excel.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292608"/>
            <a:ext cx="3154680" cy="384048"/>
          </a:xfrm>
          <a:prstGeom prst="roundRect">
            <a:avLst/>
          </a:prstGeom>
          <a:solidFill>
            <a:srgbClr val="FCEDEE"/>
          </a:solidFill>
          <a:ln w="15875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>
                <a:solidFill>
                  <a:srgbClr val="9B1B30"/>
                </a:solidFill>
                <a:latin typeface="Calibri"/>
              </a:rPr>
              <a:t>▶  Notebook, Inferir, celda 61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S02 — Herramientas para la Ciencia de Datos, UPC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INFERIR — RÉPLICA DE STUDENT (1908)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La t pareada reproduce el paper; la otra no</a:t>
            </a:r>
          </a:p>
        </p:txBody>
      </p:sp>
      <p:pic>
        <p:nvPicPr>
          <p:cNvPr id="4" name="Picture 3" descr="deck_replica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949440" cy="3398985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7955279" y="2011680"/>
            <a:ext cx="548640" cy="5486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ightbulb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898" y="2165299"/>
            <a:ext cx="241402" cy="2414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B1B30"/>
                </a:solidFill>
                <a:latin typeface="Calibri"/>
              </a:rPr>
              <a:t>Lectura de negocio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880360"/>
            <a:ext cx="36576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D2D2D"/>
                </a:solidFill>
                <a:latin typeface="Calibri"/>
              </a:rPr>
              <a:t>Mismos 10 pacientes: diseño pareado. La t pareada (t=4,06, p=0,0028) reproduce a Student; la de dos muestras (t=1,86, p=0,079) no.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61888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Calibri"/>
              </a:rPr>
              <a:t>Figura del laboratorio S02 (celda 65), hoja prueba_t_pareada del Excel, Student (1908).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292608"/>
            <a:ext cx="3154680" cy="384048"/>
          </a:xfrm>
          <a:prstGeom prst="roundRect">
            <a:avLst/>
          </a:prstGeom>
          <a:solidFill>
            <a:srgbClr val="FCEDEE"/>
          </a:solidFill>
          <a:ln w="15875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>
                <a:solidFill>
                  <a:srgbClr val="9B1B30"/>
                </a:solidFill>
                <a:latin typeface="Calibri"/>
              </a:rPr>
              <a:t>▶  Notebook, Inferir, celda 65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S02 — Herramientas para la Ciencia de Datos, UPC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D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93080" y="914400"/>
            <a:ext cx="1005840" cy="10058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9448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9B1B30"/>
                </a:solidFill>
                <a:latin typeface="Calibri"/>
              </a:rPr>
              <a:t>Mismos datos, dos pruebas: ¿cuál decisión tomas?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4754880"/>
            <a:ext cx="8168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2D2D2D"/>
                </a:solidFill>
                <a:latin typeface="Calibri"/>
              </a:rPr>
              <a:t>La t pareada da p=0,0028; la de dos muestras, p=0,079. ¿Cuál respeta el diseño y por qué?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LECTURAS Y PAPERS — BIBLIOGRAFIA_ALUMNOS.MD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Cinco lecturas anclan la inferencia y el A/B testing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810512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The Probable Error of a Mean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93976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Student (1908), Biometrika 6(1)  —  origen de la prueba t — paper de la réplica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06624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79192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Exploratory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0088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Tukey (1977)  —  obra fundacional del EDA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602736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75304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The ASA Statement on p-Values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886200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Wasserstein &amp; Lazar (2016), Am. Statistician 70(2)  —  qué dice y qué no un p-valor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98848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471416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Trustworthy Online Controlled Experiments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782312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Kohavi, Tang &amp; Xu (2020)  —  manual de A/B: poder, peeking, OEC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394960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367528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Controlling the False Discovery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678424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Benjamini &amp; Hochberg (1995), JRSS-B 57(1)  —  comparaciones múltiples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S02 — Herramientas para la Ciencia de Datos, UPC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