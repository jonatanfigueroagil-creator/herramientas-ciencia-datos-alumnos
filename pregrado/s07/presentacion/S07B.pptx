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70" r:id="rId22"/>
    <p:sldId id="282" r:id="rId34"/>
    <p:sldId id="271" r:id="rId23"/>
    <p:sldId id="274" r:id="rId26"/>
    <p:sldId id="275" r:id="rId27"/>
    <p:sldId id="285" r:id="rId37"/>
    <p:sldId id="283" r:id="rId35"/>
    <p:sldId id="284" r:id="rId36"/>
    <p:sldId id="286" r:id="rId38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34" Type="http://schemas.openxmlformats.org/officeDocument/2006/relationships/slide" Target="slides/slide4.xml"/><Relationship Id="rId35" Type="http://schemas.openxmlformats.org/officeDocument/2006/relationships/slide" Target="slides/slide9.xml"/><Relationship Id="rId36" Type="http://schemas.openxmlformats.org/officeDocument/2006/relationships/slide" Target="slides/slide10.xml"/><Relationship Id="rId37" Type="http://schemas.openxmlformats.org/officeDocument/2006/relationships/slide" Target="slides/slide8.xml"/><Relationship Id="rId3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Abrir la S07, ÚLTIMA sesión antes del examen parcial y cierre de la Unidad 1. Promesa de hoy: agrupar clientes SIN etiquetas y detectar lo anómalo, y traducir ambos en decisiones (a quién retener, qué transacción revisar). Dos caras del aprendizaje no supervisado. K-Means es prerrequisito (IA I): aquí solo se cita como punto de partida y para exhibir su límite. El método del deck: cada cifra se muestra contra su fuente y se LEE del Excel de resultados. El botón «Abrir en Colab» lleva al cuaderno de la sesión. [Viernes]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Presentar el recorrido como un arco Contexto -&gt; Evidencia -&gt; Decisión, alineado con los divisores del cuaderno. Acto 1 (contexto): el límite de K-Means motiva la sesión. Acto 2 (evidencia): dos formas de agrupar sin fijar k, jerárquico (dendrograma, enlaces) y densidad (DBSCAN); entre medias, los supuestos. Acto 3 (decisión de segmentación): elegir k con la silueta y perfilar con RFM en fichas de segmento con acción. Acto 4 (decisión de riesgo): la réplica de Liu 2008, Isolation Forest frente a LOF por AUC-ROC. Dos entregas: fichas de segmento y el 1 % más anómalo. [Viernes]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cada decisión o supuesto se DIAGNOSTICA y luego se DECIDE con un método. (1) ESTANDARIZAR, la decisión central de S07: escalas dispares (RFM) obligan a z-score antes de toda distancia; iForest es la excepción (parte por cortes, no por distancias). (2) Nº DE GRUPOS: la silueta es casi plana entre k=4 y k=6 (máx k=5, 0,349); se cruza con la accionabilidad y se elige k=4, documentado. (3) eps DE DBSCAN: se fija en el codo de la k-distancia (RFM 0,53), min_samples ≈ 2·dimensiones, y la silueta se mide sin el ruido. (4) ORIENTAR EL SCORE: en sklearn 'más alto = más normal'; para el AUC con 'anomalía = positivo' hay que NEGAR el score, o resulta ≈ 1 − 0,869 (el error más caro). Detalle: SUPUESTOS_S07.md. [Viernes, capítulo 7.6]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Abrir el acto de la decisión de segmentación. Dos preguntas: ¿cuántos grupos? (silueta) y ¿quiénes son y qué acción corresponde a cada uno? (RFM + perfilamiento). Este acto es el núcleo del entregable: las fichas de segmento con su acción. [Viernes, capítulo 7.8]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El payoff de segmentar. Solo 6 de 140 clientes son 'Campeones/VIP', pero concentran el 70,08 % del ingreso — gasto MEDIANA £ 13 620 (cifra principal por el sesgo de Monetary; media £ 63 727), frente a £ 406 de gasto medio en los 'Hibernando': un factor superior a cien. Segmentar concentra el esfuerzo donde está el valor: no se trata a todos igual. Este es exactamente el tipo de decisión que la ficha de segmento obliga a tomar. Fuente: perfiles_cluster (G4, I4); rfm_segmentos (F4, F3, C4, C3). [Viernes, capítulo 7.8]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Perfilar = describir cada grupo con el valor típico de cada variable RFM (en unidades de negocio, no z-scores) y ponerle nombre y acción. Recorrer las cuatro fichas: Campeones (retener), Valiosos en riesgo (reactivar), Ocasionales (onboarding), Hibernando (bajo costo o descarte). El tamaño del segmento pondera la prioridad y la mediana (cifra principal en la tarjeta VIP) describe mejor que la media cuando hay colas largas. Dato completo de Campeones/VIP (no cabe en la tarjeta): 56 pedidos, gasto mediana £ 13 620 y media £ 63 727. Esto es el entregable: la ficha de segmento con su acción. Cifras del Excel perfiles_cluster (media y mediana) y rfm_segmentos. [Viernes, capítulo 7.8]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Tercera pausa y drill 3. Elegido el detector por AUC, el umbral operativo lo fija el PRESUPUESTO de revisión: marcar el 1 % con score más alto (np.quantile(score, 0.99)) y perfilarlo. COSTEAR EN LA MONEDA DEL CASO (no el macro prestado de US$ 12 500 M): las 182 transacciones marcadas suman £113 927,57 de Amount (20,88 % del volumen total, £545 587,37), concentrado en apenas el 1 % de las transacciones; revisarlas cuesta solo unos cientos de GBP (182 revisiones de pocos minutos), así que la cola cubre su costo en cuanto corrige una fracción mínima de ese importe: 'revisar el 1 %' tiene valor en dinero del caso, no solo un tope de presupuesto. Un score alto dice 'raro', no 'fraude': es una hipótesis para revisión humana. Transversal: tanto el cluster_id (segmento) como la bandera es_anomalia se añaden como features para los modelos supervisados de S09-S10, que solo se nombran, no se enseñan aquí. [Viernes, capítulo 7.7]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Anclar la sesión en la actualidad. El fraude crece (Alloy, +25 %); la detección de anomalías es un pilar operativo antifraude (ThreatMark); y RFM sigue vigente en investigación 2025 (arXiv, RFM + grafos). Otra fuente útil (Frontiers, 2025) recuerda que ante clases desbalanceadas la métrica correcta es AUC-ROC, no la exactitud, justo lo que hace la réplica. Enlaces verificados en fuentes_actualidad_S07.md. [Viernes, capítulo 7.8]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Bibliografía de la sesión, cinco lecturas en total. Liu 2008 (Isolation Forest) es el paper de la réplica; Breunig 2000 (LOF) el contraste; Rousseeuw 1987 define la silueta — las tres en pantalla. Las otras dos, solo aquí: Ester, Kriegel, Sander &amp; Xu (1996, KDD-96) funda DBSCAN (clustering por densidad y ruido); James, Witten, Hastie &amp; Tibshirani, ISLR cap. 12.4 (2021) es la lectura base de jerárquico y dendrograma. Ward (1963) se citó en los enlaces. Todos con PDF libre o enlace en BIBLIOGRAFIA_ALUMNOS.md y en el cuaderno. [Viernes]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Lanzar el laboratorio (parejas, entrega individual). El protocolo completo tiene 7 pasos (0-6, ver GUIA_LABORATORIO_S07.md sección 3); esto son las seis acciones DENTRO del Paso 6 (el bloque de negocio): cargar Online Retail II, construir RFM por cliente, estandarizar (para que Monetary no domine la distancia), clusterizar con Ward/DBSCAN y elegir k con la silueta, perfilar en fichas de segmento con su acción, y marcar el 1 % de transacciones más anómalas con Isolation Forest. Guía completa en laboratorio/GUIA_LABORATORIO_S07.md; teoría y ejecución en el cuaderno (botón Colab de la portada). [Viernes, capítulo 7.8]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Recapitular en una frase: del dato sin etiqueta a la decisión — agrupar (jerárquico, DBSCAN eps 0,53 -&gt; 3 grupos + 39 ruido), elegir k con la silueta (0,349 en k=5, se toma k=4), perfilar con RFM (6 VIP de 140 concentran el valor) y detectar lo raro (iForest 0,869 &gt; LOF 0,720). Cada cifra se mostró contra su fuente y se leyó del Excel (fidelidad verificada). Recordar el entregable y asignar el control corto como take-home. S07 CIERRA la Unidad 1: procede el examen PARCIAL (S01-S07); después, la S08 abre reglas de asociación. [Viernes, capítulo 7.9]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lab.research.google.com/github/jonatanfigueroagil-creator/Herramientas-de-Ciencias-de-Datos/blob/master/Sesiones/S07_clustering_anomalias/notebook/S07_clustering_anomalias.ipynb" TargetMode="Externa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notesSlide" Target="../notesSlides/notesSlide2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0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E4002B"/>
                </a:solidFill>
                <a:latin typeface="Calibri"/>
              </a:rPr>
              <a:t>S07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9906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Segmentar clientes y detectar lo anómalo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990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FCEDEE"/>
                </a:solidFill>
                <a:latin typeface="Calibri"/>
              </a:rPr>
              <a:t>Clustering (jerárquico, DBSCAN) y detección de anomalías — réplica de Liu et al. (2008)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109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CEDEE"/>
                </a:solidFill>
                <a:latin typeface="Calibri"/>
              </a:rPr>
              <a:t>Herramientas para la Ciencia de Datos, UPC, Facultad de Negocios</a:t>
            </a:r>
          </a:p>
        </p:txBody>
      </p:sp>
      <p:sp>
        <p:nvSpPr>
          <p:cNvPr id="6" name="Rounded Rectangle 5">
            <a:hlinkClick r:id="rId2"/>
          </p:cNvPr>
          <p:cNvSpPr/>
          <p:nvPr/>
        </p:nvSpPr>
        <p:spPr>
          <a:xfrm>
            <a:off x="8549640" y="502920"/>
            <a:ext cx="315468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4002B"/>
                </a:solidFill>
              </a:rPr>
              <a:t>▶  Abrir en Google Colab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MAPA DEL VIERNES — CAPÍTULOS 7.6 A 7.9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viernes cierra la sesión en cuatro capítulos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tabase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62" y="2282341"/>
            <a:ext cx="281636" cy="281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7.6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¿Cuándo se puede confiar en estos grupos?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0-40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376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4236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earch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582" y="2282341"/>
            <a:ext cx="281636" cy="2816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4236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7.7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36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¿Cómo se verifica que el resultado es real?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36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40-65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88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0748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unnel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702" y="2282341"/>
            <a:ext cx="281636" cy="2816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0748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7.8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¿Qué decisión habilita? Segmentación RFM de clientes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65-105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7260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target_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1822" y="2282341"/>
            <a:ext cx="281636" cy="2816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37260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Capítulo 7.9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¿Qué no se puede afirmar, y qué sigue en S08?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105-120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58200" y="301752"/>
            <a:ext cx="320040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Índice, celda 0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S07 — Herramientas para la Ciencia de Datos, UPC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SUPUESTOS Y REGLAS DE LECTURA — SUPUESTOS_S07.MD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Cada decisión del no supervisado tiene su diagnóstico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39696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>
                <a:solidFill>
                  <a:srgbClr val="6E6E6E"/>
                </a:solidFill>
                <a:latin typeface="Calibri"/>
              </a:rPr>
              <a:t>Estas técnicas no tienen los supuestos del OLS: tienen decisiones de preparación y reglas de lectura. Cada una lleva su señal y su método:</a:t>
            </a:r>
          </a:p>
        </p:txBody>
      </p:sp>
      <p:pic>
        <p:nvPicPr>
          <p:cNvPr id="5" name="Picture 4" descr="triangle-alert__E400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01168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615184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1B30"/>
                </a:solidFill>
                <a:latin typeface="Calibri"/>
              </a:rPr>
              <a:t>DECISIÓN / SUPUESTO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2615184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1B30"/>
                </a:solidFill>
                <a:latin typeface="Calibri"/>
              </a:rPr>
              <a:t>CÓMO SE IDENTIFICA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61518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1B30"/>
                </a:solidFill>
                <a:latin typeface="Calibri"/>
              </a:rPr>
              <a:t>CÓMO SE DECIDE (MÉTODO)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2880360"/>
            <a:ext cx="11356848" cy="786384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62656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D2D2D"/>
                </a:solidFill>
                <a:latin typeface="Calibri"/>
              </a:rPr>
              <a:t>Estandarizar (z-score)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962656"/>
            <a:ext cx="3886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Escalas dispares: Monetary dominaría a Frequency y Recency.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962656"/>
            <a:ext cx="4206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Estandarizar por defecto antes de toda distancia; iForest es la excepción (invariante).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85616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D2D2D"/>
                </a:solidFill>
                <a:latin typeface="Calibri"/>
              </a:rPr>
              <a:t>Nº de grupos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785616"/>
            <a:ext cx="3886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Silueta casi plana entre k=4 y k=6 (máximo en k=5, 0,349).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785616"/>
            <a:ext cx="4206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Cruzar la silueta con la accionabilidad; se elige k=4 y se documenta.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4526280"/>
            <a:ext cx="11356848" cy="786384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608576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D2D2D"/>
                </a:solidFill>
                <a:latin typeface="Calibri"/>
              </a:rPr>
              <a:t>eps de DBSCAN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608576"/>
            <a:ext cx="3886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Codo de la k-distancia; 40-60 % de ruido si eps es muy pequeño.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608576"/>
            <a:ext cx="4206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2D2D2D"/>
                </a:solidFill>
                <a:latin typeface="Calibri"/>
              </a:rPr>
              <a:t>eps en el codo (RFM: 0,53), min_samples ≈ 2·dim; silueta sin el ruido.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301752"/>
            <a:ext cx="320040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Sección 8, celda 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96128"/>
            <a:ext cx="1109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E6E6E"/>
                </a:solidFill>
                <a:latin typeface="Calibri"/>
              </a:rPr>
              <a:t>Fuente única: la guía de supuestos de la sesión (Partes 1-5). Un cuarto supuesto —orientar el score de anomalía— se cubre en el Acto 4 (guardarraíl). Alcance S07: reconocer la decisión y decidir; HDBSCAN, GMM y autoencoders solo se nombran.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S07 — Herramientas para la Ciencia de Datos, UPC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D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93080" y="914400"/>
            <a:ext cx="1005840" cy="10058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448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9B1B30"/>
                </a:solidFill>
                <a:latin typeface="Calibri"/>
              </a:rPr>
              <a:t>¿A quién revisas primero si el presupuesto solo alcanza el 1 %?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754880"/>
            <a:ext cx="8168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2D2D2D"/>
                </a:solidFill>
                <a:latin typeface="Calibri"/>
              </a:rPr>
              <a:t>El score marca «raro», no «fraude»: exige revisión humana. Ese grupo concentra el importe en riesgo. La bandera de anomalía y el cluster_id se suman como features hacia S09-S10.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¿Cuántos y quiénes?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Elegir k con la silueta y perfilar con RFM</a:t>
            </a:r>
          </a:p>
        </p:txBody>
      </p:sp>
      <p:pic>
        <p:nvPicPr>
          <p:cNvPr id="5" name="Picture 4" descr="funnel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008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58521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0" b="1">
                <a:solidFill>
                  <a:srgbClr val="E4002B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0" y="228600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Calibri"/>
              </a:rPr>
              <a:t>clientes «Campeones» concentran el mayor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3749039"/>
            <a:ext cx="48463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E6E6E"/>
                </a:solidFill>
                <a:latin typeface="Calibri"/>
              </a:rPr>
              <a:t>6 de 140 clientes concentran 70,08% del ingreso (mediana £ 13 620, media £ 63 727) vs. £ 406 hibernando.</a:t>
            </a:r>
          </a:p>
        </p:txBody>
      </p:sp>
      <p:pic>
        <p:nvPicPr>
          <p:cNvPr id="5" name="Picture 4" descr="award__E400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25880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43600"/>
            <a:ext cx="1109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E6E6E"/>
                </a:solidFill>
                <a:latin typeface="Calibri"/>
              </a:rPr>
              <a:t>resultados/S07_resultados.xlsx!perfiles_cluster (G4 mediana Campeones, I4 % ingreso) y !rfm_segmentos (F4 media Campeones, F3 media Hibernando; C4, C3 nº de clientes).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S07 — Herramientas para la Ciencia de Datos, UPC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PERFILAMIENTO DE SEGMENTOS — VALORES EN UNIDADES DE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Perfilar convierte cada segmento en una acción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ward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62" y="2282341"/>
            <a:ext cx="281636" cy="281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Campeones / VIP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6 clientes. Recientes (8 días), £ 13 620 de gasto (mediana).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Retener y fidelizar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376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4236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riangle-alert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582" y="2282341"/>
            <a:ext cx="281636" cy="2816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4236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Valiosos en riesgo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36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37 clientes. 202 días sin comprar, con gasto alto en el pasado.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36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Reactivar antes de perderlos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88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0748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users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702" y="2282341"/>
            <a:ext cx="281636" cy="2816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0748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Ocasionales / nuevos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49 clientes. Recientes (43 días), aún de bajo gasto.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Onboarding y 2.ª compra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7260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lock_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1822" y="2282341"/>
            <a:ext cx="281636" cy="2816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37260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Hibernando / perdidos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48 clientes. 439 días inactivos, muy bajo valor.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Campaña de menor costo o descarte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58200" y="301752"/>
            <a:ext cx="320040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Sección 5f, celda 62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S07 — Herramientas para la Ciencia de Datos, UPC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PASO 6 DE 7 (0-6), ENTREGABLE EVALUABLE, RÚBRICA 0-20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Paso 6 del laboratorio aplica RFM y anomalías en seis acciones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473200" y="2802255"/>
            <a:ext cx="9245600" cy="1905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0300" y="2468880"/>
            <a:ext cx="685800" cy="68580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319272"/>
            <a:ext cx="170281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Calibri"/>
              </a:rPr>
              <a:t>Cargar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931920"/>
            <a:ext cx="17028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Online Retail II</a:t>
            </a:r>
          </a:p>
        </p:txBody>
      </p:sp>
      <p:sp>
        <p:nvSpPr>
          <p:cNvPr id="8" name="Oval 7"/>
          <p:cNvSpPr/>
          <p:nvPr/>
        </p:nvSpPr>
        <p:spPr>
          <a:xfrm>
            <a:off x="2979420" y="2468880"/>
            <a:ext cx="685800" cy="68580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0912" y="3319272"/>
            <a:ext cx="170281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Calibri"/>
              </a:rPr>
              <a:t>RFM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0912" y="3931920"/>
            <a:ext cx="17028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Recency, Frequency, Monetary</a:t>
            </a:r>
          </a:p>
        </p:txBody>
      </p:sp>
      <p:sp>
        <p:nvSpPr>
          <p:cNvPr id="11" name="Oval 10"/>
          <p:cNvSpPr/>
          <p:nvPr/>
        </p:nvSpPr>
        <p:spPr>
          <a:xfrm>
            <a:off x="4828540" y="2468880"/>
            <a:ext cx="685800" cy="68580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32" y="3319272"/>
            <a:ext cx="170281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Calibri"/>
              </a:rPr>
              <a:t>Escalar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32" y="3931920"/>
            <a:ext cx="17028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StandardScaler</a:t>
            </a:r>
          </a:p>
        </p:txBody>
      </p:sp>
      <p:sp>
        <p:nvSpPr>
          <p:cNvPr id="14" name="Oval 13"/>
          <p:cNvSpPr/>
          <p:nvPr/>
        </p:nvSpPr>
        <p:spPr>
          <a:xfrm>
            <a:off x="6677660" y="2468880"/>
            <a:ext cx="685800" cy="68580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9152" y="3319272"/>
            <a:ext cx="170281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Calibri"/>
              </a:rPr>
              <a:t>Clusterizar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9152" y="3931920"/>
            <a:ext cx="17028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Ward / DBSCAN + silueta</a:t>
            </a:r>
          </a:p>
        </p:txBody>
      </p:sp>
      <p:sp>
        <p:nvSpPr>
          <p:cNvPr id="17" name="Oval 16"/>
          <p:cNvSpPr/>
          <p:nvPr/>
        </p:nvSpPr>
        <p:spPr>
          <a:xfrm>
            <a:off x="8526780" y="2468880"/>
            <a:ext cx="685800" cy="68580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8272" y="3319272"/>
            <a:ext cx="170281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Calibri"/>
              </a:rPr>
              <a:t>Perfilar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8272" y="3931920"/>
            <a:ext cx="17028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Fichas de segmento</a:t>
            </a:r>
          </a:p>
        </p:txBody>
      </p:sp>
      <p:sp>
        <p:nvSpPr>
          <p:cNvPr id="20" name="Oval 19"/>
          <p:cNvSpPr/>
          <p:nvPr/>
        </p:nvSpPr>
        <p:spPr>
          <a:xfrm>
            <a:off x="10375900" y="2468880"/>
            <a:ext cx="685800" cy="68580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67392" y="3319272"/>
            <a:ext cx="170281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Calibri"/>
              </a:rPr>
              <a:t>Anomalías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67392" y="3931920"/>
            <a:ext cx="17028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Marcar el 1 % anómalo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301752"/>
            <a:ext cx="320040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Sección 5, celda 50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S07 — Herramientas para la Ciencia de Datos, UPC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ACTUALIDAD — CASOS VERIFICADOS (FUENTES_ACTUALIDAD_S07.MD)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Anomalías y RFM siguen vivas en 2025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10512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El fraude al consumidor superó US$ 12 500 M en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93976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Alloy — 16/09/2025  —  +25 % interanual: por qué se invierte en detección de anomalías.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06624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9192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La detección de anomalías, pilar antifraude en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0088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ThreatMark — 24/01/2025  —  detectar desviaciones de la norma = lo que hacen iForest y LOF.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602736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75304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RFM sigue vigente: segmentación de clientes con grafos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86200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arXiv 2505.08136 — 13/05/2025  —  valida el enfoque RFM + clustering del laboratorio.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S07 — Herramientas para la Ciencia de Datos, UPC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BIBLIOGRAFÍA (5 EN TOTAL, VER NOTAS)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Tres lecturas anclan el clustering y las anomalías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10512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Isolation Forest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93976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Liu, Ting &amp; Zhou (2008) — Proc. IEEE ICDM  —  paper de la réplica; AUC-ROC como métrica.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06624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9192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LOF: Identifying Density-Based Local Outliers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0088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Breunig, Kriegel, Ng &amp; Sander (2000) — ACM SIGMOD  —  el contraste por densidad local.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602736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75304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Silhouettes: validación del análisis de clusters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86200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Rousseeuw (1987) — J. Comp. Appl. Math. 20  —  elegir y evaluar el número de grupos.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S07 — Herramientas para la Ciencia de Datos, UPC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Segmenta, perfila y detecta antes del parcial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Entregable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Fichas de segmento (RFM) con acción de marketing + el 1 % de transacciones más anómalas (Isolation Forest). Individual, rúbrica 0-20.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80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9740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740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Evaluación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40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Control corto take-home (banco [S07]). Cierra la Unidad 1: sigue el examen PARCIAL.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896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756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756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Próxima sesión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756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Examen PARCIAL (S01-S07). Luego S08: reglas de asociación / market basket — hoy solo nombrada.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S07 — Herramientas para la Ciencia de Datos, UPC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