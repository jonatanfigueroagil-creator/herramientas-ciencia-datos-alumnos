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85" r:id="rId21"/>
    <p:sldId id="271" r:id="rId23"/>
    <p:sldId id="272" r:id="rId24"/>
    <p:sldId id="273" r:id="rId25"/>
    <p:sldId id="286" r:id="rId20"/>
    <p:sldId id="279" r:id="rId31"/>
    <p:sldId id="280" r:id="rId32"/>
    <p:sldId id="287" r:id="rId19"/>
    <p:sldId id="275" r:id="rId27"/>
    <p:sldId id="276" r:id="rId28"/>
    <p:sldId id="277" r:id="rId29"/>
    <p:sldId id="278" r:id="rId30"/>
    <p:sldId id="281" r:id="rId33"/>
    <p:sldId id="288" r:id="rId26"/>
    <p:sldId id="284" r:id="rId22"/>
    <p:sldId id="283" r:id="rId35"/>
    <p:sldId id="282" r:id="rId34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9" Type="http://schemas.openxmlformats.org/officeDocument/2006/relationships/slide" Target="slides/slide10.xml"/><Relationship Id="rId20" Type="http://schemas.openxmlformats.org/officeDocument/2006/relationships/slide" Target="slides/slide7.xml"/><Relationship Id="rId21" Type="http://schemas.openxmlformats.org/officeDocument/2006/relationships/slide" Target="slides/slide3.xml"/><Relationship Id="rId22" Type="http://schemas.openxmlformats.org/officeDocument/2006/relationships/slide" Target="slides/slide17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16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5.xml"/><Relationship Id="rId34" Type="http://schemas.openxmlformats.org/officeDocument/2006/relationships/slide" Target="slides/slide19.xml"/><Relationship Id="rId3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Cerrar el bloque de modelado con el tiempo-hasta-evento. Promesa de la sesión: pasar de «¿se irá el cliente?» (clasificación, S09) a «¿cuándo?», para decidir el momento de la intervención. Se replica el modelo de Cox (1972) sobre Rossi y se lleva la supervivencia al negocio (churn y CLV). Cada cifra se muestra contra su fuente y se LEE del Excel (fidelidad verificada). El botón «Abrir en Colab» va al cuaderno.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Mapa en cuatro actos con pulso contexto → evidencia → decisión. Acto 1: la censura y las tres piezas (S(t), h(t), H(t)). Acto 2: Kaplan-Meier y log-rank sobre Rossi. Acto 3: la réplica de Cox (1972) sobre Rossi —HR de fin/age/prio— con el diagnóstico de PH por Schoenfeld. Acto 4: el negocio (Telco) con retención y CLV por contrato, y la generalización a Veterans. La regresión logística/GLM de S09 y la causalidad de S12 se nombran como conexión; S14 (recomendación) solo al cierre.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13.8. Se enuncia la pregunta tal como aparece en el sílabo, la ficha, el cuaderno y la guía: es el mismo código en todos. [Viernes, capítulo 13.8]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13.7. Se enuncia la pregunta tal como aparece en el sílabo, la ficha, el cuaderno y la guía: es el mismo código en todos. [Viernes, capítulo 13.7]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13.6. Se enuncia la pregunta tal como aparece en el sílabo, la ficha, el cuaderno y la guía: es el mismo código en todos. [Viernes, capítulo 13.6]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cerrar nombrando la frontera. Cada límite se dice en voz alta y se enlaza con la sesión que sí lo resuelve. No es una advertencia legal: es la competencia que separa a quien reporta un número de quien sabe qué autoriza. [Viernes, capítulo 13.9]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supuesto PH es la letra pequeña de la Cox: el HR debe ser constante en el tiempo (hazards proporcionales, curvas que no se cruzan). El diagnóstico estándar son los residuales de Schoenfeld: si correlacionan con el tiempo, PH se viola. Un p bajo en Schoenfeld es MALO (viola), opuesto al p bajo de la tabla de Cox (bueno). Ante violación: estratificar, interacción con el tiempo o splines; nunca borrar la variable. [Viernes, capítulo 13.6]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diagnóstico de PH también son pocas líneas: proportional_hazard_test sobre la Cox ajustada. Devuelve un test por covariable; age da p 0,0007 (&lt; 0,01 → VIOLA PH), mientras fin y prio cumplen (p &gt; 0,10). ATENCIÓN: aquí un p bajo es MALO (opuesto a la tabla de Cox). La salida sch_age alimenta la figura de residuales. Fuente: notebook celda 11. [Viernes, capítulo 13.6]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Residuales de Schoenfeld de age contra el tiempo. La pendiente negativa (tendencia no plana) muestra que el efecto de la edad se vuelve MÁS protector a largo plazo: su HR no es constante. Test: age 11,45, p ≈ 0,0007 → viola PH; el resto de covariables cumple (wexp queda marginal). No se «arregla» quitando age: se estratifica por age binado o se interactúa con el tiempo. Es el punto pedagógico del drill 3, no un fallo. [Viernes, capítulo 13.6]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13.9. Se enuncia la pregunta tal como aparece en el sílabo, la ficha, el cuaderno y la guía: es el mismo código en todos. [Viernes, capítulo 13.9]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el cierre. Se generaliza la Cox a un segundo dataset original (Veterans) y se lleva la supervivencia al negocio: curvas de retención por contrato y CLV por segmento, el puente a la decisión financiera. [Viernes, capítulo 13.8]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(1) CLV = Σ m·S(t)/(1+d)ᵗ: S(t) sustituye una vida media fija por una retención probabilística periodo a periodo; el margen m y el descuento d son del negocio. Convierte el modelo de retención en dinero: fija el techo de gasto en adquirir/retener (Fader-Hardie-Lee). (2) Para proyectar más allá del horizonte observado, Weibull (ρ = 1,37 &gt; 1 → hazard creciente, desgaste) extrapola donde la KM se queda plana. [Viernes, capítulo 13.8]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Mismo método, ahora en negocio. La curva mes a mes cae rápido (S(12) ≈ 70 %), mientras anual y dos años se mantienen altas (≈ 99 % y 100 %). CRÍTICO: para los clientes que NO han hecho churn, tenure es un tiempo CENSURADO (siguen activos), no un tiempo de vida final; tratarlo como completo sesga la retención. La ventana crítica es temprana en el mes a mes: ahí actúa la retención. [Viernes, capítulo 13.8]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CLV por contrato traduce las curvas a dinero: mes a mes 1 804 USD, un año 3 105, dos años 3 097 (margen mensual similar, ~60-66 USD). La brecha la explica la RETENCIÓN (S(72): 13 % vs. 57 % vs. 94 %), no el precio. Decisión: el techo de gasto en retener/adquirir un cliente mensual es ~la mitad que uno anual; y migrar a anual sube el CLV. Es el entregable de la sesión. [Viernes, capítulo 13.8]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Segunda réplica sobre datos originales (Veterans, Cox de la literatura). El punto: karno (índice de Karnofsky, estado funcional) es fuertemente protector (HR 0,97 por punto), mientras el tratamiento nuevo trt NO es significativo (p 0,156, su IC 95 % del HR cruza 1) una vez ajustado por estado funcional; el tipo de célula importa (escamosa protectora, HR 0,30). Mensaje: ajustar por el estado basal puede anular el efecto aparente del tratamiento. Generaliza el método más allá de Rossi. [Viernes, capítulo 13.7]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Tercera pausa y decisión del entregable. El techo de gasto en retención es el CLV (~1 804 para mes a mes). Combinar tres piezas: magnitud del HR del factor accionable, incertidumbre (IC del HR: si cruza 1, no priorizar) y el CLV del segmento. Solo si se alinean se invierte; y migrar a contrato anual sube el CLV más que un descuento puntual. [Viernes, capítulo 13.7]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Tres fuentes recientes que anclan la sesión en la práctica. Eightx (2026) da benchmarks de retención por periodo de facturación = curvas de supervivencia por segmento. Statsig instrumenta KM/hazard/Cox como métrica de producto. IJLTEMAS replica exactamente el pipeline KM+Cox sobre telecom. Tendencia común: no basta predecir SI se va el cliente, hay que estimar CUÁNDO para actuar a tiempo. Enlaces en fuentes_actualidad_S13.md. [Viernes, capítulo 13.8]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Bibliografía verificada (FICHA punto 6 / BIBLIOGRAFIA_ALUMNOS.md). Kaplan &amp; Meier fundan la curva; Cox, el modelo de regresión y el HR; Therneau &amp; Grambsch, el diagnóstico de PH; Fader, Hardie &amp; Lee, el puente al CLV. Ruta del curso: empezar en el paper (Cox 1972 sobre Rossi), replicar su resultado con lifelines y recién entonces llevarlo a los datos de la organización (Telco). PDFs abiertos en el cuaderno.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Cierre. Entrega individual aunque el trabajo en clase sea en parejas. Recoge la promesa de la portada: del «si se irá» al «cuándo», y de ahí al valor (CLV). Cada cifra se mostró contra su fuente y se leyó del Excel (fidelidad verificada). El marco alimenta la fase de modelado/decisión del proyecto integrador (churn de S09, causalidad de S12). Si el IC del HR cruza 1, no priorizar ese factor. S14 (recomendación) solo se nombra. Aplicar el control corto (~4 min). [Viernes, capítulo 13.9]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jonatanfigueroagil-creator/Herramientas-de-Ciencias-de-Datos/blob/master/Sesiones/S13_supervivencia/notebook/S13_supervivencia.ipynb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4002B"/>
                </a:solidFill>
                <a:latin typeface="Calibri"/>
              </a:rPr>
              <a:t>S13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9906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Análisis de supervivencia:
del churn al cuándo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990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CEDEE"/>
                </a:solidFill>
                <a:latin typeface="Calibri"/>
              </a:rPr>
              <a:t>Censura, Kaplan-Meier, Cox, hazard ratio, CLV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EDEE"/>
                </a:solidFill>
                <a:latin typeface="Calibri"/>
              </a:rPr>
              <a:t>Herramientas para la Ciencia de Datos, UPC, Facultad de Negocios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8549640" y="502920"/>
            <a:ext cx="3154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4002B"/>
                </a:solidFill>
              </a:rPr>
              <a:t>▶  Abrir en Google Colab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MAPA DEL VIERNES — CAPÍTULOS 13.6 A 13.9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viernes cierra la sesión en cuatro capítulos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ock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13.6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¿Cuándo se puede confiar en un modelo de Cox?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0-40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76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3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column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8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4236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13.7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36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¿Cómo se verifica que el resultado es real?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36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40-65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88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48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art-column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70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0748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13.8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decisión habilita? Tiempo hasta el abandono y valor de vida del cliente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65-105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iefcase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822" y="2282341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7260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13.9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no se puede afirmar, y qué sigue en S14?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105-120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310896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Índice, celda 0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S13 — Herramientas para la Ciencia de Datos, UPC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¿Cuándo se puede confiar en un modelo de Cox?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13.6 — viernes, bloque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DEFINICIONES — DIAGNÓSTICO DEL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Schoenfeld revela si el HR cambia con el tiempo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642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ck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83" y="2826959"/>
            <a:ext cx="289682" cy="2896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760" y="1938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Supuesto de hazards proporcionales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95728"/>
            <a:ext cx="10134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El HR de cada covariable se asume constante en el tiempo: las curvas de hazard no se cruzan. Si no, induce a error.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928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iangle-alert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3" y="5112959"/>
            <a:ext cx="289682" cy="2896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4224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Residuales de Schoenfeld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681728"/>
            <a:ext cx="10134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Si muestran tendencia temporal, el supuesto se viola. Un p bajo por variable señala que su efecto cambia con el tiempo.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DEFINICIONES punto 9, Therneau &amp; Grambsch (2000), Modeling Survival Data; Cox (1972). Se corrige estratificando o interactuando con el tiempo, no borrando.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S13 — Herramientas para la Ciencia de Datos, UPC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DIAGNÓSTICO, LIFELINES, PROPORTIONAL_HAZARD_TEST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Schoenfeld delata si el HR cambia con el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1094720" cy="457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400" b="1">
                <a:solidFill>
                  <a:srgbClr val="9B1B30"/>
                </a:solidFill>
                <a:latin typeface="Calibri"/>
              </a:rPr>
              <a:t>▸ Qué hace:  </a:t>
            </a:r>
            <a:r>
              <a:rPr sz="1400">
                <a:solidFill>
                  <a:srgbClr val="2D2D2D"/>
                </a:solidFill>
                <a:latin typeface="Calibri"/>
              </a:rPr>
              <a:t>contrasta hazards proporcionales con los residuales de Schoenfeld; un p bajo delata que el HR cambia.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95728"/>
            <a:ext cx="11094720" cy="2980944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542032"/>
            <a:ext cx="1063752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 b="1">
                <a:solidFill>
                  <a:srgbClr val="9B1B30"/>
                </a:solidFill>
                <a:latin typeface="Calibri"/>
              </a:rPr>
              <a:t>CÓDIGO REAL DEL CUADERNO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926080"/>
            <a:ext cx="10472928" cy="23774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from lifelines.statistics import proportional_hazard_test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/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zph = proportional_hazard_test(cph, rossi, time_transform="rank")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print(zph.summary[["test_statistic", "p"]].round(4).to_string())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p_age = float(zph.summary.loc["age", "p"])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# age  p 0,0007  -&gt;  VIOLA PH (p &lt; 0,01);  fin/prio cumplen (p &gt; 0,10)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notebook Sección 2, diagnóstico de PH, age p → survival!B5 (viola PH), resto en la hoja schoenfeld — venv/Excel.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10896"/>
            <a:ext cx="256032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celda 11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S13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efecto de la edad cambia con el tiempo: 'age' viola PH (p = 0,0007)</a:t>
            </a:r>
          </a:p>
        </p:txBody>
      </p:sp>
      <p:pic>
        <p:nvPicPr>
          <p:cNvPr id="3" name="Picture 2" descr="S13deck_schoenf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773407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La pendiente de los residuales no es cero: age protege más a largo plazo. Es el caso a corregir, no a ignorar.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Diagnóstico de Schoenfeld sobre la Cox/Rossi — age test 11,45, p ≈ 0,0007 (viola PH); resto cumple — venv/Excel (schoenfeld_age, schoenfeld, survival).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S13 — Herramientas para la Ciencia de Datos, UPC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¿Cómo se verifica que el resultado es 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13.7 — viernes, bloque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RÉPLICA SECUNDARIA — COX SOBRE VETERANS (KALBFLEISCH &amp; PRENTICE 1980)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En Veterans decide el estado, no el tratamiento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94720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  <a:gridCol w="2773680"/>
              </a:tblGrid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Covariable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Lectura de negocio/clínica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Estado funcional (karno)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0,97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&lt; 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protector: mejor estado, menos riesgo de muerte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Tratamiento nuevo (trt)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1,34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0,156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no significativo (IC del HR cruza 1): no cambia la supervivencia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Histología escamosa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&lt; 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protector frente a las demás histologías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Cox sobre Veterans' Lung Cancer (137 pacientes) — karno HR 0,97 / trt p 0,156, venv/Excel (veterans_cox), handoff (dirección anclada).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S13 — Herramientas para la Ciencia de Datos, UPC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¿Cuánto conviene gastar hoy en retener a un cliente de contrato mensual?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Su CLV es ~1 804 USD y la retención cae temprano: la decisión pesa el HR, su IC y el CLV.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decisión habilita? Tiempo hasta el abandono y valor de vida del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13.8 — viernes, bloque 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decisión habilita? Tiempo hasta el abandono y valor de vida del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¿Qué decisión habilita? Tiempo hasta el abandono y valor de vida del cliente</a:t>
            </a:r>
          </a:p>
        </p:txBody>
      </p:sp>
      <p:pic>
        <p:nvPicPr>
          <p:cNvPr id="5" name="Picture 4" descr="briefc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DEFINICIONES — EL PUENTE AL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CLV convierte la supervivencia en dinero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642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rget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83" y="2826959"/>
            <a:ext cx="289682" cy="2896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760" y="1938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CLV desde supervivencia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95728"/>
            <a:ext cx="10134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CLV = Σ m·S(t)/(1+d)ᵗ: descuenta el margen por la probabilidad de seguir activo cada periodo, no una vida fija.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928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ending-up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3" y="5112959"/>
            <a:ext cx="289682" cy="2896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4224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Weibull para extrapolar (mención)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681728"/>
            <a:ext cx="10134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Modelo paramétrico que fija la forma del hazard (ρ = 1,37 → desgaste) y permite proyectar el CLV más allá del horizonte observado.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DEFINICIONES puntos 11, 12, Fader, Hardie &amp; Lee (2005), JMR 42(4):415-430; lifelines.WeibullFitter. Extrapolar con Weibull, no con la cola plana de la KM.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S13 — Herramientas para la Ciencia de Datos, UPC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contrato mensual pierde clientes mucho antes que el anual</a:t>
            </a:r>
          </a:p>
        </p:txBody>
      </p:sp>
      <p:pic>
        <p:nvPicPr>
          <p:cNvPr id="3" name="Picture 2" descr="S13deck_km_tel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883511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A 12 meses el mes a mes retiene 70 % frente a 99 % del anual: la ventana de riesgo es temprana.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Negocio (sustituto Telco, reúso S09), KM por contrato, tenure de los activos = tiempo censurado — venv/Excel (km_telco, clv_telco). Churn global 27 %.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S13 — Herramientas para la Ciencia de Datos, UPC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Retener el contrato mensual vale menos: 1 804 frente a 3 105 dólares</a:t>
            </a:r>
          </a:p>
        </p:txBody>
      </p:sp>
      <p:pic>
        <p:nvPicPr>
          <p:cNvPr id="3" name="Picture 2" descr="S13deck_cl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64384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A igual margen, la baja retención casi divide el valor entre dos: lo determina la retención, no el precio.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CLV = Σ m·S(t)/(1+d)ᵗ a 72 meses — mes a mes 1 804 / un año 3 105 / dos años 3 097 USD — venv/Excel (clv_telco).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S13 — Herramientas para la Ciencia de Datos, UPC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ACTUALIDAD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La supervivencia ya decide la retención de clientes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La retención cae por ventana de facturación (benchmark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Eightx — 29/05/2026  —  curvas de supervivencia por contrato → CLV por segmento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Kaplan-Meier, hazard y Cox como métrica de producto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Statsig — 23/06/2025  —  empezar por KM antes de Cox; el «cuándo» del churn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Supervivencia + Cox para churn en telecom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IJLTEMAS 14(13) — 2025  —  replica el pipeline de la sesión: contrato y pago como drivers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S13 — Herramientas para la Ciencia de Datos, UPC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no se puede afirmar, y qué sigue en S14?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13.9 — viernes, bloque 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13.9 — ¿QUÉ NO SE PUEDE AFIRMAR, Y QUÉ SIGUE EN S14?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Lo que esta sesión no autoriza a afirmar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65960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Un hazard ratio es asociación, no efecto causal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24328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Un HR no se traduce en tiempo sin la curva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82696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36976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Ningún CLV se reporta sin declarar el margen y la tasa de descuento que lo produjeron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S13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entregable va del churn al CLV con recomendación por segmento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Entregable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Análisis de supervivencia del churn: KM por segmento, Cox con HR e IC, diagnóstico de PH y CLV con recomendación.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Control corto de cierre + banco [S13]. Rúbrica vigesimal 0-20.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Próxima sesión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S14 — Sistemas de recomendación — solo se nombra como conexión.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S13 — Herramientas para la Ciencia de Datos, UPC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BIBLIOGRAFÍA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Cuatro lecturas anclan la supervivencia y el CLV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Kaplan &amp; Meier (1958) — Nonparametric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JASA 53(282):457-481  —  el estimador producto-límite y la curva de retención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Cox (1972) — Regression Models and Life-Tables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JRSS-B 34(2):187-220  —  el modelo de riesgos proporcionales y el hazard ratio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Therneau &amp; Grambsch (2000) — Modeling Survival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Springer  —  diagnóstico de PH por residuales de Schoenfeld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71416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Fader, Hardie &amp; Lee (2005) — RFM and CLV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82312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JMR 42(4):415-430  —  CLV desde probabilidades de retención/supervivencia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S13 — Herramientas para la Ciencia de Datos, UPC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