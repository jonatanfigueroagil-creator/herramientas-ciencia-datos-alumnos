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88" r:id="rId22"/>
    <p:sldId id="283" r:id="rId35"/>
    <p:sldId id="279" r:id="rId31"/>
    <p:sldId id="289" r:id="rId23"/>
    <p:sldId id="282" r:id="rId34"/>
    <p:sldId id="290" r:id="rId24"/>
    <p:sldId id="276" r:id="rId28"/>
    <p:sldId id="277" r:id="rId29"/>
    <p:sldId id="278" r:id="rId30"/>
    <p:sldId id="280" r:id="rId32"/>
    <p:sldId id="281" r:id="rId33"/>
    <p:sldId id="284" r:id="rId36"/>
    <p:sldId id="291" r:id="rId25"/>
    <p:sldId id="287" r:id="rId21"/>
    <p:sldId id="286" r:id="rId38"/>
    <p:sldId id="285" r:id="rId37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21" Type="http://schemas.openxmlformats.org/officeDocument/2006/relationships/slide" Target="slides/slide16.xml"/><Relationship Id="rId22" Type="http://schemas.openxmlformats.org/officeDocument/2006/relationships/slide" Target="slides/slide3.xml"/><Relationship Id="rId23" Type="http://schemas.openxmlformats.org/officeDocument/2006/relationships/slide" Target="slides/slide6.xml"/><Relationship Id="rId24" Type="http://schemas.openxmlformats.org/officeDocument/2006/relationships/slide" Target="slides/slide8.xml"/><Relationship Id="rId25" Type="http://schemas.openxmlformats.org/officeDocument/2006/relationships/slide" Target="slides/slide15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5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7.xml"/><Relationship Id="rId35" Type="http://schemas.openxmlformats.org/officeDocument/2006/relationships/slide" Target="slides/slide4.xml"/><Relationship Id="rId36" Type="http://schemas.openxmlformats.org/officeDocument/2006/relationships/slide" Target="slides/slide14.xml"/><Relationship Id="rId37" Type="http://schemas.openxmlformats.org/officeDocument/2006/relationships/slide" Target="slides/slide18.xml"/><Relationship Id="rId38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Abrir la sesión que cierra el arco de clasificación de la Unidad 2. Promesa: distinguir el enfoque GENERATIVO (LDA/QDA, Naive Bayes) del discriminativo, y aprender a decidir cuando una clase es muy poco frecuente (fraude 99:1), donde la exactitud induce a error. Se asume KNN y SVM como prerequisito de IA I (solo se referencian). Método del deck: cada cifra se muestra contra su fuente y se LEE del Excel de resultados (fidelidad verificada). El botón «Abrir en Colab» lleva al cuaderno de la sesión. [Viernes]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Recorrer el viaje como cuatro actos con pulso Contexto → Evidencia → Decisión. Acto 1: el enfoque generativo y la paradoja de la exactitud. Acto 2: LDA, QDA y Naive Bayes replicando a Fisher sobre Iris. Acto 3: el caso real de fraude, donde la clase positiva es 0,17 %, la exactitud induce a error y PR-AUC es la métrica honesta. Acto 4: tratar el desbalance (SMOTE y alternativas), elegir el campeón por PR-AUC y fijar el umbral con el costo en dinero. Entregable evaluable: un benchmark reproducible de clasificadores. [Viernes]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cerrar nombrando la frontera. Cada límite se dice en voz alta y se enlaza con la sesión que sí lo resuelve. No es una advertencia legal: es la competencia que separa a quien reporta un número de quien sabe qué autoriza. [Viernes, capítulo 10.9]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10.6. Se enuncia la pregunta tal como aparece en el sílabo, la ficha, el cuaderno y la guía: es el mismo código en todos. [Viernes, capítulo 10.6]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10.7. Se enuncia la pregunta tal como aparece en el sílabo, la ficha, el cuaderno y la guía: es el mismo código en todos. [Viernes, capítulo 10.7]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10.8. Se enuncia la pregunta tal como aparece en el sílabo, la ficha, el cuaderno y la guía: es el mismo código en todos. [Viernes, capítulo 10.8]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10.9. Se enuncia la pregunta tal como aparece en el sílabo, la ficha, el cuaderno y la guía: es el mismo código en todos. [Viernes, capítulo 10.9]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Último acto. Con la métrica honesta fijada, toca actuar sobre el desbalance (SMOTE, class_weight, undersampling), comparar modelos en un benchmark reproducible y decidir el campeón con su umbral operativo. [Viernes, capítulo 10.8]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La mecánica del tratamiento correcto. ADVERTENCIA CRÍTICA: SMOTE se aplica SOLO al train, DESPUÉS del split; hacerlo antes es data leakage e infla las métricas (Hayat &amp; Magnier 2025: 99,9 % de recall engañoso). El escalador también se ajusta solo en el train. Se evalúa en el test que conserva la prevalencia real (0,17 %). Resultado: recall sube de 0,6149 a 0,8784. Fuente: notebook celda 88. [Viernes, capítulo 10.8]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El trade-off, en conteos exactos del test. BASE (umbral 0,5): VP 91, FN 57, FP 16 -&gt; recall 0,6149, precisión 0,8505. POST-SMOTE: VP 130, FN 18, FP 1 885 -&gt; recall SUBE a 0,8784 (más fraudes detectados) pero la precisión CAE a 0,0645 (muchas más falsas alarmas). No es una mejora sin costo: es una decisión de negocio. Datos: Excel!fraude_confusion. [Viernes, capítulo 10.8]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Tres palancas contra el desbalance. SMOTE genera ejemplos sintéticos de la clase rara interpolando entre vecinos (no duplica). class_weight='balanced' pondera más los errores sobre la minoritaria sin tocar los datos: no añade riesgo de fuga. Undersampling descarta mayoritarias: rápido pero pierde información. Todas se comparan en el benchmark. [Viernes, capítulo 10.6]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El entregable de la sesión. Seis modelos bajo el mismo protocolo (split estratificado, semilla 42), ordenados por PR-AUC (la métrica correcta), no por accuracy ni ROC-AUC. Campeón: la logística base (0,708); SMOTE y class_weight igualan el PR-AUC subiendo recall a costa de precisión; QDA (0,148) y GaussianNB (0,081) colapsan porque generan numerosas falsas alarmas —QDA con recall alto (0,8311) pero precisión ínfima—. El campeón se declara con su umbral, y es AUDITABLE. En DINERO (C_FN = importe medio del fraude ≈ US$ 122 de la columna Amount; C_FP ≈ US$ 10 de revisión), la base sin SMOTE cuesta ≈ US$ 7 126 frente a ≈ US$ 21 050 de SMOTE: el campeón se confirma también por costo esperado, no solo por PR-AUC (slide siguiente). Datos: Excel!benchmark. [Viernes, capítulo 10.8]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Cerrar la decisión EN DINERO, no solo en tasas. Se ancla C_FN al importe medio del fraude de la columna Amount (US$ 122,21 sobre las 492 transacciones fraudulentas; ESTIMADO del dataset, no cifra de contrato) y C_FP al costo de revisar una falsa alarma (US$ 10, ilustrativo). Costo esperado = C_FN·FN + C_FP·FP al umbral 0,5: base (57 FN, 16 FP) ≈ US$ 7 126 vs SMOTE (18 FN, 1 885 FP) ≈ US$ 21 050. La BASE SIN SMOTE MINIMIZA el costo: SMOTE rescata 39 fraudes más (≈ US$ 4 766) pero añade 1 869 falsas alarmas; con un importe medio de solo US$ 122 el aluvión de FP domina. SMOTE solo pagaría si C_FN/C_FP &gt; 1 869/39 ≈ 48 (importe medio de fraude &gt; US$ 479 a C_FP=10). La decisión SMOTE-sí/no se cierra por costo esperado, no por PR-AUC ni recall. Los conteos FN/FP se leen del Excel; los costos unitarios son el ancla al Amount (estimado) y una ilustración. [Viernes, capítulo 10.8]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Segunda pausa de discusión, sobre el umbral por costo (enlace con S09). Si un fraude no detectado cuesta mucho más que molestar a un cliente legítimo, se baja el umbral para subir el recall aunque caiga la precisión. La decisión es de NEGOCIO, no del modelo: depende del costo relativo de FN vs FP. Concretarlo con la cuenta del slide anterior: con el importe medio REAL del fraude (US$ 122) y un costo de revisión de US$ 10, C_FN/C_FP ≈ 12, por debajo del umbral de indiferencia ≈ 48 -&gt; a estos costos NO se despliega SMOTE (base US$ 7 126 &lt; SMOTE US$ 21 050); solo pagaría si el importe medio del fraude superara ≈ US$ 479. Cerrar con reproducibilidad: semilla, versiones y protocolo documentados. [Viernes, capítulo 10.7]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Cada decisión se DIAGNOSTICA y luego se DECIDE con un método. (1) LDA vs QDA: la decisión ES el diagnóstico del supuesto de covarianza igual; se resuelve comparando su desempeño bajo el mismo protocolo (en Iris LDA 0,9733 ≈ QDA 0,98; la brecha 0,0067 cabe en la dispersión entre folds ±0,0389/±0,0267, ~6x -&gt; diferencia dentro del ruido, se prefiere LDA). (2) Paradoja de la accuracy: prevalencia 0,17%, trivial 99,83% / recall 0 -&gt; fijar métricas de la clase rara. (3) SMOTE solo en train (en pipeline), test con prevalencia real -&gt; evita leakage. (4) PR-AUC vs ROC-AUC: la brecha 0,9567 ≫ 0,708 es el síntoma; se decide por PR-AUC. Fuente: SUPUESTOS_S10.md. [Viernes, capítulo 10.6]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Actualidad verificada (las fuentes de actualidad de la sesión). Nilson: el fraude con tarjeta costó US$33,41 mil millones en 2024, proyección US$41 mil M a 2030 -&gt; el valor económico de acertar en la clase rara. Frontiers (Albalawi &amp; Dardouri): SMOTE lleva la logística a recall 100 % / precisión 24,24 % -&gt; el trade-off es real. arXiv (Hayat &amp; Magnier): el leakage por SMOTE antes del split infla el recall a 99,9 % de forma engañosa. [Viernes, capítulo 10.8]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Bibliografía académica. Fisher funda el LDA (paper de la réplica); Domingos &amp; Pazzani explican por qué Naive Bayes funciona pese a violar la independencia; Chawla introduce SMOTE; Saito &amp; Rehmsmeier justifican PR-AUC sobre ROC en desbalance; He &amp; Garcia dan el panorama. Todo con enlaces libres en el cuaderno, sección «Para seguir explorando». Lectura de texto: ISLR cap. 4.4-4.5. [Viernes]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Recapitular en una frase: del enfoque generativo (LDA/QDA/Naive Bayes, réplica de Fisher) a la métrica honesta (PR-AUC) y al tratamiento del desbalance (SMOTE solo en train), cerrando con el benchmark reproducible que elige el campeón con su umbral. Cada cifra se mostró contra su fuente y se leyó del Excel (fidelidad verificada). Recordar el entregable (rúbrica 0-20 en evaluacion/entregable.md) y aplicar el control corto. Anunciar la S11 (series temporales), que solo se nombra hoy. [Viernes, capítulo 10.9]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lab.research.google.com/github/jonatanfigueroagil-creator/Herramientas-de-Ciencias-de-Datos/blob/master/Sesiones/S10_clasificadores_clasicos/notebook/S10_clasificadores_clasicos.ipynb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2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2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2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0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E4002B"/>
                </a:solidFill>
                <a:latin typeface="Calibri"/>
              </a:rPr>
              <a:t>S10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9906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Clasificar cuando una clase casi no existe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990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FCEDEE"/>
                </a:solidFill>
                <a:latin typeface="Calibri"/>
              </a:rPr>
              <a:t>Clasificadores generativos (LDA, QDA, Naive Bayes) y el desbalance de clases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9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EDEE"/>
                </a:solidFill>
                <a:latin typeface="Calibri"/>
              </a:rPr>
              <a:t>Herramientas para la Ciencia de Datos, UPC, Facultad de Negocios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8549640" y="502920"/>
            <a:ext cx="315468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4002B"/>
                </a:solidFill>
              </a:rPr>
              <a:t>▶  Abrir en Google Colab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MAPA DEL VIERNES — CAPÍTULOS 10.6 A 10.9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viernes cierra la sesión en cuatro capítulos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tabase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62" y="2282341"/>
            <a:ext cx="281636" cy="281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10.6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¿Cuándo se puede confiar en estos clasificadores?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0-40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76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423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art-column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582" y="2282341"/>
            <a:ext cx="281636" cy="2816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4236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10.7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36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¿Cómo se verifica que el resultado es real?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36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40-65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88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748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riangle-alert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702" y="2282341"/>
            <a:ext cx="281636" cy="2816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0748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10.8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¿Qué decisión habilita? Detección de fraude con proporción 99:1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65-105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726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trending-up_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1822" y="2282341"/>
            <a:ext cx="281636" cy="2816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37260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10.9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¿Qué no se puede afirmar, y qué sigue en S11?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105-120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301752"/>
            <a:ext cx="329184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Índice, celda 0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S10 — Herramientas para la Ciencia de Datos, UPC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¿Cuándo se puede confiar en estos clasificadores?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10.6 — viernes, bloque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SUPUESTOS Y DECISIONES — SUPUESTOS_S10.MD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Cada decisión del desbalance tiene su diagnóstico y su 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39696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>
                <a:solidFill>
                  <a:srgbClr val="6E6E6E"/>
                </a:solidFill>
                <a:latin typeface="Calibri"/>
              </a:rPr>
              <a:t>Los generativos sí asumen una forma para los datos, y el desbalance impone decisiones de evaluación. Cada punto lleva su señal y su método:</a:t>
            </a:r>
          </a:p>
        </p:txBody>
      </p:sp>
      <p:pic>
        <p:nvPicPr>
          <p:cNvPr id="5" name="Picture 4" descr="triangle-alert__E400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01168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615184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1B30"/>
                </a:solidFill>
                <a:latin typeface="Calibri"/>
              </a:rPr>
              <a:t>DECISIÓN / SUPUESTO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2615184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1B30"/>
                </a:solidFill>
                <a:latin typeface="Calibri"/>
              </a:rPr>
              <a:t>CÓMO SE IDENTIFICA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61518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1B30"/>
                </a:solidFill>
                <a:latin typeface="Calibri"/>
              </a:rPr>
              <a:t>CÓMO SE DECIDE (MÉTODO)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880360"/>
            <a:ext cx="11356848" cy="608076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62656"/>
            <a:ext cx="278892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Covarianza igual (LDA) o por clase (QDA)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962656"/>
            <a:ext cx="388620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¿QDA supera a LDA de forma consistente? En Iris la brecha 0,0067 cabe en el ruido entre folds (±0,0389/±0,0267, ~6×).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962656"/>
            <a:ext cx="420624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Si LDA ≈ QDA → LDA (recta, simple); si QDA aporta realmente y hay datos → QDA.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07308"/>
            <a:ext cx="278892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La accuracy induce a error en desbalance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607308"/>
            <a:ext cx="388620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Prevalencia 0,17%; el trivial da accuracy 99,83% y recall 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607308"/>
            <a:ext cx="420624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Nunca decidir por accuracy; fijar las métricas de la clase rara.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4169664"/>
            <a:ext cx="11356848" cy="608076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51960"/>
            <a:ext cx="278892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¿Dónde se aplica SMOTE?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251960"/>
            <a:ext cx="388620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fit_resample antes del split infla todas las métricas (leakage).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251960"/>
            <a:ext cx="420624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SMOTE solo en el train (pipeline); test con prevalencia real.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96612"/>
            <a:ext cx="278892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Qué métrica creer en 99:1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896612"/>
            <a:ext cx="388620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Brecha ROC-AUC 0,9567 ≫ PR-AUC 0,708; base PR = prevalencia.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896612"/>
            <a:ext cx="420624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Elegir por PR-AUC; el ROC-AUC solo como contexto.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66760" y="301752"/>
            <a:ext cx="329184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Sección 8, celda 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96128"/>
            <a:ext cx="1109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E6E6E"/>
                </a:solidFill>
                <a:latin typeface="Calibri"/>
              </a:rPr>
              <a:t>Fuente única: la guía de supuestos de la sesión (Partes 2-5). Alcance S10: reconocer la decisión y decidir; el ajuste fino avanzado (RDA, variantes de SMOTE) solo se nombra.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S10 — Herramientas para la Ciencia de Datos, UPC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DEFINICIONES, CHAWLA ET AL. (2002), HE &amp; GARCIA (2009), SUPUESTOS PARTE 5.4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SMOTE, class_weight y undersampling atacan el desbalance distinto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261616"/>
            <a:ext cx="658368" cy="65836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ending-up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83" y="2445959"/>
            <a:ext cx="289682" cy="2896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8760" y="1938528"/>
            <a:ext cx="1013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SMOTE — crea fraudes sintéticos interpolando vecinos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395728"/>
            <a:ext cx="10134600" cy="883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D2D2D"/>
                </a:solidFill>
                <a:latin typeface="Calibri"/>
              </a:rPr>
              <a:t>Sobremuestrea la clase rara con puntos nuevos. Solo en el train, nunca antes del split.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785616"/>
            <a:ext cx="658368" cy="65836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auge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83" y="3969959"/>
            <a:ext cx="289682" cy="2896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08760" y="3462528"/>
            <a:ext cx="1013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class_weight — pondera los errores sin tocar los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919728"/>
            <a:ext cx="10134600" cy="883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D2D2D"/>
                </a:solidFill>
                <a:latin typeface="Calibri"/>
              </a:rPr>
              <a:t>Penaliza más ignorar la clase minoritaria. Sin remuestreo: no añade riesgo de leakage.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309616"/>
            <a:ext cx="658368" cy="65836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unnel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983" y="5493959"/>
            <a:ext cx="289682" cy="2896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08760" y="4986528"/>
            <a:ext cx="1013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Undersampling — recorta la clase mayoritaria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5443728"/>
            <a:ext cx="10134600" cy="883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D2D2D"/>
                </a:solidFill>
                <a:latin typeface="Calibri"/>
              </a:rPr>
              <a:t>Equilibra descartando legítimas. Rápido sobre datos masivos, pero pierde información.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301752"/>
            <a:ext cx="329184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Paso 9, celda 56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S10 — Herramientas para la Ciencia de Datos, UPC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¿Cómo se verifica que el resultado es real?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10.7 — viernes, bloque 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D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93080" y="914400"/>
            <a:ext cx="1005840" cy="10058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8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9B1B30"/>
                </a:solidFill>
                <a:latin typeface="Calibri"/>
              </a:rPr>
              <a:t>¿Bajarías el umbral si un fraude cuesta 100 veces más?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754880"/>
            <a:ext cx="8168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D2D2D"/>
                </a:solidFill>
                <a:latin typeface="Calibri"/>
              </a:rPr>
              <a:t>Un fraude no detectado pesa más que una falsa alarma. El negocio fija el balance recall-precisión con el costo esperado, no el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¿Qué decisión habilita? Detección de fraude con proporción 99:1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10.8 — viernes, bloque 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¿Qué decisión habilita? Detección de fraude con proporción 99:1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¿Qué decisión habilita? Detección de fraude con proporción 99:1</a:t>
            </a:r>
          </a:p>
        </p:txBody>
      </p:sp>
      <p:pic>
        <p:nvPicPr>
          <p:cNvPr id="5" name="Picture 4" descr="trending-up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008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ASÍ SE HACE — FLUJO CORRECTO DEL DESBALANCE (SIN LEAKAGE)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SMOTE va solo en el train para no inflar las métricas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1094720" cy="457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400" b="1">
                <a:solidFill>
                  <a:srgbClr val="9B1B30"/>
                </a:solidFill>
                <a:latin typeface="Calibri"/>
              </a:rPr>
              <a:t>▸ Qué hace:  </a:t>
            </a:r>
            <a:r>
              <a:rPr sz="1400">
                <a:solidFill>
                  <a:srgbClr val="2D2D2D"/>
                </a:solidFill>
                <a:latin typeface="Calibri"/>
              </a:rPr>
              <a:t>aplica SMOTE solo en el train y evalúa en el test real: sube el recall sin fuga de datos.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95728"/>
            <a:ext cx="11094720" cy="3712464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542032"/>
            <a:ext cx="10637520" cy="256032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50" b="1">
                <a:solidFill>
                  <a:srgbClr val="9B1B30"/>
                </a:solidFill>
                <a:latin typeface="Calibri"/>
              </a:rPr>
              <a:t>CÓDIGO REAL DEL CUADERNO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926080"/>
            <a:ext cx="10472928" cy="31089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# 1) partir ANTES de tocar los datos (si no, hay fuga)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Xtr, Xte, ytr, yte = train_test_split(Xf, yf, test_size=0.30, stratify=yf, random_state=42)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esc = StandardScaler().fit(Xtr)                       # escalador SOLO con el train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Xtr_s, Xte_s = esc.transform(Xtr), esc.transform(Xte)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Xr, yr = SMOTE(random_state=42).fit_resample(Xtr_s, ytr)   # SMOTE SOLO en el train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clf = LogisticRegression(max_iter=1000).fit(Xr, yr)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pred = (clf.predict_proba(Xte_s)[:, 1] &gt;= 0.5).astype(int)  # se evalua en el test REAL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# recall 0.6149 -&gt; 0.8784   (FP 16-&gt;1885)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notebook celda 88 (Construcción desde cero) — imbalanced-learn (SMOTE). Datos: resultados/S10_resultados.xlsx!fraude_confusion.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301752"/>
            <a:ext cx="329184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Sección 7, celda 88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S10 — Herramientas para la Ciencia de Datos, UPC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EVIDENCIA — EL COMPROMISO DE SMOTE (CONTEOS DEL TEST)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SMOTE sube el recall y multiplica las falsas alarmas</a:t>
            </a:r>
          </a:p>
        </p:txBody>
      </p:sp>
      <p:pic>
        <p:nvPicPr>
          <p:cNvPr id="4" name="Picture 3" descr="deck_fraude_confusion_base_sm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341201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Base: 91 fraudes detectados, 57 no detectados. Con SMOTE: 130 detectados (recall 0,6149→0,8784), pero los FP aumentan de 16 a 1 885.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Chawla et al. (2002), JAIR 16 (SMOTE). Datos: resultados/S10_resultados.xlsx!fraude_confusion.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301752"/>
            <a:ext cx="329184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Fig 6, celda 76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S10 — Herramientas para la Ciencia de Datos, UPC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DECISIÓN — EL ENTREGABLE DE LA SESIÓN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campeón se elige por PR-AUC, no por accuracy</a:t>
            </a:r>
          </a:p>
        </p:txBody>
      </p:sp>
      <p:pic>
        <p:nvPicPr>
          <p:cNvPr id="4" name="Picture 3" descr="grafico_benchmark_pr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3782711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Se ordena por PR-AUC. La logística base (0,708) es el campeón; QDA (0,148) y Naive Bayes (0,081) colapsan en precisión.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Benchmark reproducible (semilla 42). Datos: resultados/S10_resultados.xlsx!benchmark (columna pr_auc).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301752"/>
            <a:ext cx="329184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Fig 7, celda 78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S10 — Herramientas para la Ciencia de Datos, UPC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DECISIÓN — COSTO ESPERADO = C_FN·FN + C_FP·FP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En dinero, la base sin SMOTE cuesta menos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94720" cy="13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80"/>
                <a:gridCol w="2773680"/>
                <a:gridCol w="2773680"/>
                <a:gridCol w="2773680"/>
              </a:tblGrid>
              <a:tr h="4450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Configuración (umbral 0,5)</a:t>
                      </a:r>
                    </a:p>
                  </a:txBody>
                  <a:tcPr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FN</a:t>
                      </a:r>
                    </a:p>
                  </a:txBody>
                  <a:tcPr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FP</a:t>
                      </a:r>
                    </a:p>
                  </a:txBody>
                  <a:tcPr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Costo esperado (US$)</a:t>
                      </a:r>
                    </a:p>
                  </a:txBody>
                  <a:tcPr>
                    <a:solidFill>
                      <a:srgbClr val="9B1B30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Base — campeón logístico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7 126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+ SMOTE (solo en train)</a:t>
                      </a:r>
                    </a:p>
                  </a:txBody>
                  <a:tcPr>
                    <a:solidFill>
                      <a:srgbClr val="FCED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CED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1 885</a:t>
                      </a:r>
                    </a:p>
                  </a:txBody>
                  <a:tcPr>
                    <a:solidFill>
                      <a:srgbClr val="FCED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Calibri"/>
                        </a:rPr>
                        <a:t>21 050</a:t>
                      </a:r>
                    </a:p>
                  </a:txBody>
                  <a:tcPr>
                    <a:solidFill>
                      <a:srgbClr val="FCEDEE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366760" y="301752"/>
            <a:ext cx="329184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Paso 10, celda 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40680"/>
            <a:ext cx="1109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E6E6E"/>
                </a:solidFill>
                <a:latin typeface="Calibri"/>
              </a:rPr>
              <a:t>C_FN = importe medio del fraude ≈ US$ 122 (columna Amount, 492 fraudes; ESTIMADO del dataset, no contrato) — C_FP = US$ 10 revisar una falsa alarma (ilustrativo, rango 5–20). SMOTE solo convendría si C_FN/C_FP &gt; 1 869/39 ≈ 48. Conteos: resultados/S10_resultados.xlsx!fraude_confusion.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S10 — Herramientas para la Ciencia de Datos, UPC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ACTUALIDAD — CASOS VERIFICADOS (FUENTES_ACTUALIDAD_S10.MD)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Tres titulares confirman el costo real del desbalance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10512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Las pérdidas por fraude con tarjeta llegan a US$33,41 mil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93976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Nilson Report — 07/01/2026  —  cada punto de recall vale millones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06624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9192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SMOTE lleva el recall a 100 % pero la precisión a 24 %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0088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Frontiers in AI — 08/10/2025  —  el trade-off es una decisión de negocio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602736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75304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El leakage por SMOTE infla el recall a 99,9 %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arXiv — 03/06/2025  —  SMOTE solo en el train evita el espejismo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S10 — Herramientas para la Ciencia de Datos, UPC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¿Qué no se puede afirmar, y qué sigue en S11?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10.9 — viernes, bloque 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CAPÍTULO 10.9 — ¿QUÉ NO SE PUEDE AFIRMAR, Y QUÉ SIGUE EN S11?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Lo que esta sesión no autoriza a afirmar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965960"/>
            <a:ext cx="256032" cy="256032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1063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Calibri"/>
              </a:rPr>
              <a:t>Ninguna exactitud se reporta sobre datos desbalanceados sin su PR-AUC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24328"/>
            <a:ext cx="256032" cy="256032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78608"/>
            <a:ext cx="1063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Calibri"/>
              </a:rPr>
              <a:t>Ningún remuestreo se aplica antes de partir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82696"/>
            <a:ext cx="256032" cy="256032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36976"/>
            <a:ext cx="1063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Calibri"/>
              </a:rPr>
              <a:t>Una frontera de decisión no explica por qué ocurre el fraude, solo dónde está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S10 — Herramientas para la Ciencia de Datos, UPC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benchmark reproducible es tu entregable evaluable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Entregable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Benchmark de LDA, QDA, Naive Bayes y logística sobre fraude 99:1. Tratar el desbalance, evaluar con PR-AUC y elegir el campeón. Rúbrica 0-20.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80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974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40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Evaluación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40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Control corto al cierre (suma a la nota de controles). Los drills practican la paradoja, ROC vs PR y SMOTE.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896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75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756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Próxima sesión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756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S11 — Series temporales: pronosticar en el tiempo (ARIMA, ETS, Prophet). Solo se nombra hoy.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S10 — Herramientas para la Ciencia de Datos, UPC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BIBLIOGRAFÍA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Cinco lecturas anclan los clasificadores y el desbalance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10512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Fisher (1936) — The Use of Multiple Measurements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93976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Annals of Eugenics 7(2)  —  origen del análisis discriminante lineal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06624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9192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Domingos &amp; Pazzani (1997) — Simple Bayesian 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0088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Machine Learning 29  —  por qué Naive Bayes funciona igual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602736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75304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Chawla et al. (2002) — SMOTE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JAIR 16  —  sobremuestreo sintético de la clase rara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71416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Saito &amp; Rehmsmeier (2015) — PR vs ROC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82312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PLoS ONE 10(3)  —  por qué se reporta PR-AUC en desbalance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67528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He &amp; Garcia (2009) — Learning from Imbalanced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78424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IEEE TKDE 21(9)  —  panorama de métodos para desbalance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S10 — Herramientas para la Ciencia de Datos, UPC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