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Dar la bienvenida al curso Herramientas para la Ciencia de Datos. Enunciar la promesa: al terminar, cada estudiante sabrá ubicar el análisis de datos dentro de un proyecto de negocio y saldrá con un problema propio elegido para trabajar todo el ciclo. Aclarar que el entorno técnico (Python, Jupyter, Colab, Git) se asume cubierto en Introducción a Ciencia de Datos: aquí no se re-enseña. El botón «Abrir en Colab» lleva al cuaderno de la sesión. [Viernes]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primero el BLOQUE 0 de bienvenida (min 4-29: mapa del curso, reglas de clase, diagnóstico estadístico), y luego CUATRO actos, los mismos cuatro divisores granates que se verán en pantalla. (1) EL PROBLEMA (min 29-40): los tres casos reales que sirven de hilo —churn, segmentación y forecasting— y el dato incómodo de por qué fracasan los pilotos de datos e IA. (2) LA HOJA DE RUTA (min 40-53): KDD, las cinco etapas de Fayyad (cuaderno Sección 3), y CRISP-DM, las seis fases que iteran (Sección 4), con el esfuerzo real que consume preparar los datos. (3) CÓMO SE PIENSA (min 53-70): las taxonomías —descriptivo/predictivo/prescriptivo y supervisado/no supervisado (Sección 5)— y la traducción de la pregunta de negocio a KPI y variable objetivo (Sección 6). (4) DE LA PREGUNTA AL PROYECTO (min 70-107): el curso entero mapeado sobre el ciclo CRISP-DM y el trabajo en el que cada estudiante lleva SU problema hasta la ficha (Sección 9). El cierre (min 107-115) suma demanda laboral, bibliografía y entregable. El chip «▶ Notebook» de cada slide indica la celda exacta del cuaderno. Anunciar que la sesión termina con un entregable evaluable (ficha CRISP-DM) y un control corto. [Viernes]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tercer acto. Con el proceso claro, toca aprender a PENSAR el problema antes de tocar datos: qué tipo de análisis pide, si hay o no etiqueta, y cómo se traduce a una pregunta con KPI y variable objetivo. [Viernes, capítulo 1.4]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Recorrer los tres niveles con los mismos casos de la apertura: la segmentación describe, el churn y el forecasting predicen, y elegir a quién retener prescribe. Regla de lectura: a mayor nivel, más valor para el negocio y más exigencia analítica; lo prescriptivo se apoya en lo predictivo, que se apoya en lo descriptivo. [Viernes, capítulo 1.4]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con los casos: churn tiene etiqueta (canceló sí/no) -&gt; supervisado; la segmentación no tiene etiqueta previa -&gt; no supervisado. Pregunta rápida de votación en clase: ¿pronosticar demanda es supervisado o no? (Supervisado: la etiqueta son las ventas históricas observadas.) ORTOGONALIDAD (aclarar, no escribir una equivalencia plana en el tablero): esta taxonomía (¿hay etiqueta?) y la de la slide anterior (descriptivo / predictivo / prescriptivo) son EJES ORTOGONALES, no sinónimos. Describir NO es lo mismo que no supervisado: un tablero que resume lo que pasó es descriptivo y no usa aprendizaje (es agregación, sin modelo). La segmentación coincide en ambos ejes —es descriptiva y no supervisada—, pero esa coincidencia es un caso particular, no una regla; por eso conviene dibujarlas como dos ejes (una cuadrícula), no como una recta de equivalencia. Mencionar como panorama el aprendizaje por refuerzo (prueba y error con recompensas), que NO se desarrolla en el curso. Las técnicas concretas solo se nombran; cada una se enseña en su sesión. [Viernes, capítulo 1.4]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círculo con los tres casos, ahora con vocabulario completo. Regla mnemotécnica: el KPI vive en el tablero del negocio (lo monitorea un gerente); la variable objetivo vive en la tabla de datos (la estima un modelo). El caso retail muestra que 'no hay variable objetivo' es una respuesta válida si se justifica el enfoque no supervisado. Esta distinción es el núcleo de la ficha del laboratorio y del drill 3. [Viernes, capítulo 1.3]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ahora sobre ética y privacidad. Concretar con churn: usar datos de reclamos exige consentimiento y propósito declarado; un modelo sesgado puede discriminar segmentos completos. Distinguir fuentes internas (ERP/CRM, logs) de externas (datos abiertos, APIs). Buenas prácticas: anonimizar, minimizar y documentar el linaje. Estos riesgos se registran en la fase de comprensión de los datos; la ficha exige DOS riesgos con su mitigación. Marco: normativa de protección de datos personales vigente. [Viernes, capítulo 1.3]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arco. Con el proceso y las taxonomías claros, toca ver el terreno completo (el curso como ciclo CRISP-DM) y llevar todo al proyecto propio en el laboratorio. [Viernes, capítulo 1.8]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el sílabo ES el ciclo CRISP-DM desplegado en 14 sesiones. Las técnicas de la fila de modelado solo se NOMBRAN (una frase de qué resuelve cada una); cada una se enseña en su sesión. Hitos: examen parcial tras la S07 (avance del proyecto) y sustentación en el final. Este mapa se usa en el laboratorio para ubicar qué sesiones alimentarán el proyecto elegido. [Viernes, capítulo 1.5]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los pasos y lanzar el trabajo (parejas, entrega individual). El paso 5 recoge el objetivo de perfiles del equipo: cada quien identifica los DOS roles críticos (traductor de negocio, data engineer, data analyst, data scientist) para su proyecto. La guía completa está en Laboratorio/Guia Laboratorio S01.md; la teoría de referencia, en notebook/S01_roadmap.ipynb. Plantillas: Catalogo Problemas Negocio.md, Canvas Proyecto Datos.md y Ficha Proyecto CRISP-DM.md. Durante el trabajo, verificar que el KPI sea métrica de negocio y la variable objetivo una columna estimable. Los 7 pasos suman ~40 min de trabajo: ~30 en clase y el cierre de la Ficha como trabajo autónomo antes de la S02. [Viernes, capítulo 1.8]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Future of Jobs Report 2025 del WEF proyecta a 2030 un crecimiento de 113% para especialistas en big data y 41% para analistas y científicos de datos (fuente 6 de Fuentes Actualidad S01.md, vía Euronews). Concretar en el contexto local: en Perú los equipos de datos crecieron de 19 a 26 personas promedio entre 2024 y 2025, con miles de vacantes sin cubrir (Gestión, 01/05/2026), y CRISP-DM sigue vivo: el 86% de un equipo real lo aplica con lo ágil (arXiv/Elo7, 2025). La apuesta formativa del programa responde a esa demanda. [Viernes, capítulo 1.6]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Fayyad define el KDD; Wirth &amp; Hipp y Chapman fundan CRISP-DM; Martínez-Plumed muestra su vigencia 20 años después; Provost &amp; Fawcett trasladan el problema de negocio a la pregunta analítica (base del laboratorio). Las lecturas y las fuentes de actualidad verificadas están en el cuaderno, sección «Para seguir explorando». [Viernes]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de la decisión de negocio al proceso (KDD, CRISP-DM), de la taxonomía a la pregunta analítica, y del laboratorio al proyecto integrador (arranca hoy con la ficha; avance en el parcial tras la S07, sustentación en el final; ambos con rúbrica vigesimal 0-20; dataset aprobado a más tardar en la S03). Recordar el entregable (ficha CRISP-DM) y aplicar el control corto (~4 min). Despedir anunciando la S02: EDA, inferencia y pruebas A/B sobre los datos del proyecto elegido hoy. [Viernes, capítulo 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1%20Roadmap/notebook/S01_roadmap.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notesSlide" Target="../notesSlides/notesSlide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notesSlide" Target="../notesSlides/notesSlide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png"/><Relationship Id="rId4" Type="http://schemas.openxmlformats.org/officeDocument/2006/relationships/notesSlide" Target="../notesSlides/notesSlide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S01</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Del dato a la decisión de negocio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Roadmap del análisis de datos: KDD y CRISP-DM — sin réplica (sesión conceptual)</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VIERNES — CAPÍTULOS 1.3 A 1.9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viernes cierra la sesión en cuatro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1.6</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 dónde provienen los datos y qué confiabilidad ofrecen?</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ap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1.7</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evalúa la viabilidad de un proyecto antes de iniciarlo?</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1.8</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habilita el canvas del proyecto integrador?</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65-105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arget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1.9</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no se puede prometer, y qué sigue en S02?</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105-120</a:t>
            </a:r>
          </a:p>
        </p:txBody>
      </p:sp>
      <p:sp>
        <p:nvSpPr>
          <p:cNvPr id="28" name="Rounded Rectangle 27"/>
          <p:cNvSpPr/>
          <p:nvPr/>
        </p:nvSpPr>
        <p:spPr>
          <a:xfrm>
            <a:off x="8503920" y="292608"/>
            <a:ext cx="3154680" cy="384048"/>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piensa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Tipo de análisis, etiqueta y variable objetivo</a:t>
            </a:r>
          </a:p>
        </p:txBody>
      </p:sp>
      <p:pic>
        <p:nvPicPr>
          <p:cNvPr id="5" name="Picture 4" descr="lightbulb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TAXONOMÍA 1 DE 2 — PROVOST &amp; FAWCETT (2013)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Descriptivo, predictivo, prescriptivo: cada nivel decide más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Descriptivo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Resume qué pasó y por qué; ejemplo, segmentar los clientes del programa de lealtad.</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ending-up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Predictivo</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Estima qué va a pasar con datos históricos; ejemplo, qué clientes cancelarán el próximo trimestre.</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t-branch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Prescriptivo</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Recomienda qué conviene hacer ante lo previsto; ejemplo, a quién retener con presupuesto limitado.</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TAXONOMÍA 2 DE 2 — ¿HAY ETIQUETA CONOCIDA?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etiqueta separa lo supervisado de lo no supervisado</a:t>
            </a:r>
          </a:p>
        </p:txBody>
      </p:sp>
      <p:sp>
        <p:nvSpPr>
          <p:cNvPr id="4" name="Oval 3"/>
          <p:cNvSpPr/>
          <p:nvPr/>
        </p:nvSpPr>
        <p:spPr>
          <a:xfrm>
            <a:off x="548640" y="2642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check__FFFFFF.png"/>
          <p:cNvPicPr>
            <a:picLocks noChangeAspect="1"/>
          </p:cNvPicPr>
          <p:nvPr/>
        </p:nvPicPr>
        <p:blipFill>
          <a:blip r:embed="rId2"/>
          <a:stretch>
            <a:fillRect/>
          </a:stretch>
        </p:blipFill>
        <p:spPr>
          <a:xfrm>
            <a:off x="732983" y="2826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Supervisado</a:t>
            </a:r>
          </a:p>
        </p:txBody>
      </p:sp>
      <p:sp>
        <p:nvSpPr>
          <p:cNvPr id="7" name="TextBox 6"/>
          <p:cNvSpPr txBox="1"/>
          <p:nvPr/>
        </p:nvSpPr>
        <p:spPr>
          <a:xfrm>
            <a:off x="1508760" y="2395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Aprende de ejemplos con etiqueta conocida; exige una variable objetivo medible. Ejemplos: churn y demanda.</a:t>
            </a:r>
          </a:p>
        </p:txBody>
      </p:sp>
      <p:sp>
        <p:nvSpPr>
          <p:cNvPr id="8" name="Oval 7"/>
          <p:cNvSpPr/>
          <p:nvPr/>
        </p:nvSpPr>
        <p:spPr>
          <a:xfrm>
            <a:off x="548640" y="4928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arch__FFFFFF.png"/>
          <p:cNvPicPr>
            <a:picLocks noChangeAspect="1"/>
          </p:cNvPicPr>
          <p:nvPr/>
        </p:nvPicPr>
        <p:blipFill>
          <a:blip r:embed="rId3"/>
          <a:stretch>
            <a:fillRect/>
          </a:stretch>
        </p:blipFill>
        <p:spPr>
          <a:xfrm>
            <a:off x="732983" y="5112959"/>
            <a:ext cx="289682" cy="289682"/>
          </a:xfrm>
          <a:prstGeom prst="rect">
            <a:avLst/>
          </a:prstGeom>
        </p:spPr>
      </p:pic>
      <p:sp>
        <p:nvSpPr>
          <p:cNvPr id="10" name="TextBox 9"/>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No supervisado</a:t>
            </a:r>
          </a:p>
        </p:txBody>
      </p:sp>
      <p:sp>
        <p:nvSpPr>
          <p:cNvPr id="11" name="TextBox 10"/>
          <p:cNvSpPr txBox="1"/>
          <p:nvPr/>
        </p:nvSpPr>
        <p:spPr>
          <a:xfrm>
            <a:off x="1508760" y="4681728"/>
            <a:ext cx="10134600" cy="1645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Descubre estructura sin etiquetas; halla segmentos cuya utilidad se evalúa después. Ejemplo: segmentar clientes.</a:t>
            </a:r>
          </a:p>
        </p:txBody>
      </p:sp>
      <p:sp>
        <p:nvSpPr>
          <p:cNvPr id="12" name="Oval 1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4" name="TextBox 1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LOS TRES CASOS, CERRANDO EL CÍRCULO — PROVOST &amp; FAWCETT (2013)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KPI se mide; la variable objetivo se predice</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ug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Churn — Telco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KPI: tasa de cancelación mensual, en el tablero. Variable objetivo: cancela sí/no por cliente activo.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KPI se monitorea; la variable objetivo se predice</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Segmentación — Retail</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KPI: respuesta de campaña por segmento. Variable objetivo: no hay, el enfoque es no supervisado.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Sin etiqueta no hay variable objetivo (y es válido)</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tabase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Demanda — Consumo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KPI: quiebres de stock y capital inmovilizado. Variable objetivo: unidades vendidas por producto-mes.</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Uno vive en el tablero; la otra, en la tabla</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¿Qué dato de los clientes no debería usarse, aunque se pueda?</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Privacidad, consentimiento y sesgo. La ficha del laboratorio exige al menos dos riesgos éticos con su mitigación (drill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De la pregunta al proyecto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Traducir, elegir y arrancar el trabajo propio</a:t>
            </a:r>
          </a:p>
        </p:txBody>
      </p:sp>
      <p:pic>
        <p:nvPicPr>
          <p:cNvPr id="5" name="Picture 4" descr="targe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ROADMAP — EL SÍLABO COMO RECORRIDO DEL CICLO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curso recorre el ciclo CRISP-DM en 14 sesiones</a:t>
            </a:r>
          </a:p>
        </p:txBody>
      </p:sp>
      <p:graphicFrame>
        <p:nvGraphicFramePr>
          <p:cNvPr id="4" name="Table 3"/>
          <p:cNvGraphicFramePr>
            <a:graphicFrameLocks noGrp="1"/>
          </p:cNvGraphicFramePr>
          <p:nvPr/>
        </p:nvGraphicFramePr>
        <p:xfrm>
          <a:off x="548640" y="1828800"/>
          <a:ext cx="11094720" cy="2871216"/>
        </p:xfrm>
        <a:graphic>
          <a:graphicData uri="http://schemas.openxmlformats.org/drawingml/2006/table">
            <a:tbl>
              <a:tblPr firstRow="1" bandRow="1">
                <a:tableStyleId>{5C22544A-7EE6-4342-B048-85BDC9FD1C3A}</a:tableStyleId>
              </a:tblPr>
              <a:tblGrid>
                <a:gridCol w="3698240"/>
                <a:gridCol w="3698240"/>
                <a:gridCol w="3698240"/>
              </a:tblGrid>
              <a:tr h="410173">
                <a:tc>
                  <a:txBody>
                    <a:bodyPr/>
                    <a:lstStyle/>
                    <a:p>
                      <a:r>
                        <a:rPr sz="1200" b="1">
                          <a:solidFill>
                            <a:srgbClr val="FFFFFF"/>
                          </a:solidFill>
                          <a:latin typeface="Calibri"/>
                        </a:rPr>
                        <a:t>Fase CRISP-DM</a:t>
                      </a:r>
                    </a:p>
                  </a:txBody>
                  <a:tcPr>
                    <a:solidFill>
                      <a:srgbClr val="9B1B30"/>
                    </a:solidFill>
                  </a:tcPr>
                </a:tc>
                <a:tc>
                  <a:txBody>
                    <a:bodyPr/>
                    <a:lstStyle/>
                    <a:p>
                      <a:r>
                        <a:rPr sz="1200" b="1">
                          <a:solidFill>
                            <a:srgbClr val="FFFFFF"/>
                          </a:solidFill>
                          <a:latin typeface="Calibri"/>
                        </a:rPr>
                        <a:t>Sesiones</a:t>
                      </a:r>
                    </a:p>
                  </a:txBody>
                  <a:tcPr>
                    <a:solidFill>
                      <a:srgbClr val="9B1B30"/>
                    </a:solidFill>
                  </a:tcPr>
                </a:tc>
                <a:tc>
                  <a:txBody>
                    <a:bodyPr/>
                    <a:lstStyle/>
                    <a:p>
                      <a:r>
                        <a:rPr sz="1200" b="1">
                          <a:solidFill>
                            <a:srgbClr val="FFFFFF"/>
                          </a:solidFill>
                          <a:latin typeface="Calibri"/>
                        </a:rPr>
                        <a:t>Qué aporta (las técnicas solo se nombran)</a:t>
                      </a:r>
                    </a:p>
                  </a:txBody>
                  <a:tcPr>
                    <a:solidFill>
                      <a:srgbClr val="9B1B30"/>
                    </a:solidFill>
                  </a:tcPr>
                </a:tc>
              </a:tr>
              <a:tr h="410173">
                <a:tc>
                  <a:txBody>
                    <a:bodyPr wrap="square"/>
                    <a:lstStyle/>
                    <a:p>
                      <a:r>
                        <a:rPr sz="1200">
                          <a:solidFill>
                            <a:srgbClr val="2D2D2D"/>
                          </a:solidFill>
                          <a:latin typeface="Calibri"/>
                        </a:rPr>
                        <a:t>1. Comprensión del negocio</a:t>
                      </a:r>
                    </a:p>
                  </a:txBody>
                  <a:tcPr>
                    <a:solidFill>
                      <a:srgbClr val="FFFFFF"/>
                    </a:solidFill>
                  </a:tcPr>
                </a:tc>
                <a:tc>
                  <a:txBody>
                    <a:bodyPr wrap="square"/>
                    <a:lstStyle/>
                    <a:p>
                      <a:r>
                        <a:rPr sz="1200">
                          <a:solidFill>
                            <a:srgbClr val="2D2D2D"/>
                          </a:solidFill>
                          <a:latin typeface="Calibri"/>
                        </a:rPr>
                        <a:t>S01</a:t>
                      </a:r>
                    </a:p>
                  </a:txBody>
                  <a:tcPr>
                    <a:solidFill>
                      <a:srgbClr val="FFFFFF"/>
                    </a:solidFill>
                  </a:tcPr>
                </a:tc>
                <a:tc>
                  <a:txBody>
                    <a:bodyPr wrap="square"/>
                    <a:lstStyle/>
                    <a:p>
                      <a:r>
                        <a:rPr sz="1200">
                          <a:solidFill>
                            <a:srgbClr val="2D2D2D"/>
                          </a:solidFill>
                          <a:latin typeface="Calibri"/>
                        </a:rPr>
                        <a:t>Ficha CRISP-DM: problema, decisión, KPI, variable objetivo</a:t>
                      </a:r>
                    </a:p>
                  </a:txBody>
                  <a:tcPr>
                    <a:solidFill>
                      <a:srgbClr val="FFFFFF"/>
                    </a:solidFill>
                  </a:tcPr>
                </a:tc>
              </a:tr>
              <a:tr h="410173">
                <a:tc>
                  <a:txBody>
                    <a:bodyPr wrap="square"/>
                    <a:lstStyle/>
                    <a:p>
                      <a:r>
                        <a:rPr sz="1200">
                          <a:solidFill>
                            <a:srgbClr val="2D2D2D"/>
                          </a:solidFill>
                          <a:latin typeface="Calibri"/>
                        </a:rPr>
                        <a:t>2. Comprensión de los datos</a:t>
                      </a:r>
                    </a:p>
                  </a:txBody>
                  <a:tcPr>
                    <a:solidFill>
                      <a:srgbClr val="FCEDEE"/>
                    </a:solidFill>
                  </a:tcPr>
                </a:tc>
                <a:tc>
                  <a:txBody>
                    <a:bodyPr wrap="square"/>
                    <a:lstStyle/>
                    <a:p>
                      <a:r>
                        <a:rPr sz="1200">
                          <a:solidFill>
                            <a:srgbClr val="2D2D2D"/>
                          </a:solidFill>
                          <a:latin typeface="Calibri"/>
                        </a:rPr>
                        <a:t>S02</a:t>
                      </a:r>
                    </a:p>
                  </a:txBody>
                  <a:tcPr>
                    <a:solidFill>
                      <a:srgbClr val="FCEDEE"/>
                    </a:solidFill>
                  </a:tcPr>
                </a:tc>
                <a:tc>
                  <a:txBody>
                    <a:bodyPr wrap="square"/>
                    <a:lstStyle/>
                    <a:p>
                      <a:r>
                        <a:rPr sz="1200">
                          <a:solidFill>
                            <a:srgbClr val="2D2D2D"/>
                          </a:solidFill>
                          <a:latin typeface="Calibri"/>
                        </a:rPr>
                        <a:t>EDA, estadística inferencial y pruebas A/B</a:t>
                      </a:r>
                    </a:p>
                  </a:txBody>
                  <a:tcPr>
                    <a:solidFill>
                      <a:srgbClr val="FCEDEE"/>
                    </a:solidFill>
                  </a:tcPr>
                </a:tc>
              </a:tr>
              <a:tr h="410173">
                <a:tc>
                  <a:txBody>
                    <a:bodyPr wrap="square"/>
                    <a:lstStyle/>
                    <a:p>
                      <a:r>
                        <a:rPr sz="1200">
                          <a:solidFill>
                            <a:srgbClr val="2D2D2D"/>
                          </a:solidFill>
                          <a:latin typeface="Calibri"/>
                        </a:rPr>
                        <a:t>3. Preparación de los datos</a:t>
                      </a:r>
                    </a:p>
                  </a:txBody>
                  <a:tcPr>
                    <a:solidFill>
                      <a:srgbClr val="FFFFFF"/>
                    </a:solidFill>
                  </a:tcPr>
                </a:tc>
                <a:tc>
                  <a:txBody>
                    <a:bodyPr wrap="square"/>
                    <a:lstStyle/>
                    <a:p>
                      <a:r>
                        <a:rPr sz="1200">
                          <a:solidFill>
                            <a:srgbClr val="2D2D2D"/>
                          </a:solidFill>
                          <a:latin typeface="Calibri"/>
                        </a:rPr>
                        <a:t>S02, S06</a:t>
                      </a:r>
                    </a:p>
                  </a:txBody>
                  <a:tcPr>
                    <a:solidFill>
                      <a:srgbClr val="FFFFFF"/>
                    </a:solidFill>
                  </a:tcPr>
                </a:tc>
                <a:tc>
                  <a:txBody>
                    <a:bodyPr wrap="square"/>
                    <a:lstStyle/>
                    <a:p>
                      <a:r>
                        <a:rPr sz="1200">
                          <a:solidFill>
                            <a:srgbClr val="2D2D2D"/>
                          </a:solidFill>
                          <a:latin typeface="Calibri"/>
                        </a:rPr>
                        <a:t>Calidad de datos; reducción de dimensiones</a:t>
                      </a:r>
                    </a:p>
                  </a:txBody>
                  <a:tcPr>
                    <a:solidFill>
                      <a:srgbClr val="FFFFFF"/>
                    </a:solidFill>
                  </a:tcPr>
                </a:tc>
              </a:tr>
              <a:tr h="410173">
                <a:tc>
                  <a:txBody>
                    <a:bodyPr wrap="square"/>
                    <a:lstStyle/>
                    <a:p>
                      <a:r>
                        <a:rPr sz="1200">
                          <a:solidFill>
                            <a:srgbClr val="2D2D2D"/>
                          </a:solidFill>
                          <a:latin typeface="Calibri"/>
                        </a:rPr>
                        <a:t>4. Modelado</a:t>
                      </a:r>
                    </a:p>
                  </a:txBody>
                  <a:tcPr>
                    <a:solidFill>
                      <a:srgbClr val="FCEDEE"/>
                    </a:solidFill>
                  </a:tcPr>
                </a:tc>
                <a:tc>
                  <a:txBody>
                    <a:bodyPr wrap="square"/>
                    <a:lstStyle/>
                    <a:p>
                      <a:r>
                        <a:rPr sz="1200">
                          <a:solidFill>
                            <a:srgbClr val="2D2D2D"/>
                          </a:solidFill>
                          <a:latin typeface="Calibri"/>
                        </a:rPr>
                        <a:t>S03–S05, S07–S14</a:t>
                      </a:r>
                    </a:p>
                  </a:txBody>
                  <a:tcPr>
                    <a:solidFill>
                      <a:srgbClr val="FCEDEE"/>
                    </a:solidFill>
                  </a:tcPr>
                </a:tc>
                <a:tc>
                  <a:txBody>
                    <a:bodyPr wrap="square"/>
                    <a:lstStyle/>
                    <a:p>
                      <a:r>
                        <a:rPr sz="1200">
                          <a:solidFill>
                            <a:srgbClr val="2D2D2D"/>
                          </a:solidFill>
                          <a:latin typeface="Calibri"/>
                        </a:rPr>
                        <a:t>Regresión, clustering, asociación, clasificación, series, causalidad, supervivencia, recomendación</a:t>
                      </a:r>
                    </a:p>
                  </a:txBody>
                  <a:tcPr>
                    <a:solidFill>
                      <a:srgbClr val="FCEDEE"/>
                    </a:solidFill>
                  </a:tcPr>
                </a:tc>
              </a:tr>
              <a:tr h="410173">
                <a:tc>
                  <a:txBody>
                    <a:bodyPr wrap="square"/>
                    <a:lstStyle/>
                    <a:p>
                      <a:r>
                        <a:rPr sz="1200">
                          <a:solidFill>
                            <a:srgbClr val="2D2D2D"/>
                          </a:solidFill>
                          <a:latin typeface="Calibri"/>
                        </a:rPr>
                        <a:t>5. Evaluación</a:t>
                      </a:r>
                    </a:p>
                  </a:txBody>
                  <a:tcPr>
                    <a:solidFill>
                      <a:srgbClr val="FFFFFF"/>
                    </a:solidFill>
                  </a:tcPr>
                </a:tc>
                <a:tc>
                  <a:txBody>
                    <a:bodyPr wrap="square"/>
                    <a:lstStyle/>
                    <a:p>
                      <a:r>
                        <a:rPr sz="1200">
                          <a:solidFill>
                            <a:srgbClr val="2D2D2D"/>
                          </a:solidFill>
                          <a:latin typeface="Calibri"/>
                        </a:rPr>
                        <a:t>S02–S14</a:t>
                      </a:r>
                    </a:p>
                  </a:txBody>
                  <a:tcPr>
                    <a:solidFill>
                      <a:srgbClr val="FFFFFF"/>
                    </a:solidFill>
                  </a:tcPr>
                </a:tc>
                <a:tc>
                  <a:txBody>
                    <a:bodyPr wrap="square"/>
                    <a:lstStyle/>
                    <a:p>
                      <a:r>
                        <a:rPr sz="1200">
                          <a:solidFill>
                            <a:srgbClr val="2D2D2D"/>
                          </a:solidFill>
                          <a:latin typeface="Calibri"/>
                        </a:rPr>
                        <a:t>Cada sesión evalúa su propia técnica</a:t>
                      </a:r>
                    </a:p>
                  </a:txBody>
                  <a:tcPr>
                    <a:solidFill>
                      <a:srgbClr val="FFFFFF"/>
                    </a:solidFill>
                  </a:tcPr>
                </a:tc>
              </a:tr>
              <a:tr h="410178">
                <a:tc>
                  <a:txBody>
                    <a:bodyPr wrap="square"/>
                    <a:lstStyle/>
                    <a:p>
                      <a:r>
                        <a:rPr sz="1200">
                          <a:solidFill>
                            <a:srgbClr val="2D2D2D"/>
                          </a:solidFill>
                          <a:latin typeface="Calibri"/>
                        </a:rPr>
                        <a:t>6. Despliegue / comunicación</a:t>
                      </a:r>
                    </a:p>
                  </a:txBody>
                  <a:tcPr>
                    <a:solidFill>
                      <a:srgbClr val="FCEDEE"/>
                    </a:solidFill>
                  </a:tcPr>
                </a:tc>
                <a:tc>
                  <a:txBody>
                    <a:bodyPr wrap="square"/>
                    <a:lstStyle/>
                    <a:p>
                      <a:r>
                        <a:rPr sz="1200">
                          <a:solidFill>
                            <a:srgbClr val="2D2D2D"/>
                          </a:solidFill>
                          <a:latin typeface="Calibri"/>
                        </a:rPr>
                        <a:t>Proyecto integrador</a:t>
                      </a:r>
                    </a:p>
                  </a:txBody>
                  <a:tcPr>
                    <a:solidFill>
                      <a:srgbClr val="FCEDEE"/>
                    </a:solidFill>
                  </a:tcPr>
                </a:tc>
                <a:tc>
                  <a:txBody>
                    <a:bodyPr wrap="square"/>
                    <a:lstStyle/>
                    <a:p>
                      <a:r>
                        <a:rPr sz="1200">
                          <a:solidFill>
                            <a:srgbClr val="2D2D2D"/>
                          </a:solidFill>
                          <a:latin typeface="Calibri"/>
                        </a:rPr>
                        <a:t>Informe ejecutivo y sustentación final</a:t>
                      </a:r>
                    </a:p>
                  </a:txBody>
                  <a:tcPr>
                    <a:solidFill>
                      <a:srgbClr val="FCEDEE"/>
                    </a:solidFill>
                  </a:tcPr>
                </a:tc>
              </a:tr>
            </a:tbl>
          </a:graphicData>
        </a:graphic>
      </p:graphicFrame>
      <p:sp>
        <p:nvSpPr>
          <p:cNvPr id="5" name="Oval 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7" name="TextBox 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mapea el problema propio sobre CRISP-DM en 7 pasos</a:t>
            </a:r>
          </a:p>
        </p:txBody>
      </p:sp>
      <p:sp>
        <p:nvSpPr>
          <p:cNvPr id="3" name="Rectangle 2"/>
          <p:cNvSpPr/>
          <p:nvPr/>
        </p:nvSpPr>
        <p:spPr>
          <a:xfrm>
            <a:off x="1341120" y="2802255"/>
            <a:ext cx="950976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822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5" name="TextBox 4"/>
          <p:cNvSpPr txBox="1"/>
          <p:nvPr/>
        </p:nvSpPr>
        <p:spPr>
          <a:xfrm>
            <a:off x="62179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Catálogo</a:t>
            </a:r>
          </a:p>
        </p:txBody>
      </p:sp>
      <p:sp>
        <p:nvSpPr>
          <p:cNvPr id="6" name="TextBox 5"/>
          <p:cNvSpPr txBox="1"/>
          <p:nvPr/>
        </p:nvSpPr>
        <p:spPr>
          <a:xfrm>
            <a:off x="62179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10 problemas con contexto (5 min)</a:t>
            </a:r>
          </a:p>
        </p:txBody>
      </p:sp>
      <p:sp>
        <p:nvSpPr>
          <p:cNvPr id="7" name="Oval 6"/>
          <p:cNvSpPr/>
          <p:nvPr/>
        </p:nvSpPr>
        <p:spPr>
          <a:xfrm>
            <a:off x="258318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8" name="TextBox 7"/>
          <p:cNvSpPr txBox="1"/>
          <p:nvPr/>
        </p:nvSpPr>
        <p:spPr>
          <a:xfrm>
            <a:off x="220675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Elegir</a:t>
            </a:r>
          </a:p>
        </p:txBody>
      </p:sp>
      <p:sp>
        <p:nvSpPr>
          <p:cNvPr id="9" name="TextBox 8"/>
          <p:cNvSpPr txBox="1"/>
          <p:nvPr/>
        </p:nvSpPr>
        <p:spPr>
          <a:xfrm>
            <a:off x="220675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Por la decisión que habilita (3 min)</a:t>
            </a:r>
          </a:p>
        </p:txBody>
      </p:sp>
      <p:sp>
        <p:nvSpPr>
          <p:cNvPr id="10" name="Oval 9"/>
          <p:cNvSpPr/>
          <p:nvPr/>
        </p:nvSpPr>
        <p:spPr>
          <a:xfrm>
            <a:off x="41681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1" name="TextBox 10"/>
          <p:cNvSpPr txBox="1"/>
          <p:nvPr/>
        </p:nvSpPr>
        <p:spPr>
          <a:xfrm>
            <a:off x="379171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Canvas</a:t>
            </a:r>
          </a:p>
        </p:txBody>
      </p:sp>
      <p:sp>
        <p:nvSpPr>
          <p:cNvPr id="12" name="TextBox 11"/>
          <p:cNvSpPr txBox="1"/>
          <p:nvPr/>
        </p:nvSpPr>
        <p:spPr>
          <a:xfrm>
            <a:off x="379171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Borrador: problema, KPI (7 min)</a:t>
            </a:r>
          </a:p>
        </p:txBody>
      </p:sp>
      <p:sp>
        <p:nvSpPr>
          <p:cNvPr id="13" name="Oval 12"/>
          <p:cNvSpPr/>
          <p:nvPr/>
        </p:nvSpPr>
        <p:spPr>
          <a:xfrm>
            <a:off x="57531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4" name="TextBox 13"/>
          <p:cNvSpPr txBox="1"/>
          <p:nvPr/>
        </p:nvSpPr>
        <p:spPr>
          <a:xfrm>
            <a:off x="537667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Ficha</a:t>
            </a:r>
          </a:p>
        </p:txBody>
      </p:sp>
      <p:sp>
        <p:nvSpPr>
          <p:cNvPr id="15" name="TextBox 14"/>
          <p:cNvSpPr txBox="1"/>
          <p:nvPr/>
        </p:nvSpPr>
        <p:spPr>
          <a:xfrm>
            <a:off x="537667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Secciones 1-7 de la ficha (10 min)</a:t>
            </a:r>
          </a:p>
        </p:txBody>
      </p:sp>
      <p:sp>
        <p:nvSpPr>
          <p:cNvPr id="16" name="Oval 15"/>
          <p:cNvSpPr/>
          <p:nvPr/>
        </p:nvSpPr>
        <p:spPr>
          <a:xfrm>
            <a:off x="733806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7" name="TextBox 16"/>
          <p:cNvSpPr txBox="1"/>
          <p:nvPr/>
        </p:nvSpPr>
        <p:spPr>
          <a:xfrm>
            <a:off x="696163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Perfiles</a:t>
            </a:r>
          </a:p>
        </p:txBody>
      </p:sp>
      <p:sp>
        <p:nvSpPr>
          <p:cNvPr id="18" name="TextBox 17"/>
          <p:cNvSpPr txBox="1"/>
          <p:nvPr/>
        </p:nvSpPr>
        <p:spPr>
          <a:xfrm>
            <a:off x="696163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2 roles críticos del equipo (3 min)</a:t>
            </a:r>
          </a:p>
        </p:txBody>
      </p:sp>
      <p:sp>
        <p:nvSpPr>
          <p:cNvPr id="19" name="Oval 18"/>
          <p:cNvSpPr/>
          <p:nvPr/>
        </p:nvSpPr>
        <p:spPr>
          <a:xfrm>
            <a:off x="89230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0" name="TextBox 19"/>
          <p:cNvSpPr txBox="1"/>
          <p:nvPr/>
        </p:nvSpPr>
        <p:spPr>
          <a:xfrm>
            <a:off x="854659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Sesiones</a:t>
            </a:r>
          </a:p>
        </p:txBody>
      </p:sp>
      <p:sp>
        <p:nvSpPr>
          <p:cNvPr id="21" name="TextBox 20"/>
          <p:cNvSpPr txBox="1"/>
          <p:nvPr/>
        </p:nvSpPr>
        <p:spPr>
          <a:xfrm>
            <a:off x="854659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Qué sesión aporta a cada fase (5 min)</a:t>
            </a:r>
          </a:p>
        </p:txBody>
      </p:sp>
      <p:sp>
        <p:nvSpPr>
          <p:cNvPr id="22" name="Oval 21"/>
          <p:cNvSpPr/>
          <p:nvPr/>
        </p:nvSpPr>
        <p:spPr>
          <a:xfrm>
            <a:off x="105079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7</a:t>
            </a:r>
          </a:p>
        </p:txBody>
      </p:sp>
      <p:sp>
        <p:nvSpPr>
          <p:cNvPr id="23" name="TextBox 22"/>
          <p:cNvSpPr txBox="1"/>
          <p:nvPr/>
        </p:nvSpPr>
        <p:spPr>
          <a:xfrm>
            <a:off x="1013155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Puesta en común</a:t>
            </a:r>
          </a:p>
        </p:txBody>
      </p:sp>
      <p:sp>
        <p:nvSpPr>
          <p:cNvPr id="24" name="TextBox 23"/>
          <p:cNvSpPr txBox="1"/>
          <p:nvPr/>
        </p:nvSpPr>
        <p:spPr>
          <a:xfrm>
            <a:off x="1013155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2 min por proyecto (7 min)</a:t>
            </a:r>
          </a:p>
        </p:txBody>
      </p:sp>
      <p:sp>
        <p:nvSpPr>
          <p:cNvPr id="25" name="Oval 2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27" name="TextBox 2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 demanda de perfiles de datos crecerá hasta 113% a 2030</a:t>
            </a:r>
          </a:p>
        </p:txBody>
      </p:sp>
      <p:pic>
        <p:nvPicPr>
          <p:cNvPr id="3" name="Picture 2" descr="grafico_demanda_perfiles.png"/>
          <p:cNvPicPr>
            <a:picLocks noChangeAspect="1"/>
          </p:cNvPicPr>
          <p:nvPr/>
        </p:nvPicPr>
        <p:blipFill>
          <a:blip r:embed="rId2"/>
          <a:stretch>
            <a:fillRect/>
          </a:stretch>
        </p:blipFill>
        <p:spPr>
          <a:xfrm>
            <a:off x="548640" y="1828800"/>
            <a:ext cx="6949440" cy="3164003"/>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mercado premia estos perfiles: el cuello de botella es el talento, no la tecnología.</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Foro Económico Mundial, Future of Jobs Report 2025 (crecimiento proyectado a 2030).</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LECTURAS Y PAPERS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hoja de ruta del curso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KDD: From Data Mining to Knowledge Discovery in Databases</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Fayyad, Piatetsky-Shapiro &amp; Smyth (1996), AI Magazine 17(3)  —  definición seminal del proceso de descubrimiento.</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CRISP-DM: Towards a Standard Process Model</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Wirth &amp; Hipp (2000), Proc. PADD  —  origen del estándar de proceso del curso.</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CRISP-DM 1.0 — guía paso a paso</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Chapman et al. (2000), CRISP-DM consortium  —  las seis fases que estructuran el proyecto.</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CRISP-DM Twenty Years Later</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Martínez-Plumed et al. (2021), IEEE TKDE 33(8)  —  vigencia y evolución hacia data science.</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Data Science for Business, cap. 1–2</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Provost &amp; Fawcett (2013)  —  del problema de negocio a la pregunta analítica.</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ficha CRISP-DM es el entregable antes de la S02</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Ficha de proyecto CRISP-DM (Plantillas/Ficha Proyecto CRISP-DM.md): problema, KPI, datos y variable objetivo. Individual, máx. 2 páginas. Rúbrica 0-20 en Evaluacion/Entregable.md.</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ahora (suma a la nota de controles); los drills de Evaluacion/Drills.md practican lo evaluado.</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S02 — EDA, inferencia y pruebas A/B: la comprensión de los datos del proyecto elegido hoy.</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