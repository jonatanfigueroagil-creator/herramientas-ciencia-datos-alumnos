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83" r:id="rId35"/>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3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Dar la bienvenida al curso Herramientas para la Ciencia de Datos. Enunciar la promesa: al terminar, cada estudiante sabrá ubicar el análisis de datos dentro de un proyecto de negocio y saldrá con un problema propio elegido para trabajar todo el ciclo. Aclarar que el entorno técnico (Python, Jupyter, Colab, Git) se asume cubierto en Introducción a Ciencia de Datos: aquí no se re-enseña. El botón «Abrir en Colab» lleva al cuaderno de la sesión. [Jueves]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recorrido: primero el BLOQUE 0 de bienvenida (min 4-29: mapa del curso, reglas de clase, diagnóstico estadístico), y luego CUATRO actos, los mismos cuatro divisores granates que se verán en pantalla. (1) EL PROBLEMA (min 29-40): los tres casos reales que sirven de hilo —churn, segmentación y forecasting— y el dato incómodo de por qué fracasan los pilotos de datos e IA. (2) LA HOJA DE RUTA (min 40-53): KDD, las cinco etapas de Fayyad (cuaderno Sección 3), y CRISP-DM, las seis fases que iteran (Sección 4), con el esfuerzo real que consume preparar los datos. (3) CÓMO SE PIENSA (min 53-70): las taxonomías —descriptivo/predictivo/prescriptivo y supervisado/no supervisado (Sección 5)— y la traducción de la pregunta de negocio a KPI y variable objetivo (Sección 6). (4) DE LA PREGUNTA AL PROYECTO (min 70-107): el curso entero mapeado sobre el ciclo CRISP-DM y el trabajo en el que cada estudiante lleva SU problema hasta la ficha (Sección 9). El cierre (min 107-115) suma demanda laboral, bibliografía y entregable. El chip «▶ Notebook» de cada slide indica la celda exacta del cuaderno. Anunciar que la sesión termina con un entregable evaluable (ficha CRISP-DM) y un control corto. [Jueves]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Antes de entrar al roadmap KDD/CRISP-DM, tres elementos de bienvenida: dónde está esta sesión dentro del curso completo (mapa de las 14 sesiones + parcial + final + proyecto integrador), las reglas de clase (pendientes de completar con las políticas reales de la UPC) y un diagnóstico estadístico ligero de nivel S01 —reconocer, no ejecutar— que se apoya en datos reales (Advertising.csv, ya usado en S03). Ampliación de alcance aprobada el 25/08/2026 (`planes/PLAN_S01.md`); no reemplaza nada del contenido CRISP-DM que sigue después. [Jueves, capítulo Presentación del curso]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Leer los títulos tal como están en el sílabo (SSOT), sin reformular. S01 es la sesión de hoy: comprensión del negocio, fase 1 de CRISP-DM. El examen parcial cubre las sesiones 1 a 7 e incluye la presentación de avance del proyecto integrador que arranca hoy con la Ficha CRISP-DM. [Jueves, capítulo 1.5]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Completar el recorrido hasta el examen final. Insistir en el gating del curso: no se avanza de unidad sin cerrar la anterior (S00 -&gt; S01..S07 -&gt; PARCIAL -&gt; S08..S14 -&gt; FINAL). El proyecto integrador es TRANSVERSAL: no ocupa una sesión propia, se construye en paralelo a las 14 y se evalúa en las dos instancias de examen. [Jueves, capítulo 1.5]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Ninguna cifra de esta tabla está inventada. el reglamento del curso es ahora la fuente única de qué está definido y qué falta completar -- esta slide no repite el detalle, solo apunta allí. La ponderación de notas ya tiene una PROPUESTA completa y razonada en el material de referencia de la sesión, pero sigue siendo una propuesta, no una política institucional confirmada: el docente la aprueba, la ajusta o la reemplaza antes de proyectarla como definitiva. Las otras tres filas (asistencia, tardanzas, honestidad académica) SI siguen sin ninguna fuente verificada. El docente completa REGLAMENTO_CURSO.md con el dato real de la UPC (o remite al syllabus oficial) antes de dictar la sesión. No se debe improvisar un número frente a la clase. Este bloque no se evalúa ni entra en la ficha de la sesión CRISP-DM. [Jueves, capítulo Presentación del curso]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Una variable categórica toma etiquetas -no tiene sentido promediarla-; una continua toma cantidades donde el promedio informa. Ejemplos con datasets YA usados en el curso (Telco churn de S09/S13, Card &amp; Krueger de S12, Advertising de S03): ninguno es nuevo. Esta distinción prepara la de b) media/mediana/desviación (solo aplica a continuas) y anticipa 'variable categórica vs. continua' que se retomará con más detalle en el EDA de la S02. [Jueves, capítulo Diagnóstico de línea base]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Tres definiciones de manual, sin fórmula griega pesada: la MEDIA es el promedio aritmético (sensible a extremos); la MEDIANA es el valor central al ordenar los datos (poco sensible a extremos); la DESVIACIÓN ESTÁNDAR mide la dispersión típica alrededor de la media. El ejemplo usa la columna 'sales' de Advertising.csv (mismo dataset de la S03, YA descargado, sin descarga nueva): media y mediana se recomputan cada vez que se regenera este deck, nunca se hardcodean. Lectura de negocio: la media supera a la mediana porque unos pocos productos con ventas altas empujan el promedio hacia arriba. [Jueves, capítulo Diagnóstico de línea base]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p-valor se queda en pura intuición: 'si no pasara nada, ¿qué tan raro sería este resultado?'. NO se define H0 formalmente, NO se calcula ningún p-valor y NO se ejecuta ninguna prueba -eso es Frontera S02-. Misma fuente e idea central que ya usa el glosario de la sesión (Wasserstein &amp; Lazar, 2016). CIERRE DEL BLOQUE 0: el cómputo de estas medidas con pandas, las pruebas de hipótesis formales y el diseño de un experimento A/B se enseñan en la S02. [Jueves, capítulo Diagnóstico de línea base]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arco de contexto inmediatamente después del mapa de la sesión, como establece la plantilla: portada -&gt; mapa -&gt; primer divisor. El acto arranca con los tres casos que sirven de hilo conductor y sigue con el dato incómodo (la mayoría de los proyectos de datos e IA fracasa, y casi nunca por el modelo). La tesis del bloque prepara la necesidad de un método. [Jueves, capítulo 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Narrar cada tarjeta como historia (contexto -&gt; datos -&gt; decisión). Subrayar el patrón: el análisis vale por la decisión que habilita, no por la técnica. Estos tres casos se usan como hilo conductor durante toda la sesión: reaparecen en las taxonomías (con/sin etiqueta), en el KPI vs. variable objetivo y en el laboratorio. Anticipar sin formalizar: en churn hay etiqueta (canceló sí/no), en segmentación no la hay, en demanda se estima una cantidad. [Jueves, capítulo 1.1]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Golpe de realidad. El informe del MIT (The GenAI Divide, 2025) reporta 95% de pilotos de IA generativa fallidos, y S&amp;P Global registra 42% de empresas que abandonaron la mayoría de sus iniciativas de IA en 2025 (17% el año anterior). El diagnóstico común NO es técnico: es integración con el negocio, justo lo que la fase 1 de CRISP-DM obliga a resolver antes de modelar. Enlaces en la slide de bibliografía y en Fuentes Actualidad S01.md. [Jueves, capítulo 1.1]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de discusión. Dar 2 minutos en parejas y levantar 2-3 respuestas en plenaria. Guiar hacia la conclusión: la mayor parte del riesgo vive ANTES del modelado (comprensión del negocio y de los datos, preparación). Cerrar: para no perderse del dato a la decisión se necesita un proceso, el tema del siguiente acto. [Jueves, capítulo 1.1]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desarrollo. Si el problema no está en el modelo sino en el método, hace falta un método. Se presentan las dos hojas de ruta que ordenan el trabajo con datos: KDD (académico) y CRISP-DM (estándar de la industria). [Jueves, capítulo 1.2]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primer intento de la comunidad científica por ordenar el camino del dato al conocimiento (Fayyad et al., 1996, lectura de la sesión). Recorrer las cinco etapas con el caso de churn como hilo: seleccionar tablas de clientes; limpiar duplicados; transformar el historial en variables por cliente; minar patrones de cancelación; interpretar si son accionables. Dos ideas clave: la minería es SOLO UNA etapa, y el proceso itera. [Jueves, capítulo 1.2]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Leer la definición original y traducirla: «KDD es el proceso no trivial de identificar patrones válidos, novedosos, potencialmente útiles y, en última instancia, comprensibles en los datos». Desglosar tres palabras: 'proceso' (no un algoritmo aislado), 'útiles' (para una decisión) y 'comprensibles' (alguien del negocio debe poder actuar). Con ese criterio se medirá el proyecto integrador. [Jueves, capítulo 1.2]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 KDD (académico) a CRISP-DM (Cross-Industry Standard Process for Data Mining), la metodología estándar de la industria desde 2000 y la hoja de ruta que estructura este curso y el proyecto integrador. Frente a KDD, CRISP-DM agrega explícitamente la comprensión del negocio al inicio y el despliegue al final. Insistir en el centro: el proceso NO es lineal; modelar suele devolver a la preparación, y la evaluación puede reabrir la comprensión del negocio. Conecta con el 95% del MIT: saltarse la fase 1 es el error caro. [Jueves, capítulo 1.2]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Concretar el ciclo en el reparto real del esfuerzo. Refutar la expectativa de que un proyecto de datos es 'hacer el modelo': entre ~45% y ~80% del tiempo (según la literatura CRISP-DM y encuestas a profesionales) se va en seleccionar, limpiar y construir variables; las barras muestran el extremo ilustrativo (~45%) y la regla práctica citada llega hasta ~80%. Consecuencia gerencial: un cronograma que asigna casi todo el tiempo al modelado está mal presupuestado. El proyecto integrador lo comprobará en la práctica. [Jueves, capítulo 1.2]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académica de la sesión. Fayyad define el KDD; Wirth &amp; Hipp y Chapman fundan CRISP-DM; Martínez-Plumed muestra su vigencia 20 años después; Provost &amp; Fawcett trasladan el problema de negocio a la pregunta analítica (base del laboratorio). Las lecturas y las fuentes de actualidad verificadas están en el cuaderno, sección «Para seguir explorando». [Jueves]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01%20Roadmap/notebook/S01_roadmap.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S01</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Del dato a la decisión de negocio</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Roadmap del análisis de datos: KDD y CRISP-DM — sin réplica (sesión conceptual)</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JUEVES — PRESENTACIÓN DEL CURSO Y CAPÍTULOS 1.1 A 1.2</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jueves avanza en cinco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1.1</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¿Por qué una organización requiere un profesional formado en análisis de datos?</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20-40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map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1.2</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es un proyecto de datos y en qué se distingue de un reporte?</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1.3</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traduce una pregunta de negocio en una pregunta analítica?</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65-95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target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1.4 y 1.5</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identifica el tipo de problema que se enfrenta? ¿Cómo se estructura una semana de este curso?</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110-180</a:t>
            </a:r>
          </a:p>
        </p:txBody>
      </p:sp>
      <p:sp>
        <p:nvSpPr>
          <p:cNvPr id="28" name="Rounded Rectangle 27"/>
          <p:cNvSpPr/>
          <p:nvPr/>
        </p:nvSpPr>
        <p:spPr>
          <a:xfrm>
            <a:off x="8503920" y="292608"/>
            <a:ext cx="3154680" cy="384048"/>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0</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Bienvenida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Mapa del curso, reglas de clase y diagnóstico estadístico</a:t>
            </a:r>
          </a:p>
        </p:txBody>
      </p:sp>
      <p:pic>
        <p:nvPicPr>
          <p:cNvPr id="5" name="Picture 4" descr="map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CURSO 1/2 — SILABO_DETALLADO_UPC.MD (SSOT)</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curso tiene 14 sesiones y un parcial tras S07</a:t>
            </a:r>
          </a:p>
        </p:txBody>
      </p:sp>
      <p:graphicFrame>
        <p:nvGraphicFramePr>
          <p:cNvPr id="4" name="Table 3"/>
          <p:cNvGraphicFramePr>
            <a:graphicFrameLocks noGrp="1"/>
          </p:cNvGraphicFramePr>
          <p:nvPr/>
        </p:nvGraphicFramePr>
        <p:xfrm>
          <a:off x="548640" y="1828800"/>
          <a:ext cx="11094720" cy="3639312"/>
        </p:xfrm>
        <a:graphic>
          <a:graphicData uri="http://schemas.openxmlformats.org/drawingml/2006/table">
            <a:tbl>
              <a:tblPr firstRow="1" bandRow="1">
                <a:tableStyleId>{5C22544A-7EE6-4342-B048-85BDC9FD1C3A}</a:tableStyleId>
              </a:tblPr>
              <a:tblGrid>
                <a:gridCol w="5547360"/>
                <a:gridCol w="5547360"/>
              </a:tblGrid>
              <a:tr h="404368">
                <a:tc>
                  <a:txBody>
                    <a:bodyPr/>
                    <a:lstStyle/>
                    <a:p>
                      <a:r>
                        <a:rPr sz="1300" b="1">
                          <a:solidFill>
                            <a:srgbClr val="FFFFFF"/>
                          </a:solidFill>
                          <a:latin typeface="Calibri"/>
                        </a:rPr>
                        <a:t>Sesión</a:t>
                      </a:r>
                    </a:p>
                  </a:txBody>
                  <a:tcPr>
                    <a:solidFill>
                      <a:srgbClr val="9B1B30"/>
                    </a:solidFill>
                  </a:tcPr>
                </a:tc>
                <a:tc>
                  <a:txBody>
                    <a:bodyPr/>
                    <a:lstStyle/>
                    <a:p>
                      <a:r>
                        <a:rPr sz="1300" b="1">
                          <a:solidFill>
                            <a:srgbClr val="FFFFFF"/>
                          </a:solidFill>
                          <a:latin typeface="Calibri"/>
                        </a:rPr>
                        <a:t>Tema (título del sílabo)</a:t>
                      </a:r>
                    </a:p>
                  </a:txBody>
                  <a:tcPr>
                    <a:solidFill>
                      <a:srgbClr val="9B1B30"/>
                    </a:solidFill>
                  </a:tcPr>
                </a:tc>
              </a:tr>
              <a:tr h="404368">
                <a:tc>
                  <a:txBody>
                    <a:bodyPr wrap="square"/>
                    <a:lstStyle/>
                    <a:p>
                      <a:r>
                        <a:rPr sz="1300">
                          <a:solidFill>
                            <a:srgbClr val="2D2D2D"/>
                          </a:solidFill>
                          <a:latin typeface="Calibri"/>
                        </a:rPr>
                        <a:t>S01</a:t>
                      </a:r>
                    </a:p>
                  </a:txBody>
                  <a:tcPr>
                    <a:solidFill>
                      <a:srgbClr val="FFFFFF"/>
                    </a:solidFill>
                  </a:tcPr>
                </a:tc>
                <a:tc>
                  <a:txBody>
                    <a:bodyPr wrap="square"/>
                    <a:lstStyle/>
                    <a:p>
                      <a:r>
                        <a:rPr sz="1300">
                          <a:solidFill>
                            <a:srgbClr val="2D2D2D"/>
                          </a:solidFill>
                          <a:latin typeface="Calibri"/>
                        </a:rPr>
                        <a:t>Introducción al curso + roadmap KDD / CRISP-DM</a:t>
                      </a:r>
                    </a:p>
                  </a:txBody>
                  <a:tcPr>
                    <a:solidFill>
                      <a:srgbClr val="FFFFFF"/>
                    </a:solidFill>
                  </a:tcPr>
                </a:tc>
              </a:tr>
              <a:tr h="404368">
                <a:tc>
                  <a:txBody>
                    <a:bodyPr wrap="square"/>
                    <a:lstStyle/>
                    <a:p>
                      <a:r>
                        <a:rPr sz="1300">
                          <a:solidFill>
                            <a:srgbClr val="2D2D2D"/>
                          </a:solidFill>
                          <a:latin typeface="Calibri"/>
                        </a:rPr>
                        <a:t>S02</a:t>
                      </a:r>
                    </a:p>
                  </a:txBody>
                  <a:tcPr>
                    <a:solidFill>
                      <a:srgbClr val="FCEDEE"/>
                    </a:solidFill>
                  </a:tcPr>
                </a:tc>
                <a:tc>
                  <a:txBody>
                    <a:bodyPr wrap="square"/>
                    <a:lstStyle/>
                    <a:p>
                      <a:r>
                        <a:rPr sz="1300">
                          <a:solidFill>
                            <a:srgbClr val="2D2D2D"/>
                          </a:solidFill>
                          <a:latin typeface="Calibri"/>
                        </a:rPr>
                        <a:t>EDA + estadística inferencial + A/B testing</a:t>
                      </a:r>
                    </a:p>
                  </a:txBody>
                  <a:tcPr>
                    <a:solidFill>
                      <a:srgbClr val="FCEDEE"/>
                    </a:solidFill>
                  </a:tcPr>
                </a:tc>
              </a:tr>
              <a:tr h="404368">
                <a:tc>
                  <a:txBody>
                    <a:bodyPr wrap="square"/>
                    <a:lstStyle/>
                    <a:p>
                      <a:r>
                        <a:rPr sz="1300">
                          <a:solidFill>
                            <a:srgbClr val="2D2D2D"/>
                          </a:solidFill>
                          <a:latin typeface="Calibri"/>
                        </a:rPr>
                        <a:t>S03</a:t>
                      </a:r>
                    </a:p>
                  </a:txBody>
                  <a:tcPr>
                    <a:solidFill>
                      <a:srgbClr val="FFFFFF"/>
                    </a:solidFill>
                  </a:tcPr>
                </a:tc>
                <a:tc>
                  <a:txBody>
                    <a:bodyPr wrap="square"/>
                    <a:lstStyle/>
                    <a:p>
                      <a:r>
                        <a:rPr sz="1300">
                          <a:solidFill>
                            <a:srgbClr val="2D2D2D"/>
                          </a:solidFill>
                          <a:latin typeface="Calibri"/>
                        </a:rPr>
                        <a:t>Regresión Lineal Simple — OLS</a:t>
                      </a:r>
                    </a:p>
                  </a:txBody>
                  <a:tcPr>
                    <a:solidFill>
                      <a:srgbClr val="FFFFFF"/>
                    </a:solidFill>
                  </a:tcPr>
                </a:tc>
              </a:tr>
              <a:tr h="404368">
                <a:tc>
                  <a:txBody>
                    <a:bodyPr wrap="square"/>
                    <a:lstStyle/>
                    <a:p>
                      <a:r>
                        <a:rPr sz="1300">
                          <a:solidFill>
                            <a:srgbClr val="2D2D2D"/>
                          </a:solidFill>
                          <a:latin typeface="Calibri"/>
                        </a:rPr>
                        <a:t>S04</a:t>
                      </a:r>
                    </a:p>
                  </a:txBody>
                  <a:tcPr>
                    <a:solidFill>
                      <a:srgbClr val="FCEDEE"/>
                    </a:solidFill>
                  </a:tcPr>
                </a:tc>
                <a:tc>
                  <a:txBody>
                    <a:bodyPr wrap="square"/>
                    <a:lstStyle/>
                    <a:p>
                      <a:r>
                        <a:rPr sz="1300">
                          <a:solidFill>
                            <a:srgbClr val="2D2D2D"/>
                          </a:solidFill>
                          <a:latin typeface="Calibri"/>
                        </a:rPr>
                        <a:t>Regresión Lineal Múltiple — diagnóstico, dummies, interacciones</a:t>
                      </a:r>
                    </a:p>
                  </a:txBody>
                  <a:tcPr>
                    <a:solidFill>
                      <a:srgbClr val="FCEDEE"/>
                    </a:solidFill>
                  </a:tcPr>
                </a:tc>
              </a:tr>
              <a:tr h="404368">
                <a:tc>
                  <a:txBody>
                    <a:bodyPr wrap="square"/>
                    <a:lstStyle/>
                    <a:p>
                      <a:r>
                        <a:rPr sz="1300">
                          <a:solidFill>
                            <a:srgbClr val="2D2D2D"/>
                          </a:solidFill>
                          <a:latin typeface="Calibri"/>
                        </a:rPr>
                        <a:t>S05</a:t>
                      </a:r>
                    </a:p>
                  </a:txBody>
                  <a:tcPr>
                    <a:solidFill>
                      <a:srgbClr val="FFFFFF"/>
                    </a:solidFill>
                  </a:tcPr>
                </a:tc>
                <a:tc>
                  <a:txBody>
                    <a:bodyPr wrap="square"/>
                    <a:lstStyle/>
                    <a:p>
                      <a:r>
                        <a:rPr sz="1300">
                          <a:solidFill>
                            <a:srgbClr val="2D2D2D"/>
                          </a:solidFill>
                          <a:latin typeface="Calibri"/>
                        </a:rPr>
                        <a:t>Regularización (RIDGE, LASSO, Elastic Net) + regresión no lineal</a:t>
                      </a:r>
                    </a:p>
                  </a:txBody>
                  <a:tcPr>
                    <a:solidFill>
                      <a:srgbClr val="FFFFFF"/>
                    </a:solidFill>
                  </a:tcPr>
                </a:tc>
              </a:tr>
              <a:tr h="404368">
                <a:tc>
                  <a:txBody>
                    <a:bodyPr wrap="square"/>
                    <a:lstStyle/>
                    <a:p>
                      <a:r>
                        <a:rPr sz="1300">
                          <a:solidFill>
                            <a:srgbClr val="2D2D2D"/>
                          </a:solidFill>
                          <a:latin typeface="Calibri"/>
                        </a:rPr>
                        <a:t>S06</a:t>
                      </a:r>
                    </a:p>
                  </a:txBody>
                  <a:tcPr>
                    <a:solidFill>
                      <a:srgbClr val="FCEDEE"/>
                    </a:solidFill>
                  </a:tcPr>
                </a:tc>
                <a:tc>
                  <a:txBody>
                    <a:bodyPr wrap="square"/>
                    <a:lstStyle/>
                    <a:p>
                      <a:r>
                        <a:rPr sz="1300">
                          <a:solidFill>
                            <a:srgbClr val="2D2D2D"/>
                          </a:solidFill>
                          <a:latin typeface="Calibri"/>
                        </a:rPr>
                        <a:t>Reducción de dimensionalidad: PCA + Análisis Factorial + t-SNE + UMAP</a:t>
                      </a:r>
                    </a:p>
                  </a:txBody>
                  <a:tcPr>
                    <a:solidFill>
                      <a:srgbClr val="FCEDEE"/>
                    </a:solidFill>
                  </a:tcPr>
                </a:tc>
              </a:tr>
              <a:tr h="404368">
                <a:tc>
                  <a:txBody>
                    <a:bodyPr wrap="square"/>
                    <a:lstStyle/>
                    <a:p>
                      <a:r>
                        <a:rPr sz="1300">
                          <a:solidFill>
                            <a:srgbClr val="2D2D2D"/>
                          </a:solidFill>
                          <a:latin typeface="Calibri"/>
                        </a:rPr>
                        <a:t>S07</a:t>
                      </a:r>
                    </a:p>
                  </a:txBody>
                  <a:tcPr>
                    <a:solidFill>
                      <a:srgbClr val="FFFFFF"/>
                    </a:solidFill>
                  </a:tcPr>
                </a:tc>
                <a:tc>
                  <a:txBody>
                    <a:bodyPr wrap="square"/>
                    <a:lstStyle/>
                    <a:p>
                      <a:r>
                        <a:rPr sz="1300">
                          <a:solidFill>
                            <a:srgbClr val="2D2D2D"/>
                          </a:solidFill>
                          <a:latin typeface="Calibri"/>
                        </a:rPr>
                        <a:t>Clustering (jerárquico, DBSCAN) + detección de anomalías</a:t>
                      </a:r>
                    </a:p>
                  </a:txBody>
                  <a:tcPr>
                    <a:solidFill>
                      <a:srgbClr val="FFFFFF"/>
                    </a:solidFill>
                  </a:tcPr>
                </a:tc>
              </a:tr>
              <a:tr h="404368">
                <a:tc>
                  <a:txBody>
                    <a:bodyPr wrap="square"/>
                    <a:lstStyle/>
                    <a:p>
                      <a:r>
                        <a:rPr sz="1300">
                          <a:solidFill>
                            <a:srgbClr val="2D2D2D"/>
                          </a:solidFill>
                          <a:latin typeface="Calibri"/>
                        </a:rPr>
                        <a:t>📝 Examen parcial</a:t>
                      </a:r>
                    </a:p>
                  </a:txBody>
                  <a:tcPr>
                    <a:solidFill>
                      <a:srgbClr val="FCEDEE"/>
                    </a:solidFill>
                  </a:tcPr>
                </a:tc>
                <a:tc>
                  <a:txBody>
                    <a:bodyPr wrap="square"/>
                    <a:lstStyle/>
                    <a:p>
                      <a:r>
                        <a:rPr sz="1300">
                          <a:solidFill>
                            <a:srgbClr val="2D2D2D"/>
                          </a:solidFill>
                          <a:latin typeface="Calibri"/>
                        </a:rPr>
                        <a:t>Cubre Sesiones 1 a 7. Incluye avance del proyecto integrador.</a:t>
                      </a:r>
                    </a:p>
                  </a:txBody>
                  <a:tcPr>
                    <a:solidFill>
                      <a:srgbClr val="FCEDEE"/>
                    </a:solidFill>
                  </a:tcPr>
                </a:tc>
              </a:tr>
            </a:tbl>
          </a:graphicData>
        </a:graphic>
      </p:graphicFrame>
      <p:sp>
        <p:nvSpPr>
          <p:cNvPr id="5" name="Oval 4"/>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7" name="TextBox 6"/>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CURSO 2/2 — GATING S00 → S01…S07 → PARCIAL → S08…S14 → FINAL</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Tras el parcial: siete sesiones más y el examen final</a:t>
            </a:r>
          </a:p>
        </p:txBody>
      </p:sp>
      <p:graphicFrame>
        <p:nvGraphicFramePr>
          <p:cNvPr id="4" name="Table 3"/>
          <p:cNvGraphicFramePr>
            <a:graphicFrameLocks noGrp="1"/>
          </p:cNvGraphicFramePr>
          <p:nvPr/>
        </p:nvGraphicFramePr>
        <p:xfrm>
          <a:off x="548640" y="1828800"/>
          <a:ext cx="11094720" cy="4023360"/>
        </p:xfrm>
        <a:graphic>
          <a:graphicData uri="http://schemas.openxmlformats.org/drawingml/2006/table">
            <a:tbl>
              <a:tblPr firstRow="1" bandRow="1">
                <a:tableStyleId>{5C22544A-7EE6-4342-B048-85BDC9FD1C3A}</a:tableStyleId>
              </a:tblPr>
              <a:tblGrid>
                <a:gridCol w="5547360"/>
                <a:gridCol w="5547360"/>
              </a:tblGrid>
              <a:tr h="402336">
                <a:tc>
                  <a:txBody>
                    <a:bodyPr/>
                    <a:lstStyle/>
                    <a:p>
                      <a:r>
                        <a:rPr sz="1300" b="1">
                          <a:solidFill>
                            <a:srgbClr val="FFFFFF"/>
                          </a:solidFill>
                          <a:latin typeface="Calibri"/>
                        </a:rPr>
                        <a:t>Sesión</a:t>
                      </a:r>
                    </a:p>
                  </a:txBody>
                  <a:tcPr>
                    <a:solidFill>
                      <a:srgbClr val="9B1B30"/>
                    </a:solidFill>
                  </a:tcPr>
                </a:tc>
                <a:tc>
                  <a:txBody>
                    <a:bodyPr/>
                    <a:lstStyle/>
                    <a:p>
                      <a:r>
                        <a:rPr sz="1300" b="1">
                          <a:solidFill>
                            <a:srgbClr val="FFFFFF"/>
                          </a:solidFill>
                          <a:latin typeface="Calibri"/>
                        </a:rPr>
                        <a:t>Tema (título del sílabo)</a:t>
                      </a:r>
                    </a:p>
                  </a:txBody>
                  <a:tcPr>
                    <a:solidFill>
                      <a:srgbClr val="9B1B30"/>
                    </a:solidFill>
                  </a:tcPr>
                </a:tc>
              </a:tr>
              <a:tr h="402336">
                <a:tc>
                  <a:txBody>
                    <a:bodyPr wrap="square"/>
                    <a:lstStyle/>
                    <a:p>
                      <a:r>
                        <a:rPr sz="1300">
                          <a:solidFill>
                            <a:srgbClr val="2D2D2D"/>
                          </a:solidFill>
                          <a:latin typeface="Calibri"/>
                        </a:rPr>
                        <a:t>S08</a:t>
                      </a:r>
                    </a:p>
                  </a:txBody>
                  <a:tcPr>
                    <a:solidFill>
                      <a:srgbClr val="FFFFFF"/>
                    </a:solidFill>
                  </a:tcPr>
                </a:tc>
                <a:tc>
                  <a:txBody>
                    <a:bodyPr wrap="square"/>
                    <a:lstStyle/>
                    <a:p>
                      <a:r>
                        <a:rPr sz="1300">
                          <a:solidFill>
                            <a:srgbClr val="2D2D2D"/>
                          </a:solidFill>
                          <a:latin typeface="Calibri"/>
                        </a:rPr>
                        <a:t>Reglas de asociación + market basket analysis</a:t>
                      </a:r>
                    </a:p>
                  </a:txBody>
                  <a:tcPr>
                    <a:solidFill>
                      <a:srgbClr val="FFFFFF"/>
                    </a:solidFill>
                  </a:tcPr>
                </a:tc>
              </a:tr>
              <a:tr h="402336">
                <a:tc>
                  <a:txBody>
                    <a:bodyPr wrap="square"/>
                    <a:lstStyle/>
                    <a:p>
                      <a:r>
                        <a:rPr sz="1300">
                          <a:solidFill>
                            <a:srgbClr val="2D2D2D"/>
                          </a:solidFill>
                          <a:latin typeface="Calibri"/>
                        </a:rPr>
                        <a:t>S09</a:t>
                      </a:r>
                    </a:p>
                  </a:txBody>
                  <a:tcPr>
                    <a:solidFill>
                      <a:srgbClr val="FCEDEE"/>
                    </a:solidFill>
                  </a:tcPr>
                </a:tc>
                <a:tc>
                  <a:txBody>
                    <a:bodyPr wrap="square"/>
                    <a:lstStyle/>
                    <a:p>
                      <a:r>
                        <a:rPr sz="1300">
                          <a:solidFill>
                            <a:srgbClr val="2D2D2D"/>
                          </a:solidFill>
                          <a:latin typeface="Calibri"/>
                        </a:rPr>
                        <a:t>Regresión Logística + Modelos Lineales Generalizados (GLM)</a:t>
                      </a:r>
                    </a:p>
                  </a:txBody>
                  <a:tcPr>
                    <a:solidFill>
                      <a:srgbClr val="FCEDEE"/>
                    </a:solidFill>
                  </a:tcPr>
                </a:tc>
              </a:tr>
              <a:tr h="402336">
                <a:tc>
                  <a:txBody>
                    <a:bodyPr wrap="square"/>
                    <a:lstStyle/>
                    <a:p>
                      <a:r>
                        <a:rPr sz="1300">
                          <a:solidFill>
                            <a:srgbClr val="2D2D2D"/>
                          </a:solidFill>
                          <a:latin typeface="Calibri"/>
                        </a:rPr>
                        <a:t>S10</a:t>
                      </a:r>
                    </a:p>
                  </a:txBody>
                  <a:tcPr>
                    <a:solidFill>
                      <a:srgbClr val="FFFFFF"/>
                    </a:solidFill>
                  </a:tcPr>
                </a:tc>
                <a:tc>
                  <a:txBody>
                    <a:bodyPr wrap="square"/>
                    <a:lstStyle/>
                    <a:p>
                      <a:r>
                        <a:rPr sz="1300">
                          <a:solidFill>
                            <a:srgbClr val="2D2D2D"/>
                          </a:solidFill>
                          <a:latin typeface="Calibri"/>
                        </a:rPr>
                        <a:t>Clasificadores clásicos: LDA/QDA + Naive Bayes + clases desbalanceadas</a:t>
                      </a:r>
                    </a:p>
                  </a:txBody>
                  <a:tcPr>
                    <a:solidFill>
                      <a:srgbClr val="FFFFFF"/>
                    </a:solidFill>
                  </a:tcPr>
                </a:tc>
              </a:tr>
              <a:tr h="402336">
                <a:tc>
                  <a:txBody>
                    <a:bodyPr wrap="square"/>
                    <a:lstStyle/>
                    <a:p>
                      <a:r>
                        <a:rPr sz="1300">
                          <a:solidFill>
                            <a:srgbClr val="2D2D2D"/>
                          </a:solidFill>
                          <a:latin typeface="Calibri"/>
                        </a:rPr>
                        <a:t>S11</a:t>
                      </a:r>
                    </a:p>
                  </a:txBody>
                  <a:tcPr>
                    <a:solidFill>
                      <a:srgbClr val="FCEDEE"/>
                    </a:solidFill>
                  </a:tcPr>
                </a:tc>
                <a:tc>
                  <a:txBody>
                    <a:bodyPr wrap="square"/>
                    <a:lstStyle/>
                    <a:p>
                      <a:r>
                        <a:rPr sz="1300">
                          <a:solidFill>
                            <a:srgbClr val="2D2D2D"/>
                          </a:solidFill>
                          <a:latin typeface="Calibri"/>
                        </a:rPr>
                        <a:t>Series temporales (ARIMA, ETS, Prophet)</a:t>
                      </a:r>
                    </a:p>
                  </a:txBody>
                  <a:tcPr>
                    <a:solidFill>
                      <a:srgbClr val="FCEDEE"/>
                    </a:solidFill>
                  </a:tcPr>
                </a:tc>
              </a:tr>
              <a:tr h="402336">
                <a:tc>
                  <a:txBody>
                    <a:bodyPr wrap="square"/>
                    <a:lstStyle/>
                    <a:p>
                      <a:r>
                        <a:rPr sz="1300">
                          <a:solidFill>
                            <a:srgbClr val="2D2D2D"/>
                          </a:solidFill>
                          <a:latin typeface="Calibri"/>
                        </a:rPr>
                        <a:t>S12</a:t>
                      </a:r>
                    </a:p>
                  </a:txBody>
                  <a:tcPr>
                    <a:solidFill>
                      <a:srgbClr val="FFFFFF"/>
                    </a:solidFill>
                  </a:tcPr>
                </a:tc>
                <a:tc>
                  <a:txBody>
                    <a:bodyPr wrap="square"/>
                    <a:lstStyle/>
                    <a:p>
                      <a:r>
                        <a:rPr sz="1300">
                          <a:solidFill>
                            <a:srgbClr val="2D2D2D"/>
                          </a:solidFill>
                          <a:latin typeface="Calibri"/>
                        </a:rPr>
                        <a:t>Inferencia causal</a:t>
                      </a:r>
                    </a:p>
                  </a:txBody>
                  <a:tcPr>
                    <a:solidFill>
                      <a:srgbClr val="FFFFFF"/>
                    </a:solidFill>
                  </a:tcPr>
                </a:tc>
              </a:tr>
              <a:tr h="402336">
                <a:tc>
                  <a:txBody>
                    <a:bodyPr wrap="square"/>
                    <a:lstStyle/>
                    <a:p>
                      <a:r>
                        <a:rPr sz="1300">
                          <a:solidFill>
                            <a:srgbClr val="2D2D2D"/>
                          </a:solidFill>
                          <a:latin typeface="Calibri"/>
                        </a:rPr>
                        <a:t>S13</a:t>
                      </a:r>
                    </a:p>
                  </a:txBody>
                  <a:tcPr>
                    <a:solidFill>
                      <a:srgbClr val="FCEDEE"/>
                    </a:solidFill>
                  </a:tcPr>
                </a:tc>
                <a:tc>
                  <a:txBody>
                    <a:bodyPr wrap="square"/>
                    <a:lstStyle/>
                    <a:p>
                      <a:r>
                        <a:rPr sz="1300">
                          <a:solidFill>
                            <a:srgbClr val="2D2D2D"/>
                          </a:solidFill>
                          <a:latin typeface="Calibri"/>
                        </a:rPr>
                        <a:t>Análisis de supervivencia</a:t>
                      </a:r>
                    </a:p>
                  </a:txBody>
                  <a:tcPr>
                    <a:solidFill>
                      <a:srgbClr val="FCEDEE"/>
                    </a:solidFill>
                  </a:tcPr>
                </a:tc>
              </a:tr>
              <a:tr h="402336">
                <a:tc>
                  <a:txBody>
                    <a:bodyPr wrap="square"/>
                    <a:lstStyle/>
                    <a:p>
                      <a:r>
                        <a:rPr sz="1300">
                          <a:solidFill>
                            <a:srgbClr val="2D2D2D"/>
                          </a:solidFill>
                          <a:latin typeface="Calibri"/>
                        </a:rPr>
                        <a:t>S14</a:t>
                      </a:r>
                    </a:p>
                  </a:txBody>
                  <a:tcPr>
                    <a:solidFill>
                      <a:srgbClr val="FFFFFF"/>
                    </a:solidFill>
                  </a:tcPr>
                </a:tc>
                <a:tc>
                  <a:txBody>
                    <a:bodyPr wrap="square"/>
                    <a:lstStyle/>
                    <a:p>
                      <a:r>
                        <a:rPr sz="1300">
                          <a:solidFill>
                            <a:srgbClr val="2D2D2D"/>
                          </a:solidFill>
                          <a:latin typeface="Calibri"/>
                        </a:rPr>
                        <a:t>Sistemas de recomendación</a:t>
                      </a:r>
                    </a:p>
                  </a:txBody>
                  <a:tcPr>
                    <a:solidFill>
                      <a:srgbClr val="FFFFFF"/>
                    </a:solidFill>
                  </a:tcPr>
                </a:tc>
              </a:tr>
              <a:tr h="402336">
                <a:tc>
                  <a:txBody>
                    <a:bodyPr wrap="square"/>
                    <a:lstStyle/>
                    <a:p>
                      <a:r>
                        <a:rPr sz="1300">
                          <a:solidFill>
                            <a:srgbClr val="2D2D2D"/>
                          </a:solidFill>
                          <a:latin typeface="Calibri"/>
                        </a:rPr>
                        <a:t>📝 Examen final</a:t>
                      </a:r>
                    </a:p>
                  </a:txBody>
                  <a:tcPr>
                    <a:solidFill>
                      <a:srgbClr val="FCEDEE"/>
                    </a:solidFill>
                  </a:tcPr>
                </a:tc>
                <a:tc>
                  <a:txBody>
                    <a:bodyPr wrap="square"/>
                    <a:lstStyle/>
                    <a:p>
                      <a:r>
                        <a:rPr sz="1300">
                          <a:solidFill>
                            <a:srgbClr val="2D2D2D"/>
                          </a:solidFill>
                          <a:latin typeface="Calibri"/>
                        </a:rPr>
                        <a:t>Sustentación del proyecto integrador.</a:t>
                      </a:r>
                    </a:p>
                  </a:txBody>
                  <a:tcPr>
                    <a:solidFill>
                      <a:srgbClr val="FCEDEE"/>
                    </a:solidFill>
                  </a:tcPr>
                </a:tc>
              </a:tr>
              <a:tr h="402336">
                <a:tc>
                  <a:txBody>
                    <a:bodyPr wrap="square"/>
                    <a:lstStyle/>
                    <a:p>
                      <a:r>
                        <a:rPr sz="1300">
                          <a:solidFill>
                            <a:srgbClr val="2D2D2D"/>
                          </a:solidFill>
                          <a:latin typeface="Calibri"/>
                        </a:rPr>
                        <a:t>Proyecto integrador</a:t>
                      </a:r>
                    </a:p>
                  </a:txBody>
                  <a:tcPr>
                    <a:solidFill>
                      <a:srgbClr val="FFFFFF"/>
                    </a:solidFill>
                  </a:tcPr>
                </a:tc>
                <a:tc>
                  <a:txBody>
                    <a:bodyPr wrap="square"/>
                    <a:lstStyle/>
                    <a:p>
                      <a:r>
                        <a:rPr sz="1300">
                          <a:solidFill>
                            <a:srgbClr val="2D2D2D"/>
                          </a:solidFill>
                          <a:latin typeface="Calibri"/>
                        </a:rPr>
                        <a:t>Transversal: se esboza en S01, avanza en el parcial, se sustenta en el final.</a:t>
                      </a:r>
                    </a:p>
                  </a:txBody>
                  <a:tcPr>
                    <a:solidFill>
                      <a:srgbClr val="FFFFFF"/>
                    </a:solidFill>
                  </a:tcPr>
                </a:tc>
              </a:tr>
            </a:tbl>
          </a:graphicData>
        </a:graphic>
      </p:graphicFrame>
      <p:sp>
        <p:nvSpPr>
          <p:cNvPr id="5" name="Oval 4"/>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7" name="TextBox 6"/>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PENDIENTE — EL DOCENTE COMPLETA CON LAS POLÍTICAS REALES ANTES DE DICTAR</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Reglas de clase: plantilla pendiente de completar</a:t>
            </a:r>
          </a:p>
        </p:txBody>
      </p:sp>
      <p:graphicFrame>
        <p:nvGraphicFramePr>
          <p:cNvPr id="4" name="Table 3"/>
          <p:cNvGraphicFramePr>
            <a:graphicFrameLocks noGrp="1"/>
          </p:cNvGraphicFramePr>
          <p:nvPr/>
        </p:nvGraphicFramePr>
        <p:xfrm>
          <a:off x="548640" y="1828800"/>
          <a:ext cx="11094720" cy="2103120"/>
        </p:xfrm>
        <a:graphic>
          <a:graphicData uri="http://schemas.openxmlformats.org/drawingml/2006/table">
            <a:tbl>
              <a:tblPr firstRow="1" bandRow="1">
                <a:tableStyleId>{5C22544A-7EE6-4342-B048-85BDC9FD1C3A}</a:tableStyleId>
              </a:tblPr>
              <a:tblGrid>
                <a:gridCol w="5547360"/>
                <a:gridCol w="5547360"/>
              </a:tblGrid>
              <a:tr h="420624">
                <a:tc>
                  <a:txBody>
                    <a:bodyPr/>
                    <a:lstStyle/>
                    <a:p>
                      <a:r>
                        <a:rPr sz="1400" b="1">
                          <a:solidFill>
                            <a:srgbClr val="FFFFFF"/>
                          </a:solidFill>
                          <a:latin typeface="Calibri"/>
                        </a:rPr>
                        <a:t>Regla de clase</a:t>
                      </a:r>
                    </a:p>
                  </a:txBody>
                  <a:tcPr>
                    <a:solidFill>
                      <a:srgbClr val="9B1B30"/>
                    </a:solidFill>
                  </a:tcPr>
                </a:tc>
                <a:tc>
                  <a:txBody>
                    <a:bodyPr/>
                    <a:lstStyle/>
                    <a:p>
                      <a:r>
                        <a:rPr sz="1400" b="1">
                          <a:solidFill>
                            <a:srgbClr val="FFFFFF"/>
                          </a:solidFill>
                          <a:latin typeface="Calibri"/>
                        </a:rPr>
                        <a:t>Estado</a:t>
                      </a:r>
                    </a:p>
                  </a:txBody>
                  <a:tcPr>
                    <a:solidFill>
                      <a:srgbClr val="9B1B30"/>
                    </a:solidFill>
                  </a:tcPr>
                </a:tc>
              </a:tr>
              <a:tr h="420624">
                <a:tc>
                  <a:txBody>
                    <a:bodyPr wrap="square"/>
                    <a:lstStyle/>
                    <a:p>
                      <a:r>
                        <a:rPr sz="1400">
                          <a:solidFill>
                            <a:srgbClr val="2D2D2D"/>
                          </a:solidFill>
                          <a:latin typeface="Calibri"/>
                        </a:rPr>
                        <a:t>Ponderación de notas</a:t>
                      </a:r>
                    </a:p>
                  </a:txBody>
                  <a:tcPr>
                    <a:solidFill>
                      <a:srgbClr val="FFFFFF"/>
                    </a:solidFill>
                  </a:tcPr>
                </a:tc>
                <a:tc>
                  <a:txBody>
                    <a:bodyPr wrap="square"/>
                    <a:lstStyle/>
                    <a:p>
                      <a:r>
                        <a:rPr sz="1400">
                          <a:solidFill>
                            <a:srgbClr val="2D2D2D"/>
                          </a:solidFill>
                          <a:latin typeface="Calibri"/>
                        </a:rPr>
                        <a:t>Ver el reglamento del curso — propuesta pendiente de aprobar</a:t>
                      </a:r>
                    </a:p>
                  </a:txBody>
                  <a:tcPr>
                    <a:solidFill>
                      <a:srgbClr val="FFFFFF"/>
                    </a:solidFill>
                  </a:tcPr>
                </a:tc>
              </a:tr>
              <a:tr h="420624">
                <a:tc>
                  <a:txBody>
                    <a:bodyPr wrap="square"/>
                    <a:lstStyle/>
                    <a:p>
                      <a:r>
                        <a:rPr sz="1400">
                          <a:solidFill>
                            <a:srgbClr val="2D2D2D"/>
                          </a:solidFill>
                          <a:latin typeface="Calibri"/>
                        </a:rPr>
                        <a:t>Asistencia mínima</a:t>
                      </a:r>
                    </a:p>
                  </a:txBody>
                  <a:tcPr>
                    <a:solidFill>
                      <a:srgbClr val="FCEDEE"/>
                    </a:solidFill>
                  </a:tcPr>
                </a:tc>
                <a:tc>
                  <a:txBody>
                    <a:bodyPr wrap="square"/>
                    <a:lstStyle/>
                    <a:p>
                      <a:r>
                        <a:rPr sz="1400">
                          <a:solidFill>
                            <a:srgbClr val="2D2D2D"/>
                          </a:solidFill>
                          <a:latin typeface="Calibri"/>
                        </a:rPr>
                        <a:t>Ver el reglamento del curso — ⬜ pendiente</a:t>
                      </a:r>
                    </a:p>
                  </a:txBody>
                  <a:tcPr>
                    <a:solidFill>
                      <a:srgbClr val="FCEDEE"/>
                    </a:solidFill>
                  </a:tcPr>
                </a:tc>
              </a:tr>
              <a:tr h="420624">
                <a:tc>
                  <a:txBody>
                    <a:bodyPr wrap="square"/>
                    <a:lstStyle/>
                    <a:p>
                      <a:r>
                        <a:rPr sz="1400">
                          <a:solidFill>
                            <a:srgbClr val="2D2D2D"/>
                          </a:solidFill>
                          <a:latin typeface="Calibri"/>
                        </a:rPr>
                        <a:t>Tardanzas y entregas tardías</a:t>
                      </a:r>
                    </a:p>
                  </a:txBody>
                  <a:tcPr>
                    <a:solidFill>
                      <a:srgbClr val="FFFFFF"/>
                    </a:solidFill>
                  </a:tcPr>
                </a:tc>
                <a:tc>
                  <a:txBody>
                    <a:bodyPr wrap="square"/>
                    <a:lstStyle/>
                    <a:p>
                      <a:r>
                        <a:rPr sz="1400">
                          <a:solidFill>
                            <a:srgbClr val="2D2D2D"/>
                          </a:solidFill>
                          <a:latin typeface="Calibri"/>
                        </a:rPr>
                        <a:t>Ver el reglamento del curso — ⬜ pendiente</a:t>
                      </a:r>
                    </a:p>
                  </a:txBody>
                  <a:tcPr>
                    <a:solidFill>
                      <a:srgbClr val="FFFFFF"/>
                    </a:solidFill>
                  </a:tcPr>
                </a:tc>
              </a:tr>
              <a:tr h="420624">
                <a:tc>
                  <a:txBody>
                    <a:bodyPr wrap="square"/>
                    <a:lstStyle/>
                    <a:p>
                      <a:r>
                        <a:rPr sz="1400">
                          <a:solidFill>
                            <a:srgbClr val="2D2D2D"/>
                          </a:solidFill>
                          <a:latin typeface="Calibri"/>
                        </a:rPr>
                        <a:t>Honestidad académica</a:t>
                      </a:r>
                    </a:p>
                  </a:txBody>
                  <a:tcPr>
                    <a:solidFill>
                      <a:srgbClr val="FCEDEE"/>
                    </a:solidFill>
                  </a:tcPr>
                </a:tc>
                <a:tc>
                  <a:txBody>
                    <a:bodyPr wrap="square"/>
                    <a:lstStyle/>
                    <a:p>
                      <a:r>
                        <a:rPr sz="1400">
                          <a:solidFill>
                            <a:srgbClr val="2D2D2D"/>
                          </a:solidFill>
                          <a:latin typeface="Calibri"/>
                        </a:rPr>
                        <a:t>Ver el reglamento del curso — ⬜ pendiente</a:t>
                      </a:r>
                    </a:p>
                  </a:txBody>
                  <a:tcPr>
                    <a:solidFill>
                      <a:srgbClr val="FCEDEE"/>
                    </a:solidFill>
                  </a:tcPr>
                </a:tc>
              </a:tr>
            </a:tbl>
          </a:graphicData>
        </a:graphic>
      </p:graphicFrame>
      <p:sp>
        <p:nvSpPr>
          <p:cNvPr id="5" name="Oval 4"/>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7" name="TextBox 6"/>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DIAGNÓSTICO ESTADÍSTICO, BLOQUE 0, RECONOCER, NO EJECUTAR</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Antes de calcular algo, hay que reconocer el tipo de dato</a:t>
            </a:r>
          </a:p>
        </p:txBody>
      </p:sp>
      <p:sp>
        <p:nvSpPr>
          <p:cNvPr id="4" name="Rounded Rectangle 3"/>
          <p:cNvSpPr/>
          <p:nvPr/>
        </p:nvSpPr>
        <p:spPr>
          <a:xfrm>
            <a:off x="548640" y="1828800"/>
            <a:ext cx="5285232" cy="361188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2048256"/>
            <a:ext cx="4700016" cy="548640"/>
          </a:xfrm>
          <a:prstGeom prst="rect">
            <a:avLst/>
          </a:prstGeom>
          <a:noFill/>
        </p:spPr>
        <p:txBody>
          <a:bodyPr wrap="square" anchor="t" lIns="0" rIns="0" tIns="0" bIns="0">
            <a:spAutoFit/>
          </a:bodyPr>
          <a:lstStyle/>
          <a:p>
            <a:pPr algn="l">
              <a:lnSpc>
                <a:spcPct val="105000"/>
              </a:lnSpc>
            </a:pPr>
            <a:r>
              <a:rPr sz="1600" b="1">
                <a:solidFill>
                  <a:srgbClr val="9B1B30"/>
                </a:solidFill>
                <a:latin typeface="Calibri"/>
              </a:rPr>
              <a:t>Categórica (etiquetas)</a:t>
            </a:r>
          </a:p>
        </p:txBody>
      </p:sp>
      <p:sp>
        <p:nvSpPr>
          <p:cNvPr id="6" name="TextBox 5"/>
          <p:cNvSpPr txBox="1"/>
          <p:nvPr/>
        </p:nvSpPr>
        <p:spPr>
          <a:xfrm>
            <a:off x="877824" y="2724912"/>
            <a:ext cx="4626864" cy="2532888"/>
          </a:xfrm>
          <a:prstGeom prst="rect">
            <a:avLst/>
          </a:prstGeom>
          <a:noFill/>
        </p:spPr>
        <p:txBody>
          <a:bodyPr wrap="square" lIns="0" tIns="0" bIns="0">
            <a:spAutoFit/>
          </a:bodyPr>
          <a:lstStyle/>
          <a:p>
            <a:pPr>
              <a:lnSpc>
                <a:spcPct val="105000"/>
              </a:lnSpc>
              <a:spcAft>
                <a:spcPts val="700"/>
              </a:spcAft>
            </a:pPr>
            <a:r>
              <a:rPr sz="1300">
                <a:solidFill>
                  <a:srgbClr val="E4002B"/>
                </a:solidFill>
                <a:latin typeface="Calibri"/>
              </a:rPr>
              <a:t>▪  </a:t>
            </a:r>
            <a:r>
              <a:rPr sz="1300">
                <a:solidFill>
                  <a:srgbClr val="2D2D2D"/>
                </a:solidFill>
                <a:latin typeface="Calibri"/>
              </a:rPr>
              <a:t>Contract (Telco): 3 categorías</a:t>
            </a:r>
          </a:p>
          <a:p>
            <a:pPr>
              <a:lnSpc>
                <a:spcPct val="105000"/>
              </a:lnSpc>
              <a:spcAft>
                <a:spcPts val="700"/>
              </a:spcAft>
            </a:pPr>
            <a:r>
              <a:rPr sz="1300">
                <a:solidFill>
                  <a:srgbClr val="E4002B"/>
                </a:solidFill>
                <a:latin typeface="Calibri"/>
              </a:rPr>
              <a:t>▪  </a:t>
            </a:r>
            <a:r>
              <a:rPr sz="1300">
                <a:solidFill>
                  <a:srgbClr val="2D2D2D"/>
                </a:solidFill>
                <a:latin typeface="Calibri"/>
              </a:rPr>
              <a:t>gender (Telco): Male / Female</a:t>
            </a:r>
          </a:p>
          <a:p>
            <a:pPr>
              <a:lnSpc>
                <a:spcPct val="105000"/>
              </a:lnSpc>
              <a:spcAft>
                <a:spcPts val="700"/>
              </a:spcAft>
            </a:pPr>
            <a:r>
              <a:rPr sz="1300">
                <a:solidFill>
                  <a:srgbClr val="E4002B"/>
                </a:solidFill>
                <a:latin typeface="Calibri"/>
              </a:rPr>
              <a:t>▪  </a:t>
            </a:r>
            <a:r>
              <a:rPr sz="1300">
                <a:solidFill>
                  <a:srgbClr val="2D2D2D"/>
                </a:solidFill>
                <a:latin typeface="Calibri"/>
              </a:rPr>
              <a:t>STATE (S12): NJ / PA</a:t>
            </a:r>
          </a:p>
        </p:txBody>
      </p:sp>
      <p:sp>
        <p:nvSpPr>
          <p:cNvPr id="7" name="Rounded Rectangle 6"/>
          <p:cNvSpPr/>
          <p:nvPr/>
        </p:nvSpPr>
        <p:spPr>
          <a:xfrm>
            <a:off x="6355080" y="1828800"/>
            <a:ext cx="5285232" cy="361188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2048256"/>
            <a:ext cx="4700016" cy="548640"/>
          </a:xfrm>
          <a:prstGeom prst="rect">
            <a:avLst/>
          </a:prstGeom>
          <a:noFill/>
        </p:spPr>
        <p:txBody>
          <a:bodyPr wrap="square" anchor="t" lIns="0" rIns="0" tIns="0" bIns="0">
            <a:spAutoFit/>
          </a:bodyPr>
          <a:lstStyle/>
          <a:p>
            <a:pPr algn="l">
              <a:lnSpc>
                <a:spcPct val="105000"/>
              </a:lnSpc>
            </a:pPr>
            <a:r>
              <a:rPr sz="1600" b="1">
                <a:solidFill>
                  <a:srgbClr val="9B1B30"/>
                </a:solidFill>
                <a:latin typeface="Calibri"/>
              </a:rPr>
              <a:t>Continua (cantidades)</a:t>
            </a:r>
          </a:p>
        </p:txBody>
      </p:sp>
      <p:sp>
        <p:nvSpPr>
          <p:cNvPr id="9" name="TextBox 8"/>
          <p:cNvSpPr txBox="1"/>
          <p:nvPr/>
        </p:nvSpPr>
        <p:spPr>
          <a:xfrm>
            <a:off x="6684264" y="2724912"/>
            <a:ext cx="4626864" cy="2532888"/>
          </a:xfrm>
          <a:prstGeom prst="rect">
            <a:avLst/>
          </a:prstGeom>
          <a:noFill/>
        </p:spPr>
        <p:txBody>
          <a:bodyPr wrap="square" lIns="0" tIns="0" bIns="0">
            <a:spAutoFit/>
          </a:bodyPr>
          <a:lstStyle/>
          <a:p>
            <a:pPr>
              <a:lnSpc>
                <a:spcPct val="105000"/>
              </a:lnSpc>
              <a:spcAft>
                <a:spcPts val="700"/>
              </a:spcAft>
            </a:pPr>
            <a:r>
              <a:rPr sz="1300">
                <a:solidFill>
                  <a:srgbClr val="E4002B"/>
                </a:solidFill>
                <a:latin typeface="Calibri"/>
              </a:rPr>
              <a:t>▪  </a:t>
            </a:r>
            <a:r>
              <a:rPr sz="1300">
                <a:solidFill>
                  <a:srgbClr val="2D2D2D"/>
                </a:solidFill>
                <a:latin typeface="Calibri"/>
              </a:rPr>
              <a:t>MonthlyCharges (Telco): USD por mes</a:t>
            </a:r>
          </a:p>
          <a:p>
            <a:pPr>
              <a:lnSpc>
                <a:spcPct val="105000"/>
              </a:lnSpc>
              <a:spcAft>
                <a:spcPts val="700"/>
              </a:spcAft>
            </a:pPr>
            <a:r>
              <a:rPr sz="1300">
                <a:solidFill>
                  <a:srgbClr val="E4002B"/>
                </a:solidFill>
                <a:latin typeface="Calibri"/>
              </a:rPr>
              <a:t>▪  </a:t>
            </a:r>
            <a:r>
              <a:rPr sz="1300">
                <a:solidFill>
                  <a:srgbClr val="2D2D2D"/>
                </a:solidFill>
                <a:latin typeface="Calibri"/>
              </a:rPr>
              <a:t>tenure (Telco): antigüedad en meses</a:t>
            </a:r>
          </a:p>
          <a:p>
            <a:pPr>
              <a:lnSpc>
                <a:spcPct val="105000"/>
              </a:lnSpc>
              <a:spcAft>
                <a:spcPts val="700"/>
              </a:spcAft>
            </a:pPr>
            <a:r>
              <a:rPr sz="1300">
                <a:solidFill>
                  <a:srgbClr val="E4002B"/>
                </a:solidFill>
                <a:latin typeface="Calibri"/>
              </a:rPr>
              <a:t>▪  </a:t>
            </a:r>
            <a:r>
              <a:rPr sz="1300">
                <a:solidFill>
                  <a:srgbClr val="2D2D2D"/>
                </a:solidFill>
                <a:latin typeface="Calibri"/>
              </a:rPr>
              <a:t>sales (S03): miles de unidades</a:t>
            </a:r>
          </a:p>
        </p:txBody>
      </p:sp>
      <p:sp>
        <p:nvSpPr>
          <p:cNvPr id="10" name="Oval 9"/>
          <p:cNvSpPr/>
          <p:nvPr/>
        </p:nvSpPr>
        <p:spPr>
          <a:xfrm>
            <a:off x="5897880" y="340614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vs</a:t>
            </a:r>
          </a:p>
        </p:txBody>
      </p:sp>
      <p:sp>
        <p:nvSpPr>
          <p:cNvPr id="11" name="TextBox 10"/>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Columnas ya presentes en el catálogo de datasets del curso (el material de referencia de la sesión).</a:t>
            </a:r>
          </a:p>
        </p:txBody>
      </p:sp>
      <p:sp>
        <p:nvSpPr>
          <p:cNvPr id="12" name="Oval 1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14" name="TextBox 1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Las ventas promedio (14.0) superan la mediana (12.9): la cola alta las infla</a:t>
            </a:r>
          </a:p>
        </p:txBody>
      </p:sp>
      <p:pic>
        <p:nvPicPr>
          <p:cNvPr id="3" name="Picture 2" descr="grafico_diagnostico_sales_hist.png"/>
          <p:cNvPicPr>
            <a:picLocks noChangeAspect="1"/>
          </p:cNvPicPr>
          <p:nvPr/>
        </p:nvPicPr>
        <p:blipFill>
          <a:blip r:embed="rId2"/>
          <a:stretch>
            <a:fillRect/>
          </a:stretch>
        </p:blipFill>
        <p:spPr>
          <a:xfrm>
            <a:off x="548640" y="1828800"/>
            <a:ext cx="6949440" cy="4102515"/>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Media 14.0 &gt; mediana 12.9 (desv. 5.2, n=200): pocos productos con ventas altas inflan el promedio; la mitad vende 12.9 mil unidades o menos.</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Advertising.csv (dataset de S03, ISLR/statlearning.com), columna sales; recomputado en runtime.</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4720" cy="292608"/>
          </a:xfrm>
          <a:prstGeom prst="rect">
            <a:avLst/>
          </a:prstGeom>
          <a:noFill/>
        </p:spPr>
        <p:txBody>
          <a:bodyPr wrap="square" anchor="t" lIns="0" rIns="0" tIns="0" bIns="0">
            <a:spAutoFit/>
          </a:bodyPr>
          <a:lstStyle/>
          <a:p>
            <a:pPr algn="l"/>
            <a:r>
              <a:rPr sz="1300" b="1">
                <a:solidFill>
                  <a:srgbClr val="9B1B30"/>
                </a:solidFill>
                <a:latin typeface="Calibri"/>
              </a:rPr>
              <a:t>DIAGNÓSTICO ESTADÍSTICO, BLOQUE 0, SIN FÓRMULA, SIN H0 FORMAL</a:t>
            </a:r>
          </a:p>
        </p:txBody>
      </p:sp>
      <p:sp>
        <p:nvSpPr>
          <p:cNvPr id="3" name="Oval 2"/>
          <p:cNvSpPr/>
          <p:nvPr/>
        </p:nvSpPr>
        <p:spPr>
          <a:xfrm>
            <a:off x="548640" y="1298448"/>
            <a:ext cx="841248" cy="8412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ook-open__FFFFFF.png"/>
          <p:cNvPicPr>
            <a:picLocks noChangeAspect="1"/>
          </p:cNvPicPr>
          <p:nvPr/>
        </p:nvPicPr>
        <p:blipFill>
          <a:blip r:embed="rId2"/>
          <a:stretch>
            <a:fillRect/>
          </a:stretch>
        </p:blipFill>
        <p:spPr>
          <a:xfrm>
            <a:off x="784189" y="1533997"/>
            <a:ext cx="370150" cy="370150"/>
          </a:xfrm>
          <a:prstGeom prst="rect">
            <a:avLst/>
          </a:prstGeom>
        </p:spPr>
      </p:pic>
      <p:sp>
        <p:nvSpPr>
          <p:cNvPr id="5" name="TextBox 4"/>
          <p:cNvSpPr txBox="1"/>
          <p:nvPr/>
        </p:nvSpPr>
        <p:spPr>
          <a:xfrm>
            <a:off x="1719072" y="1280160"/>
            <a:ext cx="9924288" cy="914400"/>
          </a:xfrm>
          <a:prstGeom prst="rect">
            <a:avLst/>
          </a:prstGeom>
          <a:noFill/>
        </p:spPr>
        <p:txBody>
          <a:bodyPr wrap="square" anchor="ctr" lIns="0" rIns="0" tIns="0" bIns="0">
            <a:spAutoFit/>
          </a:bodyPr>
          <a:lstStyle/>
          <a:p>
            <a:pPr algn="l"/>
            <a:r>
              <a:rPr sz="5200" b="1">
                <a:solidFill>
                  <a:srgbClr val="2D2D2D"/>
                </a:solidFill>
                <a:latin typeface="Calibri"/>
              </a:rPr>
              <a:t>p-valor (intuición)</a:t>
            </a:r>
          </a:p>
        </p:txBody>
      </p:sp>
      <p:sp>
        <p:nvSpPr>
          <p:cNvPr id="6" name="TextBox 5"/>
          <p:cNvSpPr txBox="1"/>
          <p:nvPr/>
        </p:nvSpPr>
        <p:spPr>
          <a:xfrm>
            <a:off x="548640" y="2542032"/>
            <a:ext cx="11094720" cy="274320"/>
          </a:xfrm>
          <a:prstGeom prst="rect">
            <a:avLst/>
          </a:prstGeom>
          <a:noFill/>
        </p:spPr>
        <p:txBody>
          <a:bodyPr wrap="square" anchor="t" lIns="0" rIns="0" tIns="0" bIns="0">
            <a:spAutoFit/>
          </a:bodyPr>
          <a:lstStyle/>
          <a:p>
            <a:pPr algn="l"/>
            <a:r>
              <a:rPr sz="1100" b="1">
                <a:solidFill>
                  <a:srgbClr val="9B1B30"/>
                </a:solidFill>
                <a:latin typeface="Calibri"/>
              </a:rPr>
              <a:t>DEFINICIÓN</a:t>
            </a:r>
          </a:p>
        </p:txBody>
      </p:sp>
      <p:sp>
        <p:nvSpPr>
          <p:cNvPr id="7" name="TextBox 6"/>
          <p:cNvSpPr txBox="1"/>
          <p:nvPr/>
        </p:nvSpPr>
        <p:spPr>
          <a:xfrm>
            <a:off x="548640" y="2834640"/>
            <a:ext cx="11094720" cy="1371600"/>
          </a:xfrm>
          <a:prstGeom prst="rect">
            <a:avLst/>
          </a:prstGeom>
          <a:noFill/>
        </p:spPr>
        <p:txBody>
          <a:bodyPr wrap="square" anchor="t" lIns="0" rIns="0" tIns="0" bIns="0">
            <a:spAutoFit/>
          </a:bodyPr>
          <a:lstStyle/>
          <a:p>
            <a:pPr algn="l">
              <a:lnSpc>
                <a:spcPct val="122000"/>
              </a:lnSpc>
            </a:pPr>
            <a:r>
              <a:rPr sz="2000" b="0">
                <a:solidFill>
                  <a:srgbClr val="2D2D2D"/>
                </a:solidFill>
                <a:latin typeface="Calibri"/>
              </a:rPr>
              <a:t>Si en realidad no pasara nada (sin diferencia real), ¿qué tan sorprendente sería un resultado tan extremo como el observado?</a:t>
            </a:r>
          </a:p>
        </p:txBody>
      </p:sp>
      <p:sp>
        <p:nvSpPr>
          <p:cNvPr id="8" name="Rounded Rectangle 7"/>
          <p:cNvSpPr/>
          <p:nvPr/>
        </p:nvSpPr>
        <p:spPr>
          <a:xfrm>
            <a:off x="548640" y="4434840"/>
            <a:ext cx="11094720" cy="123444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ightbulb__E4002B.png"/>
          <p:cNvPicPr>
            <a:picLocks noChangeAspect="1"/>
          </p:cNvPicPr>
          <p:nvPr/>
        </p:nvPicPr>
        <p:blipFill>
          <a:blip r:embed="rId3"/>
          <a:stretch>
            <a:fillRect/>
          </a:stretch>
        </p:blipFill>
        <p:spPr>
          <a:xfrm>
            <a:off x="841248" y="4617720"/>
            <a:ext cx="274320" cy="274320"/>
          </a:xfrm>
          <a:prstGeom prst="rect">
            <a:avLst/>
          </a:prstGeom>
        </p:spPr>
      </p:pic>
      <p:sp>
        <p:nvSpPr>
          <p:cNvPr id="10" name="TextBox 9"/>
          <p:cNvSpPr txBox="1"/>
          <p:nvPr/>
        </p:nvSpPr>
        <p:spPr>
          <a:xfrm>
            <a:off x="1207008" y="4608576"/>
            <a:ext cx="2743200" cy="274320"/>
          </a:xfrm>
          <a:prstGeom prst="rect">
            <a:avLst/>
          </a:prstGeom>
          <a:noFill/>
        </p:spPr>
        <p:txBody>
          <a:bodyPr wrap="square" anchor="t" lIns="0" rIns="0" tIns="0" bIns="0">
            <a:spAutoFit/>
          </a:bodyPr>
          <a:lstStyle/>
          <a:p>
            <a:pPr algn="l"/>
            <a:r>
              <a:rPr sz="1100" b="1">
                <a:solidFill>
                  <a:srgbClr val="9B1B30"/>
                </a:solidFill>
                <a:latin typeface="Calibri"/>
              </a:rPr>
              <a:t>EJEMPLO</a:t>
            </a:r>
          </a:p>
        </p:txBody>
      </p:sp>
      <p:sp>
        <p:nvSpPr>
          <p:cNvPr id="11" name="TextBox 10"/>
          <p:cNvSpPr txBox="1"/>
          <p:nvPr/>
        </p:nvSpPr>
        <p:spPr>
          <a:xfrm>
            <a:off x="859536" y="4956048"/>
            <a:ext cx="10472928" cy="640080"/>
          </a:xfrm>
          <a:prstGeom prst="rect">
            <a:avLst/>
          </a:prstGeom>
          <a:noFill/>
        </p:spPr>
        <p:txBody>
          <a:bodyPr wrap="square" anchor="t" lIns="0" rIns="0" tIns="0" bIns="0">
            <a:spAutoFit/>
          </a:bodyPr>
          <a:lstStyle/>
          <a:p>
            <a:pPr algn="l">
              <a:lnSpc>
                <a:spcPct val="115000"/>
              </a:lnSpc>
            </a:pPr>
            <a:r>
              <a:rPr sz="1500" b="0">
                <a:solidFill>
                  <a:srgbClr val="2D2D2D"/>
                </a:solidFill>
                <a:latin typeface="Calibri"/>
              </a:rPr>
              <a:t>Dos campañas con distinto clic: p pequeño = raro sin diferencia real; p grande = compatible con 'sin diferencia'.</a:t>
            </a:r>
          </a:p>
        </p:txBody>
      </p:sp>
      <p:sp>
        <p:nvSpPr>
          <p:cNvPr id="12" name="TextBox 11"/>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Wasserstein &amp; Lazar (2016), The ASA Statement on p-Values, The American Statistician 70(2). Cómputo y pruebas de hipótesis: Frontera S02.</a:t>
            </a:r>
          </a:p>
        </p:txBody>
      </p:sp>
      <p:sp>
        <p:nvSpPr>
          <p:cNvPr id="13" name="Oval 1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15" name="TextBox 1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El problema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Tres casos y por qué fracasan los proyectos de datos</a:t>
            </a:r>
          </a:p>
        </p:txBody>
      </p:sp>
      <p:pic>
        <p:nvPicPr>
          <p:cNvPr id="5" name="Picture 4" descr="triangle-alert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BLOQUE DE CASOS — HILO CONDUCTOR DE TODA LA SESIÓN</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análisis vale por la decisión, no por la técnica</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ers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Churn — Telco</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Operadora con fuga de clientes que reacciona cuando ya cancelaron. Datos: facturación, uso y reclamos.</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Decide: a quién retener antes de que cancele</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unnel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Segmentación — Retail</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Cadena de lealtad que ofrece lo mismo a todos. Nadie sabe cuántos tipos de cliente existen.</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Decide: qué oferta dirigir a cada segmento</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rending-up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Forecasting — Consumo</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Producción mensual con quiebres de stock y capital inmovilizado. Datos: ventas, estacionalidad y precios.</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Decide: cuánto producir por período</a:t>
            </a:r>
          </a:p>
        </p:txBody>
      </p:sp>
      <p:sp>
        <p:nvSpPr>
          <p:cNvPr id="22" name="Oval 21"/>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24" name="TextBox 23"/>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95%</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Los pilotos de IA fracasan por el negocio, no por el modelo</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El 42% de las empresas ya abandonó la mayoría de su IA en 2025. El problema no es el modelo: es el negocio.</a:t>
            </a:r>
          </a:p>
        </p:txBody>
      </p:sp>
      <p:sp>
        <p:nvSpPr>
          <p:cNvPr id="5" name="TextBox 4"/>
          <p:cNvSpPr txBox="1"/>
          <p:nvPr/>
        </p:nvSpPr>
        <p:spPr>
          <a:xfrm>
            <a:off x="548640" y="5806440"/>
            <a:ext cx="10607040" cy="320040"/>
          </a:xfrm>
          <a:prstGeom prst="rect">
            <a:avLst/>
          </a:prstGeom>
          <a:noFill/>
        </p:spPr>
        <p:txBody>
          <a:bodyPr wrap="square">
            <a:spAutoFit/>
          </a:bodyPr>
          <a:lstStyle/>
          <a:p>
            <a:r>
              <a:rPr sz="1000">
                <a:solidFill>
                  <a:srgbClr val="6E6E6E"/>
                </a:solidFill>
                <a:latin typeface="Calibri"/>
              </a:rPr>
              <a:t>MIT/Fortune (18/08/2025) — S&amp;P Global/CIO Dive (14/03/2025). Ver el material de referencia de la sesión.</a:t>
            </a:r>
          </a:p>
        </p:txBody>
      </p:sp>
      <p:sp>
        <p:nvSpPr>
          <p:cNvPr id="6" name="Oval 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8" name="TextBox 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¿El proyecto falla en el modelo o en el negocio?</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Discusión en parejas (2 min): con la cifra anterior, decidir dónde concentrar el esfuerzo si el presupuesto alcanza para una sola fase.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La hoja de ruta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Del dato al conocimiento: KDD y CRISP-DM</a:t>
            </a:r>
          </a:p>
        </p:txBody>
      </p:sp>
      <p:pic>
        <p:nvPicPr>
          <p:cNvPr id="5" name="Picture 4" descr="map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FAYYAD, PIATETSKY-SHAPIRO Y SMYTH (1996)</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KDD convierte el dato en conocimiento en cinco pasos</a:t>
            </a:r>
          </a:p>
        </p:txBody>
      </p:sp>
      <p:sp>
        <p:nvSpPr>
          <p:cNvPr id="4" name="Rectangle 3"/>
          <p:cNvSpPr/>
          <p:nvPr/>
        </p:nvSpPr>
        <p:spPr>
          <a:xfrm>
            <a:off x="1658112" y="2802255"/>
            <a:ext cx="8875776" cy="1905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315212"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6" name="TextBox 5"/>
          <p:cNvSpPr txBox="1"/>
          <p:nvPr/>
        </p:nvSpPr>
        <p:spPr>
          <a:xfrm>
            <a:off x="621792" y="3319272"/>
            <a:ext cx="2072640" cy="594360"/>
          </a:xfrm>
          <a:prstGeom prst="rect">
            <a:avLst/>
          </a:prstGeom>
          <a:noFill/>
        </p:spPr>
        <p:txBody>
          <a:bodyPr wrap="square" anchor="t" lIns="0" rIns="0" tIns="0" bIns="0">
            <a:spAutoFit/>
          </a:bodyPr>
          <a:lstStyle/>
          <a:p>
            <a:pPr algn="ctr"/>
            <a:r>
              <a:rPr sz="1500" b="1">
                <a:solidFill>
                  <a:srgbClr val="2D2D2D"/>
                </a:solidFill>
                <a:latin typeface="Calibri"/>
              </a:rPr>
              <a:t>Selección</a:t>
            </a:r>
          </a:p>
        </p:txBody>
      </p:sp>
      <p:sp>
        <p:nvSpPr>
          <p:cNvPr id="7" name="TextBox 6"/>
          <p:cNvSpPr txBox="1"/>
          <p:nvPr/>
        </p:nvSpPr>
        <p:spPr>
          <a:xfrm>
            <a:off x="621792" y="3931920"/>
            <a:ext cx="2072640" cy="1554480"/>
          </a:xfrm>
          <a:prstGeom prst="rect">
            <a:avLst/>
          </a:prstGeom>
          <a:noFill/>
        </p:spPr>
        <p:txBody>
          <a:bodyPr wrap="square" anchor="t" lIns="0" rIns="0" tIns="0" bIns="0">
            <a:spAutoFit/>
          </a:bodyPr>
          <a:lstStyle/>
          <a:p>
            <a:pPr algn="ctr"/>
            <a:r>
              <a:rPr sz="1200" b="0">
                <a:solidFill>
                  <a:srgbClr val="6E6E6E"/>
                </a:solidFill>
                <a:latin typeface="Calibri"/>
              </a:rPr>
              <a:t>Elegir los datos relevantes al objetivo</a:t>
            </a:r>
          </a:p>
        </p:txBody>
      </p:sp>
      <p:sp>
        <p:nvSpPr>
          <p:cNvPr id="8" name="Oval 7"/>
          <p:cNvSpPr/>
          <p:nvPr/>
        </p:nvSpPr>
        <p:spPr>
          <a:xfrm>
            <a:off x="3534156"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9" name="TextBox 8"/>
          <p:cNvSpPr txBox="1"/>
          <p:nvPr/>
        </p:nvSpPr>
        <p:spPr>
          <a:xfrm>
            <a:off x="2840736" y="3319272"/>
            <a:ext cx="2072640" cy="594360"/>
          </a:xfrm>
          <a:prstGeom prst="rect">
            <a:avLst/>
          </a:prstGeom>
          <a:noFill/>
        </p:spPr>
        <p:txBody>
          <a:bodyPr wrap="square" anchor="t" lIns="0" rIns="0" tIns="0" bIns="0">
            <a:spAutoFit/>
          </a:bodyPr>
          <a:lstStyle/>
          <a:p>
            <a:pPr algn="ctr"/>
            <a:r>
              <a:rPr sz="1500" b="1">
                <a:solidFill>
                  <a:srgbClr val="2D2D2D"/>
                </a:solidFill>
                <a:latin typeface="Calibri"/>
              </a:rPr>
              <a:t>Preprocesamiento</a:t>
            </a:r>
          </a:p>
        </p:txBody>
      </p:sp>
      <p:sp>
        <p:nvSpPr>
          <p:cNvPr id="10" name="TextBox 9"/>
          <p:cNvSpPr txBox="1"/>
          <p:nvPr/>
        </p:nvSpPr>
        <p:spPr>
          <a:xfrm>
            <a:off x="2840736" y="3931920"/>
            <a:ext cx="2072640" cy="1554480"/>
          </a:xfrm>
          <a:prstGeom prst="rect">
            <a:avLst/>
          </a:prstGeom>
          <a:noFill/>
        </p:spPr>
        <p:txBody>
          <a:bodyPr wrap="square" anchor="t" lIns="0" rIns="0" tIns="0" bIns="0">
            <a:spAutoFit/>
          </a:bodyPr>
          <a:lstStyle/>
          <a:p>
            <a:pPr algn="ctr"/>
            <a:r>
              <a:rPr sz="1200" b="0">
                <a:solidFill>
                  <a:srgbClr val="6E6E6E"/>
                </a:solidFill>
                <a:latin typeface="Calibri"/>
              </a:rPr>
              <a:t>Limpiar ruido, faltantes e inconsistencias</a:t>
            </a:r>
          </a:p>
        </p:txBody>
      </p:sp>
      <p:sp>
        <p:nvSpPr>
          <p:cNvPr id="11" name="Oval 10"/>
          <p:cNvSpPr/>
          <p:nvPr/>
        </p:nvSpPr>
        <p:spPr>
          <a:xfrm>
            <a:off x="575310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2" name="TextBox 11"/>
          <p:cNvSpPr txBox="1"/>
          <p:nvPr/>
        </p:nvSpPr>
        <p:spPr>
          <a:xfrm>
            <a:off x="5059680" y="3319272"/>
            <a:ext cx="2072640" cy="594360"/>
          </a:xfrm>
          <a:prstGeom prst="rect">
            <a:avLst/>
          </a:prstGeom>
          <a:noFill/>
        </p:spPr>
        <p:txBody>
          <a:bodyPr wrap="square" anchor="t" lIns="0" rIns="0" tIns="0" bIns="0">
            <a:spAutoFit/>
          </a:bodyPr>
          <a:lstStyle/>
          <a:p>
            <a:pPr algn="ctr"/>
            <a:r>
              <a:rPr sz="1500" b="1">
                <a:solidFill>
                  <a:srgbClr val="2D2D2D"/>
                </a:solidFill>
                <a:latin typeface="Calibri"/>
              </a:rPr>
              <a:t>Transformación</a:t>
            </a:r>
          </a:p>
        </p:txBody>
      </p:sp>
      <p:sp>
        <p:nvSpPr>
          <p:cNvPr id="13" name="TextBox 12"/>
          <p:cNvSpPr txBox="1"/>
          <p:nvPr/>
        </p:nvSpPr>
        <p:spPr>
          <a:xfrm>
            <a:off x="5059680" y="3931920"/>
            <a:ext cx="2072640" cy="1554480"/>
          </a:xfrm>
          <a:prstGeom prst="rect">
            <a:avLst/>
          </a:prstGeom>
          <a:noFill/>
        </p:spPr>
        <p:txBody>
          <a:bodyPr wrap="square" anchor="t" lIns="0" rIns="0" tIns="0" bIns="0">
            <a:spAutoFit/>
          </a:bodyPr>
          <a:lstStyle/>
          <a:p>
            <a:pPr algn="ctr"/>
            <a:r>
              <a:rPr sz="1200" b="0">
                <a:solidFill>
                  <a:srgbClr val="6E6E6E"/>
                </a:solidFill>
                <a:latin typeface="Calibri"/>
              </a:rPr>
              <a:t>Dar a los datos la forma del análisis</a:t>
            </a:r>
          </a:p>
        </p:txBody>
      </p:sp>
      <p:sp>
        <p:nvSpPr>
          <p:cNvPr id="14" name="Oval 13"/>
          <p:cNvSpPr/>
          <p:nvPr/>
        </p:nvSpPr>
        <p:spPr>
          <a:xfrm>
            <a:off x="7972044"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4</a:t>
            </a:r>
          </a:p>
        </p:txBody>
      </p:sp>
      <p:sp>
        <p:nvSpPr>
          <p:cNvPr id="15" name="TextBox 14"/>
          <p:cNvSpPr txBox="1"/>
          <p:nvPr/>
        </p:nvSpPr>
        <p:spPr>
          <a:xfrm>
            <a:off x="7278624" y="3319272"/>
            <a:ext cx="2072640" cy="594360"/>
          </a:xfrm>
          <a:prstGeom prst="rect">
            <a:avLst/>
          </a:prstGeom>
          <a:noFill/>
        </p:spPr>
        <p:txBody>
          <a:bodyPr wrap="square" anchor="t" lIns="0" rIns="0" tIns="0" bIns="0">
            <a:spAutoFit/>
          </a:bodyPr>
          <a:lstStyle/>
          <a:p>
            <a:pPr algn="ctr"/>
            <a:r>
              <a:rPr sz="1500" b="1">
                <a:solidFill>
                  <a:srgbClr val="2D2D2D"/>
                </a:solidFill>
                <a:latin typeface="Calibri"/>
              </a:rPr>
              <a:t>Minería</a:t>
            </a:r>
          </a:p>
        </p:txBody>
      </p:sp>
      <p:sp>
        <p:nvSpPr>
          <p:cNvPr id="16" name="TextBox 15"/>
          <p:cNvSpPr txBox="1"/>
          <p:nvPr/>
        </p:nvSpPr>
        <p:spPr>
          <a:xfrm>
            <a:off x="7278624" y="3931920"/>
            <a:ext cx="2072640" cy="1554480"/>
          </a:xfrm>
          <a:prstGeom prst="rect">
            <a:avLst/>
          </a:prstGeom>
          <a:noFill/>
        </p:spPr>
        <p:txBody>
          <a:bodyPr wrap="square" anchor="t" lIns="0" rIns="0" tIns="0" bIns="0">
            <a:spAutoFit/>
          </a:bodyPr>
          <a:lstStyle/>
          <a:p>
            <a:pPr algn="ctr"/>
            <a:r>
              <a:rPr sz="1200" b="0">
                <a:solidFill>
                  <a:srgbClr val="6E6E6E"/>
                </a:solidFill>
                <a:latin typeface="Calibri"/>
              </a:rPr>
              <a:t>Aplicar algoritmos para extraer patrones</a:t>
            </a:r>
          </a:p>
        </p:txBody>
      </p:sp>
      <p:sp>
        <p:nvSpPr>
          <p:cNvPr id="17" name="Oval 16"/>
          <p:cNvSpPr/>
          <p:nvPr/>
        </p:nvSpPr>
        <p:spPr>
          <a:xfrm>
            <a:off x="10190988"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5</a:t>
            </a:r>
          </a:p>
        </p:txBody>
      </p:sp>
      <p:sp>
        <p:nvSpPr>
          <p:cNvPr id="18" name="TextBox 17"/>
          <p:cNvSpPr txBox="1"/>
          <p:nvPr/>
        </p:nvSpPr>
        <p:spPr>
          <a:xfrm>
            <a:off x="9497568" y="3319272"/>
            <a:ext cx="2072640" cy="594360"/>
          </a:xfrm>
          <a:prstGeom prst="rect">
            <a:avLst/>
          </a:prstGeom>
          <a:noFill/>
        </p:spPr>
        <p:txBody>
          <a:bodyPr wrap="square" anchor="t" lIns="0" rIns="0" tIns="0" bIns="0">
            <a:spAutoFit/>
          </a:bodyPr>
          <a:lstStyle/>
          <a:p>
            <a:pPr algn="ctr"/>
            <a:r>
              <a:rPr sz="1500" b="1">
                <a:solidFill>
                  <a:srgbClr val="2D2D2D"/>
                </a:solidFill>
                <a:latin typeface="Calibri"/>
              </a:rPr>
              <a:t>Interpretación</a:t>
            </a:r>
          </a:p>
        </p:txBody>
      </p:sp>
      <p:sp>
        <p:nvSpPr>
          <p:cNvPr id="19" name="TextBox 18"/>
          <p:cNvSpPr txBox="1"/>
          <p:nvPr/>
        </p:nvSpPr>
        <p:spPr>
          <a:xfrm>
            <a:off x="9497568" y="3931920"/>
            <a:ext cx="2072640" cy="1554480"/>
          </a:xfrm>
          <a:prstGeom prst="rect">
            <a:avLst/>
          </a:prstGeom>
          <a:noFill/>
        </p:spPr>
        <p:txBody>
          <a:bodyPr wrap="square" anchor="t" lIns="0" rIns="0" tIns="0" bIns="0">
            <a:spAutoFit/>
          </a:bodyPr>
          <a:lstStyle/>
          <a:p>
            <a:pPr algn="ctr"/>
            <a:r>
              <a:rPr sz="1200" b="0">
                <a:solidFill>
                  <a:srgbClr val="6E6E6E"/>
                </a:solidFill>
                <a:latin typeface="Calibri"/>
              </a:rPr>
              <a:t>Validar patrones y volverlos conocimiento</a:t>
            </a:r>
          </a:p>
        </p:txBody>
      </p:sp>
      <p:sp>
        <p:nvSpPr>
          <p:cNvPr id="20" name="Oval 1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22" name="TextBox 2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15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Oval 1"/>
          <p:cNvSpPr/>
          <p:nvPr/>
        </p:nvSpPr>
        <p:spPr>
          <a:xfrm>
            <a:off x="5638800" y="914400"/>
            <a:ext cx="914400" cy="9144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FFFFFF"/>
                </a:solidFill>
                <a:latin typeface="Calibri"/>
              </a:rPr>
              <a:t>“</a:t>
            </a:r>
          </a:p>
        </p:txBody>
      </p:sp>
      <p:sp>
        <p:nvSpPr>
          <p:cNvPr id="3" name="TextBox 2"/>
          <p:cNvSpPr txBox="1"/>
          <p:nvPr/>
        </p:nvSpPr>
        <p:spPr>
          <a:xfrm>
            <a:off x="1645920" y="2377440"/>
            <a:ext cx="8900160" cy="2377440"/>
          </a:xfrm>
          <a:prstGeom prst="rect">
            <a:avLst/>
          </a:prstGeom>
          <a:noFill/>
        </p:spPr>
        <p:txBody>
          <a:bodyPr wrap="square" anchor="t" lIns="0" rIns="0" tIns="0" bIns="0">
            <a:spAutoFit/>
          </a:bodyPr>
          <a:lstStyle/>
          <a:p>
            <a:pPr algn="ctr">
              <a:lnSpc>
                <a:spcPct val="125000"/>
              </a:lnSpc>
            </a:pPr>
            <a:r>
              <a:rPr sz="2600" b="0">
                <a:solidFill>
                  <a:srgbClr val="FFFFFF"/>
                </a:solidFill>
                <a:latin typeface="Calibri"/>
              </a:rPr>
              <a:t>KDD is the nontrivial process of identifying valid, novel, potentially useful, and ultimately understandable patterns in data.</a:t>
            </a:r>
          </a:p>
        </p:txBody>
      </p:sp>
      <p:sp>
        <p:nvSpPr>
          <p:cNvPr id="4" name="TextBox 3"/>
          <p:cNvSpPr txBox="1"/>
          <p:nvPr/>
        </p:nvSpPr>
        <p:spPr>
          <a:xfrm>
            <a:off x="1645920" y="5120640"/>
            <a:ext cx="8900160" cy="548640"/>
          </a:xfrm>
          <a:prstGeom prst="rect">
            <a:avLst/>
          </a:prstGeom>
          <a:noFill/>
        </p:spPr>
        <p:txBody>
          <a:bodyPr wrap="square" anchor="t" lIns="0" rIns="0" tIns="0" bIns="0">
            <a:spAutoFit/>
          </a:bodyPr>
          <a:lstStyle/>
          <a:p>
            <a:pPr algn="ctr"/>
            <a:r>
              <a:rPr sz="1500" b="0">
                <a:solidFill>
                  <a:srgbClr val="FCEDEE"/>
                </a:solidFill>
                <a:latin typeface="Calibri"/>
              </a:rPr>
              <a:t>— Fayyad, Piatetsky-Shapiro y Smyth (1996), AI Magazine 17(3)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METODOLOGÍA PARA PROYECTOS DE DATOS — CHAPMAN ET AL. (2000)</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CRISP-DM es el método estándar de seis fases que iteran</a:t>
            </a:r>
          </a:p>
        </p:txBody>
      </p:sp>
      <p:sp>
        <p:nvSpPr>
          <p:cNvPr id="4" name="TextBox 3"/>
          <p:cNvSpPr txBox="1"/>
          <p:nvPr/>
        </p:nvSpPr>
        <p:spPr>
          <a:xfrm>
            <a:off x="4998720" y="3840480"/>
            <a:ext cx="2194560" cy="548640"/>
          </a:xfrm>
          <a:prstGeom prst="rect">
            <a:avLst/>
          </a:prstGeom>
          <a:noFill/>
        </p:spPr>
        <p:txBody>
          <a:bodyPr wrap="square" anchor="ctr" lIns="0" rIns="0" tIns="0" bIns="0">
            <a:spAutoFit/>
          </a:bodyPr>
          <a:lstStyle/>
          <a:p>
            <a:pPr algn="ctr"/>
            <a:r>
              <a:rPr sz="1400" b="1">
                <a:solidFill>
                  <a:srgbClr val="9B1B30"/>
                </a:solidFill>
                <a:latin typeface="Calibri"/>
              </a:rPr>
              <a:t>ITERATIVO</a:t>
            </a:r>
          </a:p>
        </p:txBody>
      </p:sp>
      <p:sp>
        <p:nvSpPr>
          <p:cNvPr id="5" name="Rounded Rectangle 4"/>
          <p:cNvSpPr/>
          <p:nvPr/>
        </p:nvSpPr>
        <p:spPr>
          <a:xfrm>
            <a:off x="4953000" y="1874521"/>
            <a:ext cx="2286000" cy="73152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rIns="45720"/>
          <a:lstStyle/>
          <a:p>
            <a:pPr algn="l"/>
            <a:r>
              <a:rPr sz="1300" b="1">
                <a:solidFill>
                  <a:srgbClr val="2D2D2D"/>
                </a:solidFill>
                <a:latin typeface="Calibri"/>
              </a:rPr>
              <a:t>Comprensión del negocio</a:t>
            </a:r>
          </a:p>
        </p:txBody>
      </p:sp>
      <p:sp>
        <p:nvSpPr>
          <p:cNvPr id="6" name="Oval 5"/>
          <p:cNvSpPr/>
          <p:nvPr/>
        </p:nvSpPr>
        <p:spPr>
          <a:xfrm>
            <a:off x="5026152" y="2048257"/>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7" name="Rounded Rectangle 6"/>
          <p:cNvSpPr/>
          <p:nvPr/>
        </p:nvSpPr>
        <p:spPr>
          <a:xfrm>
            <a:off x="6576381" y="2811780"/>
            <a:ext cx="2286000" cy="73152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rIns="45720"/>
          <a:lstStyle/>
          <a:p>
            <a:pPr algn="l"/>
            <a:r>
              <a:rPr sz="1300" b="1">
                <a:solidFill>
                  <a:srgbClr val="2D2D2D"/>
                </a:solidFill>
                <a:latin typeface="Calibri"/>
              </a:rPr>
              <a:t>Comprensión de los datos</a:t>
            </a:r>
          </a:p>
        </p:txBody>
      </p:sp>
      <p:sp>
        <p:nvSpPr>
          <p:cNvPr id="8" name="Oval 7"/>
          <p:cNvSpPr/>
          <p:nvPr/>
        </p:nvSpPr>
        <p:spPr>
          <a:xfrm>
            <a:off x="6649533" y="298551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9" name="Rounded Rectangle 8"/>
          <p:cNvSpPr/>
          <p:nvPr/>
        </p:nvSpPr>
        <p:spPr>
          <a:xfrm>
            <a:off x="6576381" y="4686299"/>
            <a:ext cx="2286000" cy="73152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rIns="45720"/>
          <a:lstStyle/>
          <a:p>
            <a:pPr algn="l"/>
            <a:r>
              <a:rPr sz="1300" b="1">
                <a:solidFill>
                  <a:srgbClr val="2D2D2D"/>
                </a:solidFill>
                <a:latin typeface="Calibri"/>
              </a:rPr>
              <a:t>Preparación de los datos</a:t>
            </a:r>
          </a:p>
        </p:txBody>
      </p:sp>
      <p:sp>
        <p:nvSpPr>
          <p:cNvPr id="10" name="Oval 9"/>
          <p:cNvSpPr/>
          <p:nvPr/>
        </p:nvSpPr>
        <p:spPr>
          <a:xfrm>
            <a:off x="6649533" y="4860035"/>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Rounded Rectangle 10"/>
          <p:cNvSpPr/>
          <p:nvPr/>
        </p:nvSpPr>
        <p:spPr>
          <a:xfrm>
            <a:off x="4953000" y="5623559"/>
            <a:ext cx="2286000" cy="73152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rIns="45720"/>
          <a:lstStyle/>
          <a:p>
            <a:pPr algn="l"/>
            <a:r>
              <a:rPr sz="1300" b="1">
                <a:solidFill>
                  <a:srgbClr val="2D2D2D"/>
                </a:solidFill>
                <a:latin typeface="Calibri"/>
              </a:rPr>
              <a:t>Modelado</a:t>
            </a:r>
          </a:p>
        </p:txBody>
      </p:sp>
      <p:sp>
        <p:nvSpPr>
          <p:cNvPr id="12" name="Oval 11"/>
          <p:cNvSpPr/>
          <p:nvPr/>
        </p:nvSpPr>
        <p:spPr>
          <a:xfrm>
            <a:off x="5026152" y="5797295"/>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3" name="Rounded Rectangle 12"/>
          <p:cNvSpPr/>
          <p:nvPr/>
        </p:nvSpPr>
        <p:spPr>
          <a:xfrm>
            <a:off x="3329618" y="4686299"/>
            <a:ext cx="2286000" cy="73152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rIns="45720"/>
          <a:lstStyle/>
          <a:p>
            <a:pPr algn="l"/>
            <a:r>
              <a:rPr sz="1300" b="1">
                <a:solidFill>
                  <a:srgbClr val="2D2D2D"/>
                </a:solidFill>
                <a:latin typeface="Calibri"/>
              </a:rPr>
              <a:t>Evaluación</a:t>
            </a:r>
          </a:p>
        </p:txBody>
      </p:sp>
      <p:sp>
        <p:nvSpPr>
          <p:cNvPr id="14" name="Oval 13"/>
          <p:cNvSpPr/>
          <p:nvPr/>
        </p:nvSpPr>
        <p:spPr>
          <a:xfrm>
            <a:off x="3402770" y="4860035"/>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5" name="Rounded Rectangle 14"/>
          <p:cNvSpPr/>
          <p:nvPr/>
        </p:nvSpPr>
        <p:spPr>
          <a:xfrm>
            <a:off x="3329618" y="2811780"/>
            <a:ext cx="2286000" cy="73152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rIns="45720"/>
          <a:lstStyle/>
          <a:p>
            <a:pPr algn="l"/>
            <a:r>
              <a:rPr sz="1300" b="1">
                <a:solidFill>
                  <a:srgbClr val="2D2D2D"/>
                </a:solidFill>
                <a:latin typeface="Calibri"/>
              </a:rPr>
              <a:t>Despliegue</a:t>
            </a:r>
          </a:p>
        </p:txBody>
      </p:sp>
      <p:sp>
        <p:nvSpPr>
          <p:cNvPr id="16" name="Oval 15"/>
          <p:cNvSpPr/>
          <p:nvPr/>
        </p:nvSpPr>
        <p:spPr>
          <a:xfrm>
            <a:off x="3402770" y="298551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6</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17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777240"/>
          </a:xfrm>
          <a:prstGeom prst="rect">
            <a:avLst/>
          </a:prstGeom>
          <a:noFill/>
        </p:spPr>
        <p:txBody>
          <a:bodyPr wrap="square" anchor="t" lIns="0" rIns="0" tIns="0" bIns="0">
            <a:spAutoFit/>
          </a:bodyPr>
          <a:lstStyle/>
          <a:p>
            <a:pPr algn="l"/>
            <a:r>
              <a:rPr sz="4000" b="1">
                <a:solidFill>
                  <a:srgbClr val="2D2D2D"/>
                </a:solidFill>
                <a:latin typeface="Calibri"/>
              </a:rPr>
              <a:t>Preparar los datos consume entre ~45% y ~80% del esfuerzo</a:t>
            </a:r>
          </a:p>
        </p:txBody>
      </p:sp>
      <p:pic>
        <p:nvPicPr>
          <p:cNvPr id="3" name="Picture 2" descr="grafico_crispdm_esfuerzo.png"/>
          <p:cNvPicPr>
            <a:picLocks noChangeAspect="1"/>
          </p:cNvPicPr>
          <p:nvPr/>
        </p:nvPicPr>
        <p:blipFill>
          <a:blip r:embed="rId2"/>
          <a:stretch>
            <a:fillRect/>
          </a:stretch>
        </p:blipFill>
        <p:spPr>
          <a:xfrm>
            <a:off x="548640" y="1828800"/>
            <a:ext cx="6949440" cy="4287240"/>
          </a:xfrm>
          <a:prstGeom prst="rect">
            <a:avLst/>
          </a:prstGeom>
        </p:spPr>
      </p:pic>
      <p:sp>
        <p:nvSpPr>
          <p:cNvPr id="4" name="Oval 3"/>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6" name="TextBox 5"/>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7" name="TextBox 6"/>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Modelar es solo una fracción: comprender y preparar los datos consume entre ~45% y ~80% del tiempo del proyecto según la fuente.</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Barras: ilustrativo según la literatura CRISP-DM (Chapman et al., 2000); el extremo superior (~80%) es la regla práctica de encuestas a profesionales de datos.</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LECTURAS Y PAPERS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Cinco lecturas anclan la hoja de ruta del curso</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KDD: From Data Mining to Knowledge Discovery in Databases</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Fayyad, Piatetsky-Shapiro &amp; Smyth (1996), AI Magazine 17(3)  —  definición seminal del proceso de descubrimiento.</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CRISP-DM: Towards a Standard Process Model</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Wirth &amp; Hipp (2000), Proc. PADD  —  origen del estándar de proceso del curso.</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CRISP-DM 1.0 — guía paso a paso</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Chapman et al. (2000), CRISP-DM consortium  —  las seis fases que estructuran el proyecto.</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CRISP-DM Twenty Years Later</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Martínez-Plumed et al. (2021), IEEE TKDE 33(8)  —  vigencia y evolución hacia data science.</a:t>
            </a:r>
          </a:p>
        </p:txBody>
      </p:sp>
      <p:sp>
        <p:nvSpPr>
          <p:cNvPr id="16" name="Oval 15"/>
          <p:cNvSpPr/>
          <p:nvPr/>
        </p:nvSpPr>
        <p:spPr>
          <a:xfrm>
            <a:off x="548640" y="5394960"/>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7" name="TextBox 16"/>
          <p:cNvSpPr txBox="1"/>
          <p:nvPr/>
        </p:nvSpPr>
        <p:spPr>
          <a:xfrm>
            <a:off x="1097280" y="5367528"/>
            <a:ext cx="10546080" cy="320040"/>
          </a:xfrm>
          <a:prstGeom prst="rect">
            <a:avLst/>
          </a:prstGeom>
          <a:noFill/>
        </p:spPr>
        <p:txBody>
          <a:bodyPr wrap="square" anchor="t" lIns="0" rIns="0" tIns="0" bIns="0">
            <a:spAutoFit/>
          </a:bodyPr>
          <a:lstStyle/>
          <a:p>
            <a:pPr algn="l"/>
            <a:r>
              <a:rPr sz="1500" b="1">
                <a:solidFill>
                  <a:srgbClr val="2D2D2D"/>
                </a:solidFill>
                <a:latin typeface="Calibri"/>
              </a:rPr>
              <a:t>Data Science for Business, cap. 1–2</a:t>
            </a:r>
          </a:p>
        </p:txBody>
      </p:sp>
      <p:sp>
        <p:nvSpPr>
          <p:cNvPr id="18" name="TextBox 17"/>
          <p:cNvSpPr txBox="1"/>
          <p:nvPr/>
        </p:nvSpPr>
        <p:spPr>
          <a:xfrm>
            <a:off x="1097280" y="5678424"/>
            <a:ext cx="10546080" cy="274320"/>
          </a:xfrm>
          <a:prstGeom prst="rect">
            <a:avLst/>
          </a:prstGeom>
          <a:noFill/>
        </p:spPr>
        <p:txBody>
          <a:bodyPr wrap="square" anchor="t" lIns="0" rIns="0" tIns="0" bIns="0">
            <a:spAutoFit/>
          </a:bodyPr>
          <a:lstStyle/>
          <a:p>
            <a:pPr algn="l"/>
            <a:r>
              <a:rPr sz="1200" b="0">
                <a:solidFill>
                  <a:srgbClr val="6E6E6E"/>
                </a:solidFill>
                <a:latin typeface="Calibri"/>
              </a:rPr>
              <a:t>Provost &amp; Fawcett (2013)  —  del problema de negocio a la pregunta analítica.</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S01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