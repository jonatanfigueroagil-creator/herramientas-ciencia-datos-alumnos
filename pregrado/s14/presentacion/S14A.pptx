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3" r:id="rId30"/>
    <p:sldId id="258" r:id="rId10"/>
    <p:sldId id="259" r:id="rId11"/>
    <p:sldId id="260" r:id="rId12"/>
    <p:sldId id="261" r:id="rId13"/>
    <p:sldId id="262" r:id="rId14"/>
    <p:sldId id="284" r:id="rId31"/>
    <p:sldId id="263" r:id="rId15"/>
    <p:sldId id="268" r:id="rId20"/>
    <p:sldId id="285" r:id="rId32"/>
    <p:sldId id="266" r:id="rId18"/>
    <p:sldId id="267" r:id="rId19"/>
    <p:sldId id="269" r:id="rId21"/>
    <p:sldId id="270" r:id="rId22"/>
    <p:sldId id="286" r:id="rId33"/>
    <p:sldId id="274" r:id="rId26"/>
    <p:sldId id="275" r:id="rId27"/>
    <p:sldId id="276" r:id="rId28"/>
    <p:sldId id="287" r:id="rId29"/>
    <p:sldId id="264" r:id="rId16"/>
    <p:sldId id="265" r:id="rId17"/>
    <p:sldId id="271" r:id="rId23"/>
    <p:sldId id="272" r:id="rId24"/>
    <p:sldId id="273" r:id="rId25"/>
    <p:sldId id="282" r:id="rId34"/>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10.xml"/><Relationship Id="rId16" Type="http://schemas.openxmlformats.org/officeDocument/2006/relationships/slide" Target="slides/slide22.xml"/><Relationship Id="rId17" Type="http://schemas.openxmlformats.org/officeDocument/2006/relationships/slide" Target="slides/slide23.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1.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3.xml"/><Relationship Id="rId31" Type="http://schemas.openxmlformats.org/officeDocument/2006/relationships/slide" Target="slides/slide9.xml"/><Relationship Id="rId32" Type="http://schemas.openxmlformats.org/officeDocument/2006/relationships/slide" Target="slides/slide12.xml"/><Relationship Id="rId33" Type="http://schemas.openxmlformats.org/officeDocument/2006/relationships/slide" Target="slides/slide17.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curso con la técnica que decide QUÉ mostrar a cada cliente. Promesa: pasar de una matriz usuario-ítem casi vacía a una lista personalizada que mueve ventas. Se replica la factorización de matrices de Koren-Bell-Volinsky (2009) sobre MovieLens (sustituto canónico del Netflix Prize, retirado) y se lleva al negocio con feedback implícito. Cada cifra se muestra contra su fuente y se LEE del Excel (fidelidad verificada). Última sesión de contenido: alimenta el proyecto integrador. El botón «Abrir en Colab» va al cuaderno.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Mapa en cuatro actos con pulso contexto → evidencia → decisión. Acto 1: la matriz usuario-ítem, su dispersión, la cola larga y el arranque en frío. Acto 2: las tres familias de recomendador (colaborativo de vecindario user/item-based, contenido e híbrido). Acto 3: la réplica de la factorización de Koren (2009) con SVD y el RMSE por algoritmo. Acto 4: la evaluación top-k (precisión@k, NDCG, MAP) que muestra que RMSE≠ranking, el feedback implícito y la decisión de negocio. Segmentación (S07), reglas de asociación/cross-selling (S08) y CLV (S13) se nombran como conexión; NLP y deep learning quedan fuera.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La materia prima de todo recomendador es la matriz usuario-ítem, y su rasgo definitorio es que casi toda ella está vacía. De ese vacío nacen los dos problemas de la sesión: la dispersión (sparsity) y el arranque en frío (cold start). [Jueves, capítulo 14.1]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Golpe inicial. La matriz usuario-ítem de MovieLens 100k tiene 943 usuarios × 1682 películas = 1 586 126 celdas, pero solo 100 000 notas: el 93,7 % está vacío. Nadie califica todo. Recomendar es, formalmente, ESTIMAR esas celdas vacías para proponer las de mayor valor previsto. Esa dispersión (sparsity) es la razón de ser de todas las técnicas de la sesión. En negocio es idéntico: catálogos de millones de ítems y cada cliente ha tocado una fracción mínima. [Jueves, capítulo 14.1]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Dos definiciones ancla. (1) La matriz usuario-ítem (utility matrix) es la representación única de la que parte todo recomendador: filas = usuarios, columnas = ítems, celda = calificación explícita (estrellas) o interacción implícita (compró/vio). (2) La dispersión es la proporción vacía; motiva la factorización (resume el patrón en pocos factores) y las estrategias de cold start. No se rellena con ceros: un 0 no es «lo odió», es «no visto». [Jueves, capítulo 14.1]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curva de popularidad es una cola larga: un número reducido de éxitos concentra casi todas las calificaciones (el 32 % de los títulos reúne el 80 % de las notas), y miles de películas tienen muy pocas. Consecuencia doble: (1) la dispersión es estructural; (2) los ítems de la cola sufren cold start —sin apenas notas, el filtrado colaborativo no puede recomendarlos con fiabilidad—. Es el argumento para la factorización (Acto 3) y para las estrategias híbridas (Acto 2). [Jueves, capítulo 14.1]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(2 min). Guiar: un ítem nuevo no tiene columna útil → el filtrado colaborativo (que solo mira la conducta pasada) no puede operar. La salida es OTRA fuente de señal: contenido (atributos del producto), popularidad u onboarding. El término se formaliza en el Acto 2 (cold start). Traducción a negocio: un lanzamiento se recomienda por su ficha (categoría, marca), no por interacciones que aún no existen. [Jueves, capítulo 14.1]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desarrollo de métodos. Hay tres familias: el filtrado colaborativo (aprende de la conducta de muchos), el basado en contenido (describe el ítem) y el híbrido (combina ambos). Cada una falla distinto; por eso producción es casi siempre híbrida. [Jueves, capítulo 14.2]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algoritmo. Sarwar NO se propuso recomendar mejor: se propuso recomendar A TIEMPO. La pregunta del paper es CUÁNDO se puede calcular la recomendación, no cuánto acierta, y lo que estaba en juego era si un sitio de comercio electrónico podía poner una lista personalizada en la página mientras el cliente la mira. El cuello de botella tiene nombre: el vecindario de un usuario caduca cada vez que ese usuario actúa, así que su cálculo cae íntegro sobre el momento de servir la página. Anunciar aquí la otra mitad de la sesión: siete años después, Hu, Koren y Volinsky plantearon otra pregunta —QUÉ se puede modelar cuando el usuario nunca califica—, y esa pregunta se responde en el Acto 4. Fuente: REPLICACION_PAPER.md Sección 0.1. [Jueves, capítulo 14.5]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Las dos primeras tarjetas son las dos preguntas de la sesión. (1) Sarwar responde el CUÁNDO: el giro no fue un algoritmo más fino, sino decidir QUÉ OBJETO ES ESTABLE; con eso partió el trabajo en una fase fuera de línea y otra en línea. Añadir que nada se adoptó por costumbre: compararon coseno básico, Pearson y coseno ajustado antes de quedarse con el ajustado, y guardaron solo los k vecinos de cada ítem tras MEDIR la pérdida (el tiempo de respuesta del artículo cae de 36,34 s a 1,292 s). (2) Hu responde el QUÉ: cuando nadie califica, el número observado no indica preferencia sino confianza —la película preferida se ve una vez, la serie que apenas gusta se ve todas las semanas—. (3) ALS no es un gusto de implementación: es la consecuencia forzosa de sumar sobre toda la matriz. Cerrar con la pregunta más productiva: «uno deja el cero fuera del cálculo y el otro lo incluye con confianza mínima, ¿por qué ninguno se equivoca?». Fuente: REPLICACION_PAPER.md Secciones 0.1 y 0.3. [Jueves, capítulo 14.5]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filtrado colaborativo (CF) no usa atributos del ítem, solo la matriz. (1) User-based: «clientes como tú»; media ponderada de los vecinos más parecidos (coseno/Pearson sobre las filas). Escala mal: recomputar vecinos entre millones que cambian a diario es caro. (2) Item-based (Sarwar 2001): similitud ítem-ítem, estable y precalculable offline; es el clásico «los que compraron esto también compraron…» de Amazon, escala mejor y con coseno ajustado iguala o supera al user-based (aquí RMSE 0,915 vs 0,979). [Jueves, capítulo 14.3]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Content-based: perfil del usuario a partir de atributos del ítem; funciona sin historial de otros y resuelve el cold start de ítems nuevos, pero se sobre-especializa (solo más de lo mismo) y es transparente. (2) Híbrido: pondera/conmuta entre enfoques; ningún método único cubre bien cold start, dispersión y diversidad. (3) Cold start: usuario o ítem sin filas/columnas útiles; se ataca con contenido, popularidad u onboarding, no con hiperparámetros. [Jueves, capítulo 14.3]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acto con la regla de decisión. No hay un método único bueno: se elige (o se combina) según el problema. Con historial abundante y catálogo estable, el colaborativo destaca; con ítems nuevos o cold start, el contenido; en producción, casi siempre híbrido. La pregunta de diseño no es «qué algoritmo es el mejor» sino «qué señal está disponible». Esto abre el Acto 3: cuando SÍ hay conducta abundante, la factorización de matrices es la opción más adecuada. [Jueves, capítulo 14.2]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evidencia central: la factorización de matrices (Koren-Bell-Volinsky 2009), el estándar moderno de recomendación y el núcleo de la sesión. Resume la matriz dispersa en pocos factores latentes y predice mejor que el vecindario. Es lo que se replica sobre MovieLens. [Jueves, capítulo 14.3]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Factores latentes: cada usuario pᵤ y cada ítem qᵢ se representan por f factores (por defecto 100) aprendidos de las notas; la predicción es su producto interno qᵢᵀpᵤ. Captan dimensiones implícitas (acción vs. drama, para niños). (2) El SVD de Surprise NO es la descomposición algebraica: es la MF sesgada y regularizada r̂=μ+bᵤ+bᵢ+qᵢᵀpᵤ, entrenada por SGD SOLO sobre las celdas observadas (no rellena huecos). Los sesgos separan al crítico severo y a la película popular de la afinidad real. [Jueves, capítulo 14.3]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ajustar la factorización de Koren es literalmente una llamada a cross_validate con SVD (random_state=42) sobre los folds deterministas (KFOLD). El resultado es el RMSE que alimenta la figura de barras: SVD 0,935, que ya supera al solo-sesgos (0,944) y a la media (1,126). El «SVD» aquí es factorización sesgada y regularizada, no álgebra. Fuente: notebook celda 9. [Jueves, capítulo 14.5]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Réplica del mensaje de Koren. El RMSE mide el error de predicción de la nota (escala 1-5); menor es mejor, y solo se lee CONTRA un baseline. SVD (0,935) reduce el error 16,9 % frente a la media global (1,126) y 38,6 % frente al azar (≈ 1,52); además supera a los solo-sesgos (0,944), prueba de que los factores latentes aportan. Honestidad: aquí el item-based (0,915) queda incluso algo por debajo del SVD —rendimiento equivalente en la práctica— confirmando a Sarwar (vecindario por ítems &gt; por usuarios, 0,979). El «SVD» es MF, no álgebra. [Jueves, capítulo 14.5]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Pista: el usuario no ve una nota prevista, ve una LISTA corta (carrusel). El RMSE mide predicción de nota, no calidad del ranking: un modelo con buen RMSE puede colocar lo relevante abajo. Por eso el entregable exige métricas top-k (precisión@k, NDCG@10) sobre partición temporal, no solo RMSE. Abre el Acto 4. [Jueves, capítulo 14.5]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La lista se evalúa con métricas top-k (calidad y orden del escaparate) sobre una partición temporal (predecir el futuro con el pasado), y se lleva al negocio con feedback implícito (compras). Aquí se toma la decisión: qué recomendar y cuánto vale hacerlo. [Jueves, capítulo 14.4]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Dos métricas de calidad de la lista. (1) Precisión@k: de los k recomendados, cuántos gustan realmente (nota ≥ 3,5) — «no molestar»; un ítem es recomendado si está en el top-k Y su estimación supera el umbral. (2) NDCG@k: normaliza el DCG (ganancia descontada por log₂(posición)) por el orden ideal → (0,1]; premia lo relevante ARRIBA, donde están los clics. El RMSE mide la nota; estas miden la LISTA. [Jueves, capítulo 14.4]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 MAP@k: precisión media agregada sobre todos los usuarios; resume la calidad de ranking en un solo número, útil para A/B de algoritmos (aquí SVD 0,686). (4) Partición temporal: ordenar por timestamp y predecir el futuro con el pasado (80/20); la partición aleatoria filtra información (data leakage) e infla el desempeño. Es el protocolo del entregable. [Jueves, capítulo 14.4]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14.5. Se enuncia la pregunta tal como aparece en el sílabo, la ficha, el cuaderno y la guía: es el mismo código en todos. [Jueves, capítulo 14.5]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14.1. Se enuncia la pregunta tal como aparece en el sílabo, la ficha, el cuaderno y la guía: es el mismo código en todos. [Jueves, capítulo 14.1]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14.2. Se enuncia la pregunta tal como aparece en el sílabo, la ficha, el cuaderno y la guía: es el mismo código en todos. [Jueves, capítulo 14.2]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14.3. Se enuncia la pregunta tal como aparece en el sílabo, la ficha, el cuaderno y la guía: es el mismo código en todos. [Jueves, capítulo 14.3]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14.4. Se enuncia la pregunta tal como aparece en el sílabo, la ficha, el cuaderno y la guía: es el mismo código en todos. [Jueves, capítulo 14.4]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verificada (lo declarado para la sesión / BIBLIOGRAFIA_ALUMNOS.md). Sarwar funda el item-based; Koren-Bell-Volinsky, la factorización moderna (Netflix Prize); Hu-Koren-Volinsky, el feedback implícito (el caso de negocio); Harper &amp; Konstan documentan MovieLens (el dataset de la réplica). Ruta del curso: partir del paper, replicar su resultado con Surprise y recién entonces llevarlo a los datos de la organización. PDFs abiertos en el cuaderno.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4_recomendacion/notebook/S14_recomendacion.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S14</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Del historial a la
recomendación siguiente</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Filtrado colaborativo, factorización (SVD), métricas top-k, cold start</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14.1 A 14.5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14.1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identificar quién abandona no determina qué ofrecerle?</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s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14.2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un sistema de recomendación?</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workflow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14.3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identifican las preferencias que nadie declaró?</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14.4 y 14.5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mide un recomendador? ¿Se sostiene con datos reales? La réplica del Netflix Prize (2009)</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10896"/>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identificar quién abandona no determina qué ofrecerle?</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14.1 — jueves, bloques A1 y A2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identificar quién abandona no determina qué ofrecerle?</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identificar quién abandona no determina qué ofrecerle?</a:t>
            </a:r>
          </a:p>
        </p:txBody>
      </p:sp>
      <p:pic>
        <p:nvPicPr>
          <p:cNvPr id="5" name="Picture 4" descr="databas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93,7 %</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La matriz usuario-ítem está casi vacía</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En MovieLens 100k hay 100 000 notas sobre 1 586 126 celdas posibles: recomendar es estimar el 93,7 % que falta.</a:t>
            </a:r>
          </a:p>
        </p:txBody>
      </p:sp>
      <p:pic>
        <p:nvPicPr>
          <p:cNvPr id="5" name="Picture 4" descr="funnel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MovieLens 100k — 100 000 notas / (943×1682), densidad 6,3 %, DEFINICIONES Sección 2, venv/Excel (recsys).</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LA MATERIA PRIMA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Recomendar es completar una matriz casi vacía</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base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Matriz usuario-ítem</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Tabla usuarios × ítems con la nota o interacción de cada par. Recomendar es estimar las celdas vacías de mayor valor.</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unnel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Dispersión (sparsity)</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Proporción de celdas vacías: en MovieLens 100k, el 93,7 %. Cuanto más vacía, menos evidencia por usuario e ítem.</a:t>
            </a:r>
          </a:p>
        </p:txBody>
      </p:sp>
      <p:sp>
        <p:nvSpPr>
          <p:cNvPr id="12" name="TextBox 11"/>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Secciones 1-2, Koren, Bell &amp; Volinsky (2009); Sarwar et al. (2001), densidad 6,3 % (100 000/1 586 126).</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32 % de las películas reúne el 80 % de las notas</a:t>
            </a:r>
          </a:p>
        </p:txBody>
      </p:sp>
      <p:pic>
        <p:nvPicPr>
          <p:cNvPr id="3" name="Picture 2" descr="S14deck_cola_larga.png"/>
          <p:cNvPicPr>
            <a:picLocks noChangeAspect="1"/>
          </p:cNvPicPr>
          <p:nvPr/>
        </p:nvPicPr>
        <p:blipFill>
          <a:blip r:embed="rId2"/>
          <a:stretch>
            <a:fillRect/>
          </a:stretch>
        </p:blipFill>
        <p:spPr>
          <a:xfrm>
            <a:off x="548640" y="1828800"/>
            <a:ext cx="6949440" cy="3562048"/>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Pocos títulos acaparan las notas; la mayoría vive en la cola larga, donde el colaborativo se queda sin señal y aparece el cold start.</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MovieLens 100k, calificaciones por película (rank), el 32 % de los títulos reúne el 80 % de las notas — venv/Excel (dispersion).</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¿Se puede recomendar un ítem que nadie ha calificado todavía?</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Arranque en frío: sin historial, el colaborativo no tiene señal. ¿Qué haría el negocio con un producto recién lanzado?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es un sistema de recomendación?</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14.2 — jueves, bloques A1 y A2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identifican las preferencias que nadie declaró?</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identifican las preferencias que nadie declaró?</a:t>
            </a:r>
          </a:p>
        </p:txBody>
      </p:sp>
      <p:pic>
        <p:nvPicPr>
          <p:cNvPr id="5" name="Picture 4" descr="users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SÍNTESIS — ELEGIR SEGÚN EL PROBLEMA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familia falla distinto: por eso se combinan</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ers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Colaborativo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Aprende gustos de la conducta agregada y halla afinidades no obvias.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Falla en cold start y alta dispersión</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Contenido</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Describe el ítem por sus atributos y recomienda lo similar; cubre ítems nuevos.</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 sobre-especializa: más de lo mismo</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efresh-cw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Híbrido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Contenido al arrancar, colaborativo al acumular datos: robusto en producción.</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Más complejo, pero es el estándar</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identifican las preferencias que nadie declaró?</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14.3 — jueves, bloques A1 y A2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VECINDARIO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colaborativo aprende de la conducta de todos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ers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Filtrado colaborativo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Recomienda según el comportamiento de muchos usuarios, sin describir el ítem: «a quien se parece a ti le gustó esto».</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sers__FFFFFF.png"/>
          <p:cNvPicPr>
            <a:picLocks noChangeAspect="1"/>
          </p:cNvPicPr>
          <p:nvPr/>
        </p:nvPicPr>
        <p:blipFill>
          <a:blip r:embed="rId2"/>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User-based (por usuarios)</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Predice con la media ponderada de los usuarios más parecidos. Intuitivo, pero escala mal entre millones de usuarios.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tabase__FFFFFF.png"/>
          <p:cNvPicPr>
            <a:picLocks noChangeAspect="1"/>
          </p:cNvPicPr>
          <p:nvPr/>
        </p:nvPicPr>
        <p:blipFill>
          <a:blip r:embed="rId3"/>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Item-based (por ítems)</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Usa la similitud entre ítems, estable y precalculable: «quien compró esto también compró…». Escala mejor e iguala o supera.</a:t>
            </a:r>
          </a:p>
        </p:txBody>
      </p:sp>
      <p:sp>
        <p:nvSpPr>
          <p:cNvPr id="16" name="TextBox 15"/>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Secciones 3-5, Sarwar, Karypis, Konstan &amp; Riedl (2001), WWW '01; Ricci, Rokach &amp; Shapira (2015). El coseno ajustado da el menor error (Sarwar).</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MÁS ALLÁ DEL VECINDARIO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Contenido, híbrido y cold start cubren los huecos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ok-ope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Basado en contenido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Recomienda ítems parecidos en atributos (género, marca) a los que gustaron. Sirve sin otros usuarios, pero tiende a más de lo mismo.</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fresh-cw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Sistemas híbridos</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Combinan colaborativo y contenido para compensar debilidades. Los recomendadores de producción son casi siempre híbridos.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lock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Arranque en frío (cold start)</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Sin historial no hay recomendación: usuario o ítem nuevo. Se resuelve con contenido, popularidad u onboarding.</a:t>
            </a:r>
          </a:p>
        </p:txBody>
      </p:sp>
      <p:sp>
        <p:nvSpPr>
          <p:cNvPr id="16" name="TextBox 15"/>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Secciones 6-7, 10, Ricci, Rokach &amp; Shapira (2015), Recommender Systems Handbook, 2.ª ed. El cold start es estructural: falta de datos, no un error.</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identifican las preferencias que nadie declaró?</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identifican las preferencias que nadie declaró?</a:t>
            </a:r>
          </a:p>
        </p:txBody>
      </p:sp>
      <p:pic>
        <p:nvPicPr>
          <p:cNvPr id="5" name="Picture 4" descr="workflow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FACTORES LATENTES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Los factores latentes resumen toda la matriz</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Factorización — factores latentes</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Cada usuario e ítem se resume en un vector de factores; la nota es su producto interno. Se ajustan solo con lo observado.</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orkflow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SVD de Surprise</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Factorización con sesgos y regularización: r̂ = μ+bᵤ+bᵢ+qᵢᵀpᵤ. No es el SVD algebraico; separa sesgos de afinidad.</a:t>
            </a:r>
          </a:p>
        </p:txBody>
      </p:sp>
      <p:sp>
        <p:nvSpPr>
          <p:cNvPr id="12" name="TextBox 11"/>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Secciones 8-9, Koren, Bell &amp; Volinsky (2009), IEEE Computer 42(8):30-37. Ganó el Netflix Prize; se entrena por descenso de gradiente sobre lo observado.</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un recomendador?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14.4 — jueves, bloques A1 y A2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un recomendador?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mide un recomendador?</a:t>
            </a:r>
          </a:p>
        </p:txBody>
      </p:sp>
      <p:pic>
        <p:nvPicPr>
          <p:cNvPr id="5" name="Picture 4" descr="git-bran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CALIDAD DE LA LISTA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lista se mide por su orden, no por el error</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auge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Precisión@k</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De los k ítems recomendados, cuántos gustan realmente (nota ≥ 3,5). Mide la calidad del escaparate.</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ward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NDCG@k</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Premia colocar lo relevante arriba: descuenta cada acierto por su posición. Rango (0,1]; sensible al orden.</a:t>
            </a:r>
          </a:p>
        </p:txBody>
      </p:sp>
      <p:sp>
        <p:nvSpPr>
          <p:cNvPr id="12" name="TextBox 11"/>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Secciones 13-14, Järvelin &amp; Kekäläinen (2002), ACM TOIS 20(4); Surprise FAQ (umbral de relevancia 3,5, k=10).</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PROTOCOLO OFFLINE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Evaluar en el futuro con datos del pasado</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MAP@k</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Precisión media agregada sobre todos los usuarios: resume la calidad de ranking en un solo número.</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ock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Partición temporal</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Entrenar con el pasado y evaluar en el futuro. La partición aleatoria filtra el futuro e infla el desempeño.</a:t>
            </a:r>
          </a:p>
        </p:txBody>
      </p:sp>
      <p:sp>
        <p:nvSpPr>
          <p:cNvPr id="12" name="TextBox 11"/>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Secciones 15-16, Ricci, Rokach &amp; Shapira (2015); los datasets MovieLens incluyen timestamp (Harper &amp; Konstan 2015).</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del Netflix Prize (2009)</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14.5 — jueves, bloques A1 y A2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El primer desafío es mejorar la escalabilidad de los algoritmos de filtrado colaborativo. Estos algoritmos pueden buscar entre decenas de miles de vecinos potenciales en tiempo real, pero lo que exigen los sistemas modernos es buscar entre decenas de millones.</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Sarwar, Karypis, Konstan &amp; Riedl, 2001 — Sección 1 del artículo (WWW '01)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CADA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Sarwar preguntó cuándo, Hu preguntó qué</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entre ítems (Sarwar)</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Las relaciones entre ítems son estables; el vecindario de un usuario caduca en cuanto actúa. La similitud ítem-ítem se precomputa fuera de línea.</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Movió el cómputo de la hora punta a la madrugada</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preferencia y confianza (Hu)</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Sin negativos observados, la intensidad no dice cuánto gusta sino cuánto se cree: preferencia binaria y confianza c = 1 + α·r.</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Un 0 es «no observado», nunca «lo detesta»</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ALS y no gradiente (Hu)</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Al minimizar sobre TODOS los pares hay tantos términos como celdas. Con los factores de un lado fijos, la solución es exacta.</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Única manera de mirar la matriz entera</a:t>
            </a:r>
          </a:p>
        </p:txBody>
      </p:sp>
      <p:sp>
        <p:nvSpPr>
          <p:cNvPr id="19" name="TextBox 18"/>
          <p:cNvSpPr txBox="1"/>
          <p:nvPr/>
        </p:nvSpPr>
        <p:spPr>
          <a:xfrm>
            <a:off x="548640" y="6053328"/>
            <a:ext cx="11064240" cy="320040"/>
          </a:xfrm>
          <a:prstGeom prst="rect">
            <a:avLst/>
          </a:prstGeom>
          <a:noFill/>
        </p:spPr>
        <p:txBody>
          <a:bodyPr wrap="square">
            <a:spAutoFit/>
          </a:bodyPr>
          <a:lstStyle/>
          <a:p>
            <a:r>
              <a:rPr sz="1000">
                <a:solidFill>
                  <a:srgbClr val="6E6E6E"/>
                </a:solidFill>
                <a:latin typeface="Calibri"/>
              </a:rPr>
              <a:t>Decisiones documentadas por sus autores: REPLICACION_PAPER Secciones 0.1 y 0.3 (Sarwar et al. 2001, Secciones 1 y 3; Hu, Koren &amp; Volinsky 2008, pp. 264-266).</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SURPRISE, CROSS_VALIDATE(SVD)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Ajustar el SVD son dos líneas de código</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ajusta la factorización SVD de Koren por 5-fold CV (semilla fija) y lee el RMSE contra los baselines.</a:t>
            </a:r>
          </a:p>
        </p:txBody>
      </p:sp>
      <p:sp>
        <p:nvSpPr>
          <p:cNvPr id="5" name="Rounded Rectangle 4"/>
          <p:cNvSpPr/>
          <p:nvPr/>
        </p:nvSpPr>
        <p:spPr>
          <a:xfrm>
            <a:off x="548640" y="2395728"/>
            <a:ext cx="11094720" cy="334670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74320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from surprise import SVD, BaselineOnly</a:t>
            </a:r>
          </a:p>
          <a:p>
            <a:pPr>
              <a:lnSpc>
                <a:spcPct val="130000"/>
              </a:lnSpc>
              <a:spcAft>
                <a:spcPts val="400"/>
              </a:spcAft>
            </a:pPr>
            <a:r>
              <a:rPr sz="1200">
                <a:solidFill>
                  <a:srgbClr val="2D2D2D"/>
                </a:solidFill>
                <a:latin typeface="Consolas"/>
              </a:rPr>
              <a:t>from surprise.model_selection import cross_validate</a:t>
            </a:r>
          </a:p>
          <a:p>
            <a:pPr>
              <a:lnSpc>
                <a:spcPct val="130000"/>
              </a:lnSpc>
              <a:spcAft>
                <a:spcPts val="400"/>
              </a:spcAft>
            </a:pPr>
            <a:r>
              <a:rPr sz="1200">
                <a:solidFill>
                  <a:srgbClr val="2D2D2D"/>
                </a:solidFill>
                <a:latin typeface="Consolas"/>
              </a:rPr>
              <a:t/>
            </a:r>
          </a:p>
          <a:p>
            <a:pPr>
              <a:lnSpc>
                <a:spcPct val="130000"/>
              </a:lnSpc>
              <a:spcAft>
                <a:spcPts val="400"/>
              </a:spcAft>
            </a:pPr>
            <a:r>
              <a:rPr sz="1200">
                <a:solidFill>
                  <a:srgbClr val="2D2D2D"/>
                </a:solidFill>
                <a:latin typeface="Consolas"/>
              </a:rPr>
              <a:t>svd_cv = cross_validate(SVD(random_state=42), data,</a:t>
            </a:r>
          </a:p>
          <a:p>
            <a:pPr>
              <a:lnSpc>
                <a:spcPct val="130000"/>
              </a:lnSpc>
              <a:spcAft>
                <a:spcPts val="400"/>
              </a:spcAft>
            </a:pPr>
            <a:r>
              <a:rPr sz="1200">
                <a:solidFill>
                  <a:srgbClr val="2D2D2D"/>
                </a:solidFill>
                <a:latin typeface="Consolas"/>
              </a:rPr>
              <a:t>                        measures=["RMSE", "MAE"], cv=KFOLD)</a:t>
            </a:r>
          </a:p>
          <a:p>
            <a:pPr>
              <a:lnSpc>
                <a:spcPct val="130000"/>
              </a:lnSpc>
              <a:spcAft>
                <a:spcPts val="400"/>
              </a:spcAft>
            </a:pPr>
            <a:r>
              <a:rPr sz="1200">
                <a:solidFill>
                  <a:srgbClr val="2D2D2D"/>
                </a:solidFill>
                <a:latin typeface="Consolas"/>
              </a:rPr>
              <a:t>rmse_svd = float(np.mean(svd_cv["test_rmse"]))</a:t>
            </a:r>
          </a:p>
          <a:p>
            <a:pPr>
              <a:lnSpc>
                <a:spcPct val="130000"/>
              </a:lnSpc>
              <a:spcAft>
                <a:spcPts val="400"/>
              </a:spcAft>
            </a:pPr>
            <a:r>
              <a:rPr sz="1200">
                <a:solidFill>
                  <a:srgbClr val="2D2D2D"/>
                </a:solidFill>
                <a:latin typeface="Consolas"/>
              </a:rPr>
              <a:t># RMSE:  SVD 0,935  &lt;  solo-sesgos 0,944  &lt;  media 1,126</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Sección 2, SVD 5-fold CV → recsys!B2 (RMSE_SVD) y hoja rmse_algoritmos, solo-sesgos recsys!B19, media recsys!B3, venv/Excel.</a:t>
            </a:r>
          </a:p>
        </p:txBody>
      </p:sp>
      <p:sp>
        <p:nvSpPr>
          <p:cNvPr id="9" name="Rounded Rectangle 8"/>
          <p:cNvSpPr/>
          <p:nvPr/>
        </p:nvSpPr>
        <p:spPr>
          <a:xfrm>
            <a:off x="9098280" y="310896"/>
            <a:ext cx="256032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celda 9</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factorización baja el error 16,9 % frente a la media global</a:t>
            </a:r>
          </a:p>
        </p:txBody>
      </p:sp>
      <p:pic>
        <p:nvPicPr>
          <p:cNvPr id="3" name="Picture 2" descr="S14deck_rmse.png"/>
          <p:cNvPicPr>
            <a:picLocks noChangeAspect="1"/>
          </p:cNvPicPr>
          <p:nvPr/>
        </p:nvPicPr>
        <p:blipFill>
          <a:blip r:embed="rId2"/>
          <a:stretch>
            <a:fillRect/>
          </a:stretch>
        </p:blipFill>
        <p:spPr>
          <a:xfrm>
            <a:off x="548640" y="1828800"/>
            <a:ext cx="6949440" cy="3339021"/>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SVD (0,935) supera a los solo-sesgos (0,944) y a la media (1,126): los factores latentes aportan valor propio.</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Réplica Koren-Bell-Volinsky (2009) sobre MovieLens 100k — RMSE 5-fold CV: SVD 0,935 &lt; solo-sesgos 0,944 &lt; media 1,126 &lt; azar ≈ 1,52 — item-based 0,915 (Sarwar) — venv/Excel (rmse_algoritmos).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¿Un RMSE bajo garantiza una buena lista de recomendaciones?</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El RMSE mide el error de la nota, no el orden de la lista: un modelo preciso puede ordenar mal el carrusel.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De 2001 a 2015: cuatro lecturas anclan la sesión</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Item-Based Collaborative Filtering Recommendation Algorithms</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Sarwar, Karypis, Konstan &amp; Riedl (2001) — WWW '01  —  similitud entre ítems: el vecindario que escala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Matrix Factorization Techniques for Recommender Systems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Koren, Bell &amp; Volinsky (2009) — IEEE Computer 42(8)  —  factores latentes: el núcleo de la sesión</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Collaborative Filtering for Implicit Feedback Datasets</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Hu, Koren &amp; Volinsky (2008) — IEEE ICDM '08  —  preferencia y confianza: el caso de negocio</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The MovieLens Datasets: History and Context</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Harper &amp; Konstan (2015) — ACM TiiS 5(4)  —  el dataset de la réplica y su historia</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S14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