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8" r:id="rId20"/>
    <p:sldId id="265" r:id="rId17"/>
    <p:sldId id="266" r:id="rId18"/>
    <p:sldId id="267" r:id="rId19"/>
    <p:sldId id="269" r:id="rId21"/>
    <p:sldId id="270" r:id="rId22"/>
    <p:sldId id="271" r:id="rId23"/>
    <p:sldId id="273" r:id="rId25"/>
    <p:sldId id="274" r:id="rId26"/>
    <p:sldId id="272" r:id="rId24"/>
    <p:sldId id="284" r:id="rId36"/>
  </p:sldIdLst>
  <p:sldSz cx="12192000" cy="6858000" type="screen16x9"/>
  <p:notesSz cx="6858000" cy="9144000"/>
  <p:embeddedFontLst>
    <p:embeddedFont>
      <p:font typeface="Calibri"/>
      <p:regular r:id="rId38"/>
      <p:bold r:id="rId39"/>
      <p:italic r:id="rId40"/>
      <p:boldItalic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0.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9.xml"/><Relationship Id="rId25" Type="http://schemas.openxmlformats.org/officeDocument/2006/relationships/slide" Target="slides/slide17.xml"/><Relationship Id="rId26" Type="http://schemas.openxmlformats.org/officeDocument/2006/relationships/slide" Target="slides/slide18.xml"/><Relationship Id="rId36" Type="http://schemas.openxmlformats.org/officeDocument/2006/relationships/slide" Target="slides/slide20.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font" Target="fonts/font3.fntdata"/><Relationship Id="rId4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Unidad 3 (técnicas especializadas). Promesa: convertir la historia de una serie en un pronóstico con incertidumbre y en una decisión de negocio, sin mirar el futuro. Se replica el modelo aerolínea de Box &amp; Jenkins (1970) y el ejemplo oficial de Prophet (Taylor &amp; Letham, 2018). Método del deck: cada cifra se muestra contra su fuente y se LEE del Excel de resultados (fidelidad verificada). El botón «Abrir en Colab» lleva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Recorrer la sesión en cuatro actos con pulso Contexto -&gt; Evidencia -&gt; Decisión, el hilo del curso: ir del dato a la decisión. Acto 1: por qué el pronóstico decide y por qué validar es lo difícil. Acto 2: descomponer y probar estacionariedad antes de modelar. Acto 3: las DOS réplicas del cuaderno —el modelo aerolínea de Box &amp; Jenkins (SARIMA) y el ejemplo oficial de Prophet— junto a ETS. Acto 4: métricas, backtesting rolling-origin sin fuga y elección del campeón. Las técnicas de S12-S14 solo se nombran al cierre.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contexto. Cualquier librería ajusta un modelo en dos líneas; lo difícil —y lo que decide el negocio— es validar el pronóstico de forma honesta. Ese es el arco de la sesión. [Jueves, capítulo 11.1]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pronóstico no es un fin: alimenta decisiones caras (inventario, personal, compras). Por eso importan la métrica correcta y una validación honesta. El problema real del laboratorio es demanda multi-serie: miles de SKU. [Jueves, capítulo 11.1]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Contraste con la realidad y tesis de la sesión. Albelali &amp; Ahmed (2025) miden que construir las secuencias ANTES de separar train/test da un RMSE reportado OPTIMISTA: hasta ~20,5 % por debajo del honesto (10 folds con fuga), frente a &lt;5 % de brecha con particiones ordenadas. Cifra ilustrativa de la literatura, no del Excel. Un modelo que «aparenta» ser mejor en el reporte puede medir mal. Retoma el leakage de S10 (SMOTE antes del split), trasladado al eje tiempo: aquí el error es mirar el futuro. [Jueves, capítulo 11.1]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evidencia. Antes de elegir un modelo se diagnostica la serie: se separa en componentes y se evalúa su estacionariedad. Es la comprensión de datos aplicada al tiempo. [Jueves, capítulo 11.2]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serie temporal (observaciones equiespaciadas en el tiempo) y sus componentes. Separarlos responde preguntas distintas: ¿la demanda crece de fondo (tendencia) o solo sube en diciembre (estacionalidad)? Confundir un pico estacional con crecimiento real lleva a errores de inventario. Fuente: FPP3 cap. 3. [Jueves, capítulo 11.2]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STL (loess) admite estacionalidad que cambia en el tiempo y es robusto a atípicos. Cada panel tiene su propia escala: no comparar el estacional con la tendencia. La firma clave es la amplitud estacional creciente -&gt; transformación log (estabiliza la varianza) antes de modelar. [Jueves, capítulo 11.2]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Una serie no estacionaria tiene «memoria»: sus estadísticos cambian con el tiempo y un promedio o una correlación inducen a error. ADF (H0: raíz unitaria) y KPSS (H0: estacionaria) tienen nulas OPUESTAS y se usan juntas; el error de lectura más común es invertir KPSS. Sobre la log-serie ambas dan no estacionaria; tras d=1 y D=1, ADF p 0,0002 -&gt; estacionaria. [Jueves, capítulo 11.3]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núcleo de la réplica. El caso canónico de SARIMA estacional: 1970, la «Serie G» (pasajeros de aerolíneas). Con dos parámetros captura tendencia y estacionalidad anual multiplicativa.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Prophet NO nació de la sospecha de que ARIMA pronostique mal: nació de un cuello de botella ORGANIZACIONAL. La pregunta era cómo produce una empresa pronósticos confiables de miles de series cuando quien conoce el negocio no sabe de series temporales y los especialistas en series temporales son muy escasos. Aclarar el matiz que el alumno suele perder: «escala» aquí NO es cómputo ni almacenamiento —los autores descartan esa lectura de forma explícita—; es variedad de problemas, operadores sin formación y confianza en cientos de pronósticos ya producidos. Preguntar al aula: '¿qué decisiones dependen de ese pronóstico?' — planificación de capacidad, fijación de metas y detección de anomalías. Fuente: REPLICACION_PAPER.md Sección 0.1.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y detenerse en la segunda: los mandos de un SARIMA son órdenes de un proceso generativo, sin traducción al lenguaje del negocio; quien no los interpreta tampoco los corrige, y a escala un modelo incorregible es un modelo inservible. Precisar que los autores reconocen que ARIMA SÍ admite covariables estacionales, pero que eso alarga considerablemente el ajuste y exige una pericia que un analista sin experiencia no tiene: la alternativa se descarta por COSTE DE OPERACIÓN, no por incapacidad. De ahí la tercera tarjeta: renuncian a las ventajas inferenciales del modelo generativo a cambio de parámetros que el analista puede cambiar, porque los analistas sí tienen experiencia con la regresión. Enlazar con el Acto 4: el paper impone además un PROTOCOLO de validación —pronósticos sobre fechas históricas simuladas—, no solo un modelo. Fuente: REPLICACION_PAPER.md Sección 0.2 y 0.3.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tres partes de ARIMA. SARIMA añade una parte estacional (P,D,Q) en el período (12 en datos mensuales). El modelo aerolínea es (0,1,1)(0,1,1) con m=12 sobre log: una diferencia regular y una estacional, un MA y un MA estacional. Se estiman por máxima verosimilitud y se comparan por AIC. [Jueves, capítulo 11.3]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ajustar el modelo aerolínea son pocas líneas. SARIMAX sobre log(y), orden (0,1,1)(0,1,1,12), trend='n'. Resultado OPERATIVO del venv: θ₁ -0,4326, Θ₁ -0,5475, AIC -435,44. enforce_*=False relaja el optimizador; luego se comprueba que la solución cae en rango invertible. REGLA DE ORO: el benchmark R forecast (−0,4018 / −0,5569, otro pipeline) va ETIQUETADO. Fuente: notebook celda 36; B2, B3, B6.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θ₁ = -0,4326 y Θ₁ = -0,5475, ambos negativos y significativos. CONVENCIÓN DE SIGNOS: statsmodels y R escriben la parte MA con el operador de rezago B como (1+θ·B) -&gt; coeficientes negativos (ma.L1/ma.S.L12 son solo sus nombres en statsmodels); Box &amp; Jenkins usan (1−θ·B) -&gt; los reportan positivos (~0,40 y 0,61, publicado): es la MISMA solución. Residuos ~ ruido blanco (Ljung-Box p 0,754). EN EL PAPER: Box &amp; Jenkins (1970) fundan ARIMA y el modelo aerolínea. Datos: Excel!series_airpassengers.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Train 132 meses / test 12 (año 1960). Se pronostica en log y se des-transforma con exp para comparar en pasajeros. MAPE 2,88 %: menos de 3 % de desvío medio con solo dos parámetros; RMSE 18,5 pasajeros. El intervalo comunica la incertidumbre: se dimensiona capacidad por su límite según el costo asimétrico (rotura vs. sobre-stock). Un pronóstico sin intervalo está incompleto.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(2 min en parejas). Pistas: parsimonia (menos parámetros, menos sobreajuste); la estructura de la serie (tendencia + estacionalidad anual) queda bien capturada por las dos diferencias; y el modelo es una línea base seria. Conectar con la navaja de Occam y con la generalización.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suavizado exponencial pronostica con promedios ponderados que dan más peso a lo reciente; ETS (Error, Trend, Seasonal) lo formaliza y NO exige estacionariedad. La elección aditivo/multiplicativo se lee del patrón: si el pico de diciembre suma siempre lo mismo -&gt; aditivo; si crece con las ventas -&gt; multiplicativo. AirPassengers es el multiplicativo clásico (o log + aditivo). No usar multiplicativo con ceros o negativos. [Jueves, capítulo 11.4]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Prophet modela la serie como suma de componentes interpretables, tolera huecos y outliers y se explica a un área no técnica; está pensado para el analista de negocio. Los componentes son DESCRIPTIVOS, no causales. Su ejemplo oficial es Peyton Manning: vistas diarias (en log) de su página de Wikipedia. EN EL PAPER: Taylor &amp; Letham (2018) presentan Prophet. [Jueves, capítulo 11.4]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FPP3 cubre toda la sesión y es gratuita. Box &amp; Jenkins fundan ARIMA y el modelo aerolínea; Taylor &amp; Letham presentan Prophet; Hyndman &amp; Khandakar, la selección automática; Makridakis et al. consolidan el sMAPE. La ruta del curso: empezar en el paper que fundó la técnica, replicar su resultado y recién llevarlo a los datos de la organización. Enlaces en el cuaderno, «Para seguir explorando».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1_series_temporales/notebook/S11_series_temporale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S11</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Series temporales:
del pasado al pronóstico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Descomposición, ARIMA/SARIMA, ETS, Prophet, backtesting sin fuga</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11.1 A 11.5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no procede una partición aleatoria cuando los datos tienen fecha?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componentes integran una serie temporal?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resentation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la estacionariedad y cómo se alcanza?</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11.4 y 11.5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selecciona el modelo de pronóstico? ¿Se sostiene con datos reales? La réplica de Box y Jenkins (1970)</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Pronosticar es sencillo; validar bien, no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Del pasado al pronóstico, sin adivinar</a:t>
            </a:r>
          </a:p>
        </p:txBody>
      </p:sp>
      <p:pic>
        <p:nvPicPr>
          <p:cNvPr id="5" name="Picture 4" descr="clock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POR QUÉ IMPORTA — EL PRONÓSTICO ALIMENTA DECISIONES CARAS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pronóstico decide inventario, personal y compras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Inventario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Cuánto stock mantener para no romper ni sobre-invertir.</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s__FFFFFF.png"/>
          <p:cNvPicPr>
            <a:picLocks noChangeAspect="1"/>
          </p:cNvPicPr>
          <p:nvPr/>
        </p:nvPicPr>
        <p:blipFill>
          <a:blip r:embed="rId3"/>
          <a:stretch>
            <a:fillRect/>
          </a:stretch>
        </p:blipFill>
        <p:spPr>
          <a:xfrm>
            <a:off x="4776622" y="2282341"/>
            <a:ext cx="281636" cy="281636"/>
          </a:xfrm>
          <a:prstGeom prst="rect">
            <a:avLst/>
          </a:prstGeom>
        </p:spPr>
      </p:pic>
      <p:sp>
        <p:nvSpPr>
          <p:cNvPr id="12" name="TextBox 11"/>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Personal</a:t>
            </a:r>
          </a:p>
        </p:txBody>
      </p:sp>
      <p:sp>
        <p:nvSpPr>
          <p:cNvPr id="13" name="TextBox 12"/>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Cuántas personas y turnos según la demanda esperada.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riefcase__FFFFFF.png"/>
          <p:cNvPicPr>
            <a:picLocks noChangeAspect="1"/>
          </p:cNvPicPr>
          <p:nvPr/>
        </p:nvPicPr>
        <p:blipFill>
          <a:blip r:embed="rId4"/>
          <a:stretch>
            <a:fillRect/>
          </a:stretch>
        </p:blipFill>
        <p:spPr>
          <a:xfrm>
            <a:off x="8596782" y="2282341"/>
            <a:ext cx="281636" cy="281636"/>
          </a:xfrm>
          <a:prstGeom prst="rect">
            <a:avLst/>
          </a:prstGeom>
        </p:spPr>
      </p:pic>
      <p:sp>
        <p:nvSpPr>
          <p:cNvPr id="17" name="TextBox 16"/>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Compras</a:t>
            </a:r>
          </a:p>
        </p:txBody>
      </p:sp>
      <p:sp>
        <p:nvSpPr>
          <p:cNvPr id="18" name="TextBox 17"/>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y cuánto reponer, con su banda de incertidumbre.</a:t>
            </a:r>
          </a:p>
        </p:txBody>
      </p:sp>
      <p:sp>
        <p:nvSpPr>
          <p:cNvPr id="19" name="Rounded Rectangle 18"/>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 celda 8</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20%</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Medir sin fuga sube el error reportado hasta un 20%</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Cifra ILUSTRATIVA (no del Excel): con fuga el error baja (aparente mejora); sin fuga sube ~20% a su nivel real.</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ILUSTRATIVO — Albelali &amp; Ahmed (2025), arXiv 2512.06932 — las fuentes de actualidad de la sesión.</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Leer la serie antes de modelar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Componentes — estacionariedad</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SERIE TEMPORAL, SECUENCIA ORDENADA EN EL TIEMPO, FPP3 CAP. 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Toda serie esconde tendencia, estacionalidad y residuo</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ending-up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Tendencia</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nivel de fondo que sube o baja en el largo plazo.</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fresh-cw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Estacionalidad</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patrón que se repite con período fijo, como cada 12 meses.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earch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Residuo</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 que queda tras extraer tendencia y estación: ruido sin estructura.</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 celda 8</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SERIE + DESCOMPOSICIÓN STL</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amplitud estacional crece con el nivel</a:t>
            </a:r>
          </a:p>
        </p:txBody>
      </p:sp>
      <p:pic>
        <p:nvPicPr>
          <p:cNvPr id="4" name="Picture 3" descr="deck_stl.png"/>
          <p:cNvPicPr>
            <a:picLocks noChangeAspect="1"/>
          </p:cNvPicPr>
          <p:nvPr/>
        </p:nvPicPr>
        <p:blipFill>
          <a:blip r:embed="rId2"/>
          <a:stretch>
            <a:fillRect/>
          </a:stretch>
        </p:blipFill>
        <p:spPr>
          <a:xfrm>
            <a:off x="548640" y="1920240"/>
            <a:ext cx="5537094" cy="3749039"/>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amplitud estacional crece con el nivel: la serie es multiplicativa y se modela en logaritmos.</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AirPassengers (Box &amp; Jenkins, 1970) — reconstruido leyendo resultados/S11_resultados.xlsx!descomposicion.</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1, celda 63</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ESTACIONARIEDAD, FPP3 CAP. 9.1, BOX &amp; JENKINS (1970)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Estacionaria: sus reglas no cambian en el tiempo</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Qué es estacionariedad</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Media, varianza y autocovarianza constantes</a:t>
            </a:r>
          </a:p>
          <a:p>
            <a:pPr algn="l">
              <a:spcAft>
                <a:spcPts val="900"/>
              </a:spcAft>
            </a:pPr>
            <a:r>
              <a:rPr sz="1400">
                <a:solidFill>
                  <a:srgbClr val="2D2D2D"/>
                </a:solidFill>
                <a:latin typeface="Calibri"/>
              </a:rPr>
              <a:t>Sin tendencia ni estacionalidad</a:t>
            </a:r>
          </a:p>
          <a:p>
            <a:pPr algn="l">
              <a:spcAft>
                <a:spcPts val="900"/>
              </a:spcAft>
            </a:pPr>
            <a:r>
              <a:rPr sz="1400">
                <a:solidFill>
                  <a:srgbClr val="2D2D2D"/>
                </a:solidFill>
                <a:latin typeface="Calibri"/>
              </a:rPr>
              <a:t>ARIMA la exige antes de modelar</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Cómo se decide: ADF y KPSS</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Hipótesis nulas opuestas</a:t>
            </a:r>
          </a:p>
          <a:p>
            <a:pPr algn="l">
              <a:spcAft>
                <a:spcPts val="900"/>
              </a:spcAft>
            </a:pPr>
            <a:r>
              <a:rPr sz="1400">
                <a:solidFill>
                  <a:srgbClr val="2D2D2D"/>
                </a:solidFill>
                <a:latin typeface="Calibri"/>
              </a:rPr>
              <a:t>Se diferencia hasta lograrla</a:t>
            </a:r>
          </a:p>
          <a:p>
            <a:pPr algn="l">
              <a:spcAft>
                <a:spcPts val="900"/>
              </a:spcAft>
            </a:pPr>
            <a:r>
              <a:rPr sz="1400">
                <a:solidFill>
                  <a:srgbClr val="2D2D2D"/>
                </a:solidFill>
                <a:latin typeface="Calibri"/>
              </a:rPr>
              <a:t>Diferenciada: ADF p 0,0002</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Diag. 8.1, celda 76</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ARIMA(P,D,Q)(P,D,Q), BOX &amp; JENKINS (1970), FPP3 CAP. 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ARIMA combina memoria, diferenciación y error</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ock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AR(p) — autorregresivo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valor de hoy depende de p valores pasados de la serie.</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unnel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I(d) — integrado</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Diferenciar d veces quita tendencia y vuelve la serie estacionaria.</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column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MA(q) — media móvil</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valor de hoy depende de q errores de pronóstico pasados.</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1.1, celda 9</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 modelo aerolínea de Box &amp; Jenkins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SARIMA, ETS, Prophet</a:t>
            </a:r>
          </a:p>
        </p:txBody>
      </p:sp>
      <p:pic>
        <p:nvPicPr>
          <p:cNvPr id="5" name="Picture 4" descr="presentatio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Hay retos serios asociados a la producción de pronósticos fiables y de alta calidad, sobre todo cuando existe una variedad de series temporales y los analistas con experiencia en modelado de series son relativamente escasos.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Taylor y Letham, 2018 — «Forecasting at Scale», resumen del preprint (p.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criterio no fue la precisión, fue la reparabilidad</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Midieron antes de descartar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Corrieron los cuatro métodos automáticos de R en tres cortes históricos de la misma serie de negocio.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diagnóstico precede a la propuesta</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Un ARIMA roto no se repara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analista típico no sabe qué órdenes (p,d,q)(P,D,Q) tocar cuando el pronóstico falla junto a un cambio de tendencia.</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A escala, incorregible es inservible</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ending-up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Curva, no proceso generativo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Tendencia por tramos, estacionalidad de Fourier y festivos: tres mandos que un gerente sabe contestar.</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 cede inferencia, se gana operación</a:t>
            </a:r>
          </a:p>
        </p:txBody>
      </p:sp>
      <p:sp>
        <p:nvSpPr>
          <p:cNvPr id="22" name="TextBox 21"/>
          <p:cNvSpPr txBox="1"/>
          <p:nvPr/>
        </p:nvSpPr>
        <p:spPr>
          <a:xfrm>
            <a:off x="548640" y="6053328"/>
            <a:ext cx="11094720" cy="292608"/>
          </a:xfrm>
          <a:prstGeom prst="rect">
            <a:avLst/>
          </a:prstGeom>
          <a:noFill/>
        </p:spPr>
        <p:txBody>
          <a:bodyPr wrap="square">
            <a:spAutoFit/>
          </a:bodyPr>
          <a:lstStyle/>
          <a:p>
            <a:r>
              <a:rPr sz="1000">
                <a:solidFill>
                  <a:srgbClr val="6E6E6E"/>
                </a:solidFill>
                <a:latin typeface="Calibri"/>
              </a:rPr>
              <a:t>Decisiones documentadas en el preprint abierto: REPLICACION_PAPER Sección 0.3 (Taylor &amp; Letham, pp. 5-8).</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STATSMODELS (SARIMAX)</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modelo aerolínea se ajusta en pocas líneas</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el modelo aerolínea SARIMA(0,1,1)(0,1,1)₁₂ sobre la log-serie y extrae sus dos coeficientes MA y el AIC.</a:t>
            </a:r>
          </a:p>
        </p:txBody>
      </p:sp>
      <p:sp>
        <p:nvSpPr>
          <p:cNvPr id="5" name="Rounded Rectangle 4"/>
          <p:cNvSpPr/>
          <p:nvPr/>
        </p:nvSpPr>
        <p:spPr>
          <a:xfrm>
            <a:off x="548640" y="2395728"/>
            <a:ext cx="11094720" cy="371246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310896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from statsmodels.tsa.statespace.sarimax import SARIMAX</a:t>
            </a:r>
          </a:p>
          <a:p>
            <a:pPr>
              <a:lnSpc>
                <a:spcPct val="130000"/>
              </a:lnSpc>
              <a:spcAft>
                <a:spcPts val="400"/>
              </a:spcAft>
            </a:pPr>
            <a:r>
              <a:rPr sz="1200">
                <a:solidFill>
                  <a:srgbClr val="2D2D2D"/>
                </a:solidFill>
                <a:latin typeface="Consolas"/>
              </a:rPr>
              <a:t/>
            </a:r>
          </a:p>
          <a:p>
            <a:pPr>
              <a:lnSpc>
                <a:spcPct val="130000"/>
              </a:lnSpc>
              <a:spcAft>
                <a:spcPts val="400"/>
              </a:spcAft>
            </a:pPr>
            <a:r>
              <a:rPr sz="1200">
                <a:solidFill>
                  <a:srgbClr val="2D2D2D"/>
                </a:solidFill>
                <a:latin typeface="Consolas"/>
              </a:rPr>
              <a:t>res = SARIMAX(logy, order=(0,1,1), seasonal_order=(0,1,1,12), trend="n",</a:t>
            </a:r>
          </a:p>
          <a:p>
            <a:pPr>
              <a:lnSpc>
                <a:spcPct val="130000"/>
              </a:lnSpc>
              <a:spcAft>
                <a:spcPts val="400"/>
              </a:spcAft>
            </a:pPr>
            <a:r>
              <a:rPr sz="1200">
                <a:solidFill>
                  <a:srgbClr val="2D2D2D"/>
                </a:solidFill>
                <a:latin typeface="Consolas"/>
              </a:rPr>
              <a:t>              enforce_stationarity=False, enforce_invertibility=False).fit(disp=False)</a:t>
            </a:r>
          </a:p>
          <a:p>
            <a:pPr>
              <a:lnSpc>
                <a:spcPct val="130000"/>
              </a:lnSpc>
              <a:spcAft>
                <a:spcPts val="400"/>
              </a:spcAft>
            </a:pPr>
            <a:r>
              <a:rPr sz="1200">
                <a:solidFill>
                  <a:srgbClr val="2D2D2D"/>
                </a:solidFill>
                <a:latin typeface="Consolas"/>
              </a:rPr>
              <a:t>ma1  = res.params["ma.L1"]      # theta1</a:t>
            </a:r>
          </a:p>
          <a:p>
            <a:pPr>
              <a:lnSpc>
                <a:spcPct val="130000"/>
              </a:lnSpc>
              <a:spcAft>
                <a:spcPts val="400"/>
              </a:spcAft>
            </a:pPr>
            <a:r>
              <a:rPr sz="1200">
                <a:solidFill>
                  <a:srgbClr val="2D2D2D"/>
                </a:solidFill>
                <a:latin typeface="Consolas"/>
              </a:rPr>
              <a:t>sma1 = res.params["ma.S.L12"]   # Theta1 estacional</a:t>
            </a:r>
          </a:p>
          <a:p>
            <a:pPr>
              <a:lnSpc>
                <a:spcPct val="130000"/>
              </a:lnSpc>
              <a:spcAft>
                <a:spcPts val="400"/>
              </a:spcAft>
            </a:pPr>
            <a:r>
              <a:rPr sz="1200">
                <a:solidFill>
                  <a:srgbClr val="2D2D2D"/>
                </a:solidFill>
                <a:latin typeface="Consolas"/>
              </a:rPr>
              <a:t>print(round(ma1, 4), round(sma1, 4), round(res.aic, 2))</a:t>
            </a:r>
          </a:p>
          <a:p>
            <a:pPr>
              <a:lnSpc>
                <a:spcPct val="130000"/>
              </a:lnSpc>
              <a:spcAft>
                <a:spcPts val="400"/>
              </a:spcAft>
            </a:pPr>
            <a:r>
              <a:rPr sz="1200">
                <a:solidFill>
                  <a:srgbClr val="2D2D2D"/>
                </a:solidFill>
                <a:latin typeface="Consolas"/>
              </a:rPr>
              <a:t># -&gt; -0.4326  -0.5475  -435.44   (venv; R -0.4018 / -0.5569 etiquetado)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36 (Paso 5, ajuste). Operativo (venv) θ₁ -0,4326 / Θ₁ -0,5475, AIC -435,44, Excel!series_airpassengers (B2, B3, B6).</a:t>
            </a:r>
          </a:p>
        </p:txBody>
      </p:sp>
      <p:sp>
        <p:nvSpPr>
          <p:cNvPr id="9" name="Rounded Rectangle 8"/>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5, celda 36</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 COEFICIENTES MA (VENV VS. BENCHMARK 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modelo aerolínea reproduce -0,43 y -0,55</a:t>
            </a:r>
          </a:p>
        </p:txBody>
      </p:sp>
      <p:pic>
        <p:nvPicPr>
          <p:cNvPr id="4" name="Picture 3" descr="deck_coeficientes.png"/>
          <p:cNvPicPr>
            <a:picLocks noChangeAspect="1"/>
          </p:cNvPicPr>
          <p:nvPr/>
        </p:nvPicPr>
        <p:blipFill>
          <a:blip r:embed="rId2"/>
          <a:stretch>
            <a:fillRect/>
          </a:stretch>
        </p:blipFill>
        <p:spPr>
          <a:xfrm>
            <a:off x="548640" y="1874519"/>
            <a:ext cx="4914652" cy="28803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venv reproduce los coeficientes; el benchmark de R (−0,4018 / −0,5569) queda dentro de tolerancia.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log-AirPassengers, venv (statsmodels) vs. R forecast (etiquetado), Ljung-Box p 0,754 — Excel!series_airpassengers (B2, B3, B7).</a:t>
            </a:r>
          </a:p>
        </p:txBody>
      </p:sp>
      <p:sp>
        <p:nvSpPr>
          <p:cNvPr id="10" name="Rounded Rectangle 9"/>
          <p:cNvSpPr/>
          <p:nvPr/>
        </p:nvSpPr>
        <p:spPr>
          <a:xfrm>
            <a:off x="548640" y="5029200"/>
            <a:ext cx="704088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__E4002B.png"/>
          <p:cNvPicPr>
            <a:picLocks noChangeAspect="1"/>
          </p:cNvPicPr>
          <p:nvPr/>
        </p:nvPicPr>
        <p:blipFill>
          <a:blip r:embed="rId4"/>
          <a:stretch>
            <a:fillRect/>
          </a:stretch>
        </p:blipFill>
        <p:spPr>
          <a:xfrm>
            <a:off x="694944" y="5084064"/>
            <a:ext cx="219456" cy="219456"/>
          </a:xfrm>
          <a:prstGeom prst="rect">
            <a:avLst/>
          </a:prstGeom>
        </p:spPr>
      </p:pic>
      <p:sp>
        <p:nvSpPr>
          <p:cNvPr id="12" name="TextBox 11"/>
          <p:cNvSpPr txBox="1"/>
          <p:nvPr/>
        </p:nvSpPr>
        <p:spPr>
          <a:xfrm>
            <a:off x="1005840" y="5061204"/>
            <a:ext cx="647395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Box &amp; Jenkins (1970), Time Series Analysis, «Serie G» (modelo aerolínea)</a:t>
            </a:r>
          </a:p>
        </p:txBody>
      </p:sp>
      <p:sp>
        <p:nvSpPr>
          <p:cNvPr id="13" name="Rounded Rectangle 1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5, celda 38</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HOLDOUT 12 MESES CON INTERVALO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SARIMA pronostica 1960 con MAPE 2,88 %</a:t>
            </a:r>
          </a:p>
        </p:txBody>
      </p:sp>
      <p:pic>
        <p:nvPicPr>
          <p:cNvPr id="4" name="Picture 3" descr="deck_holdout.png"/>
          <p:cNvPicPr>
            <a:picLocks noChangeAspect="1"/>
          </p:cNvPicPr>
          <p:nvPr/>
        </p:nvPicPr>
        <p:blipFill>
          <a:blip r:embed="rId2"/>
          <a:stretch>
            <a:fillRect/>
          </a:stretch>
        </p:blipFill>
        <p:spPr>
          <a:xfrm>
            <a:off x="548640" y="1828800"/>
            <a:ext cx="6949440" cy="4036872"/>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MAPE 2,88 % y RMSE 18,5 pasajeros: el intervalo se ensancha hacia diciembre, la incertidumbre accionable.</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AirPassengers holdout 12 meses (132/12), des-transformado con exp, reconstruido de Excel!pronostico_holdout (MAPE B4, RMSE Excel!series_airpassengers B9).</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7, celda 48</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ETS / HOLT-WINTERS, WINTERS (1960), FPP3 CAP. 8</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amplitud decide aditivo o multiplicativo</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E</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Suavizado exponencial (ETS)</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Promedios que ponderan lo reciente</a:t>
            </a:r>
          </a:p>
          <a:p>
            <a:pPr algn="l">
              <a:spcAft>
                <a:spcPts val="900"/>
              </a:spcAft>
            </a:pPr>
            <a:r>
              <a:rPr sz="1400">
                <a:solidFill>
                  <a:srgbClr val="2D2D2D"/>
                </a:solidFill>
                <a:latin typeface="Calibri"/>
              </a:rPr>
              <a:t>No exige estacionariedad</a:t>
            </a:r>
          </a:p>
          <a:p>
            <a:pPr algn="l">
              <a:spcAft>
                <a:spcPts val="900"/>
              </a:spcAft>
            </a:pPr>
            <a:r>
              <a:rPr sz="1400">
                <a:solidFill>
                  <a:srgbClr val="2D2D2D"/>
                </a:solidFill>
                <a:latin typeface="Calibri"/>
              </a:rPr>
              <a:t>Rápido y competitivo con ARIMA</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Aditivo (+) vs. multiplicativo (×)</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 : amplitud constante</a:t>
            </a:r>
          </a:p>
          <a:p>
            <a:pPr algn="l">
              <a:spcAft>
                <a:spcPts val="900"/>
              </a:spcAft>
            </a:pPr>
            <a:r>
              <a:rPr sz="1400">
                <a:solidFill>
                  <a:srgbClr val="2D2D2D"/>
                </a:solidFill>
                <a:latin typeface="Calibri"/>
              </a:rPr>
              <a:t>× : crece con el nivel</a:t>
            </a:r>
          </a:p>
          <a:p>
            <a:pPr algn="l">
              <a:spcAft>
                <a:spcPts val="900"/>
              </a:spcAft>
            </a:pPr>
            <a:r>
              <a:rPr sz="1400">
                <a:solidFill>
                  <a:srgbClr val="2D2D2D"/>
                </a:solidFill>
                <a:latin typeface="Calibri"/>
              </a:rPr>
              <a:t>AirPassengers: multiplicativo</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Drill 2, celda 45</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PROPHET, TAYLOR &amp; LETHAM (2018), FPP3 CAP. 12.2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Prophet separa la serie en componentes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Tendencia</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Lineal por tramos, con changepoints donde cambia la pendiente.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changepoints</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cw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Estacionalidad</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Anual y semanal, mediante series de Fourier.</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Fourier</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lo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Festivos</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Efectos de días especiales y campañas del negocio.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holidays</a:t>
            </a:r>
          </a:p>
        </p:txBody>
      </p:sp>
      <p:sp>
        <p:nvSpPr>
          <p:cNvPr id="22" name="Rounded Rectangle 21"/>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celda 54</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¿Por qué un modelo de dos parámetros predice tan bien 1960?</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Modelo aerolínea: MAPE 2,88 % en el holdout de 12 meses, con intervalo.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el pronóstico moderno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Principles and Practice (FPP3)</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Athanasopoulos — otexts.com/fpp3  —  texto libre; cubre toda la sesión</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Time Series Analysis: Forecasting and Control</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Box &amp; Jenkins (1970)  —  origen de ARIMA y del modelo aerolínea</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at Scale (Prophet)</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Taylor &amp; Letham (2018) — TAS 72(1)  —  el ejemplo oficial de Peyton Manning</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Automatic Time Series Forecasting</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Khandakar (2008) — JSS 27(3)  —  auto.arima y ets: selección a escala</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The M4 Competition</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Makridakis et al. (2020) — IJF 36(1)  —  consolida el uso del sMAPE</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