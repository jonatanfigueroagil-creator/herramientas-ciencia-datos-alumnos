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85" r:id="rId29"/>
    <p:sldId id="258" r:id="rId10"/>
    <p:sldId id="259" r:id="rId11"/>
    <p:sldId id="286" r:id="rId30"/>
    <p:sldId id="260" r:id="rId12"/>
    <p:sldId id="261" r:id="rId13"/>
    <p:sldId id="262" r:id="rId14"/>
    <p:sldId id="263" r:id="rId15"/>
    <p:sldId id="287" r:id="rId31"/>
    <p:sldId id="264" r:id="rId16"/>
    <p:sldId id="265" r:id="rId17"/>
    <p:sldId id="266" r:id="rId18"/>
    <p:sldId id="267" r:id="rId19"/>
    <p:sldId id="288" r:id="rId32"/>
    <p:sldId id="274" r:id="rId26"/>
    <p:sldId id="275" r:id="rId27"/>
    <p:sldId id="289" r:id="rId33"/>
    <p:sldId id="268" r:id="rId20"/>
    <p:sldId id="269" r:id="rId21"/>
    <p:sldId id="270" r:id="rId22"/>
    <p:sldId id="271" r:id="rId23"/>
    <p:sldId id="272" r:id="rId24"/>
    <p:sldId id="273" r:id="rId25"/>
    <p:sldId id="284" r:id="rId36"/>
  </p:sldIdLst>
  <p:sldSz cx="12192000"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17.xml"/><Relationship Id="rId27" Type="http://schemas.openxmlformats.org/officeDocument/2006/relationships/slide" Target="slides/slide18.xml"/><Relationship Id="rId29" Type="http://schemas.openxmlformats.org/officeDocument/2006/relationships/slide" Target="slides/slide3.xml"/><Relationship Id="rId30" Type="http://schemas.openxmlformats.org/officeDocument/2006/relationships/slide" Target="slides/slide6.xml"/><Relationship Id="rId31" Type="http://schemas.openxmlformats.org/officeDocument/2006/relationships/slide" Target="slides/slide11.xml"/><Relationship Id="rId32" Type="http://schemas.openxmlformats.org/officeDocument/2006/relationships/slide" Target="slides/slide16.xml"/><Relationship Id="rId33" Type="http://schemas.openxmlformats.org/officeDocument/2006/relationships/slide" Target="slides/slide19.xml"/><Relationship Id="rId36"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Cerrar el bloque de técnicas separando CORRELACION de CAUSALIDAD. Promesa de la sesion: pasar de «que subio» a «que lo causo» y traducirlo en una decision con su incertidumbre. Se replican dos papers seminales (Card &amp; Krueger 1994; LaLonde/NSW) y se lleva la causalidad al negocio con DoWhy. Metodo del deck: cada cifra se muestra contra su fuente y se LEE del Excel de resultados (fidelidad verificada). El boton «Abrir en Colab» va al cuaderno. [Jueves]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Mapa en cuatro actos con pulso Contexto -&gt; Evidencia -&gt; Decision. Acto 1: el contrafactual, ATE/ATT y el A/B como patron oro (el A/B basico es de S02: aqui se EXTIENDE con poder y MDE). Acto 2: el DAG y la regla de la puerta trasera. Acto 3: la replica de Card &amp; Krueger (1994) con DiD. Acto 4: PSM sobre LaLonde —balance, soporte comun y refutacion—, las variables instrumentales y la decision de negocio. Supervivencia (S13) y recomendacion (S14) solo se nombran al cierre. [Jueves]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Abrir el arco de contexto. El problema fundamental de la inferencia causal (Rubin 1974; Holland 1986): cada unidad tiene dos resultados potenciales pero solo se observa uno. [Jueves, capítulo 12.1]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Golpe inicial. En una campana de retencion observacional la diferencia de medias (naive) dice +23,64 de valor por cliente; el efecto VERDADERO por diseno es 8,0. El crudo casi lo triplica porque los clientes ya activos (alto engagement) fueron los mas contactados. El «3x» NO es un literal: se computa del Excel (naive/ajustado). Todo el aparato causal existe para corregir ese sesgo. [Jueves, capítulo 12.1]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Definir el contrafactual. Cada cliente tiene Y(0) y Y(1); el efecto individual Y(1)-Y(0) es INOBSERVABLE (solo se ve uno). Por eso se estiman PROMEDIOS bajo supuestos. Es el ladrillo de toda la sesion. [Jueves, capítulo 12.2]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Tres definiciones ancla. Y(1) = valor con campana; Y(0) = sin campana. La pregunta de negocio «valio la pena para los que SI contactamos» es el ATT, no el ATE. El naive mezcla el efecto con las diferencias PREVIAS entre quienes reciben y quienes no. [Jueves, capítulo 12.2]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Cuando se puede aleatorizar, el A/B «cierra la conversacion»: iguala en esperanza todas las variables, observadas y no. Antes de lanzarlo se dimensiona con el MDE: fijar el efecto minimo economicamente relevante y calcular el n. «No significativo» con MDE mayor que el efecto de interes NO es «no hay efecto»: es falta de poder. El A/B basico es de S02. [Jueves, capítulo 12.2]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Primera pausa (2 min). Guiar: sin aleatorizacion, la diferencia de medias mezcla el efecto con las diferencias PREVIAS entre quienes reciben y quienes no. Hay que construir un contrafactual creible; con datos observacionales eso empieza por un DAG. [Jueves, capítulo 12.2]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Un DAG explicita las hipotesis causales ANTES de tocar los datos y, con reglas graficas (d-separation), dice que variables cierran el sesgo y cuales lo abren. Pearl (1995, 2009). [Jueves, capítulo 12.3]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(a) DAG correcto: engagement -&gt; campaign y engagement -&gt; value (confusor); tenure -&gt; value (precision, no confusor). El camino de puerta trasera campaign &lt;- engagement -&gt; value se cierra controlando {engagement}. (b) uso_post RECIBE flechas de campaign y de value: es un collider; condicionar en el ABRE un sesgo. El nombre uso_post es el del notebook (drill 1). [Jueves, capítulo 12.3]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reflejo de «incluir todas las variables en el modelo» es el error n.1 de la analitica causal. El criterio de puerta trasera controla SOLO lo que cierra caminos no causales (confusores). Un confusor no observado (p. ej. la «intencion de irse») no se corrige con mas regresion. Drill 1. [Jueves, capítulo 12.3]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Segunda pausa. Pistas: un mediador (descendiente del tratamiento) bloquea parte del efecto total; un collider induce asociacion espuria entre sus causas. «Mas variables» no es «mejor control»: la regla la da el DAG, no la disponibilidad del dato. [Jueves, capítulo 12.3]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Cuasi-experimento natural: el 01/04/1992 Nueva Jersey subio su salario minimo de $4,25 a $5,05 y Pensilvania no. 410 restaurantes de comida rapida, encuestados antes y despues. NJ = tratado, PA = control. Diferencias en diferencias. [Jueves, capítulo 12.5]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Detenerse aqui antes de cualquier numero. Card y Krueger NO se propusieron inventar el DiD: se propusieron responder si subir el salario minimo destruye empleo, con la teoria en contra y una decision en curso —la legislatura de Nueva Jersey habia votado en marzo de 1992 partir el alza en dos anos, y el voto quedo apenas por debajo del margen necesario para superar el veto del gobernador—. El metodo fue el precio de responder con credibilidad. Preguntar al aula: '¿por que no basta con mirar el empleo de Nueva Jersey antes y despues?'. La respuesta abre el acto: porque la economia de la region empeoraba, y sin grupo de control esa caida se confunde con el efecto de la ley. Fuente: REPLICACION_PAPER.md Seccion 0.1. [Jueves, capítulo 12.5]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Este es el slide que ensena a ELEGIR un metodo, no solo a aplicarlo. Las tres tarjetas son de los dos papers, porque el problema es UNO SOLO: de cada unidad se observa una sola de sus dos historias posibles, asi que comparar tratados con no tratados arrastra el confusor. Las dos tecnicas lo atacan por vias OPUESTAS: el DiD no necesita observar el confusor —aprovecha un cambio de politica y supone que lo que separa a los grupos actua igual en el tiempo—; el PSM si necesita observarlo —sin cambio externo, reconstruye la comparabilidad al equilibrar las covariables medidas en un escalar—. Ninguna elimina el supuesto: cada una ELIGE cual asumir, tendencias paralelas frente a seleccion sobre observables, y esa eleccion es lo que se defiende ante un directorio. Detenerse en la tercera tarjeta: el recorte al soporte comun costo mas de tres cuartas partes del grupo de comparacion, y los autores lo publicaron. Fuente: REPLICACION_PAPER.md Secciones 0.2 y 0.3. [Jueves, capítulo 12.5]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DiD es la RESTA DE LOS DOS CAMBIOS, no de los niveles. Error frecuente: comparar niveles despues (21,03 vs. 21,17) y concluir «casi iguales». En la regresion FTE ~ nj + post + nj:post, el coeficiente de nj:post ES el DiD (+2,75). El signo POSITIVO contradice la teoria y dio a Card el Nobel 2021. FTE = EMPFT + NMGRS + 0,5·EMPPT. Benchmark publicado +2,76 (SE 1,36), otro pipeline. INTERPRETACION punto 1. [Jueves, capítulo 12.5]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Mostrar que el DiD «por regresion» son pocas lineas. fte ~ nj + post + nj:post con SE cluster por restaurante. El coeficiente de la interaccion nj:post ES el DiD: +2,75 (Excel B9), que coincide con la tabla 2x2 (+2,75). REGLA DE ORO: el benchmark publicado +2,76 (SE 1,36) va ETIQUETADO. Fuente: notebook celda 37. [Jueves, capítulo 12.5]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Las lineas cuentan la historia: NJ (tratado) sube levemente, PA (control) cae. El DiD identifica el efecto SOLO si se cumplen tendencias paralelas: sin el alza, ambos grupos habrian evolucionado igual. Con solo dos olas no se testan pre-tendencias; el supuesto se apoya en la comparabilidad NJ/PA (fronterizos, mismo sector) — limitacion honesta. Drill 2. INTERPRETACION punto 2. [Jueves, capítulo 12.5]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Banco de pruebas estandar: se conoce la «verdad» (el efecto experimental) y se prueba si un metodo observacional la recupera. El propensity score e(X)=P(T=1|X) es un balanceador (Rosenbaum &amp; Rubin 1983). Aqui se introducen las variables instrumentales (Z relevante, exclusion, exogeneidad) para confusion no observada. [Jueves, capítulo 12.4]</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El propensity score resume las covariables en un solo numero: la probabilidad de ser tratado. Rosenbaum &amp; Rubin (1983) demuestran que condicionar en e(X) balancea las covariables como si fuera un mini-experimento. Emparejar 1-NN sobre el soporte comun y luego verificar el balance. [Jueves, capítulo 12.4]</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12.1. Se enuncia la pregunta tal como aparece en el sílabo, la ficha, el cuaderno y la guía: es el mismo código en todos. [Jueves, capítulo 12.1]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12.2. Se enuncia la pregunta tal como aparece en el sílabo, la ficha, el cuaderno y la guía: es el mismo código en todos. [Jueves, capítulo 12.2]</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12.3. Se enuncia la pregunta tal como aparece en el sílabo, la ficha, el cuaderno y la guía: es el mismo código en todos. [Jueves, capítulo 12.3]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12.4. Se enuncia la pregunta tal como aparece en el sílabo, la ficha, el cuaderno y la guía: es el mismo código en todos. [Jueves, capítulo 12.4]</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Divisor del capítulo 12.5. Se enuncia la pregunta tal como aparece en el sílabo, la ficha, el cuaderno y la guía: es el mismo código en todos. [Jueves, capítulo 12.5]</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GUION: Bibliografia verificada (BIBLIOGRAFIA_ALUMNOS.md). Rubin y Rosenbaum &amp; Rubin fundan el marco; Card &amp; Krueger y Pearl, los metodos de la sesion; Cunningham (The Mixtape, libre) desarrolla los DOS casos de la replica con codigo. La ruta del curso: empezar en el paper, replicar su resultado y recien entonces llevarlo a los datos de la organizacion. [Jueves]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onatanfigueroagil-creator/Herramientas-de-Ciencias-de-Datos/blob/master/Sesiones/S12_inferencia_causal/notebook/S12_inferencia_causal.ipynb"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png"/><Relationship Id="rId4"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4002B"/>
        </a:solidFill>
        <a:effectLst/>
      </p:bgPr>
    </p:bg>
    <p:spTree>
      <p:nvGrpSpPr>
        <p:cNvPr id="1" name=""/>
        <p:cNvGrpSpPr/>
        <p:nvPr/>
      </p:nvGrpSpPr>
      <p:grpSpPr/>
      <p:sp>
        <p:nvSpPr>
          <p:cNvPr id="2" name="Oval 1"/>
          <p:cNvSpPr/>
          <p:nvPr/>
        </p:nvSpPr>
        <p:spPr>
          <a:xfrm>
            <a:off x="548640" y="640080"/>
            <a:ext cx="822960" cy="8229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E4002B"/>
                </a:solidFill>
                <a:latin typeface="Calibri"/>
              </a:rPr>
              <a:t>S12</a:t>
            </a:r>
          </a:p>
        </p:txBody>
      </p:sp>
      <p:sp>
        <p:nvSpPr>
          <p:cNvPr id="3" name="TextBox 2"/>
          <p:cNvSpPr txBox="1"/>
          <p:nvPr/>
        </p:nvSpPr>
        <p:spPr>
          <a:xfrm>
            <a:off x="548640" y="3291840"/>
            <a:ext cx="9906000" cy="2011680"/>
          </a:xfrm>
          <a:prstGeom prst="rect">
            <a:avLst/>
          </a:prstGeom>
          <a:noFill/>
        </p:spPr>
        <p:txBody>
          <a:bodyPr wrap="square" anchor="t" lIns="0" rIns="0" tIns="0" bIns="0">
            <a:spAutoFit/>
          </a:bodyPr>
          <a:lstStyle/>
          <a:p>
            <a:pPr algn="l">
              <a:lnSpc>
                <a:spcPct val="102000"/>
              </a:lnSpc>
            </a:pPr>
            <a:r>
              <a:rPr sz="4800" b="1">
                <a:solidFill>
                  <a:srgbClr val="FFFFFF"/>
                </a:solidFill>
                <a:latin typeface="Calibri"/>
              </a:rPr>
              <a:t>Inferencia causal:
de la correlación a la decisión</a:t>
            </a:r>
          </a:p>
        </p:txBody>
      </p:sp>
      <p:sp>
        <p:nvSpPr>
          <p:cNvPr id="4" name="TextBox 3"/>
          <p:cNvSpPr txBox="1"/>
          <p:nvPr/>
        </p:nvSpPr>
        <p:spPr>
          <a:xfrm>
            <a:off x="548640" y="5394960"/>
            <a:ext cx="9906000" cy="640080"/>
          </a:xfrm>
          <a:prstGeom prst="rect">
            <a:avLst/>
          </a:prstGeom>
          <a:noFill/>
        </p:spPr>
        <p:txBody>
          <a:bodyPr wrap="square" anchor="t" lIns="0" rIns="0" tIns="0" bIns="0">
            <a:spAutoFit/>
          </a:bodyPr>
          <a:lstStyle/>
          <a:p>
            <a:pPr algn="l"/>
            <a:r>
              <a:rPr sz="2000" b="0">
                <a:solidFill>
                  <a:srgbClr val="FCEDEE"/>
                </a:solidFill>
                <a:latin typeface="Calibri"/>
              </a:rPr>
              <a:t>Contrafactual, DAGs, DiD, PSM, del efecto a la decisión</a:t>
            </a:r>
          </a:p>
        </p:txBody>
      </p:sp>
      <p:sp>
        <p:nvSpPr>
          <p:cNvPr id="5" name="TextBox 4"/>
          <p:cNvSpPr txBox="1"/>
          <p:nvPr/>
        </p:nvSpPr>
        <p:spPr>
          <a:xfrm>
            <a:off x="548640" y="6263640"/>
            <a:ext cx="11094720" cy="320040"/>
          </a:xfrm>
          <a:prstGeom prst="rect">
            <a:avLst/>
          </a:prstGeom>
          <a:noFill/>
        </p:spPr>
        <p:txBody>
          <a:bodyPr wrap="square" anchor="t" lIns="0" rIns="0" tIns="0" bIns="0">
            <a:spAutoFit/>
          </a:bodyPr>
          <a:lstStyle/>
          <a:p>
            <a:pPr algn="l"/>
            <a:r>
              <a:rPr sz="1200" b="0">
                <a:solidFill>
                  <a:srgbClr val="FCEDEE"/>
                </a:solidFill>
                <a:latin typeface="Calibri"/>
              </a:rPr>
              <a:t>Herramientas para la Ciencia de Datos, UPC, Facultad de Negocios</a:t>
            </a:r>
          </a:p>
        </p:txBody>
      </p:sp>
      <p:sp>
        <p:nvSpPr>
          <p:cNvPr id="6" name="Rounded Rectangle 5">
            <a:hlinkClick r:id="rId2"/>
          </p:cNvPr>
          <p:cNvSpPr/>
          <p:nvPr/>
        </p:nvSpPr>
        <p:spPr>
          <a:xfrm>
            <a:off x="8549640" y="502920"/>
            <a:ext cx="3154680" cy="475488"/>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E4002B"/>
                </a:solidFill>
              </a:rPr>
              <a:t>▶  Abrir en Google Colab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MAPA DEL JUEVES — CAPÍTULOS 12.1 A 12.5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jueves avanza en cinco capítulos</a:t>
            </a:r>
          </a:p>
        </p:txBody>
      </p:sp>
      <p:sp>
        <p:nvSpPr>
          <p:cNvPr id="4" name="Rounded Rectangle 3"/>
          <p:cNvSpPr/>
          <p:nvPr/>
        </p:nvSpPr>
        <p:spPr>
          <a:xfrm>
            <a:off x="54864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2"/>
          <a:stretch>
            <a:fillRect/>
          </a:stretch>
        </p:blipFill>
        <p:spPr>
          <a:xfrm>
            <a:off x="956462" y="2282341"/>
            <a:ext cx="281636" cy="281636"/>
          </a:xfrm>
          <a:prstGeom prst="rect">
            <a:avLst/>
          </a:prstGeom>
        </p:spPr>
      </p:pic>
      <p:sp>
        <p:nvSpPr>
          <p:cNvPr id="7" name="TextBox 6"/>
          <p:cNvSpPr txBox="1"/>
          <p:nvPr/>
        </p:nvSpPr>
        <p:spPr>
          <a:xfrm>
            <a:off x="77724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12.1</a:t>
            </a:r>
          </a:p>
        </p:txBody>
      </p:sp>
      <p:sp>
        <p:nvSpPr>
          <p:cNvPr id="8" name="TextBox 7"/>
          <p:cNvSpPr txBox="1"/>
          <p:nvPr/>
        </p:nvSpPr>
        <p:spPr>
          <a:xfrm>
            <a:off x="77724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¿Por qué todo lo desarrollado en once semanas mide asociación y no causa?</a:t>
            </a:r>
          </a:p>
        </p:txBody>
      </p:sp>
      <p:sp>
        <p:nvSpPr>
          <p:cNvPr id="9" name="TextBox 8"/>
          <p:cNvSpPr txBox="1"/>
          <p:nvPr/>
        </p:nvSpPr>
        <p:spPr>
          <a:xfrm>
            <a:off x="77724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20-40</a:t>
            </a:r>
          </a:p>
        </p:txBody>
      </p:sp>
      <p:sp>
        <p:nvSpPr>
          <p:cNvPr id="10" name="Rounded Rectangle 9"/>
          <p:cNvSpPr/>
          <p:nvPr/>
        </p:nvSpPr>
        <p:spPr>
          <a:xfrm>
            <a:off x="341376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6423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workflow__FFFFFF.png"/>
          <p:cNvPicPr>
            <a:picLocks noChangeAspect="1"/>
          </p:cNvPicPr>
          <p:nvPr/>
        </p:nvPicPr>
        <p:blipFill>
          <a:blip r:embed="rId3"/>
          <a:stretch>
            <a:fillRect/>
          </a:stretch>
        </p:blipFill>
        <p:spPr>
          <a:xfrm>
            <a:off x="3821582" y="2282341"/>
            <a:ext cx="281636" cy="281636"/>
          </a:xfrm>
          <a:prstGeom prst="rect">
            <a:avLst/>
          </a:prstGeom>
        </p:spPr>
      </p:pic>
      <p:sp>
        <p:nvSpPr>
          <p:cNvPr id="13" name="TextBox 12"/>
          <p:cNvSpPr txBox="1"/>
          <p:nvPr/>
        </p:nvSpPr>
        <p:spPr>
          <a:xfrm>
            <a:off x="364236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12.2</a:t>
            </a:r>
          </a:p>
        </p:txBody>
      </p:sp>
      <p:sp>
        <p:nvSpPr>
          <p:cNvPr id="14" name="TextBox 13"/>
          <p:cNvSpPr txBox="1"/>
          <p:nvPr/>
        </p:nvSpPr>
        <p:spPr>
          <a:xfrm>
            <a:off x="364236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¿Qué es un contrafactual?</a:t>
            </a:r>
          </a:p>
        </p:txBody>
      </p:sp>
      <p:sp>
        <p:nvSpPr>
          <p:cNvPr id="15" name="TextBox 14"/>
          <p:cNvSpPr txBox="1"/>
          <p:nvPr/>
        </p:nvSpPr>
        <p:spPr>
          <a:xfrm>
            <a:off x="364236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40-65</a:t>
            </a:r>
          </a:p>
        </p:txBody>
      </p:sp>
      <p:sp>
        <p:nvSpPr>
          <p:cNvPr id="16" name="Rounded Rectangle 15"/>
          <p:cNvSpPr/>
          <p:nvPr/>
        </p:nvSpPr>
        <p:spPr>
          <a:xfrm>
            <a:off x="627888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0748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art-column__FFFFFF.png"/>
          <p:cNvPicPr>
            <a:picLocks noChangeAspect="1"/>
          </p:cNvPicPr>
          <p:nvPr/>
        </p:nvPicPr>
        <p:blipFill>
          <a:blip r:embed="rId4"/>
          <a:stretch>
            <a:fillRect/>
          </a:stretch>
        </p:blipFill>
        <p:spPr>
          <a:xfrm>
            <a:off x="6686702" y="2282341"/>
            <a:ext cx="281636" cy="281636"/>
          </a:xfrm>
          <a:prstGeom prst="rect">
            <a:avLst/>
          </a:prstGeom>
        </p:spPr>
      </p:pic>
      <p:sp>
        <p:nvSpPr>
          <p:cNvPr id="19" name="TextBox 18"/>
          <p:cNvSpPr txBox="1"/>
          <p:nvPr/>
        </p:nvSpPr>
        <p:spPr>
          <a:xfrm>
            <a:off x="650748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12.3</a:t>
            </a:r>
          </a:p>
        </p:txBody>
      </p:sp>
      <p:sp>
        <p:nvSpPr>
          <p:cNvPr id="20" name="TextBox 19"/>
          <p:cNvSpPr txBox="1"/>
          <p:nvPr/>
        </p:nvSpPr>
        <p:spPr>
          <a:xfrm>
            <a:off x="650748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determinan las variables que deben controlarse?</a:t>
            </a:r>
          </a:p>
        </p:txBody>
      </p:sp>
      <p:sp>
        <p:nvSpPr>
          <p:cNvPr id="21" name="TextBox 20"/>
          <p:cNvSpPr txBox="1"/>
          <p:nvPr/>
        </p:nvSpPr>
        <p:spPr>
          <a:xfrm>
            <a:off x="650748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65-95</a:t>
            </a:r>
          </a:p>
        </p:txBody>
      </p:sp>
      <p:sp>
        <p:nvSpPr>
          <p:cNvPr id="22" name="Rounded Rectangle 21"/>
          <p:cNvSpPr/>
          <p:nvPr/>
        </p:nvSpPr>
        <p:spPr>
          <a:xfrm>
            <a:off x="9144000" y="1874519"/>
            <a:ext cx="249936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3726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trending-up__FFFFFF.png"/>
          <p:cNvPicPr>
            <a:picLocks noChangeAspect="1"/>
          </p:cNvPicPr>
          <p:nvPr/>
        </p:nvPicPr>
        <p:blipFill>
          <a:blip r:embed="rId5"/>
          <a:stretch>
            <a:fillRect/>
          </a:stretch>
        </p:blipFill>
        <p:spPr>
          <a:xfrm>
            <a:off x="9551822" y="2282341"/>
            <a:ext cx="281636" cy="281636"/>
          </a:xfrm>
          <a:prstGeom prst="rect">
            <a:avLst/>
          </a:prstGeom>
        </p:spPr>
      </p:pic>
      <p:sp>
        <p:nvSpPr>
          <p:cNvPr id="25" name="TextBox 24"/>
          <p:cNvSpPr txBox="1"/>
          <p:nvPr/>
        </p:nvSpPr>
        <p:spPr>
          <a:xfrm>
            <a:off x="9372600" y="2926079"/>
            <a:ext cx="2042160" cy="640080"/>
          </a:xfrm>
          <a:prstGeom prst="rect">
            <a:avLst/>
          </a:prstGeom>
          <a:noFill/>
        </p:spPr>
        <p:txBody>
          <a:bodyPr wrap="square" anchor="t" lIns="0" rIns="0" tIns="0" bIns="0">
            <a:spAutoFit/>
          </a:bodyPr>
          <a:lstStyle/>
          <a:p>
            <a:pPr algn="l"/>
            <a:r>
              <a:rPr sz="1800" b="1">
                <a:solidFill>
                  <a:srgbClr val="9B1B30"/>
                </a:solidFill>
                <a:latin typeface="Calibri"/>
              </a:rPr>
              <a:t>Capítulo 12.4 y 12.5</a:t>
            </a:r>
          </a:p>
        </p:txBody>
      </p:sp>
      <p:sp>
        <p:nvSpPr>
          <p:cNvPr id="26" name="TextBox 25"/>
          <p:cNvSpPr txBox="1"/>
          <p:nvPr/>
        </p:nvSpPr>
        <p:spPr>
          <a:xfrm>
            <a:off x="9372600" y="3611879"/>
            <a:ext cx="204216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¿Cómo se estima un efecto sin posibilidad de experimentar? ¿Se sostiene con datos reales? La réplica de Card y Krueger (1994)</a:t>
            </a:r>
          </a:p>
        </p:txBody>
      </p:sp>
      <p:sp>
        <p:nvSpPr>
          <p:cNvPr id="27" name="TextBox 26"/>
          <p:cNvSpPr txBox="1"/>
          <p:nvPr/>
        </p:nvSpPr>
        <p:spPr>
          <a:xfrm>
            <a:off x="9372600" y="5303519"/>
            <a:ext cx="2042160" cy="502920"/>
          </a:xfrm>
          <a:prstGeom prst="rect">
            <a:avLst/>
          </a:prstGeom>
          <a:noFill/>
        </p:spPr>
        <p:txBody>
          <a:bodyPr wrap="square" anchor="t" lIns="0" rIns="0" tIns="0" bIns="0">
            <a:spAutoFit/>
          </a:bodyPr>
          <a:lstStyle/>
          <a:p>
            <a:pPr algn="l"/>
            <a:r>
              <a:rPr sz="1200" b="1">
                <a:solidFill>
                  <a:srgbClr val="9B1B30"/>
                </a:solidFill>
                <a:latin typeface="Calibri"/>
              </a:rPr>
              <a:t>Min 110-180</a:t>
            </a:r>
          </a:p>
        </p:txBody>
      </p:sp>
      <p:sp>
        <p:nvSpPr>
          <p:cNvPr id="28" name="Rounded Rectangle 2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Índice, celda 0</a:t>
            </a:r>
          </a:p>
        </p:txBody>
      </p:sp>
      <p:sp>
        <p:nvSpPr>
          <p:cNvPr id="29" name="Oval 2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31" name="TextBox 3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todo lo desarrollado en once semanas mide asociación y no causa?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12.1 — jueves, bloques A1 y A2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1</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¿Por qué todo lo desarrollado en once semanas mide asociación y no causa?</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¿Por qué todo lo desarrollado en once semanas mide asociación y no causa?</a:t>
            </a:r>
          </a:p>
        </p:txBody>
      </p:sp>
      <p:pic>
        <p:nvPicPr>
          <p:cNvPr id="5" name="Picture 4" descr="lightbulb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828800"/>
            <a:ext cx="5852160" cy="2926080"/>
          </a:xfrm>
          <a:prstGeom prst="rect">
            <a:avLst/>
          </a:prstGeom>
          <a:noFill/>
        </p:spPr>
        <p:txBody>
          <a:bodyPr wrap="square" anchor="t" lIns="0" rIns="0" tIns="0" bIns="0">
            <a:spAutoFit/>
          </a:bodyPr>
          <a:lstStyle/>
          <a:p>
            <a:pPr algn="l"/>
            <a:r>
              <a:rPr sz="14000" b="1">
                <a:solidFill>
                  <a:srgbClr val="E4002B"/>
                </a:solidFill>
                <a:latin typeface="Calibri"/>
              </a:rPr>
              <a:t>3×</a:t>
            </a:r>
          </a:p>
        </p:txBody>
      </p:sp>
      <p:sp>
        <p:nvSpPr>
          <p:cNvPr id="3" name="TextBox 2"/>
          <p:cNvSpPr txBox="1"/>
          <p:nvPr/>
        </p:nvSpPr>
        <p:spPr>
          <a:xfrm>
            <a:off x="6766560" y="2286000"/>
            <a:ext cx="4846320" cy="1371600"/>
          </a:xfrm>
          <a:prstGeom prst="rect">
            <a:avLst/>
          </a:prstGeom>
          <a:noFill/>
        </p:spPr>
        <p:txBody>
          <a:bodyPr wrap="square" anchor="t" lIns="0" rIns="0" tIns="0" bIns="0">
            <a:spAutoFit/>
          </a:bodyPr>
          <a:lstStyle/>
          <a:p>
            <a:pPr algn="l"/>
            <a:r>
              <a:rPr sz="2600" b="1">
                <a:solidFill>
                  <a:srgbClr val="2D2D2D"/>
                </a:solidFill>
                <a:latin typeface="Calibri"/>
              </a:rPr>
              <a:t>El efecto crudo casi triplica el real de la campaña</a:t>
            </a:r>
          </a:p>
        </p:txBody>
      </p:sp>
      <p:sp>
        <p:nvSpPr>
          <p:cNvPr id="4" name="TextBox 3"/>
          <p:cNvSpPr txBox="1"/>
          <p:nvPr/>
        </p:nvSpPr>
        <p:spPr>
          <a:xfrm>
            <a:off x="6766560" y="3749039"/>
            <a:ext cx="4846320" cy="2011680"/>
          </a:xfrm>
          <a:prstGeom prst="rect">
            <a:avLst/>
          </a:prstGeom>
          <a:noFill/>
        </p:spPr>
        <p:txBody>
          <a:bodyPr wrap="square" anchor="t" lIns="0" rIns="0" tIns="0" bIns="0">
            <a:spAutoFit/>
          </a:bodyPr>
          <a:lstStyle/>
          <a:p>
            <a:pPr algn="l">
              <a:lnSpc>
                <a:spcPct val="120000"/>
              </a:lnSpc>
            </a:pPr>
            <a:r>
              <a:rPr sz="1500" b="0">
                <a:solidFill>
                  <a:srgbClr val="6E6E6E"/>
                </a:solidFill>
                <a:latin typeface="Calibri"/>
              </a:rPr>
              <a:t>El estimador ingenuo dice +23,64; controlar el confusor lo baja a +7,95 ≈ 8,0. Confundir correlación con causa infla la decisión.</a:t>
            </a:r>
          </a:p>
        </p:txBody>
      </p:sp>
      <p:pic>
        <p:nvPicPr>
          <p:cNvPr id="5" name="Picture 4" descr="triangle-alert__E4002B.png"/>
          <p:cNvPicPr>
            <a:picLocks noChangeAspect="1"/>
          </p:cNvPicPr>
          <p:nvPr/>
        </p:nvPicPr>
        <p:blipFill>
          <a:blip r:embed="rId2"/>
          <a:stretch>
            <a:fillRect/>
          </a:stretch>
        </p:blipFill>
        <p:spPr>
          <a:xfrm>
            <a:off x="6766560" y="1325880"/>
            <a:ext cx="658368" cy="658368"/>
          </a:xfrm>
          <a:prstGeom prst="rect">
            <a:avLst/>
          </a:prstGeom>
        </p:spPr>
      </p:pic>
      <p:sp>
        <p:nvSpPr>
          <p:cNvPr id="6" name="Rounded Rectangle 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6, celda 60</a:t>
            </a:r>
          </a:p>
        </p:txBody>
      </p:sp>
      <p:sp>
        <p:nvSpPr>
          <p:cNvPr id="7" name="TextBox 6"/>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Caso de negocio (DGP, efecto verdadero 8,0), ratio = naive/ajustado, Excel causal_did B6/B7/B8 — DEFINICIONES punto 4 (confusión).</a:t>
            </a:r>
          </a:p>
        </p:txBody>
      </p:sp>
      <p:sp>
        <p:nvSpPr>
          <p:cNvPr id="8" name="Oval 7"/>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0" name="TextBox 9"/>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2</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¿Qué es un contrafactual?</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12.2 — jueves, bloques A1 y A2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DEFINICIÓN, RUBIN (1974), HOLLAND (1986)</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Contrafactual</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El resultado que un mismo cliente habría tenido bajo la decisión contraria; es inobservable, por eso se estiman promedios.</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Y(1) = valor con campaña; Y(0) = valor sin campaña. Solo se observa uno de los dos.</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DEFINICIONES puntos 1-4 — notebook Sección 1 (celda 9).</a:t>
            </a:r>
          </a:p>
        </p:txBody>
      </p:sp>
      <p:sp>
        <p:nvSpPr>
          <p:cNvPr id="13" name="Rounded Rectangle 1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 celda 9</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CORRELACIÓN ≠ CAUSA — RUBIN (1974); IMBENS &amp; RUBIN (2015)</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La correlación no basta: hace falta un contrafactual</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it-branch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Inferencia causal</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Estima qué habría pasado bajo la decisión contraria; la correlación no basta, hace falta un contrafactual creíble.</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Y(0) y Y(1)</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Cada cliente tiene dos resultados potenciales; solo se observa uno. El efecto individual es inobservable.</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gauge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ATE y ATT</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ATE: efecto promedio en la población. ATT: solo en los tratados; es lo que estiman el DiD y el PSM.</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1, celda 11</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A/B AVANZADO — KOHAVI ET AL. (2020); COHEN (1988)</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A/B es el patrón oro; el MDE lo dimensiona</a:t>
            </a:r>
          </a:p>
        </p:txBody>
      </p:sp>
      <p:sp>
        <p:nvSpPr>
          <p:cNvPr id="4" name="Oval 3"/>
          <p:cNvSpPr/>
          <p:nvPr/>
        </p:nvSpPr>
        <p:spPr>
          <a:xfrm>
            <a:off x="54864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14300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A/B (RCT): patrón oro</a:t>
            </a:r>
          </a:p>
        </p:txBody>
      </p:sp>
      <p:sp>
        <p:nvSpPr>
          <p:cNvPr id="6" name="TextBox 5"/>
          <p:cNvSpPr txBox="1"/>
          <p:nvPr/>
        </p:nvSpPr>
        <p:spPr>
          <a:xfrm>
            <a:off x="62179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Aleatorizar iguala todo</a:t>
            </a:r>
          </a:p>
          <a:p>
            <a:pPr algn="l">
              <a:spcAft>
                <a:spcPts val="900"/>
              </a:spcAft>
            </a:pPr>
            <a:r>
              <a:rPr sz="1400">
                <a:solidFill>
                  <a:srgbClr val="2D2D2D"/>
                </a:solidFill>
                <a:latin typeface="Calibri"/>
              </a:rPr>
              <a:t>Ignorabilidad por diseño</a:t>
            </a:r>
          </a:p>
          <a:p>
            <a:pPr algn="l">
              <a:spcAft>
                <a:spcPts val="900"/>
              </a:spcAft>
            </a:pPr>
            <a:r>
              <a:rPr sz="1400">
                <a:solidFill>
                  <a:srgbClr val="2D2D2D"/>
                </a:solidFill>
                <a:latin typeface="Calibri"/>
              </a:rPr>
              <a:t>Lo que se intenta imitar</a:t>
            </a:r>
          </a:p>
        </p:txBody>
      </p:sp>
      <p:sp>
        <p:nvSpPr>
          <p:cNvPr id="7" name="Oval 6"/>
          <p:cNvSpPr/>
          <p:nvPr/>
        </p:nvSpPr>
        <p:spPr>
          <a:xfrm>
            <a:off x="6309360" y="1828800"/>
            <a:ext cx="457200" cy="4572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n</a:t>
            </a:r>
          </a:p>
        </p:txBody>
      </p:sp>
      <p:sp>
        <p:nvSpPr>
          <p:cNvPr id="8" name="TextBox 7"/>
          <p:cNvSpPr txBox="1"/>
          <p:nvPr/>
        </p:nvSpPr>
        <p:spPr>
          <a:xfrm>
            <a:off x="6903720" y="1874519"/>
            <a:ext cx="4754880" cy="457200"/>
          </a:xfrm>
          <a:prstGeom prst="rect">
            <a:avLst/>
          </a:prstGeom>
          <a:noFill/>
        </p:spPr>
        <p:txBody>
          <a:bodyPr wrap="square" anchor="t" lIns="0" rIns="0" tIns="0" bIns="0">
            <a:spAutoFit/>
          </a:bodyPr>
          <a:lstStyle/>
          <a:p>
            <a:pPr algn="l"/>
            <a:r>
              <a:rPr sz="2000" b="1">
                <a:solidFill>
                  <a:srgbClr val="9B1B30"/>
                </a:solidFill>
                <a:latin typeface="Calibri"/>
              </a:rPr>
              <a:t>Poder y MDE</a:t>
            </a:r>
          </a:p>
        </p:txBody>
      </p:sp>
      <p:sp>
        <p:nvSpPr>
          <p:cNvPr id="9" name="TextBox 8"/>
          <p:cNvSpPr txBox="1"/>
          <p:nvPr/>
        </p:nvSpPr>
        <p:spPr>
          <a:xfrm>
            <a:off x="6382512" y="2606040"/>
            <a:ext cx="5202936" cy="3474720"/>
          </a:xfrm>
          <a:prstGeom prst="rect">
            <a:avLst/>
          </a:prstGeom>
          <a:noFill/>
        </p:spPr>
        <p:txBody>
          <a:bodyPr wrap="square" lIns="0" rIns="0" tIns="0" bIns="0">
            <a:spAutoFit/>
          </a:bodyPr>
          <a:lstStyle/>
          <a:p>
            <a:pPr algn="l">
              <a:spcAft>
                <a:spcPts val="900"/>
              </a:spcAft>
            </a:pPr>
            <a:r>
              <a:rPr sz="1400">
                <a:solidFill>
                  <a:srgbClr val="2D2D2D"/>
                </a:solidFill>
                <a:latin typeface="Calibri"/>
              </a:rPr>
              <a:t>Efecto mínimo detectable</a:t>
            </a:r>
          </a:p>
          <a:p>
            <a:pPr algn="l">
              <a:spcAft>
                <a:spcPts val="900"/>
              </a:spcAft>
            </a:pPr>
            <a:r>
              <a:rPr sz="1400">
                <a:solidFill>
                  <a:srgbClr val="2D2D2D"/>
                </a:solidFill>
                <a:latin typeface="Calibri"/>
              </a:rPr>
              <a:t>Detectar la mitad: ~4× n</a:t>
            </a:r>
          </a:p>
          <a:p>
            <a:pPr algn="l">
              <a:spcAft>
                <a:spcPts val="900"/>
              </a:spcAft>
            </a:pPr>
            <a:r>
              <a:rPr sz="1400">
                <a:solidFill>
                  <a:srgbClr val="2D2D2D"/>
                </a:solidFill>
                <a:latin typeface="Calibri"/>
              </a:rPr>
              <a:t>Enlace con la Sesión 2</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3, celda 20</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¿La campaña funcionó, o ya eran mejores clientes los contactados?</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Discusión en parejas (2 min): con estos mismos datos, ¿cómo se sabría qué habría pasado sin la campaña?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determinan las variables que deben controlarse?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12.3 — jueves, bloques A1 y A2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3</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determinan las variables que deben controlarse?</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determinan las variables que deben controlarse?</a:t>
            </a:r>
          </a:p>
        </p:txBody>
      </p:sp>
      <p:pic>
        <p:nvPicPr>
          <p:cNvPr id="5" name="Picture 4" descr="workflow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EL DAG DEL NEGOCIO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DAG revela qué controlar: solo {engagement}</a:t>
            </a:r>
          </a:p>
        </p:txBody>
      </p:sp>
      <p:pic>
        <p:nvPicPr>
          <p:cNvPr id="4" name="Picture 3" descr="S12deck_dag.png"/>
          <p:cNvPicPr>
            <a:picLocks noChangeAspect="1"/>
          </p:cNvPicPr>
          <p:nvPr/>
        </p:nvPicPr>
        <p:blipFill>
          <a:blip r:embed="rId2"/>
          <a:stretch>
            <a:fillRect/>
          </a:stretch>
        </p:blipFill>
        <p:spPr>
          <a:xfrm>
            <a:off x="548640" y="1874519"/>
            <a:ext cx="6949440" cy="2482246"/>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El engagement confunde y se controla; uso_post es un collider: condicionarlo fabrica un sesgo que no existía.</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DAG del caso de negocio, puerta trasera = {engagement}, variante (b) con el collider uso_post (drill 1), Pearl (1995), figura del laboratorio.</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2, celda 16</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CRITERIO DE PUERTA TRASERA (BACKDOOR) — PEARL (2009)</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3 roles, 1 regla: controlar solo el confusor</a:t>
            </a:r>
          </a:p>
        </p:txBody>
      </p:sp>
      <p:sp>
        <p:nvSpPr>
          <p:cNvPr id="4" name="Oval 3"/>
          <p:cNvSpPr/>
          <p:nvPr/>
        </p:nvSpPr>
        <p:spPr>
          <a:xfrm>
            <a:off x="548640" y="2261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ircle-check__FFFFFF.png"/>
          <p:cNvPicPr>
            <a:picLocks noChangeAspect="1"/>
          </p:cNvPicPr>
          <p:nvPr/>
        </p:nvPicPr>
        <p:blipFill>
          <a:blip r:embed="rId2"/>
          <a:stretch>
            <a:fillRect/>
          </a:stretch>
        </p:blipFill>
        <p:spPr>
          <a:xfrm>
            <a:off x="732983" y="2445959"/>
            <a:ext cx="289682" cy="289682"/>
          </a:xfrm>
          <a:prstGeom prst="rect">
            <a:avLst/>
          </a:prstGeom>
        </p:spPr>
      </p:pic>
      <p:sp>
        <p:nvSpPr>
          <p:cNvPr id="6" name="TextBox 5"/>
          <p:cNvSpPr txBox="1"/>
          <p:nvPr/>
        </p:nvSpPr>
        <p:spPr>
          <a:xfrm>
            <a:off x="1508760" y="1938528"/>
            <a:ext cx="10134600" cy="411480"/>
          </a:xfrm>
          <a:prstGeom prst="rect">
            <a:avLst/>
          </a:prstGeom>
          <a:noFill/>
        </p:spPr>
        <p:txBody>
          <a:bodyPr wrap="square" anchor="t" lIns="0" rIns="0" tIns="0" bIns="0">
            <a:spAutoFit/>
          </a:bodyPr>
          <a:lstStyle/>
          <a:p>
            <a:pPr algn="l"/>
            <a:r>
              <a:rPr sz="1800" b="1">
                <a:solidFill>
                  <a:srgbClr val="9B1B30"/>
                </a:solidFill>
                <a:latin typeface="Calibri"/>
              </a:rPr>
              <a:t>Confusor → se controla</a:t>
            </a:r>
          </a:p>
        </p:txBody>
      </p:sp>
      <p:sp>
        <p:nvSpPr>
          <p:cNvPr id="7" name="TextBox 6"/>
          <p:cNvSpPr txBox="1"/>
          <p:nvPr/>
        </p:nvSpPr>
        <p:spPr>
          <a:xfrm>
            <a:off x="1508760" y="2395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Afecta a la vez al tratamiento y al resultado; abre la puerta trasera. Ejemplo: engagement.</a:t>
            </a:r>
          </a:p>
        </p:txBody>
      </p:sp>
      <p:sp>
        <p:nvSpPr>
          <p:cNvPr id="8" name="Oval 7"/>
          <p:cNvSpPr/>
          <p:nvPr/>
        </p:nvSpPr>
        <p:spPr>
          <a:xfrm>
            <a:off x="548640" y="3785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workflow__FFFFFF.png"/>
          <p:cNvPicPr>
            <a:picLocks noChangeAspect="1"/>
          </p:cNvPicPr>
          <p:nvPr/>
        </p:nvPicPr>
        <p:blipFill>
          <a:blip r:embed="rId3"/>
          <a:stretch>
            <a:fillRect/>
          </a:stretch>
        </p:blipFill>
        <p:spPr>
          <a:xfrm>
            <a:off x="732983" y="3969959"/>
            <a:ext cx="289682" cy="289682"/>
          </a:xfrm>
          <a:prstGeom prst="rect">
            <a:avLst/>
          </a:prstGeom>
        </p:spPr>
      </p:pic>
      <p:sp>
        <p:nvSpPr>
          <p:cNvPr id="10" name="TextBox 9"/>
          <p:cNvSpPr txBox="1"/>
          <p:nvPr/>
        </p:nvSpPr>
        <p:spPr>
          <a:xfrm>
            <a:off x="1508760" y="3462528"/>
            <a:ext cx="10134600" cy="411480"/>
          </a:xfrm>
          <a:prstGeom prst="rect">
            <a:avLst/>
          </a:prstGeom>
          <a:noFill/>
        </p:spPr>
        <p:txBody>
          <a:bodyPr wrap="square" anchor="t" lIns="0" rIns="0" tIns="0" bIns="0">
            <a:spAutoFit/>
          </a:bodyPr>
          <a:lstStyle/>
          <a:p>
            <a:pPr algn="l"/>
            <a:r>
              <a:rPr sz="1800" b="1">
                <a:solidFill>
                  <a:srgbClr val="9B1B30"/>
                </a:solidFill>
                <a:latin typeface="Calibri"/>
              </a:rPr>
              <a:t>Mediador → NO se controla</a:t>
            </a:r>
          </a:p>
        </p:txBody>
      </p:sp>
      <p:sp>
        <p:nvSpPr>
          <p:cNvPr id="11" name="TextBox 10"/>
          <p:cNvSpPr txBox="1"/>
          <p:nvPr/>
        </p:nvSpPr>
        <p:spPr>
          <a:xfrm>
            <a:off x="1508760" y="3919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Transmite el efecto (campaign → M → value); controlarlo esconde el efecto total de la campaña.</a:t>
            </a:r>
          </a:p>
        </p:txBody>
      </p:sp>
      <p:sp>
        <p:nvSpPr>
          <p:cNvPr id="12" name="Oval 11"/>
          <p:cNvSpPr/>
          <p:nvPr/>
        </p:nvSpPr>
        <p:spPr>
          <a:xfrm>
            <a:off x="548640" y="5309616"/>
            <a:ext cx="658368" cy="65836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iangle-alert__FFFFFF.png"/>
          <p:cNvPicPr>
            <a:picLocks noChangeAspect="1"/>
          </p:cNvPicPr>
          <p:nvPr/>
        </p:nvPicPr>
        <p:blipFill>
          <a:blip r:embed="rId4"/>
          <a:stretch>
            <a:fillRect/>
          </a:stretch>
        </p:blipFill>
        <p:spPr>
          <a:xfrm>
            <a:off x="732983" y="5493959"/>
            <a:ext cx="289682" cy="289682"/>
          </a:xfrm>
          <a:prstGeom prst="rect">
            <a:avLst/>
          </a:prstGeom>
        </p:spPr>
      </p:pic>
      <p:sp>
        <p:nvSpPr>
          <p:cNvPr id="14" name="TextBox 13"/>
          <p:cNvSpPr txBox="1"/>
          <p:nvPr/>
        </p:nvSpPr>
        <p:spPr>
          <a:xfrm>
            <a:off x="1508760" y="4986528"/>
            <a:ext cx="10134600" cy="411480"/>
          </a:xfrm>
          <a:prstGeom prst="rect">
            <a:avLst/>
          </a:prstGeom>
          <a:noFill/>
        </p:spPr>
        <p:txBody>
          <a:bodyPr wrap="square" anchor="t" lIns="0" rIns="0" tIns="0" bIns="0">
            <a:spAutoFit/>
          </a:bodyPr>
          <a:lstStyle/>
          <a:p>
            <a:pPr algn="l"/>
            <a:r>
              <a:rPr sz="1800" b="1">
                <a:solidFill>
                  <a:srgbClr val="9B1B30"/>
                </a:solidFill>
                <a:latin typeface="Calibri"/>
              </a:rPr>
              <a:t>Collider → NO se controla</a:t>
            </a:r>
          </a:p>
        </p:txBody>
      </p:sp>
      <p:sp>
        <p:nvSpPr>
          <p:cNvPr id="15" name="TextBox 14"/>
          <p:cNvSpPr txBox="1"/>
          <p:nvPr/>
        </p:nvSpPr>
        <p:spPr>
          <a:xfrm>
            <a:off x="1508760" y="5443728"/>
            <a:ext cx="10134600" cy="883920"/>
          </a:xfrm>
          <a:prstGeom prst="rect">
            <a:avLst/>
          </a:prstGeom>
          <a:noFill/>
        </p:spPr>
        <p:txBody>
          <a:bodyPr wrap="square" anchor="t" lIns="0" rIns="0" tIns="0" bIns="0">
            <a:spAutoFit/>
          </a:bodyPr>
          <a:lstStyle/>
          <a:p>
            <a:pPr algn="l">
              <a:lnSpc>
                <a:spcPct val="110000"/>
              </a:lnSpc>
            </a:pPr>
            <a:r>
              <a:rPr sz="1400" b="0">
                <a:solidFill>
                  <a:srgbClr val="2D2D2D"/>
                </a:solidFill>
                <a:latin typeface="Calibri"/>
              </a:rPr>
              <a:t>Dos flechas chocan en uso_post; condicionar en él fabrica un sesgo que no existía.</a:t>
            </a:r>
          </a:p>
        </p:txBody>
      </p:sp>
      <p:sp>
        <p:nvSpPr>
          <p:cNvPr id="16" name="Rounded Rectangle 15"/>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2, celda 13</a:t>
            </a:r>
          </a:p>
        </p:txBody>
      </p:sp>
      <p:sp>
        <p:nvSpPr>
          <p:cNvPr id="17" name="Oval 16"/>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9" name="TextBox 18"/>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EDEE"/>
        </a:solidFill>
        <a:effectLst/>
      </p:bgPr>
    </p:bg>
    <p:spTree>
      <p:nvGrpSpPr>
        <p:cNvPr id="1" name=""/>
        <p:cNvGrpSpPr/>
        <p:nvPr/>
      </p:nvGrpSpPr>
      <p:grpSpPr/>
      <p:sp>
        <p:nvSpPr>
          <p:cNvPr id="2" name="Oval 1"/>
          <p:cNvSpPr/>
          <p:nvPr/>
        </p:nvSpPr>
        <p:spPr>
          <a:xfrm>
            <a:off x="5593080" y="914400"/>
            <a:ext cx="1005840" cy="10058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400" b="1">
                <a:solidFill>
                  <a:srgbClr val="FFFFFF"/>
                </a:solidFill>
                <a:latin typeface="Calibri"/>
              </a:rPr>
              <a:t>?</a:t>
            </a:r>
          </a:p>
        </p:txBody>
      </p:sp>
      <p:sp>
        <p:nvSpPr>
          <p:cNvPr id="3" name="TextBox 2"/>
          <p:cNvSpPr txBox="1"/>
          <p:nvPr/>
        </p:nvSpPr>
        <p:spPr>
          <a:xfrm>
            <a:off x="1371600" y="2468880"/>
            <a:ext cx="9448800" cy="2011680"/>
          </a:xfrm>
          <a:prstGeom prst="rect">
            <a:avLst/>
          </a:prstGeom>
          <a:noFill/>
        </p:spPr>
        <p:txBody>
          <a:bodyPr wrap="square" anchor="t" lIns="0" rIns="0" tIns="0" bIns="0">
            <a:spAutoFit/>
          </a:bodyPr>
          <a:lstStyle/>
          <a:p>
            <a:pPr algn="ctr"/>
            <a:r>
              <a:rPr sz="3200" b="1">
                <a:solidFill>
                  <a:srgbClr val="9B1B30"/>
                </a:solidFill>
                <a:latin typeface="Calibri"/>
              </a:rPr>
              <a:t>¿Por qué «incluir todas las variables» puede dañar la estimación?</a:t>
            </a:r>
          </a:p>
        </p:txBody>
      </p:sp>
      <p:sp>
        <p:nvSpPr>
          <p:cNvPr id="4" name="TextBox 3"/>
          <p:cNvSpPr txBox="1"/>
          <p:nvPr/>
        </p:nvSpPr>
        <p:spPr>
          <a:xfrm>
            <a:off x="2011680" y="4754880"/>
            <a:ext cx="8168640" cy="1280160"/>
          </a:xfrm>
          <a:prstGeom prst="rect">
            <a:avLst/>
          </a:prstGeom>
          <a:noFill/>
        </p:spPr>
        <p:txBody>
          <a:bodyPr wrap="square" anchor="t" lIns="0" rIns="0" tIns="0" bIns="0">
            <a:spAutoFit/>
          </a:bodyPr>
          <a:lstStyle/>
          <a:p>
            <a:pPr algn="ctr"/>
            <a:r>
              <a:rPr sz="1500" b="0">
                <a:solidFill>
                  <a:srgbClr val="2D2D2D"/>
                </a:solidFill>
                <a:latin typeface="Calibri"/>
              </a:rPr>
              <a:t>Un mediador esconde el efecto total; un collider fabrica un sesgo que no existía.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estima un efecto sin posibilidad de experimentar?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12.4 — jueves, bloques A1 y A2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4</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¿Cómo se estima un efecto sin posibilidad de experimentar?</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¿Cómo se estima un efecto sin posibilidad de experimentar?</a:t>
            </a:r>
          </a:p>
        </p:txBody>
      </p:sp>
      <p:pic>
        <p:nvPicPr>
          <p:cNvPr id="5" name="Picture 4" descr="trending-up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57200"/>
            <a:ext cx="11094720" cy="292608"/>
          </a:xfrm>
          <a:prstGeom prst="rect">
            <a:avLst/>
          </a:prstGeom>
          <a:noFill/>
        </p:spPr>
        <p:txBody>
          <a:bodyPr wrap="square" anchor="t" lIns="0" rIns="0" tIns="0" bIns="0">
            <a:spAutoFit/>
          </a:bodyPr>
          <a:lstStyle/>
          <a:p>
            <a:pPr algn="l"/>
            <a:r>
              <a:rPr sz="1300" b="1">
                <a:solidFill>
                  <a:srgbClr val="9B1B30"/>
                </a:solidFill>
                <a:latin typeface="Calibri"/>
              </a:rPr>
              <a:t>DEFINICIÓN — ROSENBAUM &amp; RUBIN (1983)</a:t>
            </a:r>
          </a:p>
        </p:txBody>
      </p:sp>
      <p:sp>
        <p:nvSpPr>
          <p:cNvPr id="3" name="Oval 2"/>
          <p:cNvSpPr/>
          <p:nvPr/>
        </p:nvSpPr>
        <p:spPr>
          <a:xfrm>
            <a:off x="548640" y="1298448"/>
            <a:ext cx="841248" cy="8412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ook-open__FFFFFF.png"/>
          <p:cNvPicPr>
            <a:picLocks noChangeAspect="1"/>
          </p:cNvPicPr>
          <p:nvPr/>
        </p:nvPicPr>
        <p:blipFill>
          <a:blip r:embed="rId2"/>
          <a:stretch>
            <a:fillRect/>
          </a:stretch>
        </p:blipFill>
        <p:spPr>
          <a:xfrm>
            <a:off x="784189" y="1533997"/>
            <a:ext cx="370150" cy="370150"/>
          </a:xfrm>
          <a:prstGeom prst="rect">
            <a:avLst/>
          </a:prstGeom>
        </p:spPr>
      </p:pic>
      <p:sp>
        <p:nvSpPr>
          <p:cNvPr id="5" name="TextBox 4"/>
          <p:cNvSpPr txBox="1"/>
          <p:nvPr/>
        </p:nvSpPr>
        <p:spPr>
          <a:xfrm>
            <a:off x="1719072" y="1280160"/>
            <a:ext cx="9924288" cy="914400"/>
          </a:xfrm>
          <a:prstGeom prst="rect">
            <a:avLst/>
          </a:prstGeom>
          <a:noFill/>
        </p:spPr>
        <p:txBody>
          <a:bodyPr wrap="square" anchor="ctr" lIns="0" rIns="0" tIns="0" bIns="0">
            <a:spAutoFit/>
          </a:bodyPr>
          <a:lstStyle/>
          <a:p>
            <a:pPr algn="l"/>
            <a:r>
              <a:rPr sz="5200" b="1">
                <a:solidFill>
                  <a:srgbClr val="2D2D2D"/>
                </a:solidFill>
                <a:latin typeface="Calibri"/>
              </a:rPr>
              <a:t>Propensity score</a:t>
            </a:r>
          </a:p>
        </p:txBody>
      </p:sp>
      <p:sp>
        <p:nvSpPr>
          <p:cNvPr id="6" name="TextBox 5"/>
          <p:cNvSpPr txBox="1"/>
          <p:nvPr/>
        </p:nvSpPr>
        <p:spPr>
          <a:xfrm>
            <a:off x="548640" y="2542032"/>
            <a:ext cx="11094720" cy="274320"/>
          </a:xfrm>
          <a:prstGeom prst="rect">
            <a:avLst/>
          </a:prstGeom>
          <a:noFill/>
        </p:spPr>
        <p:txBody>
          <a:bodyPr wrap="square" anchor="t" lIns="0" rIns="0" tIns="0" bIns="0">
            <a:spAutoFit/>
          </a:bodyPr>
          <a:lstStyle/>
          <a:p>
            <a:pPr algn="l"/>
            <a:r>
              <a:rPr sz="1100" b="1">
                <a:solidFill>
                  <a:srgbClr val="9B1B30"/>
                </a:solidFill>
                <a:latin typeface="Calibri"/>
              </a:rPr>
              <a:t>DEFINICIÓN</a:t>
            </a:r>
          </a:p>
        </p:txBody>
      </p:sp>
      <p:sp>
        <p:nvSpPr>
          <p:cNvPr id="7" name="TextBox 6"/>
          <p:cNvSpPr txBox="1"/>
          <p:nvPr/>
        </p:nvSpPr>
        <p:spPr>
          <a:xfrm>
            <a:off x="548640" y="2834640"/>
            <a:ext cx="11094720" cy="1371600"/>
          </a:xfrm>
          <a:prstGeom prst="rect">
            <a:avLst/>
          </a:prstGeom>
          <a:noFill/>
        </p:spPr>
        <p:txBody>
          <a:bodyPr wrap="square" anchor="t" lIns="0" rIns="0" tIns="0" bIns="0">
            <a:spAutoFit/>
          </a:bodyPr>
          <a:lstStyle/>
          <a:p>
            <a:pPr algn="l">
              <a:lnSpc>
                <a:spcPct val="122000"/>
              </a:lnSpc>
            </a:pPr>
            <a:r>
              <a:rPr sz="2000" b="0">
                <a:solidFill>
                  <a:srgbClr val="2D2D2D"/>
                </a:solidFill>
                <a:latin typeface="Calibri"/>
              </a:rPr>
              <a:t>La probabilidad de recibir el tratamiento dadas las covariables, e(X)=P(T=1|X); emparejar por e(X) balancea los grupos.</a:t>
            </a:r>
          </a:p>
        </p:txBody>
      </p:sp>
      <p:sp>
        <p:nvSpPr>
          <p:cNvPr id="8" name="Rounded Rectangle 7"/>
          <p:cNvSpPr/>
          <p:nvPr/>
        </p:nvSpPr>
        <p:spPr>
          <a:xfrm>
            <a:off x="548640" y="4434840"/>
            <a:ext cx="11094720" cy="123444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ightbulb__E4002B.png"/>
          <p:cNvPicPr>
            <a:picLocks noChangeAspect="1"/>
          </p:cNvPicPr>
          <p:nvPr/>
        </p:nvPicPr>
        <p:blipFill>
          <a:blip r:embed="rId3"/>
          <a:stretch>
            <a:fillRect/>
          </a:stretch>
        </p:blipFill>
        <p:spPr>
          <a:xfrm>
            <a:off x="841248" y="4617720"/>
            <a:ext cx="274320" cy="274320"/>
          </a:xfrm>
          <a:prstGeom prst="rect">
            <a:avLst/>
          </a:prstGeom>
        </p:spPr>
      </p:pic>
      <p:sp>
        <p:nvSpPr>
          <p:cNvPr id="10" name="TextBox 9"/>
          <p:cNvSpPr txBox="1"/>
          <p:nvPr/>
        </p:nvSpPr>
        <p:spPr>
          <a:xfrm>
            <a:off x="1207008" y="4608576"/>
            <a:ext cx="2743200" cy="274320"/>
          </a:xfrm>
          <a:prstGeom prst="rect">
            <a:avLst/>
          </a:prstGeom>
          <a:noFill/>
        </p:spPr>
        <p:txBody>
          <a:bodyPr wrap="square" anchor="t" lIns="0" rIns="0" tIns="0" bIns="0">
            <a:spAutoFit/>
          </a:bodyPr>
          <a:lstStyle/>
          <a:p>
            <a:pPr algn="l"/>
            <a:r>
              <a:rPr sz="1100" b="1">
                <a:solidFill>
                  <a:srgbClr val="9B1B30"/>
                </a:solidFill>
                <a:latin typeface="Calibri"/>
              </a:rPr>
              <a:t>EJEMPLO</a:t>
            </a:r>
          </a:p>
        </p:txBody>
      </p:sp>
      <p:sp>
        <p:nvSpPr>
          <p:cNvPr id="11" name="TextBox 10"/>
          <p:cNvSpPr txBox="1"/>
          <p:nvPr/>
        </p:nvSpPr>
        <p:spPr>
          <a:xfrm>
            <a:off x="859536" y="4956048"/>
            <a:ext cx="10472928" cy="640080"/>
          </a:xfrm>
          <a:prstGeom prst="rect">
            <a:avLst/>
          </a:prstGeom>
          <a:noFill/>
        </p:spPr>
        <p:txBody>
          <a:bodyPr wrap="square" anchor="t" lIns="0" rIns="0" tIns="0" bIns="0">
            <a:spAutoFit/>
          </a:bodyPr>
          <a:lstStyle/>
          <a:p>
            <a:pPr algn="l">
              <a:lnSpc>
                <a:spcPct val="115000"/>
              </a:lnSpc>
            </a:pPr>
            <a:r>
              <a:rPr sz="1500" b="0">
                <a:solidFill>
                  <a:srgbClr val="2D2D2D"/>
                </a:solidFill>
                <a:latin typeface="Calibri"/>
              </a:rPr>
              <a:t>Se empareja cada tratado con el control de e(X) más cercano (1-NN) sobre el soporte común.</a:t>
            </a:r>
          </a:p>
        </p:txBody>
      </p:sp>
      <p:sp>
        <p:nvSpPr>
          <p:cNvPr id="12" name="TextBox 11"/>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DEFINICIONES puntos 5-6 — notebook Sección 5 (celda 48).</a:t>
            </a:r>
          </a:p>
        </p:txBody>
      </p:sp>
      <p:sp>
        <p:nvSpPr>
          <p:cNvPr id="13" name="Rounded Rectangle 12"/>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5, celda 48</a:t>
            </a:r>
          </a:p>
        </p:txBody>
      </p:sp>
      <p:sp>
        <p:nvSpPr>
          <p:cNvPr id="14" name="Oval 13"/>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6" name="TextBox 15"/>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Card y Krueger (1994)</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Capítulo 12.5 — jueves, bloques A1 y A2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9B1B30"/>
        </a:solidFill>
        <a:effectLst/>
      </p:bgPr>
    </p:bg>
    <p:spTree>
      <p:nvGrpSpPr>
        <p:cNvPr id="1" name=""/>
        <p:cNvGrpSpPr/>
        <p:nvPr/>
      </p:nvGrpSpPr>
      <p:grpSpPr/>
      <p:sp>
        <p:nvSpPr>
          <p:cNvPr id="2" name="Oval 1"/>
          <p:cNvSpPr/>
          <p:nvPr/>
        </p:nvSpPr>
        <p:spPr>
          <a:xfrm>
            <a:off x="914400" y="2103120"/>
            <a:ext cx="2377440" cy="237744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0" b="1">
                <a:solidFill>
                  <a:srgbClr val="9B1B30"/>
                </a:solidFill>
                <a:latin typeface="Calibri"/>
              </a:rPr>
              <a:t>5</a:t>
            </a:r>
          </a:p>
        </p:txBody>
      </p:sp>
      <p:sp>
        <p:nvSpPr>
          <p:cNvPr id="3" name="TextBox 2"/>
          <p:cNvSpPr txBox="1"/>
          <p:nvPr/>
        </p:nvSpPr>
        <p:spPr>
          <a:xfrm>
            <a:off x="3931920" y="2651760"/>
            <a:ext cx="7589520" cy="1371600"/>
          </a:xfrm>
          <a:prstGeom prst="rect">
            <a:avLst/>
          </a:prstGeom>
          <a:noFill/>
        </p:spPr>
        <p:txBody>
          <a:bodyPr wrap="square" anchor="t" lIns="0" rIns="0" tIns="0" bIns="0">
            <a:spAutoFit/>
          </a:bodyPr>
          <a:lstStyle/>
          <a:p>
            <a:pPr algn="l"/>
            <a:r>
              <a:rPr sz="4000" b="1">
                <a:solidFill>
                  <a:srgbClr val="FFFFFF"/>
                </a:solidFill>
                <a:latin typeface="Calibri"/>
              </a:rPr>
              <a:t>¿Se sostiene con datos reales? La réplica de Card y Krueger (1994)</a:t>
            </a:r>
          </a:p>
        </p:txBody>
      </p:sp>
      <p:sp>
        <p:nvSpPr>
          <p:cNvPr id="4" name="TextBox 3"/>
          <p:cNvSpPr txBox="1"/>
          <p:nvPr/>
        </p:nvSpPr>
        <p:spPr>
          <a:xfrm>
            <a:off x="3931920" y="3977639"/>
            <a:ext cx="7589520" cy="914400"/>
          </a:xfrm>
          <a:prstGeom prst="rect">
            <a:avLst/>
          </a:prstGeom>
          <a:noFill/>
        </p:spPr>
        <p:txBody>
          <a:bodyPr wrap="square" anchor="t" lIns="0" rIns="0" tIns="0" bIns="0">
            <a:spAutoFit/>
          </a:bodyPr>
          <a:lstStyle/>
          <a:p>
            <a:pPr algn="l"/>
            <a:r>
              <a:rPr sz="1700" b="0">
                <a:solidFill>
                  <a:srgbClr val="FCEDEE"/>
                </a:solidFill>
                <a:latin typeface="Calibri"/>
              </a:rPr>
              <a:t>¿Se sostiene con datos reales? La réplica de Card y Krueger (1994)</a:t>
            </a:r>
          </a:p>
        </p:txBody>
      </p:sp>
      <p:pic>
        <p:nvPicPr>
          <p:cNvPr id="5" name="Picture 4" descr="chart-column__FFFFFF.png"/>
          <p:cNvPicPr>
            <a:picLocks noChangeAspect="1"/>
          </p:cNvPicPr>
          <p:nvPr/>
        </p:nvPicPr>
        <p:blipFill>
          <a:blip r:embed="rId2"/>
          <a:stretch>
            <a:fillRect/>
          </a:stretch>
        </p:blipFill>
        <p:spPr>
          <a:xfrm>
            <a:off x="10195560" y="640080"/>
            <a:ext cx="1051560" cy="105156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D2D2D"/>
        </a:solidFill>
        <a:effectLst/>
      </p:bgPr>
    </p:bg>
    <p:spTree>
      <p:nvGrpSpPr>
        <p:cNvPr id="1" name=""/>
        <p:cNvGrpSpPr/>
        <p:nvPr/>
      </p:nvGrpSpPr>
      <p:grpSpPr/>
      <p:sp>
        <p:nvSpPr>
          <p:cNvPr id="2" name="Oval 1"/>
          <p:cNvSpPr/>
          <p:nvPr/>
        </p:nvSpPr>
        <p:spPr>
          <a:xfrm>
            <a:off x="5638800" y="914400"/>
            <a:ext cx="914400" cy="91440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4800" b="1">
                <a:solidFill>
                  <a:srgbClr val="FFFFFF"/>
                </a:solidFill>
                <a:latin typeface="Calibri"/>
              </a:rPr>
              <a:t>“</a:t>
            </a:r>
          </a:p>
        </p:txBody>
      </p:sp>
      <p:sp>
        <p:nvSpPr>
          <p:cNvPr id="3" name="TextBox 2"/>
          <p:cNvSpPr txBox="1"/>
          <p:nvPr/>
        </p:nvSpPr>
        <p:spPr>
          <a:xfrm>
            <a:off x="1645920" y="2377440"/>
            <a:ext cx="8900160" cy="2377440"/>
          </a:xfrm>
          <a:prstGeom prst="rect">
            <a:avLst/>
          </a:prstGeom>
          <a:noFill/>
        </p:spPr>
        <p:txBody>
          <a:bodyPr wrap="square" anchor="t" lIns="0" rIns="0" tIns="0" bIns="0">
            <a:spAutoFit/>
          </a:bodyPr>
          <a:lstStyle/>
          <a:p>
            <a:pPr algn="ctr">
              <a:lnSpc>
                <a:spcPct val="125000"/>
              </a:lnSpc>
            </a:pPr>
            <a:r>
              <a:rPr sz="2600" b="0">
                <a:solidFill>
                  <a:srgbClr val="FFFFFF"/>
                </a:solidFill>
                <a:latin typeface="Calibri"/>
              </a:rPr>
              <a:t>¿Cómo responden los empleadores de un mercado laboral de salarios bajos a un aumento del salario mínimo? La predicción de la teoría económica convencional es inequívoca: un alza del salario mínimo lleva a los empleadores que maximizan beneficios a recortar empleo.</a:t>
            </a:r>
          </a:p>
        </p:txBody>
      </p:sp>
      <p:sp>
        <p:nvSpPr>
          <p:cNvPr id="4" name="TextBox 3"/>
          <p:cNvSpPr txBox="1"/>
          <p:nvPr/>
        </p:nvSpPr>
        <p:spPr>
          <a:xfrm>
            <a:off x="1645920" y="5120640"/>
            <a:ext cx="8900160" cy="548640"/>
          </a:xfrm>
          <a:prstGeom prst="rect">
            <a:avLst/>
          </a:prstGeom>
          <a:noFill/>
        </p:spPr>
        <p:txBody>
          <a:bodyPr wrap="square" anchor="t" lIns="0" rIns="0" tIns="0" bIns="0">
            <a:spAutoFit/>
          </a:bodyPr>
          <a:lstStyle/>
          <a:p>
            <a:pPr algn="ctr"/>
            <a:r>
              <a:rPr sz="1500" b="0">
                <a:solidFill>
                  <a:srgbClr val="FCEDEE"/>
                </a:solidFill>
                <a:latin typeface="Calibri"/>
              </a:rPr>
              <a:t>— Card y Krueger, 1994 — apertura del artículo (NBER w4509, 1993, p. 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QUÉ PREGUNTABAN LOS PAPERS Y POR QUÉ USARON LO QUE USARON</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Ninguna de sus decisiones fue casual</a:t>
            </a:r>
          </a:p>
        </p:txBody>
      </p:sp>
      <p:sp>
        <p:nvSpPr>
          <p:cNvPr id="4" name="Rounded Rectangle 3"/>
          <p:cNvSpPr/>
          <p:nvPr/>
        </p:nvSpPr>
        <p:spPr>
          <a:xfrm>
            <a:off x="54864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6" name="TextBox 5"/>
          <p:cNvSpPr txBox="1"/>
          <p:nvPr/>
        </p:nvSpPr>
        <p:spPr>
          <a:xfrm>
            <a:off x="77724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Pensilvania</a:t>
            </a:r>
          </a:p>
        </p:txBody>
      </p:sp>
      <p:sp>
        <p:nvSpPr>
          <p:cNvPr id="7" name="TextBox 6"/>
          <p:cNvSpPr txBox="1"/>
          <p:nvPr/>
        </p:nvSpPr>
        <p:spPr>
          <a:xfrm>
            <a:off x="77724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No la dieron por buena: contrastaron ambos estados ANTES del alza y añadieron un segundo control dentro de Nueva Jersey, los locales que ya pagaban por encima del nuevo mínimo.</a:t>
            </a:r>
          </a:p>
        </p:txBody>
      </p:sp>
      <p:sp>
        <p:nvSpPr>
          <p:cNvPr id="8" name="TextBox 7"/>
          <p:cNvSpPr txBox="1"/>
          <p:nvPr/>
        </p:nvSpPr>
        <p:spPr>
          <a:xfrm>
            <a:off x="77724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«The test is clearly passed» — primero se verifica el control</a:t>
            </a:r>
          </a:p>
        </p:txBody>
      </p:sp>
      <p:sp>
        <p:nvSpPr>
          <p:cNvPr id="9" name="Rounded Rectangle 8"/>
          <p:cNvSpPr/>
          <p:nvPr/>
        </p:nvSpPr>
        <p:spPr>
          <a:xfrm>
            <a:off x="436880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59740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11" name="TextBox 10"/>
          <p:cNvSpPr txBox="1"/>
          <p:nvPr/>
        </p:nvSpPr>
        <p:spPr>
          <a:xfrm>
            <a:off x="459740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un escalar y no todas las covariables</a:t>
            </a:r>
          </a:p>
        </p:txBody>
      </p:sp>
      <p:sp>
        <p:nvSpPr>
          <p:cNvPr id="12" name="TextBox 11"/>
          <p:cNvSpPr txBox="1"/>
          <p:nvPr/>
        </p:nvSpPr>
        <p:spPr>
          <a:xfrm>
            <a:off x="459740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Emparejar sobre el vector completo choca con la maldición de la dimensionalidad. El propensity score resume «quién recibe el trato» en un número, y ajustar por él basta para quitar el sesgo de lo observado.</a:t>
            </a:r>
          </a:p>
        </p:txBody>
      </p:sp>
      <p:sp>
        <p:nvSpPr>
          <p:cNvPr id="13" name="TextBox 12"/>
          <p:cNvSpPr txBox="1"/>
          <p:nvPr/>
        </p:nvSpPr>
        <p:spPr>
          <a:xfrm>
            <a:off x="459740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Condicionar en e(X) imita un experimento</a:t>
            </a:r>
          </a:p>
        </p:txBody>
      </p:sp>
      <p:sp>
        <p:nvSpPr>
          <p:cNvPr id="14" name="Rounded Rectangle 13"/>
          <p:cNvSpPr/>
          <p:nvPr/>
        </p:nvSpPr>
        <p:spPr>
          <a:xfrm>
            <a:off x="8188960" y="1874519"/>
            <a:ext cx="3454400" cy="4114800"/>
          </a:xfrm>
          <a:prstGeom prst="roundRect">
            <a:avLst/>
          </a:prstGeom>
          <a:solidFill>
            <a:srgbClr val="FCE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417560" y="2103119"/>
            <a:ext cx="640080" cy="64008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16" name="TextBox 15"/>
          <p:cNvSpPr txBox="1"/>
          <p:nvPr/>
        </p:nvSpPr>
        <p:spPr>
          <a:xfrm>
            <a:off x="8417560" y="2926079"/>
            <a:ext cx="2997200" cy="640080"/>
          </a:xfrm>
          <a:prstGeom prst="rect">
            <a:avLst/>
          </a:prstGeom>
          <a:noFill/>
        </p:spPr>
        <p:txBody>
          <a:bodyPr wrap="square" anchor="t" lIns="0" rIns="0" tIns="0" bIns="0">
            <a:spAutoFit/>
          </a:bodyPr>
          <a:lstStyle/>
          <a:p>
            <a:pPr algn="l"/>
            <a:r>
              <a:rPr sz="1800" b="1">
                <a:solidFill>
                  <a:srgbClr val="9B1B30"/>
                </a:solidFill>
                <a:latin typeface="Calibri"/>
              </a:rPr>
              <a:t>Por qué el balance se mira antes de estimar</a:t>
            </a:r>
          </a:p>
        </p:txBody>
      </p:sp>
      <p:sp>
        <p:nvSpPr>
          <p:cNvPr id="17" name="TextBox 16"/>
          <p:cNvSpPr txBox="1"/>
          <p:nvPr/>
        </p:nvSpPr>
        <p:spPr>
          <a:xfrm>
            <a:off x="8417560" y="3611879"/>
            <a:ext cx="2997200" cy="1645920"/>
          </a:xfrm>
          <a:prstGeom prst="rect">
            <a:avLst/>
          </a:prstGeom>
          <a:noFill/>
        </p:spPr>
        <p:txBody>
          <a:bodyPr wrap="square" anchor="t" lIns="0" rIns="0" tIns="0" bIns="0">
            <a:spAutoFit/>
          </a:bodyPr>
          <a:lstStyle/>
          <a:p>
            <a:pPr algn="l">
              <a:lnSpc>
                <a:spcPct val="115000"/>
              </a:lnSpc>
            </a:pPr>
            <a:r>
              <a:rPr sz="1300" b="0">
                <a:solidFill>
                  <a:srgbClr val="2D2D2D"/>
                </a:solidFill>
                <a:latin typeface="Calibri"/>
              </a:rPr>
              <a:t>La especificación del propensity se acepta por BALANCE, no por el criterio estadístico habitual; y antes de emparejar se recorta al soporte común: descartaron 12 611 de las 15 992 unidades de la CPS (cifras del paper).</a:t>
            </a:r>
          </a:p>
        </p:txBody>
      </p:sp>
      <p:sp>
        <p:nvSpPr>
          <p:cNvPr id="18" name="TextBox 17"/>
          <p:cNvSpPr txBox="1"/>
          <p:nvPr/>
        </p:nvSpPr>
        <p:spPr>
          <a:xfrm>
            <a:off x="8417560" y="5303519"/>
            <a:ext cx="2997200" cy="502920"/>
          </a:xfrm>
          <a:prstGeom prst="rect">
            <a:avLst/>
          </a:prstGeom>
          <a:noFill/>
        </p:spPr>
        <p:txBody>
          <a:bodyPr wrap="square" anchor="t" lIns="0" rIns="0" tIns="0" bIns="0">
            <a:spAutoFit/>
          </a:bodyPr>
          <a:lstStyle/>
          <a:p>
            <a:pPr algn="l"/>
            <a:r>
              <a:rPr sz="1200" b="1">
                <a:solidFill>
                  <a:srgbClr val="9B1B30"/>
                </a:solidFill>
                <a:latin typeface="Calibri"/>
              </a:rPr>
              <a:t>Un control grande no es un control comparable</a:t>
            </a:r>
          </a:p>
        </p:txBody>
      </p:sp>
      <p:sp>
        <p:nvSpPr>
          <p:cNvPr id="19" name="TextBox 18"/>
          <p:cNvSpPr txBox="1"/>
          <p:nvPr/>
        </p:nvSpPr>
        <p:spPr>
          <a:xfrm>
            <a:off x="548640" y="5806440"/>
            <a:ext cx="11094720" cy="292608"/>
          </a:xfrm>
          <a:prstGeom prst="rect">
            <a:avLst/>
          </a:prstGeom>
          <a:noFill/>
        </p:spPr>
        <p:txBody>
          <a:bodyPr wrap="square">
            <a:spAutoFit/>
          </a:bodyPr>
          <a:lstStyle/>
          <a:p>
            <a:r>
              <a:rPr sz="1000">
                <a:solidFill>
                  <a:srgbClr val="6E6E6E"/>
                </a:solidFill>
                <a:latin typeface="Calibri"/>
              </a:rPr>
              <a:t>Decisiones documentadas en los originales: REPLICACION_PAPER Sección 0.3 — Card &amp; Krueger, NBER w4509 (pp. 8 y 11); Dehejia &amp; Wahba, NBER w6586 (pp. 5-9); Rosenbaum &amp; Rubin, Biometrika 70(1), p. 41.</a:t>
            </a:r>
          </a:p>
        </p:txBody>
      </p:sp>
      <p:sp>
        <p:nvSpPr>
          <p:cNvPr id="20" name="Oval 1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22" name="TextBox 2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DIFERENCIAS EN DIFERENCIAS — RESTA DE CAMBIOS, NO DE NIVELES</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empleo de NJ subió mientras el de PA cayó</a:t>
            </a:r>
          </a:p>
        </p:txBody>
      </p:sp>
      <p:graphicFrame>
        <p:nvGraphicFramePr>
          <p:cNvPr id="4" name="Table 3"/>
          <p:cNvGraphicFramePr>
            <a:graphicFrameLocks noGrp="1"/>
          </p:cNvGraphicFramePr>
          <p:nvPr/>
        </p:nvGraphicFramePr>
        <p:xfrm>
          <a:off x="548640" y="1828800"/>
          <a:ext cx="11094720" cy="1719072"/>
        </p:xfrm>
        <a:graphic>
          <a:graphicData uri="http://schemas.openxmlformats.org/drawingml/2006/table">
            <a:tbl>
              <a:tblPr firstRow="1" bandRow="1">
                <a:tableStyleId>{5C22544A-7EE6-4342-B048-85BDC9FD1C3A}</a:tableStyleId>
              </a:tblPr>
              <a:tblGrid>
                <a:gridCol w="2773680"/>
                <a:gridCol w="2773680"/>
                <a:gridCol w="2773680"/>
                <a:gridCol w="2773680"/>
              </a:tblGrid>
              <a:tr h="429768">
                <a:tc>
                  <a:txBody>
                    <a:bodyPr/>
                    <a:lstStyle/>
                    <a:p>
                      <a:r>
                        <a:rPr sz="1300" b="1">
                          <a:solidFill>
                            <a:srgbClr val="FFFFFF"/>
                          </a:solidFill>
                          <a:latin typeface="Calibri"/>
                        </a:rPr>
                        <a:t>Grupo (FTE)</a:t>
                      </a:r>
                    </a:p>
                  </a:txBody>
                  <a:tcPr>
                    <a:solidFill>
                      <a:srgbClr val="9B1B30"/>
                    </a:solidFill>
                  </a:tcPr>
                </a:tc>
                <a:tc>
                  <a:txBody>
                    <a:bodyPr/>
                    <a:lstStyle/>
                    <a:p>
                      <a:r>
                        <a:rPr sz="1300" b="1">
                          <a:solidFill>
                            <a:srgbClr val="FFFFFF"/>
                          </a:solidFill>
                          <a:latin typeface="Calibri"/>
                        </a:rPr>
                        <a:t>Antes</a:t>
                      </a:r>
                    </a:p>
                  </a:txBody>
                  <a:tcPr>
                    <a:solidFill>
                      <a:srgbClr val="9B1B30"/>
                    </a:solidFill>
                  </a:tcPr>
                </a:tc>
                <a:tc>
                  <a:txBody>
                    <a:bodyPr/>
                    <a:lstStyle/>
                    <a:p>
                      <a:r>
                        <a:rPr sz="1300" b="1">
                          <a:solidFill>
                            <a:srgbClr val="FFFFFF"/>
                          </a:solidFill>
                          <a:latin typeface="Calibri"/>
                        </a:rPr>
                        <a:t>Después</a:t>
                      </a:r>
                    </a:p>
                  </a:txBody>
                  <a:tcPr>
                    <a:solidFill>
                      <a:srgbClr val="9B1B30"/>
                    </a:solidFill>
                  </a:tcPr>
                </a:tc>
                <a:tc>
                  <a:txBody>
                    <a:bodyPr/>
                    <a:lstStyle/>
                    <a:p>
                      <a:r>
                        <a:rPr sz="1300" b="1">
                          <a:solidFill>
                            <a:srgbClr val="FFFFFF"/>
                          </a:solidFill>
                          <a:latin typeface="Calibri"/>
                        </a:rPr>
                        <a:t>Cambio</a:t>
                      </a:r>
                    </a:p>
                  </a:txBody>
                  <a:tcPr>
                    <a:solidFill>
                      <a:srgbClr val="9B1B30"/>
                    </a:solidFill>
                  </a:tcPr>
                </a:tc>
              </a:tr>
              <a:tr h="429768">
                <a:tc>
                  <a:txBody>
                    <a:bodyPr wrap="square"/>
                    <a:lstStyle/>
                    <a:p>
                      <a:r>
                        <a:rPr sz="1300">
                          <a:solidFill>
                            <a:srgbClr val="2D2D2D"/>
                          </a:solidFill>
                          <a:latin typeface="Calibri"/>
                        </a:rPr>
                        <a:t>NJ (tratado)</a:t>
                      </a:r>
                    </a:p>
                  </a:txBody>
                  <a:tcPr>
                    <a:solidFill>
                      <a:srgbClr val="FFFFFF"/>
                    </a:solidFill>
                  </a:tcPr>
                </a:tc>
                <a:tc>
                  <a:txBody>
                    <a:bodyPr wrap="square"/>
                    <a:lstStyle/>
                    <a:p>
                      <a:r>
                        <a:rPr sz="1300">
                          <a:solidFill>
                            <a:srgbClr val="2D2D2D"/>
                          </a:solidFill>
                          <a:latin typeface="Calibri"/>
                        </a:rPr>
                        <a:t>20,44</a:t>
                      </a:r>
                    </a:p>
                  </a:txBody>
                  <a:tcPr>
                    <a:solidFill>
                      <a:srgbClr val="FFFFFF"/>
                    </a:solidFill>
                  </a:tcPr>
                </a:tc>
                <a:tc>
                  <a:txBody>
                    <a:bodyPr wrap="square"/>
                    <a:lstStyle/>
                    <a:p>
                      <a:r>
                        <a:rPr sz="1300">
                          <a:solidFill>
                            <a:srgbClr val="2D2D2D"/>
                          </a:solidFill>
                          <a:latin typeface="Calibri"/>
                        </a:rPr>
                        <a:t>21,03</a:t>
                      </a:r>
                    </a:p>
                  </a:txBody>
                  <a:tcPr>
                    <a:solidFill>
                      <a:srgbClr val="FFFFFF"/>
                    </a:solidFill>
                  </a:tcPr>
                </a:tc>
                <a:tc>
                  <a:txBody>
                    <a:bodyPr wrap="square"/>
                    <a:lstStyle/>
                    <a:p>
                      <a:r>
                        <a:rPr sz="1300">
                          <a:solidFill>
                            <a:srgbClr val="2D2D2D"/>
                          </a:solidFill>
                          <a:latin typeface="Calibri"/>
                        </a:rPr>
                        <a:t>+0,59</a:t>
                      </a:r>
                    </a:p>
                  </a:txBody>
                  <a:tcPr>
                    <a:solidFill>
                      <a:srgbClr val="FFFFFF"/>
                    </a:solidFill>
                  </a:tcPr>
                </a:tc>
              </a:tr>
              <a:tr h="429768">
                <a:tc>
                  <a:txBody>
                    <a:bodyPr wrap="square"/>
                    <a:lstStyle/>
                    <a:p>
                      <a:r>
                        <a:rPr sz="1300">
                          <a:solidFill>
                            <a:srgbClr val="2D2D2D"/>
                          </a:solidFill>
                          <a:latin typeface="Calibri"/>
                        </a:rPr>
                        <a:t>PA (control)</a:t>
                      </a:r>
                    </a:p>
                  </a:txBody>
                  <a:tcPr>
                    <a:solidFill>
                      <a:srgbClr val="FCEDEE"/>
                    </a:solidFill>
                  </a:tcPr>
                </a:tc>
                <a:tc>
                  <a:txBody>
                    <a:bodyPr wrap="square"/>
                    <a:lstStyle/>
                    <a:p>
                      <a:r>
                        <a:rPr sz="1300">
                          <a:solidFill>
                            <a:srgbClr val="2D2D2D"/>
                          </a:solidFill>
                          <a:latin typeface="Calibri"/>
                        </a:rPr>
                        <a:t>23,33</a:t>
                      </a:r>
                    </a:p>
                  </a:txBody>
                  <a:tcPr>
                    <a:solidFill>
                      <a:srgbClr val="FCEDEE"/>
                    </a:solidFill>
                  </a:tcPr>
                </a:tc>
                <a:tc>
                  <a:txBody>
                    <a:bodyPr wrap="square"/>
                    <a:lstStyle/>
                    <a:p>
                      <a:r>
                        <a:rPr sz="1300">
                          <a:solidFill>
                            <a:srgbClr val="2D2D2D"/>
                          </a:solidFill>
                          <a:latin typeface="Calibri"/>
                        </a:rPr>
                        <a:t>21,17</a:t>
                      </a:r>
                    </a:p>
                  </a:txBody>
                  <a:tcPr>
                    <a:solidFill>
                      <a:srgbClr val="FCEDEE"/>
                    </a:solidFill>
                  </a:tcPr>
                </a:tc>
                <a:tc>
                  <a:txBody>
                    <a:bodyPr wrap="square"/>
                    <a:lstStyle/>
                    <a:p>
                      <a:r>
                        <a:rPr sz="1300">
                          <a:solidFill>
                            <a:srgbClr val="2D2D2D"/>
                          </a:solidFill>
                          <a:latin typeface="Calibri"/>
                        </a:rPr>
                        <a:t>−2,16</a:t>
                      </a:r>
                    </a:p>
                  </a:txBody>
                  <a:tcPr>
                    <a:solidFill>
                      <a:srgbClr val="FCEDEE"/>
                    </a:solidFill>
                  </a:tcPr>
                </a:tc>
              </a:tr>
              <a:tr h="429768">
                <a:tc>
                  <a:txBody>
                    <a:bodyPr wrap="square"/>
                    <a:lstStyle/>
                    <a:p>
                      <a:r>
                        <a:rPr sz="1300">
                          <a:solidFill>
                            <a:srgbClr val="2D2D2D"/>
                          </a:solidFill>
                          <a:latin typeface="Calibri"/>
                        </a:rPr>
                        <a:t>DiD = cambio NJ − cambio PA</a:t>
                      </a:r>
                    </a:p>
                  </a:txBody>
                  <a:tcPr>
                    <a:solidFill>
                      <a:srgbClr val="FFFFFF"/>
                    </a:solidFill>
                  </a:tcPr>
                </a:tc>
                <a:tc>
                  <a:txBody>
                    <a:bodyPr wrap="square"/>
                    <a:lstStyle/>
                    <a:p>
                      <a:r>
                        <a:rPr sz="1300">
                          <a:solidFill>
                            <a:srgbClr val="2D2D2D"/>
                          </a:solidFill>
                          <a:latin typeface="Calibri"/>
                        </a:rPr>
                        <a:t/>
                      </a:r>
                    </a:p>
                  </a:txBody>
                  <a:tcPr>
                    <a:solidFill>
                      <a:srgbClr val="FFFFFF"/>
                    </a:solidFill>
                  </a:tcPr>
                </a:tc>
                <a:tc>
                  <a:txBody>
                    <a:bodyPr wrap="square"/>
                    <a:lstStyle/>
                    <a:p>
                      <a:r>
                        <a:rPr sz="1300">
                          <a:solidFill>
                            <a:srgbClr val="2D2D2D"/>
                          </a:solidFill>
                          <a:latin typeface="Calibri"/>
                        </a:rPr>
                        <a:t/>
                      </a:r>
                    </a:p>
                  </a:txBody>
                  <a:tcPr>
                    <a:solidFill>
                      <a:srgbClr val="FFFFFF"/>
                    </a:solidFill>
                  </a:tcPr>
                </a:tc>
                <a:tc>
                  <a:txBody>
                    <a:bodyPr wrap="square"/>
                    <a:lstStyle/>
                    <a:p>
                      <a:r>
                        <a:rPr sz="1300">
                          <a:solidFill>
                            <a:srgbClr val="2D2D2D"/>
                          </a:solidFill>
                          <a:latin typeface="Calibri"/>
                        </a:rPr>
                        <a:t>+2,75</a:t>
                      </a:r>
                    </a:p>
                  </a:txBody>
                  <a:tcPr>
                    <a:solidFill>
                      <a:srgbClr val="FFFFFF"/>
                    </a:solidFill>
                  </a:tcPr>
                </a:tc>
              </a:tr>
            </a:tbl>
          </a:graphicData>
        </a:graphic>
      </p:graphicFrame>
      <p:sp>
        <p:nvSpPr>
          <p:cNvPr id="5" name="Rounded Rectangle 4"/>
          <p:cNvSpPr/>
          <p:nvPr/>
        </p:nvSpPr>
        <p:spPr>
          <a:xfrm>
            <a:off x="548640" y="5212080"/>
            <a:ext cx="10881360" cy="329184"/>
          </a:xfrm>
          <a:prstGeom prst="roundRect">
            <a:avLst/>
          </a:prstGeom>
          <a:solidFill>
            <a:srgbClr val="FCEDEE"/>
          </a:solidFill>
          <a:ln w="12700">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ok-open__E4002B.png"/>
          <p:cNvPicPr>
            <a:picLocks noChangeAspect="1"/>
          </p:cNvPicPr>
          <p:nvPr/>
        </p:nvPicPr>
        <p:blipFill>
          <a:blip r:embed="rId2"/>
          <a:stretch>
            <a:fillRect/>
          </a:stretch>
        </p:blipFill>
        <p:spPr>
          <a:xfrm>
            <a:off x="694944" y="5266944"/>
            <a:ext cx="219456" cy="219456"/>
          </a:xfrm>
          <a:prstGeom prst="rect">
            <a:avLst/>
          </a:prstGeom>
        </p:spPr>
      </p:pic>
      <p:sp>
        <p:nvSpPr>
          <p:cNvPr id="7" name="TextBox 6"/>
          <p:cNvSpPr txBox="1"/>
          <p:nvPr/>
        </p:nvSpPr>
        <p:spPr>
          <a:xfrm>
            <a:off x="1005840" y="5244084"/>
            <a:ext cx="10314432" cy="274320"/>
          </a:xfrm>
          <a:prstGeom prst="rect">
            <a:avLst/>
          </a:prstGeom>
          <a:noFill/>
        </p:spPr>
        <p:txBody>
          <a:bodyPr wrap="square" lIns="0" rIns="0" tIns="0" bIns="0">
            <a:spAutoFit/>
          </a:bodyPr>
          <a:lstStyle/>
          <a:p>
            <a:pPr algn="l"/>
            <a:r>
              <a:rPr sz="1200" b="1">
                <a:solidFill>
                  <a:srgbClr val="9B1B30"/>
                </a:solidFill>
                <a:latin typeface="Calibri"/>
              </a:rPr>
              <a:t>En el paper:  </a:t>
            </a:r>
            <a:r>
              <a:rPr sz="1200" b="1">
                <a:solidFill>
                  <a:srgbClr val="2D2D2D"/>
                </a:solidFill>
                <a:latin typeface="Calibri"/>
              </a:rPr>
              <a:t>Card &amp; Krueger (1994), Minimum Wages and Employment, AER 84(4):772-793</a:t>
            </a:r>
          </a:p>
        </p:txBody>
      </p:sp>
      <p:sp>
        <p:nvSpPr>
          <p:cNvPr id="8" name="Rounded Rectangle 7"/>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Sección 4, celda 34</a:t>
            </a:r>
          </a:p>
        </p:txBody>
      </p:sp>
      <p:sp>
        <p:nvSpPr>
          <p:cNvPr id="9" name="Oval 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1" name="TextBox 1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ASÍ SE HACE — STATSMODELS (OLS CON SE CLÚSTER)</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DiD es el coeficiente de la interacción nj:post</a:t>
            </a:r>
          </a:p>
        </p:txBody>
      </p:sp>
      <p:sp>
        <p:nvSpPr>
          <p:cNvPr id="4" name="TextBox 3"/>
          <p:cNvSpPr txBox="1"/>
          <p:nvPr/>
        </p:nvSpPr>
        <p:spPr>
          <a:xfrm>
            <a:off x="548640" y="1755648"/>
            <a:ext cx="11094720" cy="457200"/>
          </a:xfrm>
          <a:prstGeom prst="rect">
            <a:avLst/>
          </a:prstGeom>
          <a:noFill/>
        </p:spPr>
        <p:txBody>
          <a:bodyPr wrap="square" lIns="0" tIns="0" bIns="0">
            <a:spAutoFit/>
          </a:bodyPr>
          <a:lstStyle/>
          <a:p>
            <a:r>
              <a:rPr sz="1400" b="1">
                <a:solidFill>
                  <a:srgbClr val="9B1B30"/>
                </a:solidFill>
                <a:latin typeface="Calibri"/>
              </a:rPr>
              <a:t>▸ Qué hace:  </a:t>
            </a:r>
            <a:r>
              <a:rPr sz="1400">
                <a:solidFill>
                  <a:srgbClr val="2D2D2D"/>
                </a:solidFill>
                <a:latin typeface="Calibri"/>
              </a:rPr>
              <a:t>estima el DiD como el coeficiente de la interacción nj:post en la regresión, con errores estándar clúster por restaurante.</a:t>
            </a:r>
          </a:p>
        </p:txBody>
      </p:sp>
      <p:sp>
        <p:nvSpPr>
          <p:cNvPr id="5" name="Rounded Rectangle 4"/>
          <p:cNvSpPr/>
          <p:nvPr/>
        </p:nvSpPr>
        <p:spPr>
          <a:xfrm>
            <a:off x="548640" y="2395728"/>
            <a:ext cx="11094720" cy="3346704"/>
          </a:xfrm>
          <a:prstGeom prst="roundRect">
            <a:avLst/>
          </a:prstGeom>
          <a:solidFill>
            <a:srgbClr val="F4F4F4"/>
          </a:solidFill>
          <a:ln w="9525">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2542032"/>
            <a:ext cx="10637520" cy="256032"/>
          </a:xfrm>
          <a:prstGeom prst="rect">
            <a:avLst/>
          </a:prstGeom>
          <a:noFill/>
        </p:spPr>
        <p:txBody>
          <a:bodyPr wrap="none" lIns="0" tIns="0" bIns="0">
            <a:spAutoFit/>
          </a:bodyPr>
          <a:lstStyle/>
          <a:p>
            <a:r>
              <a:rPr sz="1050" b="1">
                <a:solidFill>
                  <a:srgbClr val="9B1B30"/>
                </a:solidFill>
                <a:latin typeface="Calibri"/>
              </a:rPr>
              <a:t>CÓDIGO REAL DEL CUADERNO</a:t>
            </a:r>
          </a:p>
        </p:txBody>
      </p:sp>
      <p:sp>
        <p:nvSpPr>
          <p:cNvPr id="7" name="TextBox 6"/>
          <p:cNvSpPr txBox="1"/>
          <p:nvPr/>
        </p:nvSpPr>
        <p:spPr>
          <a:xfrm>
            <a:off x="859536" y="2926080"/>
            <a:ext cx="10472928" cy="2743200"/>
          </a:xfrm>
          <a:prstGeom prst="rect">
            <a:avLst/>
          </a:prstGeom>
          <a:noFill/>
        </p:spPr>
        <p:txBody>
          <a:bodyPr wrap="square" lIns="0" tIns="0" bIns="0">
            <a:spAutoFit/>
          </a:bodyPr>
          <a:lstStyle/>
          <a:p>
            <a:pPr>
              <a:lnSpc>
                <a:spcPct val="130000"/>
              </a:lnSpc>
              <a:spcAft>
                <a:spcPts val="400"/>
              </a:spcAft>
            </a:pPr>
            <a:r>
              <a:rPr sz="1200">
                <a:solidFill>
                  <a:srgbClr val="2D2D2D"/>
                </a:solidFill>
                <a:latin typeface="Consolas"/>
              </a:rPr>
              <a:t>import statsmodels.formula.api as smf</a:t>
            </a:r>
          </a:p>
          <a:p>
            <a:pPr>
              <a:lnSpc>
                <a:spcPct val="130000"/>
              </a:lnSpc>
              <a:spcAft>
                <a:spcPts val="400"/>
              </a:spcAft>
            </a:pPr>
            <a:r>
              <a:rPr sz="1200">
                <a:solidFill>
                  <a:srgbClr val="2D2D2D"/>
                </a:solidFill>
                <a:latin typeface="Consolas"/>
              </a:rPr>
              <a:t/>
            </a:r>
          </a:p>
          <a:p>
            <a:pPr>
              <a:lnSpc>
                <a:spcPct val="130000"/>
              </a:lnSpc>
              <a:spcAft>
                <a:spcPts val="400"/>
              </a:spcAft>
            </a:pPr>
            <a:r>
              <a:rPr sz="1200">
                <a:solidFill>
                  <a:srgbClr val="2D2D2D"/>
                </a:solidFill>
                <a:latin typeface="Consolas"/>
              </a:rPr>
              <a:t>m = smf.ols("fte ~ nj + post + nj:post", data=panel).fit(</a:t>
            </a:r>
          </a:p>
          <a:p>
            <a:pPr>
              <a:lnSpc>
                <a:spcPct val="130000"/>
              </a:lnSpc>
              <a:spcAft>
                <a:spcPts val="400"/>
              </a:spcAft>
            </a:pPr>
            <a:r>
              <a:rPr sz="1200">
                <a:solidFill>
                  <a:srgbClr val="2D2D2D"/>
                </a:solidFill>
                <a:latin typeface="Consolas"/>
              </a:rPr>
              <a:t>        cov_type="cluster", cov_kwds={"groups": panel["store_id"]})</a:t>
            </a:r>
          </a:p>
          <a:p>
            <a:pPr>
              <a:lnSpc>
                <a:spcPct val="130000"/>
              </a:lnSpc>
              <a:spcAft>
                <a:spcPts val="400"/>
              </a:spcAft>
            </a:pPr>
            <a:r>
              <a:rPr sz="1200">
                <a:solidFill>
                  <a:srgbClr val="2D2D2D"/>
                </a:solidFill>
                <a:latin typeface="Consolas"/>
              </a:rPr>
              <a:t>did = m.params["nj:post"]        # coeficiente de interaccion = DiD</a:t>
            </a:r>
          </a:p>
          <a:p>
            <a:pPr>
              <a:lnSpc>
                <a:spcPct val="130000"/>
              </a:lnSpc>
              <a:spcAft>
                <a:spcPts val="400"/>
              </a:spcAft>
            </a:pPr>
            <a:r>
              <a:rPr sz="1200">
                <a:solidFill>
                  <a:srgbClr val="2D2D2D"/>
                </a:solidFill>
                <a:latin typeface="Consolas"/>
              </a:rPr>
              <a:t>print(round(did, 3), round(m.bse["nj:post"], 3))</a:t>
            </a:r>
          </a:p>
          <a:p>
            <a:pPr>
              <a:lnSpc>
                <a:spcPct val="130000"/>
              </a:lnSpc>
              <a:spcAft>
                <a:spcPts val="400"/>
              </a:spcAft>
            </a:pPr>
            <a:r>
              <a:rPr sz="1200">
                <a:solidFill>
                  <a:srgbClr val="2D2D2D"/>
                </a:solidFill>
                <a:latin typeface="Consolas"/>
              </a:rPr>
              <a:t># -&gt; 2.75   1.339   (venv; benchmark +2,76 SE 1,36, etiquetado)</a:t>
            </a:r>
          </a:p>
        </p:txBody>
      </p:sp>
      <p:sp>
        <p:nvSpPr>
          <p:cNvPr id="8" name="TextBox 7"/>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notebook celda 37 (Sección 4, regresión). Operativo (venv) coef nj:post +2,75 — Excel causal_did B9; el signo es el mismo de la tabla 2×2 (+2,75).</a:t>
            </a:r>
          </a:p>
        </p:txBody>
      </p:sp>
      <p:sp>
        <p:nvSpPr>
          <p:cNvPr id="9" name="Rounded Rectangle 8"/>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Paso 4, regr., celda 37</a:t>
            </a:r>
          </a:p>
        </p:txBody>
      </p:sp>
      <p:sp>
        <p:nvSpPr>
          <p:cNvPr id="10" name="Oval 9"/>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2" name="TextBox 11"/>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EVIDENCIA — EMPLEO FTE POR GRUPO</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El DiD resta cambios, no niveles: +2,75 FTE</a:t>
            </a:r>
          </a:p>
        </p:txBody>
      </p:sp>
      <p:pic>
        <p:nvPicPr>
          <p:cNvPr id="4" name="Picture 3" descr="S12deck_did.png"/>
          <p:cNvPicPr>
            <a:picLocks noChangeAspect="1"/>
          </p:cNvPicPr>
          <p:nvPr/>
        </p:nvPicPr>
        <p:blipFill>
          <a:blip r:embed="rId2"/>
          <a:stretch>
            <a:fillRect/>
          </a:stretch>
        </p:blipFill>
        <p:spPr>
          <a:xfrm>
            <a:off x="548640" y="1828800"/>
            <a:ext cx="6949440" cy="3785284"/>
          </a:xfrm>
          <a:prstGeom prst="rect">
            <a:avLst/>
          </a:prstGeom>
        </p:spPr>
      </p:pic>
      <p:sp>
        <p:nvSpPr>
          <p:cNvPr id="5" name="Oval 4"/>
          <p:cNvSpPr/>
          <p:nvPr/>
        </p:nvSpPr>
        <p:spPr>
          <a:xfrm>
            <a:off x="7955279" y="2011680"/>
            <a:ext cx="548640" cy="548640"/>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ightbulb__FFFFFF.png"/>
          <p:cNvPicPr>
            <a:picLocks noChangeAspect="1"/>
          </p:cNvPicPr>
          <p:nvPr/>
        </p:nvPicPr>
        <p:blipFill>
          <a:blip r:embed="rId3"/>
          <a:stretch>
            <a:fillRect/>
          </a:stretch>
        </p:blipFill>
        <p:spPr>
          <a:xfrm>
            <a:off x="8108898" y="2165299"/>
            <a:ext cx="241402" cy="241402"/>
          </a:xfrm>
          <a:prstGeom prst="rect">
            <a:avLst/>
          </a:prstGeom>
        </p:spPr>
      </p:pic>
      <p:sp>
        <p:nvSpPr>
          <p:cNvPr id="7" name="TextBox 6"/>
          <p:cNvSpPr txBox="1"/>
          <p:nvPr/>
        </p:nvSpPr>
        <p:spPr>
          <a:xfrm>
            <a:off x="8686800" y="2057400"/>
            <a:ext cx="2926080" cy="548640"/>
          </a:xfrm>
          <a:prstGeom prst="rect">
            <a:avLst/>
          </a:prstGeom>
          <a:noFill/>
        </p:spPr>
        <p:txBody>
          <a:bodyPr wrap="square" anchor="t" lIns="0" rIns="0" tIns="0" bIns="0">
            <a:spAutoFit/>
          </a:bodyPr>
          <a:lstStyle/>
          <a:p>
            <a:pPr algn="l"/>
            <a:r>
              <a:rPr sz="1500" b="1">
                <a:solidFill>
                  <a:srgbClr val="9B1B30"/>
                </a:solidFill>
                <a:latin typeface="Calibri"/>
              </a:rPr>
              <a:t>Lectura de negocio</a:t>
            </a:r>
          </a:p>
        </p:txBody>
      </p:sp>
      <p:sp>
        <p:nvSpPr>
          <p:cNvPr id="8" name="TextBox 7"/>
          <p:cNvSpPr txBox="1"/>
          <p:nvPr/>
        </p:nvSpPr>
        <p:spPr>
          <a:xfrm>
            <a:off x="7955279" y="2880360"/>
            <a:ext cx="3657600" cy="3108960"/>
          </a:xfrm>
          <a:prstGeom prst="rect">
            <a:avLst/>
          </a:prstGeom>
          <a:noFill/>
        </p:spPr>
        <p:txBody>
          <a:bodyPr wrap="square" anchor="t" lIns="0" rIns="0" tIns="0" bIns="0">
            <a:spAutoFit/>
          </a:bodyPr>
          <a:lstStyle/>
          <a:p>
            <a:pPr algn="l">
              <a:lnSpc>
                <a:spcPct val="125000"/>
              </a:lnSpc>
            </a:pPr>
            <a:r>
              <a:rPr sz="1500" b="0">
                <a:solidFill>
                  <a:srgbClr val="2D2D2D"/>
                </a:solidFill>
                <a:latin typeface="Calibri"/>
              </a:rPr>
              <a:t>NJ sube +0,59 y PA cae −2,16: la diferencia de los cambios es +2,75. El alza no destruyó empleo.</a:t>
            </a:r>
          </a:p>
        </p:txBody>
      </p:sp>
      <p:sp>
        <p:nvSpPr>
          <p:cNvPr id="9" name="TextBox 8"/>
          <p:cNvSpPr txBox="1"/>
          <p:nvPr/>
        </p:nvSpPr>
        <p:spPr>
          <a:xfrm>
            <a:off x="548640" y="5961888"/>
            <a:ext cx="11094720" cy="292608"/>
          </a:xfrm>
          <a:prstGeom prst="rect">
            <a:avLst/>
          </a:prstGeom>
          <a:noFill/>
        </p:spPr>
        <p:txBody>
          <a:bodyPr wrap="square" anchor="t" lIns="0" rIns="0" tIns="0" bIns="0">
            <a:spAutoFit/>
          </a:bodyPr>
          <a:lstStyle/>
          <a:p>
            <a:pPr algn="l"/>
            <a:r>
              <a:rPr sz="1000" b="0">
                <a:solidFill>
                  <a:srgbClr val="6E6E6E"/>
                </a:solidFill>
                <a:latin typeface="Calibri"/>
              </a:rPr>
              <a:t>Card &amp; Krueger (1994), niveles antes/después por grupo, supuesto de tendencias paralelas (drill 2) — reconstruido de Excel!tabla_did.</a:t>
            </a:r>
          </a:p>
        </p:txBody>
      </p:sp>
      <p:sp>
        <p:nvSpPr>
          <p:cNvPr id="10" name="Rounded Rectangle 9"/>
          <p:cNvSpPr/>
          <p:nvPr/>
        </p:nvSpPr>
        <p:spPr>
          <a:xfrm>
            <a:off x="8366760" y="301752"/>
            <a:ext cx="3291840" cy="402336"/>
          </a:xfrm>
          <a:prstGeom prst="roundRect">
            <a:avLst/>
          </a:prstGeom>
          <a:solidFill>
            <a:srgbClr val="FCEDEE"/>
          </a:solidFill>
          <a:ln w="15875">
            <a:solidFill>
              <a:srgbClr val="E4002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0" bIns="0"/>
          <a:lstStyle/>
          <a:p>
            <a:pPr algn="ctr"/>
            <a:r>
              <a:rPr sz="1300" b="1">
                <a:solidFill>
                  <a:srgbClr val="9B1B30"/>
                </a:solidFill>
                <a:latin typeface="Calibri"/>
              </a:rPr>
              <a:t>▶  Notebook, Fig 1, celda 80</a:t>
            </a:r>
          </a:p>
        </p:txBody>
      </p:sp>
      <p:sp>
        <p:nvSpPr>
          <p:cNvPr id="11" name="Oval 10"/>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13" name="TextBox 12"/>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720" cy="292608"/>
          </a:xfrm>
          <a:prstGeom prst="rect">
            <a:avLst/>
          </a:prstGeom>
          <a:noFill/>
        </p:spPr>
        <p:txBody>
          <a:bodyPr wrap="square" anchor="t" lIns="0" rIns="0" tIns="0" bIns="0">
            <a:spAutoFit/>
          </a:bodyPr>
          <a:lstStyle/>
          <a:p>
            <a:pPr algn="l"/>
            <a:r>
              <a:rPr sz="1300" b="1">
                <a:solidFill>
                  <a:srgbClr val="9B1B30"/>
                </a:solidFill>
                <a:latin typeface="Calibri"/>
              </a:rPr>
              <a:t>BIBLIOGRAFÍA</a:t>
            </a:r>
          </a:p>
        </p:txBody>
      </p:sp>
      <p:sp>
        <p:nvSpPr>
          <p:cNvPr id="3" name="TextBox 2"/>
          <p:cNvSpPr txBox="1"/>
          <p:nvPr/>
        </p:nvSpPr>
        <p:spPr>
          <a:xfrm>
            <a:off x="548640" y="731520"/>
            <a:ext cx="11094720" cy="777240"/>
          </a:xfrm>
          <a:prstGeom prst="rect">
            <a:avLst/>
          </a:prstGeom>
          <a:noFill/>
        </p:spPr>
        <p:txBody>
          <a:bodyPr wrap="square" anchor="t" lIns="0" rIns="0" tIns="0" bIns="0">
            <a:spAutoFit/>
          </a:bodyPr>
          <a:lstStyle/>
          <a:p>
            <a:pPr algn="l"/>
            <a:r>
              <a:rPr sz="4000" b="1">
                <a:solidFill>
                  <a:srgbClr val="2D2D2D"/>
                </a:solidFill>
                <a:latin typeface="Calibri"/>
              </a:rPr>
              <a:t>Cinco lecturas anclan la inferencia causal</a:t>
            </a:r>
          </a:p>
        </p:txBody>
      </p:sp>
      <p:sp>
        <p:nvSpPr>
          <p:cNvPr id="4" name="Oval 3"/>
          <p:cNvSpPr/>
          <p:nvPr/>
        </p:nvSpPr>
        <p:spPr>
          <a:xfrm>
            <a:off x="548640" y="1810512"/>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1</a:t>
            </a:r>
          </a:p>
        </p:txBody>
      </p:sp>
      <p:sp>
        <p:nvSpPr>
          <p:cNvPr id="5" name="TextBox 4"/>
          <p:cNvSpPr txBox="1"/>
          <p:nvPr/>
        </p:nvSpPr>
        <p:spPr>
          <a:xfrm>
            <a:off x="1097280" y="1783080"/>
            <a:ext cx="10546080" cy="320040"/>
          </a:xfrm>
          <a:prstGeom prst="rect">
            <a:avLst/>
          </a:prstGeom>
          <a:noFill/>
        </p:spPr>
        <p:txBody>
          <a:bodyPr wrap="square" anchor="t" lIns="0" rIns="0" tIns="0" bIns="0">
            <a:spAutoFit/>
          </a:bodyPr>
          <a:lstStyle/>
          <a:p>
            <a:pPr algn="l"/>
            <a:r>
              <a:rPr sz="1500" b="1">
                <a:solidFill>
                  <a:srgbClr val="2D2D2D"/>
                </a:solidFill>
                <a:latin typeface="Calibri"/>
              </a:rPr>
              <a:t>Rubin (1974) — Estimating Causal Effects</a:t>
            </a:r>
          </a:p>
        </p:txBody>
      </p:sp>
      <p:sp>
        <p:nvSpPr>
          <p:cNvPr id="6" name="TextBox 5"/>
          <p:cNvSpPr txBox="1"/>
          <p:nvPr/>
        </p:nvSpPr>
        <p:spPr>
          <a:xfrm>
            <a:off x="1097280" y="2093976"/>
            <a:ext cx="10546080" cy="274320"/>
          </a:xfrm>
          <a:prstGeom prst="rect">
            <a:avLst/>
          </a:prstGeom>
          <a:noFill/>
        </p:spPr>
        <p:txBody>
          <a:bodyPr wrap="square" anchor="t" lIns="0" rIns="0" tIns="0" bIns="0">
            <a:spAutoFit/>
          </a:bodyPr>
          <a:lstStyle/>
          <a:p>
            <a:pPr algn="l"/>
            <a:r>
              <a:rPr sz="1200" b="0">
                <a:solidFill>
                  <a:srgbClr val="6E6E6E"/>
                </a:solidFill>
                <a:latin typeface="Calibri"/>
              </a:rPr>
              <a:t>J. Educational Psychology 66(5)  —  resultados potenciales: el marco del contrafactual</a:t>
            </a:r>
          </a:p>
        </p:txBody>
      </p:sp>
      <p:sp>
        <p:nvSpPr>
          <p:cNvPr id="7" name="Oval 6"/>
          <p:cNvSpPr/>
          <p:nvPr/>
        </p:nvSpPr>
        <p:spPr>
          <a:xfrm>
            <a:off x="548640" y="2706624"/>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2</a:t>
            </a:r>
          </a:p>
        </p:txBody>
      </p:sp>
      <p:sp>
        <p:nvSpPr>
          <p:cNvPr id="8" name="TextBox 7"/>
          <p:cNvSpPr txBox="1"/>
          <p:nvPr/>
        </p:nvSpPr>
        <p:spPr>
          <a:xfrm>
            <a:off x="1097280" y="2679192"/>
            <a:ext cx="10546080" cy="320040"/>
          </a:xfrm>
          <a:prstGeom prst="rect">
            <a:avLst/>
          </a:prstGeom>
          <a:noFill/>
        </p:spPr>
        <p:txBody>
          <a:bodyPr wrap="square" anchor="t" lIns="0" rIns="0" tIns="0" bIns="0">
            <a:spAutoFit/>
          </a:bodyPr>
          <a:lstStyle/>
          <a:p>
            <a:pPr algn="l"/>
            <a:r>
              <a:rPr sz="1500" b="1">
                <a:solidFill>
                  <a:srgbClr val="2D2D2D"/>
                </a:solidFill>
                <a:latin typeface="Calibri"/>
              </a:rPr>
              <a:t>Rosenbaum &amp; Rubin (1983) — Propensity Score</a:t>
            </a:r>
          </a:p>
        </p:txBody>
      </p:sp>
      <p:sp>
        <p:nvSpPr>
          <p:cNvPr id="9" name="TextBox 8"/>
          <p:cNvSpPr txBox="1"/>
          <p:nvPr/>
        </p:nvSpPr>
        <p:spPr>
          <a:xfrm>
            <a:off x="1097280" y="2990088"/>
            <a:ext cx="10546080" cy="274320"/>
          </a:xfrm>
          <a:prstGeom prst="rect">
            <a:avLst/>
          </a:prstGeom>
          <a:noFill/>
        </p:spPr>
        <p:txBody>
          <a:bodyPr wrap="square" anchor="t" lIns="0" rIns="0" tIns="0" bIns="0">
            <a:spAutoFit/>
          </a:bodyPr>
          <a:lstStyle/>
          <a:p>
            <a:pPr algn="l"/>
            <a:r>
              <a:rPr sz="1200" b="0">
                <a:solidFill>
                  <a:srgbClr val="6E6E6E"/>
                </a:solidFill>
                <a:latin typeface="Calibri"/>
              </a:rPr>
              <a:t>Biometrika 70(1)  —  el propensity como balanceador: base del PSM</a:t>
            </a:r>
          </a:p>
        </p:txBody>
      </p:sp>
      <p:sp>
        <p:nvSpPr>
          <p:cNvPr id="10" name="Oval 9"/>
          <p:cNvSpPr/>
          <p:nvPr/>
        </p:nvSpPr>
        <p:spPr>
          <a:xfrm>
            <a:off x="548640" y="3602736"/>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3</a:t>
            </a:r>
          </a:p>
        </p:txBody>
      </p:sp>
      <p:sp>
        <p:nvSpPr>
          <p:cNvPr id="11" name="TextBox 10"/>
          <p:cNvSpPr txBox="1"/>
          <p:nvPr/>
        </p:nvSpPr>
        <p:spPr>
          <a:xfrm>
            <a:off x="1097280" y="3575304"/>
            <a:ext cx="10546080" cy="320040"/>
          </a:xfrm>
          <a:prstGeom prst="rect">
            <a:avLst/>
          </a:prstGeom>
          <a:noFill/>
        </p:spPr>
        <p:txBody>
          <a:bodyPr wrap="square" anchor="t" lIns="0" rIns="0" tIns="0" bIns="0">
            <a:spAutoFit/>
          </a:bodyPr>
          <a:lstStyle/>
          <a:p>
            <a:pPr algn="l"/>
            <a:r>
              <a:rPr sz="1500" b="1">
                <a:solidFill>
                  <a:srgbClr val="2D2D2D"/>
                </a:solidFill>
                <a:latin typeface="Calibri"/>
              </a:rPr>
              <a:t>Card &amp; Krueger (1994) — Minimum Wages</a:t>
            </a:r>
          </a:p>
        </p:txBody>
      </p:sp>
      <p:sp>
        <p:nvSpPr>
          <p:cNvPr id="12" name="TextBox 11"/>
          <p:cNvSpPr txBox="1"/>
          <p:nvPr/>
        </p:nvSpPr>
        <p:spPr>
          <a:xfrm>
            <a:off x="1097280" y="3886200"/>
            <a:ext cx="10546080" cy="274320"/>
          </a:xfrm>
          <a:prstGeom prst="rect">
            <a:avLst/>
          </a:prstGeom>
          <a:noFill/>
        </p:spPr>
        <p:txBody>
          <a:bodyPr wrap="square" anchor="t" lIns="0" rIns="0" tIns="0" bIns="0">
            <a:spAutoFit/>
          </a:bodyPr>
          <a:lstStyle/>
          <a:p>
            <a:pPr algn="l"/>
            <a:r>
              <a:rPr sz="1200" b="0">
                <a:solidFill>
                  <a:srgbClr val="6E6E6E"/>
                </a:solidFill>
                <a:latin typeface="Calibri"/>
              </a:rPr>
              <a:t>American Economic Review 84(4)  —  el caso canónico de DiD replicado hoy</a:t>
            </a:r>
          </a:p>
        </p:txBody>
      </p:sp>
      <p:sp>
        <p:nvSpPr>
          <p:cNvPr id="13" name="Oval 12"/>
          <p:cNvSpPr/>
          <p:nvPr/>
        </p:nvSpPr>
        <p:spPr>
          <a:xfrm>
            <a:off x="548640" y="4498848"/>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4</a:t>
            </a:r>
          </a:p>
        </p:txBody>
      </p:sp>
      <p:sp>
        <p:nvSpPr>
          <p:cNvPr id="14" name="TextBox 13"/>
          <p:cNvSpPr txBox="1"/>
          <p:nvPr/>
        </p:nvSpPr>
        <p:spPr>
          <a:xfrm>
            <a:off x="1097280" y="4471416"/>
            <a:ext cx="10546080" cy="320040"/>
          </a:xfrm>
          <a:prstGeom prst="rect">
            <a:avLst/>
          </a:prstGeom>
          <a:noFill/>
        </p:spPr>
        <p:txBody>
          <a:bodyPr wrap="square" anchor="t" lIns="0" rIns="0" tIns="0" bIns="0">
            <a:spAutoFit/>
          </a:bodyPr>
          <a:lstStyle/>
          <a:p>
            <a:pPr algn="l"/>
            <a:r>
              <a:rPr sz="1500" b="1">
                <a:solidFill>
                  <a:srgbClr val="2D2D2D"/>
                </a:solidFill>
                <a:latin typeface="Calibri"/>
              </a:rPr>
              <a:t>Pearl (2009) — Causality</a:t>
            </a:r>
          </a:p>
        </p:txBody>
      </p:sp>
      <p:sp>
        <p:nvSpPr>
          <p:cNvPr id="15" name="TextBox 14"/>
          <p:cNvSpPr txBox="1"/>
          <p:nvPr/>
        </p:nvSpPr>
        <p:spPr>
          <a:xfrm>
            <a:off x="1097280" y="4782312"/>
            <a:ext cx="10546080" cy="274320"/>
          </a:xfrm>
          <a:prstGeom prst="rect">
            <a:avLst/>
          </a:prstGeom>
          <a:noFill/>
        </p:spPr>
        <p:txBody>
          <a:bodyPr wrap="square" anchor="t" lIns="0" rIns="0" tIns="0" bIns="0">
            <a:spAutoFit/>
          </a:bodyPr>
          <a:lstStyle/>
          <a:p>
            <a:pPr algn="l"/>
            <a:r>
              <a:rPr sz="1200" b="0">
                <a:solidFill>
                  <a:srgbClr val="6E6E6E"/>
                </a:solidFill>
                <a:latin typeface="Calibri"/>
              </a:rPr>
              <a:t>Cambridge University Press  —  DAGs, puerta trasera y colliders: qué controlar</a:t>
            </a:r>
          </a:p>
        </p:txBody>
      </p:sp>
      <p:sp>
        <p:nvSpPr>
          <p:cNvPr id="16" name="Oval 15"/>
          <p:cNvSpPr/>
          <p:nvPr/>
        </p:nvSpPr>
        <p:spPr>
          <a:xfrm>
            <a:off x="548640" y="5394960"/>
            <a:ext cx="384048" cy="384048"/>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FFFFFF"/>
                </a:solidFill>
                <a:latin typeface="Calibri"/>
              </a:rPr>
              <a:t>5</a:t>
            </a:r>
          </a:p>
        </p:txBody>
      </p:sp>
      <p:sp>
        <p:nvSpPr>
          <p:cNvPr id="17" name="TextBox 16"/>
          <p:cNvSpPr txBox="1"/>
          <p:nvPr/>
        </p:nvSpPr>
        <p:spPr>
          <a:xfrm>
            <a:off x="1097280" y="5367528"/>
            <a:ext cx="10546080" cy="320040"/>
          </a:xfrm>
          <a:prstGeom prst="rect">
            <a:avLst/>
          </a:prstGeom>
          <a:noFill/>
        </p:spPr>
        <p:txBody>
          <a:bodyPr wrap="square" anchor="t" lIns="0" rIns="0" tIns="0" bIns="0">
            <a:spAutoFit/>
          </a:bodyPr>
          <a:lstStyle/>
          <a:p>
            <a:pPr algn="l"/>
            <a:r>
              <a:rPr sz="1500" b="1">
                <a:solidFill>
                  <a:srgbClr val="2D2D2D"/>
                </a:solidFill>
                <a:latin typeface="Calibri"/>
              </a:rPr>
              <a:t>Cunningham (2021) — The Mixtape</a:t>
            </a:r>
          </a:p>
        </p:txBody>
      </p:sp>
      <p:sp>
        <p:nvSpPr>
          <p:cNvPr id="18" name="TextBox 17"/>
          <p:cNvSpPr txBox="1"/>
          <p:nvPr/>
        </p:nvSpPr>
        <p:spPr>
          <a:xfrm>
            <a:off x="1097280" y="5678424"/>
            <a:ext cx="10546080" cy="274320"/>
          </a:xfrm>
          <a:prstGeom prst="rect">
            <a:avLst/>
          </a:prstGeom>
          <a:noFill/>
        </p:spPr>
        <p:txBody>
          <a:bodyPr wrap="square" anchor="t" lIns="0" rIns="0" tIns="0" bIns="0">
            <a:spAutoFit/>
          </a:bodyPr>
          <a:lstStyle/>
          <a:p>
            <a:pPr algn="l"/>
            <a:r>
              <a:rPr sz="1200" b="0">
                <a:solidFill>
                  <a:srgbClr val="6E6E6E"/>
                </a:solidFill>
                <a:latin typeface="Calibri"/>
              </a:rPr>
              <a:t>mixtape.scunning.com (acceso libre)  —  los dos casos con código y números exactos</a:t>
            </a:r>
          </a:p>
        </p:txBody>
      </p:sp>
      <p:sp>
        <p:nvSpPr>
          <p:cNvPr id="19" name="Oval 18"/>
          <p:cNvSpPr/>
          <p:nvPr/>
        </p:nvSpPr>
        <p:spPr>
          <a:xfrm>
            <a:off x="548640" y="6473952"/>
            <a:ext cx="100584" cy="100584"/>
          </a:xfrm>
          <a:prstGeom prst="ellipse">
            <a:avLst/>
          </a:prstGeom>
          <a:solidFill>
            <a:srgbClr val="E40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6437376"/>
            <a:ext cx="7772400" cy="274320"/>
          </a:xfrm>
          <a:prstGeom prst="rect">
            <a:avLst/>
          </a:prstGeom>
          <a:noFill/>
        </p:spPr>
        <p:txBody>
          <a:bodyPr wrap="square" anchor="t" lIns="0" rIns="0" tIns="0" bIns="0">
            <a:spAutoFit/>
          </a:bodyPr>
          <a:lstStyle/>
          <a:p>
            <a:pPr algn="l"/>
            <a:r>
              <a:rPr sz="900" b="0">
                <a:solidFill>
                  <a:srgbClr val="6E6E6E"/>
                </a:solidFill>
                <a:latin typeface="Calibri"/>
              </a:rPr>
              <a:t>S12 — Herramientas para la Ciencia de Datos, UPC</a:t>
            </a:r>
          </a:p>
        </p:txBody>
      </p:sp>
      <p:sp>
        <p:nvSpPr>
          <p:cNvPr id="21" name="TextBox 20"/>
          <p:cNvSpPr txBox="1"/>
          <p:nvPr/>
        </p:nvSpPr>
        <p:spPr>
          <a:xfrm>
            <a:off x="10180320" y="6437376"/>
            <a:ext cx="1463040" cy="274320"/>
          </a:xfrm>
          <a:prstGeom prst="rect">
            <a:avLst/>
          </a:prstGeom>
          <a:noFill/>
        </p:spPr>
        <p:txBody>
          <a:bodyPr wrap="square" anchor="t" lIns="0" rIns="0" tIns="0" bIns="0">
            <a:spAutoFit/>
          </a:bodyPr>
          <a:lstStyle/>
          <a:p>
            <a:pPr algn="r"/>
            <a:r>
              <a:rPr sz="900" b="0">
                <a:solidFill>
                  <a:srgbClr val="6E6E6E"/>
                </a:solidFill>
                <a:latin typeface="Calibri"/>
              </a:rP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