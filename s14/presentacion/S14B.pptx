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85" r:id="rId18"/>
    <p:sldId id="280" r:id="rId32"/>
    <p:sldId id="289" r:id="rId22"/>
    <p:sldId id="290" r:id="rId23"/>
    <p:sldId id="291" r:id="rId24"/>
    <p:sldId id="286" r:id="rId19"/>
    <p:sldId id="277" r:id="rId29"/>
    <p:sldId id="278" r:id="rId30"/>
    <p:sldId id="292" r:id="rId25"/>
    <p:sldId id="287" r:id="rId20"/>
    <p:sldId id="279" r:id="rId31"/>
    <p:sldId id="281" r:id="rId33"/>
    <p:sldId id="288" r:id="rId21"/>
    <p:sldId id="284" r:id="rId17"/>
    <p:sldId id="283" r:id="rId35"/>
    <p:sldId id="282" r:id="rId3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schemas.openxmlformats.org/officeDocument/2006/relationships/slide" Target="slides/slide16.xml"/><Relationship Id="rId18" Type="http://schemas.openxmlformats.org/officeDocument/2006/relationships/slide" Target="slides/slide3.xml"/><Relationship Id="rId19" Type="http://schemas.openxmlformats.org/officeDocument/2006/relationships/slide" Target="slides/slide8.xml"/><Relationship Id="rId20" Type="http://schemas.openxmlformats.org/officeDocument/2006/relationships/slide" Target="slides/slide12.xml"/><Relationship Id="rId21" Type="http://schemas.openxmlformats.org/officeDocument/2006/relationships/slide" Target="slides/slide15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11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3.xml"/><Relationship Id="rId32" Type="http://schemas.openxmlformats.org/officeDocument/2006/relationships/slide" Target="slides/slide4.xml"/><Relationship Id="rId33" Type="http://schemas.openxmlformats.org/officeDocument/2006/relationships/slide" Target="slides/slide14.xml"/><Relationship Id="rId34" Type="http://schemas.openxmlformats.org/officeDocument/2006/relationships/slide" Target="slides/slide18.xml"/><Relationship Id="rId35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el curso con la técnica que decide QUÉ mostrar a cada cliente. Promesa: pasar de una matriz usuario-ítem casi vacía a una lista personalizada que mueve ventas. Se replica la factorización de matrices de Koren-Bell-Volinsky (2009) sobre MovieLens (sustituto canónico del Netflix Prize, retirado) y se lleva al negocio con feedback implícito. Cada cifra se muestra contra su fuente y se LEE del Excel (fidelidad verificada). Última sesión de contenido: alimenta el proyecto integrador. El botón «Abrir en Colab» va al cuaderno.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Mapa en cuatro actos con pulso contexto → evidencia → decisión. Acto 1: la matriz usuario-ítem, su dispersión, la cola larga y el arranque en frío. Acto 2: las tres familias de recomendador (colaborativo de vecindario user/item-based, contenido e híbrido). Acto 3: la réplica de la factorización de Koren (2009) con SVD y el RMSE por algoritmo. Acto 4: la evaluación top-k (precisión@k, NDCG, MAP) que muestra que RMSE≠ranking, el feedback implícito y la decisión de negocio. Segmentación (S07), reglas de asociación/cross-selling (S08) y CLV (S13) se nombran como conexión; NLP y deep learning quedan fuera.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nombrando la frontera. Cada límite se dice en voz alta y se enlaza con la sesión que sí lo resuelve. No es una advertencia legal: es la competencia que separa a quien reporta un número de quien sabe qué autoriza. [Viernes, capítulo 14.9]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14.6. Se enuncia la pregunta tal como aparece en el sílabo, la ficha, el cuaderno y la guía: es el mismo código en todos. [Viernes, capítulo 14.6]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14.7. Se enuncia la pregunta tal como aparece en el sílabo, la ficha, el cuaderno y la guía: es el mismo código en todos. [Viernes, capítulo 14.7]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14.8. Se enuncia la pregunta tal como aparece en el sílabo, la ficha, el cuaderno y la guía: es el mismo código en todos. [Viernes, capítulo 14.8]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14.9. Se enuncia la pregunta tal como aparece en el sílabo, la ficha, el cuaderno y la guía: es el mismo código en todos. [Viernes, capítulo 14.9]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desarrolla el capítulo 14.6. Deriva de la Sección 6 de la guía docente y de la investigación de la sesión; las cifras salen del Excel de resultados. [Viernes, capítulo 14.6]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desarrolla el capítulo 14.6. Deriva de la Sección 6 de la guía docente y de la investigación de la sesión; las cifras salen del Excel de resultados. [Viernes, capítulo 14.6]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desarrolla el capítulo 14.6. Deriva de la Sección 6 de la guía docente y de la investigación de la sesión; las cifras salen del Excel de resultados. [Viernes, capítulo 14.6]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desarrolla el capítulo 14.7. Deriva de la Sección 6 de la guía docente y de la investigación de la sesión; las cifras salen del Excel de resultados. [Viernes, capítulo 14.7]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PUNTO CENTRAL de la sesión. Se entrena el SVD con el pasado y se evalúa la LISTA en el futuro con metricas_topk. Resultado honesto: en RANKING top-N, SVD y popularidad presentan un rendimiento equivalente dentro del ruido — precisión@10 0,717 vs 0,721 (|dif| 0,0042) y NDCG@10 0,779 vs 0,777 (|dif| 0,0014), ambas MENORES que la variación de la SVD entre semillas (NDCG ~0,0059; precision ~0,0132). El RMSE, medido sobre 5 folds, SÍ distingue: la SVD es superior de forma ROBUSTA. Lección: la métrica se elige según el objetivo, y no se declara ganador de ranking sobre diferencias del tamaño del ruido; reportar sin baseline de popularidad —y sin mirar el ruido— induce a error. Fuente: notebook celda 17. [Viernes, capítulo 14.7]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Lectura honesta de las top-k. SVD ordena claramente mejor que el AZAR (NDCG 0,779 vs 0,601; precisión 0,717 vs 0,521) -&gt; esa ventaja es robusta. Frente a la POPULARIDAD, en cambio, presentan un rendimiento equivalente dentro del ruido: NDCG 0,779 vs 0,777 (|dif| 0,0014) y precisión 0,717 vs 0,721 (|dif| 0,0042), ambas MENORES que la variación de la SVD entre semillas (~0,0059 y ~0,0132). MovieLens es un caso donde los éxitos ya aciertan y la popularidad es un baseline MUY EXIGENTE. Punto pedagógico: reportar NDCG sin baseline de popularidad —y sin mirar el ruido— induce a error; no se declara ganador de ranking sobre diferencias del tamaño del ruido, y el valor de personalizar se prueba ONLINE (A/B). MAP@10 SVD 0,686. [Viernes, capítulo 14.7]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caso de negocio es feedback IMPLÍCITO: no hay estrellas, solo compras (Hu 2008). El modelo separa preferencia (¿interactuó?) de confianza (c=1+α·r, crece con la frecuencia); un 0 es «sin interacción con baja confianza», no «lo detesta». Se factoriza la matriz de compras (implicit.ALS) y se obtiene el top-N por cliente: son los candidatos a cross/up-selling y email personalizado. No se calcula RMSE (no hay nota); se evalúa con top-k. La confianza pondera cuánto creer cada recomendación. [Viernes, capítulo 14.8]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Tercera pausa y decisión de negocio. Enlazar con la evidencia: aquí SVD y popularidad presentaron un rendimiento equivalente en ranking dentro del ruido, pero eso NO significa que personalizar no sirva: el offline sobre una partición no puede medirlo. Reconciliación clave: un estudio de Netflix (arXiv 2511.07280, 2025-2026), medido ONLINE (A/B, el estándar de oro que rompe el MNAR), estima que degradar el sistema actual a popularidad costaría un 12 % de engagement, y a una MF más simple, solo un 4 % (la factorización aporta ≈ 8 pts sobre la popularidad). No contradice el empate offline: lo COMPLETA — el A/B online revela la ventaja de personalizar que el offline sin diferencias significativas no puede medir. Regla: cuando el offline no muestra diferencias significativas, la decisión se valida ONLINE; el valor vive en el targeting (cola larga, catálogos grandes). [Viernes, capítulo 14.6]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Tres fuentes recientes que anclan la técnica en negocio (estadísticas EXTERNAS de actualidad, no del Excel). (1) Netflix cuantifica el valor económico de recomendar: frente al sistema actual, caer a una MF simple cuesta −4 % y caer a popularidad −12 % de engagement (la MF supera a la popularidad en ≈ 8 pts) → la mayor parte proviene de personalizar. RECONCILIACIÓN con el Acto 4: este ≈8 % es una medida ONLINE (A/B, el estándar de oro que rompe el MNAR); NO contradice el empate offline de MovieLens (donde SVD y popularidad quedaron dentro del ruido), lo EXPLICA — el A/B online revela la ventaja de personalizar que el offline sin diferencias significativas no puede medir. (2) Shopify: +10-15 % de AOV al activar recomendaciones (Orveon Global). (3) Taleghani: la privacidad y la confianza MODERAN el efecto; si la recolección se percibe intrusiva, personalizar reduce el engagement. Marco para justificar y LIMITAR un recomendador. Enlaces en fuentes_actualidad_S14.md. [Viernes, capítulo 14.8]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Bibliografía verificada (lo declarado para la sesión / BIBLIOGRAFIA_ALUMNOS.md). Sarwar funda el item-based; Koren-Bell-Volinsky, la factorización moderna (Netflix Prize); Hu-Koren-Volinsky, el feedback implícito (el caso de negocio); Harper &amp; Konstan documentan MovieLens (el dataset de la réplica). Ruta del curso: partir del paper, replicar su resultado con Surprise y recién entonces llevarlo a los datos de la organización. PDFs abiertos en el cuaderno.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Cierre del curso. Entrega individual aunque el trabajo en clase sea en parejas. Recoge la promesa: de la matriz vacía a una lista personalizada que decide qué mostrar. Cada cifra se mostró contra su fuente y se leyó del Excel (fidelidad verificada). S14 es la última sesión de contenido: el recomendador se integra con segmentación (S07), cross-selling (S08) y CLV/retención (S13) en el PROYECTO INTEGRADOR, que se sustenta al final. Recordar el entregable y aplicar el control corto (~4 min). Gracias y cierre del curso. [Viernes, capítulo 14.9]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/S14_recomendacion/notebook/S14_recomendacion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S14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Del historial a la
recomendación siguiente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Filtrado colaborativo, factorización (SVD), métricas top-k, cold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DEL VIERNES — CAPÍTULOS 14.6 A 14.9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viernes cierra la sesión en cuatro capítulos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14.6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¿Cuándo se puede confiar en las recomendaciones?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0-40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sers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14.7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orkflow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14.8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decisión habilita? Recomendador de productos por usuario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65-105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it-branch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14.9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no se puede afirmar, y qué se consolida del curso?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105-120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10896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¿Cuándo se puede confiar en las recomendaciones?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14.6 — viernes, bloque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¿Cuánto vale personalizar si la popularidad iguala a la SVD offline?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Discusión (2 min): si SVD y popularidad no se distinguen en ranking, ¿cómo se decide si compensa personalizar?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14.6 — ¿CUÁNDO SE PUEDE CONFIAR EN LAS RECOMENDACIONES?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matriz usuario-ítem está vacía al 93,7 %</a:t>
            </a:r>
          </a:p>
        </p:txBody>
      </p:sp>
      <p:pic>
        <p:nvPicPr>
          <p:cNvPr id="4" name="Picture 3" descr="S14_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02501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100 000 calificaciones sobre 1 586 126 celdas posibles. El modelo se apoya en muy pocas observaciones por usuario, y de ahí que las recomendaciones de los usuarios con poco historial sean las más frágiles.
El 32 % de las películas reúne el 80 % de las notas: la cola larga casi no tiene datos.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14.6 — ¿CUÁNDO SE PUEDE CONFIAR EN LAS RECOMENDACIONES?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Tres formas distintas de no tener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Usuario nuevo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Sin historial no hay conducta que aprender. Se recurre a los atributos del ítem o a lo popular hasta que acumule señal.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Se resuelve con contenido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Ítem nuevo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Nadie lo ha calificado, así que el colaborativo no puede colocarlo. Necesita sus metadatos para entrar en juego.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Se resuelve con atributos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Sistema nuevo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No hay ni usuarios ni historial: ningún método lo arregla. Es una condición de viabilidad, no un problema de modelo.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756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Se resuelve recolectando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14.6 — ¿CUÁNDO SE PUEDE CONFIAR EN LAS RECOMENDACIONES?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 que falta no falta al azar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261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83" y="2445959"/>
            <a:ext cx="289682" cy="289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938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La gente califica lo que eligió 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95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Eligió ver lo que ya suponía que le gustaría: las celdas vacías no son aleatorias.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85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" y="3969959"/>
            <a:ext cx="289682" cy="289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3462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El modelo aprende de lo observado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919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Entrenado solo sobre lo que sí se calificó, hereda ese sesgo y lo devuelve amplificado en sus recomendaciones.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09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rget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83" y="5493959"/>
            <a:ext cx="289682" cy="2896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8760" y="4986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Qué se hace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443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Declararlo al reportar, evaluar con partición temporal y contrastar contra lo popular.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14.7 — viernes, bloque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ASÍ SE HACE, MÉTRICAS TOP-K, PRECISIÓN@K / NDCG@K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Un buen RMSE no garantiza un buen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1094720" cy="457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 b="1">
                <a:solidFill>
                  <a:srgbClr val="9B1B30"/>
                </a:solidFill>
                <a:latin typeface="Calibri"/>
              </a:rPr>
              <a:t>▸ Qué hace:  evalúa top-k sobre partición temporal: SVD y popularidad no se distinguen en ranking; la ventaja robusta de la SVD es el RMSE.</a:t>
            </a:r>
            <a:r>
              <a:rPr sz="140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11094720" cy="2980944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42032"/>
            <a:ext cx="1063752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CÓDIGO REAL DEL CUADERNO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10472928" cy="23774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svd = SVD(random_state=42).fit(tr)      # entrena con el PASADO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p_svd, _, _, ndcg_svd = metricas_topk(svd.test(futuro), k=10)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p_pop, _, _, ndcg_pop = metricas_topk(pop.test(futuro), k=10)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# precisión@10:  SVD 0,717  vs  popularidad 0,721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# NDCG@10:       SVD 0,779  vs  popularidad 0,777   -&gt; EMPATE (ruido)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notebook Sección 4, partición temporal 80/20, precisión@10 y NDCG@10 → topk (B2/B3, E2/E3) = recsys!B6-B9 — venv/Excel.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10896"/>
            <a:ext cx="256032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celda 17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SVD ordena mejor que el azar: NDCG 0,78 frente a 0,60</a:t>
            </a:r>
          </a:p>
        </p:txBody>
      </p:sp>
      <p:pic>
        <p:nvPicPr>
          <p:cNvPr id="3" name="Picture 2" descr="S14deck_to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62210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Todo modelo supera al azar, pero SVD y popularidad no se distinguen dentro del ruido: la ventaja robusta es el RMSE.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Evaluación top-k, partición temporal 80/20 — NDCG@10 SVD 0,779 ≈ pop 0,777 (empate) ≫ azar 0,601 — precisión@10 SVD 0,717 ≈ pop 0,721 (empate) — venv/Excel (topk).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14.7 — ¿CÓMO SE VERIFICA QUE EL RESULTADO ES REAL?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Un buen error de predicción no garantiza un buen orden</a:t>
            </a:r>
          </a:p>
        </p:txBody>
      </p:sp>
      <p:pic>
        <p:nvPicPr>
          <p:cNvPr id="4" name="Picture 3" descr="S14_topk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02137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usuario no ve una nota: ve una lista de diez.
SVD alcanza NDCG@10 de 0,78 frente a 0,60 del azar.
Sobre partición temporal, nunca aleatoria.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decisión habilita? Recomendador de productos por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14.8 — viernes, bloque 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CASO DE NEGOCIO — FEEDBACK IMPLÍCITO (HU 2008)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Sin estrellas, la confianza ordena el cross-selling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47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  <a:gridCol w="2773680"/>
              </a:tblGrid>
              <a:tr h="4145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Producto recomendado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Precio (£)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Confianza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12369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Lovebird Hanging Decoration White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0,85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1,01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12546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Alarm Clock Bakelike Green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3,75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0,68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12568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Baking Set 9 Piece Retrospot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4,91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0,72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12756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Alarm Clock Bakelike Pink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3,75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12854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Gardeners Kneeling Pad Keep Calm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1,61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1,17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Online Retail II (compras = interacciones) — 80 clientes × 2 235 productos, implicit ALS, confianza c = 1+α·r, venv/Excel (reco_implicit).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ACTUALIDAD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Recomendar ya mueve 25-35 % de los ingresos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Caer del sistema actual a la popularidad cuesta 12 % de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Netflix / Kellogg-Northwestern, arXiv 2511.07280, 2025-2026  —  una MF simple solo cuesta 4 %: personalizar aporta ≈ 8 pts sobre la popularidad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Recomendar sube el ticket medio 10-15 % en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Shopify — 03/04/2026  —  content-based, colaborativo e híbrido en producción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La privacidad modera el efecto de personalizar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Financial Metrics in Business 6(1) — 05/08/2026  —  si se percibe intrusiva, la personalización reduce el engagement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no se puede afirmar, y qué se consolida del curso?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14.9 — viernes, bloque 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14.9 — ¿QUÉ NO SE PUEDE AFIRMAR, Y QUÉ SE CONSOLIDA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 que esta sesión no autoriza a afirmar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65960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Una recomendación acertada no demuestra que el usuario la habría rechazado sin ella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24328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Medir el incremento real exige el experimento de S02 o la causalidad de S12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36976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Ninguna evaluación offline sustituye a una prueba en producción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entregable es un recomendador con evaluación top-k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Recomendador sobre MovieLens/negocio: matriz usuario-ítem, SVD o item-based, y evaluación top-k (NDCG@10/MAP@k) con recomendación de negocio.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Control corto de cierre + banco [S14]. Rúbrica vigesimal 0-20.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Próxima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Proyecto integrador — cierre del curso: el recomendador entra en la sustentación final.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BIBLIOGRAFÍA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De 2001 a 2015: cuatro lecturas anclan la sesión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Item-Based Collaborative Filtering Recommendation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Sarwar, Karypis, Konstan &amp; Riedl (2001) — WWW '01  —  similitud entre ítems: el vecindario que escala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Matrix Factorization Techniques for Recommender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Koren, Bell &amp; Volinsky (2009) — IEEE Computer 42(8)  —  factores latentes: el núcleo de la sesión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Collaborative Filtering for Implicit Feedback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Hu, Koren &amp; Volinsky (2008) — IEEE ICDM '08  —  preferencia y confianza: el caso de negocio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The MovieLens Datasets: History and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Harper &amp; Konstan (2015) — ACM TiiS 5(4)  —  el dataset de la réplica y su historia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S14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