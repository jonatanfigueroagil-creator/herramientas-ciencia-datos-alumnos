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sesión 3. Retomar en una frase la S02 (la correlación mide si dos variables se mueven juntas) y enunciar la promesa: hoy se pasa de esa asociación a una relación CUANTIFICABLE —cuánto cambia una variable de negocio por cada unidad de otra— con regresión lineal simple ajustada por mínimos cuadrados (OLS). El método del deck: cada cifra se muestra contra su fuente y se lee del Excel de resultados. El botón «Abrir en Colab» lleva al cuaderno. Python, pandas y Git se asumen cubiertos. [Jueves, min 20-22]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recorrido del DIA, no de la semana: cinco capítulos, cada uno formulado como la pregunta que responde, y los mismos cinco divisores granates que se verán en pantalla. (3.1, 20 min) Por qué la correlación de la S02 —que dice SI— no basta cuando el directorio pide CUÁNTO. (3.2, 25 min) Qué afirma Y = b0 + b1X + e, qué es b1 leído en dinero y qué NO afirma el modelo. (3.3, 30 min) El criterio de mínimos cuadrados y la derivación completa en el tablero. (3.4, 35 min) R², la inferencia sobre la pendiente y los dos intervalos que confunde la gerencia. (3.5, 35 min) La réplica de Galton, con los pasos 0 a 5 del laboratorio EJECUTADOS EN AULA. Avisar que el viernes trae los capítulos 3.6 a 3.9 —supuestos, error fuera de muestra, la decisión sobre Advertising y los límites— y que el control de esta sesión se resuelve en los primeros 20 minutos del jueves siguiente, cubriendo los NUEVE capítulos. El puente con el cuaderno es el chip «▶ Notebook, sección, celda N» de cada slide. [Jueves, min 22-24]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arco de contexto. En la S02 se midió la FUERZA de la asociación con la correlación; ahora se busca la MAGNITUD y, sobre todo, se aprende a NO confiar en un número resumen. El acto construye la disciplina —graficar y leer residuales— que hará confiables los modelos de los actos siguientes. Fuente: DEFINICIONES Sección 5-6. [Jueves, min 24-26]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Contrastar las dos herramientas con el mismo par de variables. La correlación (S02) resume la asociación en un número adimensional; la regresión la traduce en una recta con pendiente en unidades reales ('cada S/. 1 000 de inversión añade S/. X de venta'). Subrayar la asimetría: regresar Y sobre X no es igual que X sobre Y. La correlación responde '¿se relacionan?'; la regresión, '¿cuánto y en qué dirección?'. En el cuaderno se verifica el puente: la pendiente OLS es r·(sᵧ/sₓ). [Jueves, min 26-40]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Divisor del capítulo 3.2. Se enuncia la pregunta en voz alta ANTES de responderla: es la que da sentido a todo lo que viene, y el alumno debe poder repetirla al salir. Duración del capítulo: 25 minutos.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Mostrar que ajustar un OLS son tres líneas. sm.add_constant añade la columna de unos del intercepto; sm.OLS(y, X).fit() resuelve por mínimos cuadrados; summary() imprime coeficientes, errores estándar, t, p-valor e IC. El resultado clave: β₁ = 0,64, con IC 95 % [0,52; 0,76] que excluye el 0 (p &lt; 0,001). En el cuaderno hay además un bloque 'Cálculo manual' (celda 31) que reconstruye β₁, β₀ y R² con las fórmulas y el bloque 'Construcción del OLS desde cero' (celda 71, β = (XᵀX)⁻¹Xᵀy), ambos con assert contra el contrato. [Jueves, min 42-65]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bloque de evidencia. Francis Galton (1886) midió la estatura de 205 familias y observó que los hijos de padres muy altos son altos, pero MENOS que sus padres: las estaturas 'regresan hacia la mediocridad' (la media). De ahí el nombre 'regresión'. Se replicará su hallazgo con OLS moderno sobre GaltonFamilies (934 hijos). Fuente: REPLICACION_PAPER.md Sección 1. [Jueves, min 65-67]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Explicar qué hace OLS antes de leer una salida. Geométricamente elige la recta que deja la menor distancia vertical cuadrada total a los puntos, y por construcción pasa por el centroide (x̄, ȳ). Bajo los supuestos de Gauss-Markov es el mejor estimador lineal insesgado (BLUE). Las dos piezas que se interpretan: β₁ (pendiente) es el número accionable —cuánto cambia Y por unidad de X—; β₀ (intercepto) suele ser solo un ancla matemática y no debe reportarse como predicción si X = 0 no es realista. [Jueves, min 67-95]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acto de inferencia. El modelo ya está ajustado; ahora hay que leer QUÉ promete y con cuánta incertidumbre: cuánto explica (R²), si la pendiente es real (IC de β₁) y qué rango prometer (IC de la media vs. intervalo de predicción). Aquí viven los errores de comunicación más costosos. Fuente: INTERPRETACION Sección 1 y 3. [Jueves, min 110-112]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Refutar la sobrevaloración del R². Galton: R² = 0,103 (la mid-parent explica solo el 10 % de la altura del hijo; en simple R² = r², con r ≈ 0,32) y aun así el modelo es válido —t de β₁ = 10,35, p &lt; 0,001, IC 95 % [0,52; 0,76] excluye el 0—: la herencia de estatura es real pero débil a nivel individual. Advertising: R² = 0,61, mucho mayor, porque la inversión en TV explica gran parte de las ventas. Regla: un R² alto no garantiza buenas predicciones ni causalidad, y uno bajo no invalida el modelo; se lee junto al error fuera de muestra. Cifras del Excel. [Jueves, min 112-122]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inferencia sobre la pendiente, con lo que SÍ está en el Excel. El intervalo horizontal muestra el IC 95 % de β₁ = [0,516; 0,758] (ancho 0,24, estrecho: la pendiente está bien estimada). Dos lecturas de una sola figura: (1) el intervalo NO incluye el 0 → la relación es real (equivale a t = 10,35 y p &lt; 0,001, y a F = 107,03, que en simple es t²); (2) el intervalo queda por DEBAJO de 1 → hay regresión a la media, y enmarca el 2/3 de Galton (línea azul). El SE de β₁ es 0,0616. Nota: el gráfico de anchos del piloto (IC media 0,44 vs. predicción 13,32) no existía en el Excel; se sustituye por este, 100 % trazable. [Jueves, min 122-133]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distinción más confundida de la inferencia, presentada como concepto (sin cifras fabricadas). Sobre el mismo punto hay DOS intervalos: el IC de la MEDIA, estrecho, porque solo carga la incertidumbre de estimar la recta y responde '¿cuánto mide en promedio el grupo?'; y el intervalo de PREDICCIÓN, mucho más ancho, porque suma además la variabilidad irreducible entre individuos y responde '¿cuánto medirá UN caso concreto?'. Error costoso: usar el estrecho para prometer el resultado de un caso individual transmite falsa precisión. Además, el de la media se estrecha con más datos; el de predicción no se colapsa. El cálculo numérico sobre Advertising está en el cuaderno (celda 56); es el drill 2. [Jueves, min 133-141]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de discusión, que CIERRA el acto de inferencia. Recoger posturas y cerrar: para una promesa sobre un caso individual (una tienda, un cliente) se usa el intervalo de PREDICCIÓN, más ancho; para planeación agregada (ventas medias), el IC de la media. Confundirlos transmite falsa precisión y compromete al negocio con un rango irrealmente estrecho. Enlazar con el Acto 4: ahora se aplica todo a un caso real. [Jueves, min 141-145]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Divisor del capítulo 3.5. Se enuncia la pregunta en voz alta ANTES de responderla: es la que da sentido a todo lo que viene, y el alumno debe poder repetirla al salir. Duración del capítulo: 35 minutos.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aquí antes de cualquier número. Galton NO se propuso inventar un método estadístico: se propuso demostrar que existe una ley cuantificable de la herencia. La pregunta era biológica —¿cuánto se transmite un rasgo de una generación a la siguiente?— y la respuesta decidía entre dos mundos: si la transmisión fuera íntegra, los extremos se perpetuarían y la dispersión de estaturas crecería sin freno; si es parcial, las peculiaridades familiares se reabsorben y la población es estable. La palabra 'regresión' fue el nombre del HALLAZGO, no el objetivo. Preguntar al aula: '¿por qué necesitaba un número y no le bastaba la observación?'. Fuente: REPLICACION_PAPER.md Sección 0.1. [Jueves, min 147-152]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es el slide que enseña a ELEGIR un método, no solo a aplicarlo. Recorrer las tres tarjetas y detenerse en la segunda: Galton ordenó las familias por la diferencia de altura entre los progenitores y comprobó que esa diferencia no cambiaba la distribución de los hijos (Tabla II del paper); solo entonces se permitió resumirlos con el promedio. Verificar y después modelar, nunca al revés: es el mismo hábito que se les pedirá con los residuales en el Acto 3. Añadir un dato de especial interés: los datos no existían, así que Galton los consiguió con premios por Registros Familiares y ocultó su hipótesis en la convocatoria para no sesgar las respuestas —cegamiento del informante, en 1886—. Fuente: REPLICACION_PAPER.md Sección 0.2 y 0.3. [Jueves, min 152-158]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Réplica del paper. Leer la recta ajustada ŷ = 22,64 + 0,637·X sobre las 934 observaciones. La pendiente 0,637 es el núcleo del hallazgo: como es MENOR que 1, un padre-madre por encima de la media produce, en promedio, un hijo por encima de la media pero MENOS extremo. Enmarca (reproduce) el 'dos tercios' (≈ 0,667) que reportó Galton —la pequeña diferencia Δ = −0,030 frente al 2/3 ya se muestra, y separa el operativo del benchmark. El intercepto 22,64 pulgadas no tiene sentido físico (nadie mide 0): es solo el ancla de la recta. ATENCIÓN A LA ESCALA: ese 0,637 (≈2/3) vale en pulgadas CRUDAS; la medida invariante de la regresión a la media es la pendiente ESTANDARIZADA = r ≈ 0,32 (en desviaciones estándar el hijo retiene solo ~1/3 de la ventaja), porque la mid-parent es un promedio de varianza comprimida y β₁ = r·(sᵧ/sₓ) con sᵧ ≈ 2·sₓ. Coeficientes trazables al Excel de resultados. [Jueves, min 158-165]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Apertura de la sesión. Concretar la regresión a la media con un caso numérico y su lección de negocio. Definición: cuando dos variables no están perfectamente correlacionadas, los valores extremos de una se asocian con valores menos extremos de la otra. Numérico: si la mid-parent está 4 pulgadas sobre la media, el hijo se predice solo +2,55 sobre la media de hijos (0,64 × 4), no +4. ACLARACIÓN DE ESCALA: el 0,64 (≈2/3) es la pendiente CRUDA en pulgadas; la medida limpia e invariante del fenómeno es la pendiente ESTANDARIZADA = r ≈ 0,32, así que en desviaciones estándar el extremo retiene solo ~1/3 de la ventaja (la cruda mezcla el factor de escala sᵧ/sₓ). Traducción a gestión: un desempeño excepcional (una tienda récord, un cliente de gasto muy alto) tiende a moderarse al medirlo de nuevo, por reversión estadística y no por una campaña. Atribuirlo a una intervención es una conclusión causal falsa y costosa. [Jueves, min 165-170]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Decisión de modelado: cómo tratar el género. La réplica primaria usa childHeight CRUDA (ambos sexos): pendiente 0,637, r ≈ 0,32 —la mezcla de sexos infla la varianza de la respuesta y baja la correlación—. Galton resolvió esto 'transmutando' las estaturas femeninas a su equivalente masculino (×1,08); al aplicarlo también al hijo, r sube a ≈ 0,50 (la cifra de Pearson) y la pendiente a 0,713. Ambos resultados son correctos y AMBOS enmarcan el 2/3 histórico; la conclusión cualitativa (β₁ &lt; 1, regresión a la media) no cambia. Lección de negocio: homogeneizar unidades comparables antes de modelar. [Jueves, min 170-174]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lámina central de la réplica, como TABLA nativa. Enfrenta, fila a fila, lo OBTENIDO por el venv (statsmodels/scikit-learn, coincidentes a 1e-6) y la REFERENCIA histórica. Mensaje: la réplica es FIEL —β₁ cruda 0,637 enmarca el 2/3 de Galton; la transmutada 0,713 coincide con Hanley; R² 0,103—. Regla de oro (igual que en toda réplica del curso): nunca se funden las columnas; el número que el material publica es el del venv, la cifra histórica va etiquetada. La diferencia con el 2/3 se explica por método (tabulación/gráfico de 1886 vs. OLS de fila), no por error. [Jueves, min 172-175]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Orientar el estudio posterior. ISLR (statlearning.com, PDF libre) capítulos 3.1 y 3.3 cubren casi todo el temario; ESL cap. 3.2 —en el slide, como establece el sílabo— es la referencia teórica avanzada (BLUE, geometría de la proyección) para quien quiera más. Los papers Galton (1886) y Anscombe (1973) son lecturas históricas breves que fundamentan la réplica y el argumento gráfico; Hanley (2004) explica la transmutación por género. Mencionar además, de viva voz, la documentación de statsmodels (OLS, summary, get_prediction) y scikit-learn (LinearRegression, train_test_split): es la referencia práctica del cuaderno, aunque no sea una lectura académica. Todos los enlaces, verificados, están en la bibliografía de la sesión. [Jueves, min 175-177]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Cerrar la primera clase. Recapitular en una frase cada capítulo del día y anunciar el arco del viernes: supuestos y diagnóstico (3.6), error fuera de muestra (3.7), la decisión de negocio sobre Advertising (3.8) y los límites del método (3.9). Recordar que el laboratorio queda con los pasos 0 a 5 YA EJECUTADOS en aula, y que en casa no queda laboratorio sino el entregable. [Jueves, min 175-180]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03_ols/notebook/S03_ols.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9.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S03</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De la correlación a la recta que decide</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Regresión lineal simple (OLS): el efecto por unidad — réplica de Galton (1886)</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JUEVES — 145 MIN DE CONTENIDO, BLOQUES A1 Y A2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jueves avanza en cinco capítulos hacia la réplica</a:t>
            </a:r>
          </a:p>
        </p:txBody>
      </p:sp>
      <p:sp>
        <p:nvSpPr>
          <p:cNvPr id="4" name="Rounded Rectangle 3"/>
          <p:cNvSpPr/>
          <p:nvPr/>
        </p:nvSpPr>
        <p:spPr>
          <a:xfrm>
            <a:off x="548640" y="1874519"/>
            <a:ext cx="1926336"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1469136" cy="640080"/>
          </a:xfrm>
          <a:prstGeom prst="rect">
            <a:avLst/>
          </a:prstGeom>
          <a:noFill/>
        </p:spPr>
        <p:txBody>
          <a:bodyPr wrap="square" anchor="t" lIns="0" rIns="0" tIns="0" bIns="0">
            <a:spAutoFit/>
          </a:bodyPr>
          <a:lstStyle/>
          <a:p>
            <a:pPr algn="l"/>
            <a:r>
              <a:rPr sz="1800" b="1">
                <a:solidFill>
                  <a:srgbClr val="9B1B30"/>
                </a:solidFill>
                <a:latin typeface="Calibri"/>
              </a:rPr>
              <a:t>3.1  ¿Basta la correlación?</a:t>
            </a:r>
          </a:p>
        </p:txBody>
      </p:sp>
      <p:sp>
        <p:nvSpPr>
          <p:cNvPr id="8" name="TextBox 7"/>
          <p:cNvSpPr txBox="1"/>
          <p:nvPr/>
        </p:nvSpPr>
        <p:spPr>
          <a:xfrm>
            <a:off x="777240" y="3611879"/>
            <a:ext cx="1469136"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Lo que r respondió en S02
y lo que dejó sin responder.</a:t>
            </a:r>
          </a:p>
        </p:txBody>
      </p:sp>
      <p:sp>
        <p:nvSpPr>
          <p:cNvPr id="9" name="TextBox 8"/>
          <p:cNvSpPr txBox="1"/>
          <p:nvPr/>
        </p:nvSpPr>
        <p:spPr>
          <a:xfrm>
            <a:off x="777240" y="5303519"/>
            <a:ext cx="1469136" cy="502920"/>
          </a:xfrm>
          <a:prstGeom prst="rect">
            <a:avLst/>
          </a:prstGeom>
          <a:noFill/>
        </p:spPr>
        <p:txBody>
          <a:bodyPr wrap="square" anchor="t" lIns="0" rIns="0" tIns="0" bIns="0">
            <a:spAutoFit/>
          </a:bodyPr>
          <a:lstStyle/>
          <a:p>
            <a:pPr algn="l"/>
            <a:r>
              <a:rPr sz="1200" b="1">
                <a:solidFill>
                  <a:srgbClr val="9B1B30"/>
                </a:solidFill>
                <a:latin typeface="Calibri"/>
              </a:rPr>
              <a:t>20 min</a:t>
            </a:r>
          </a:p>
        </p:txBody>
      </p:sp>
      <p:sp>
        <p:nvSpPr>
          <p:cNvPr id="10" name="Rounded Rectangle 9"/>
          <p:cNvSpPr/>
          <p:nvPr/>
        </p:nvSpPr>
        <p:spPr>
          <a:xfrm>
            <a:off x="2840736" y="1874519"/>
            <a:ext cx="1926336"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69336"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earch__FFFFFF.png"/>
          <p:cNvPicPr>
            <a:picLocks noChangeAspect="1"/>
          </p:cNvPicPr>
          <p:nvPr/>
        </p:nvPicPr>
        <p:blipFill>
          <a:blip r:embed="rId3"/>
          <a:stretch>
            <a:fillRect/>
          </a:stretch>
        </p:blipFill>
        <p:spPr>
          <a:xfrm>
            <a:off x="3248558" y="2282341"/>
            <a:ext cx="281636" cy="281636"/>
          </a:xfrm>
          <a:prstGeom prst="rect">
            <a:avLst/>
          </a:prstGeom>
        </p:spPr>
      </p:pic>
      <p:sp>
        <p:nvSpPr>
          <p:cNvPr id="13" name="TextBox 12"/>
          <p:cNvSpPr txBox="1"/>
          <p:nvPr/>
        </p:nvSpPr>
        <p:spPr>
          <a:xfrm>
            <a:off x="3069336" y="2926079"/>
            <a:ext cx="1469136" cy="640080"/>
          </a:xfrm>
          <a:prstGeom prst="rect">
            <a:avLst/>
          </a:prstGeom>
          <a:noFill/>
        </p:spPr>
        <p:txBody>
          <a:bodyPr wrap="square" anchor="t" lIns="0" rIns="0" tIns="0" bIns="0">
            <a:spAutoFit/>
          </a:bodyPr>
          <a:lstStyle/>
          <a:p>
            <a:pPr algn="l"/>
            <a:r>
              <a:rPr sz="1800" b="1">
                <a:solidFill>
                  <a:srgbClr val="9B1B30"/>
                </a:solidFill>
                <a:latin typeface="Calibri"/>
              </a:rPr>
              <a:t>3.2  ¿Qué es el modelo?</a:t>
            </a:r>
          </a:p>
        </p:txBody>
      </p:sp>
      <p:sp>
        <p:nvSpPr>
          <p:cNvPr id="14" name="TextBox 13"/>
          <p:cNvSpPr txBox="1"/>
          <p:nvPr/>
        </p:nvSpPr>
        <p:spPr>
          <a:xfrm>
            <a:off x="3069336" y="3611879"/>
            <a:ext cx="1469136"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afirma, qué es β₁ en soles
y qué NO afirma.</a:t>
            </a:r>
          </a:p>
        </p:txBody>
      </p:sp>
      <p:sp>
        <p:nvSpPr>
          <p:cNvPr id="15" name="TextBox 14"/>
          <p:cNvSpPr txBox="1"/>
          <p:nvPr/>
        </p:nvSpPr>
        <p:spPr>
          <a:xfrm>
            <a:off x="3069336" y="5303519"/>
            <a:ext cx="1469136" cy="502920"/>
          </a:xfrm>
          <a:prstGeom prst="rect">
            <a:avLst/>
          </a:prstGeom>
          <a:noFill/>
        </p:spPr>
        <p:txBody>
          <a:bodyPr wrap="square" anchor="t" lIns="0" rIns="0" tIns="0" bIns="0">
            <a:spAutoFit/>
          </a:bodyPr>
          <a:lstStyle/>
          <a:p>
            <a:pPr algn="l"/>
            <a:r>
              <a:rPr sz="1200" b="1">
                <a:solidFill>
                  <a:srgbClr val="9B1B30"/>
                </a:solidFill>
                <a:latin typeface="Calibri"/>
              </a:rPr>
              <a:t>25 min</a:t>
            </a:r>
          </a:p>
        </p:txBody>
      </p:sp>
      <p:sp>
        <p:nvSpPr>
          <p:cNvPr id="16" name="Rounded Rectangle 15"/>
          <p:cNvSpPr/>
          <p:nvPr/>
        </p:nvSpPr>
        <p:spPr>
          <a:xfrm>
            <a:off x="5132832" y="1874519"/>
            <a:ext cx="1926336"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61432"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hart-column__FFFFFF.png"/>
          <p:cNvPicPr>
            <a:picLocks noChangeAspect="1"/>
          </p:cNvPicPr>
          <p:nvPr/>
        </p:nvPicPr>
        <p:blipFill>
          <a:blip r:embed="rId4"/>
          <a:stretch>
            <a:fillRect/>
          </a:stretch>
        </p:blipFill>
        <p:spPr>
          <a:xfrm>
            <a:off x="5540654" y="2282341"/>
            <a:ext cx="281636" cy="281636"/>
          </a:xfrm>
          <a:prstGeom prst="rect">
            <a:avLst/>
          </a:prstGeom>
        </p:spPr>
      </p:pic>
      <p:sp>
        <p:nvSpPr>
          <p:cNvPr id="19" name="TextBox 18"/>
          <p:cNvSpPr txBox="1"/>
          <p:nvPr/>
        </p:nvSpPr>
        <p:spPr>
          <a:xfrm>
            <a:off x="5361432" y="2926079"/>
            <a:ext cx="1469136" cy="640080"/>
          </a:xfrm>
          <a:prstGeom prst="rect">
            <a:avLst/>
          </a:prstGeom>
          <a:noFill/>
        </p:spPr>
        <p:txBody>
          <a:bodyPr wrap="square" anchor="t" lIns="0" rIns="0" tIns="0" bIns="0">
            <a:spAutoFit/>
          </a:bodyPr>
          <a:lstStyle/>
          <a:p>
            <a:pPr algn="l"/>
            <a:r>
              <a:rPr sz="1800" b="1">
                <a:solidFill>
                  <a:srgbClr val="9B1B30"/>
                </a:solidFill>
                <a:latin typeface="Calibri"/>
              </a:rPr>
              <a:t>3.3  ¿Cómo se obtiene?</a:t>
            </a:r>
          </a:p>
        </p:txBody>
      </p:sp>
      <p:sp>
        <p:nvSpPr>
          <p:cNvPr id="20" name="TextBox 19"/>
          <p:cNvSpPr txBox="1"/>
          <p:nvPr/>
        </p:nvSpPr>
        <p:spPr>
          <a:xfrm>
            <a:off x="5361432" y="3611879"/>
            <a:ext cx="1469136"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Mínimos cuadrados y su
derivación en pizarra.</a:t>
            </a:r>
          </a:p>
        </p:txBody>
      </p:sp>
      <p:sp>
        <p:nvSpPr>
          <p:cNvPr id="21" name="TextBox 20"/>
          <p:cNvSpPr txBox="1"/>
          <p:nvPr/>
        </p:nvSpPr>
        <p:spPr>
          <a:xfrm>
            <a:off x="5361432" y="5303519"/>
            <a:ext cx="1469136" cy="502920"/>
          </a:xfrm>
          <a:prstGeom prst="rect">
            <a:avLst/>
          </a:prstGeom>
          <a:noFill/>
        </p:spPr>
        <p:txBody>
          <a:bodyPr wrap="square" anchor="t" lIns="0" rIns="0" tIns="0" bIns="0">
            <a:spAutoFit/>
          </a:bodyPr>
          <a:lstStyle/>
          <a:p>
            <a:pPr algn="l"/>
            <a:r>
              <a:rPr sz="1200" b="1">
                <a:solidFill>
                  <a:srgbClr val="9B1B30"/>
                </a:solidFill>
                <a:latin typeface="Calibri"/>
              </a:rPr>
              <a:t>30 min</a:t>
            </a:r>
          </a:p>
        </p:txBody>
      </p:sp>
      <p:sp>
        <p:nvSpPr>
          <p:cNvPr id="22" name="Rounded Rectangle 21"/>
          <p:cNvSpPr/>
          <p:nvPr/>
        </p:nvSpPr>
        <p:spPr>
          <a:xfrm>
            <a:off x="7424928" y="1874519"/>
            <a:ext cx="1926336"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653528"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art-column__FFFFFF.png"/>
          <p:cNvPicPr>
            <a:picLocks noChangeAspect="1"/>
          </p:cNvPicPr>
          <p:nvPr/>
        </p:nvPicPr>
        <p:blipFill>
          <a:blip r:embed="rId4"/>
          <a:stretch>
            <a:fillRect/>
          </a:stretch>
        </p:blipFill>
        <p:spPr>
          <a:xfrm>
            <a:off x="7832750" y="2282341"/>
            <a:ext cx="281636" cy="281636"/>
          </a:xfrm>
          <a:prstGeom prst="rect">
            <a:avLst/>
          </a:prstGeom>
        </p:spPr>
      </p:pic>
      <p:sp>
        <p:nvSpPr>
          <p:cNvPr id="25" name="TextBox 24"/>
          <p:cNvSpPr txBox="1"/>
          <p:nvPr/>
        </p:nvSpPr>
        <p:spPr>
          <a:xfrm>
            <a:off x="7653528" y="2926079"/>
            <a:ext cx="1469136" cy="640080"/>
          </a:xfrm>
          <a:prstGeom prst="rect">
            <a:avLst/>
          </a:prstGeom>
          <a:noFill/>
        </p:spPr>
        <p:txBody>
          <a:bodyPr wrap="square" anchor="t" lIns="0" rIns="0" tIns="0" bIns="0">
            <a:spAutoFit/>
          </a:bodyPr>
          <a:lstStyle/>
          <a:p>
            <a:pPr algn="l"/>
            <a:r>
              <a:rPr sz="1800" b="1">
                <a:solidFill>
                  <a:srgbClr val="9B1B30"/>
                </a:solidFill>
                <a:latin typeface="Calibri"/>
              </a:rPr>
              <a:t>3.4  ¿Cuánta confianza?</a:t>
            </a:r>
          </a:p>
        </p:txBody>
      </p:sp>
      <p:sp>
        <p:nvSpPr>
          <p:cNvPr id="26" name="TextBox 25"/>
          <p:cNvSpPr txBox="1"/>
          <p:nvPr/>
        </p:nvSpPr>
        <p:spPr>
          <a:xfrm>
            <a:off x="7653528" y="3611879"/>
            <a:ext cx="1469136"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R², error estándar de β₁
y los dos intervalos.</a:t>
            </a:r>
          </a:p>
        </p:txBody>
      </p:sp>
      <p:sp>
        <p:nvSpPr>
          <p:cNvPr id="27" name="TextBox 26"/>
          <p:cNvSpPr txBox="1"/>
          <p:nvPr/>
        </p:nvSpPr>
        <p:spPr>
          <a:xfrm>
            <a:off x="7653528" y="5303519"/>
            <a:ext cx="1469136" cy="502920"/>
          </a:xfrm>
          <a:prstGeom prst="rect">
            <a:avLst/>
          </a:prstGeom>
          <a:noFill/>
        </p:spPr>
        <p:txBody>
          <a:bodyPr wrap="square" anchor="t" lIns="0" rIns="0" tIns="0" bIns="0">
            <a:spAutoFit/>
          </a:bodyPr>
          <a:lstStyle/>
          <a:p>
            <a:pPr algn="l"/>
            <a:r>
              <a:rPr sz="1200" b="1">
                <a:solidFill>
                  <a:srgbClr val="9B1B30"/>
                </a:solidFill>
                <a:latin typeface="Calibri"/>
              </a:rPr>
              <a:t>35 min</a:t>
            </a:r>
          </a:p>
        </p:txBody>
      </p:sp>
      <p:sp>
        <p:nvSpPr>
          <p:cNvPr id="28" name="Rounded Rectangle 27"/>
          <p:cNvSpPr/>
          <p:nvPr/>
        </p:nvSpPr>
        <p:spPr>
          <a:xfrm>
            <a:off x="9717024" y="1874519"/>
            <a:ext cx="1926336"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45624"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book-open__FFFFFF.png"/>
          <p:cNvPicPr>
            <a:picLocks noChangeAspect="1"/>
          </p:cNvPicPr>
          <p:nvPr/>
        </p:nvPicPr>
        <p:blipFill>
          <a:blip r:embed="rId5"/>
          <a:stretch>
            <a:fillRect/>
          </a:stretch>
        </p:blipFill>
        <p:spPr>
          <a:xfrm>
            <a:off x="10124846" y="2282341"/>
            <a:ext cx="281636" cy="281636"/>
          </a:xfrm>
          <a:prstGeom prst="rect">
            <a:avLst/>
          </a:prstGeom>
        </p:spPr>
      </p:pic>
      <p:sp>
        <p:nvSpPr>
          <p:cNvPr id="31" name="TextBox 30"/>
          <p:cNvSpPr txBox="1"/>
          <p:nvPr/>
        </p:nvSpPr>
        <p:spPr>
          <a:xfrm>
            <a:off x="9945624" y="2926079"/>
            <a:ext cx="1469136" cy="640080"/>
          </a:xfrm>
          <a:prstGeom prst="rect">
            <a:avLst/>
          </a:prstGeom>
          <a:noFill/>
        </p:spPr>
        <p:txBody>
          <a:bodyPr wrap="square" anchor="t" lIns="0" rIns="0" tIns="0" bIns="0">
            <a:spAutoFit/>
          </a:bodyPr>
          <a:lstStyle/>
          <a:p>
            <a:pPr algn="l"/>
            <a:r>
              <a:rPr sz="1800" b="1">
                <a:solidFill>
                  <a:srgbClr val="9B1B30"/>
                </a:solidFill>
                <a:latin typeface="Calibri"/>
              </a:rPr>
              <a:t>3.5  ¿Se sostiene?</a:t>
            </a:r>
          </a:p>
        </p:txBody>
      </p:sp>
      <p:sp>
        <p:nvSpPr>
          <p:cNvPr id="32" name="TextBox 31"/>
          <p:cNvSpPr txBox="1"/>
          <p:nvPr/>
        </p:nvSpPr>
        <p:spPr>
          <a:xfrm>
            <a:off x="9945624" y="3611879"/>
            <a:ext cx="1469136"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Réplica de Galton (1886):
laboratorio, pasos 0 a 5.</a:t>
            </a:r>
          </a:p>
        </p:txBody>
      </p:sp>
      <p:sp>
        <p:nvSpPr>
          <p:cNvPr id="33" name="TextBox 32"/>
          <p:cNvSpPr txBox="1"/>
          <p:nvPr/>
        </p:nvSpPr>
        <p:spPr>
          <a:xfrm>
            <a:off x="9945624" y="5303519"/>
            <a:ext cx="1469136" cy="502920"/>
          </a:xfrm>
          <a:prstGeom prst="rect">
            <a:avLst/>
          </a:prstGeom>
          <a:noFill/>
        </p:spPr>
        <p:txBody>
          <a:bodyPr wrap="square" anchor="t" lIns="0" rIns="0" tIns="0" bIns="0">
            <a:spAutoFit/>
          </a:bodyPr>
          <a:lstStyle/>
          <a:p>
            <a:pPr algn="l"/>
            <a:r>
              <a:rPr sz="1200" b="1">
                <a:solidFill>
                  <a:srgbClr val="9B1B30"/>
                </a:solidFill>
                <a:latin typeface="Calibri"/>
              </a:rPr>
              <a:t>35 min</a:t>
            </a:r>
          </a:p>
        </p:txBody>
      </p:sp>
      <p:sp>
        <p:nvSpPr>
          <p:cNvPr id="34" name="Rounded Rectangle 33"/>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35" name="Oval 3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37" name="TextBox 3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¿Por qué no basta la correlación de la Sesión 2?</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3.1 — jueves, bloque A1 — 20 min</a:t>
            </a:r>
          </a:p>
        </p:txBody>
      </p:sp>
      <p:pic>
        <p:nvPicPr>
          <p:cNvPr id="5" name="Picture 4" descr="triangle-alert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PUENTE S02 → S03</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correlación dice si; la recta dice cuánto</a:t>
            </a:r>
          </a:p>
        </p:txBody>
      </p:sp>
      <p:sp>
        <p:nvSpPr>
          <p:cNvPr id="4" name="Oval 3"/>
          <p:cNvSpPr/>
          <p:nvPr/>
        </p:nvSpPr>
        <p:spPr>
          <a:xfrm>
            <a:off x="54864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r</a:t>
            </a:r>
          </a:p>
        </p:txBody>
      </p:sp>
      <p:sp>
        <p:nvSpPr>
          <p:cNvPr id="5" name="TextBox 4"/>
          <p:cNvSpPr txBox="1"/>
          <p:nvPr/>
        </p:nvSpPr>
        <p:spPr>
          <a:xfrm>
            <a:off x="114300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Correlación (S02)</a:t>
            </a:r>
          </a:p>
        </p:txBody>
      </p:sp>
      <p:sp>
        <p:nvSpPr>
          <p:cNvPr id="6" name="TextBox 5"/>
          <p:cNvSpPr txBox="1"/>
          <p:nvPr/>
        </p:nvSpPr>
        <p:spPr>
          <a:xfrm>
            <a:off x="62179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Mide fuerza y dirección</a:t>
            </a:r>
          </a:p>
          <a:p>
            <a:pPr algn="l">
              <a:spcAft>
                <a:spcPts val="900"/>
              </a:spcAft>
            </a:pPr>
            <a:r>
              <a:rPr sz="1400">
                <a:solidFill>
                  <a:srgbClr val="2D2D2D"/>
                </a:solidFill>
                <a:latin typeface="Calibri"/>
              </a:rPr>
              <a:t>Un número entre −1 y 1</a:t>
            </a:r>
          </a:p>
          <a:p>
            <a:pPr algn="l">
              <a:spcAft>
                <a:spcPts val="900"/>
              </a:spcAft>
            </a:pPr>
            <a:r>
              <a:rPr sz="1400">
                <a:solidFill>
                  <a:srgbClr val="2D2D2D"/>
                </a:solidFill>
                <a:latin typeface="Calibri"/>
              </a:rPr>
              <a:t>Simétrica y sin unidades</a:t>
            </a:r>
          </a:p>
          <a:p>
            <a:pPr algn="l">
              <a:spcAft>
                <a:spcPts val="900"/>
              </a:spcAft>
            </a:pPr>
            <a:r>
              <a:rPr sz="1400">
                <a:solidFill>
                  <a:srgbClr val="2D2D2D"/>
                </a:solidFill>
                <a:latin typeface="Calibri"/>
              </a:rPr>
              <a:t>Responde: ¿se relacionan?</a:t>
            </a:r>
          </a:p>
        </p:txBody>
      </p:sp>
      <p:sp>
        <p:nvSpPr>
          <p:cNvPr id="7" name="Oval 6"/>
          <p:cNvSpPr/>
          <p:nvPr/>
        </p:nvSpPr>
        <p:spPr>
          <a:xfrm>
            <a:off x="630936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β</a:t>
            </a:r>
          </a:p>
        </p:txBody>
      </p:sp>
      <p:sp>
        <p:nvSpPr>
          <p:cNvPr id="8" name="TextBox 7"/>
          <p:cNvSpPr txBox="1"/>
          <p:nvPr/>
        </p:nvSpPr>
        <p:spPr>
          <a:xfrm>
            <a:off x="690372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Regresión (S03)</a:t>
            </a:r>
          </a:p>
        </p:txBody>
      </p:sp>
      <p:sp>
        <p:nvSpPr>
          <p:cNvPr id="9" name="TextBox 8"/>
          <p:cNvSpPr txBox="1"/>
          <p:nvPr/>
        </p:nvSpPr>
        <p:spPr>
          <a:xfrm>
            <a:off x="638251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Cuantifica cuánto cambia Y</a:t>
            </a:r>
          </a:p>
          <a:p>
            <a:pPr algn="l">
              <a:spcAft>
                <a:spcPts val="900"/>
              </a:spcAft>
            </a:pPr>
            <a:r>
              <a:rPr sz="1400">
                <a:solidFill>
                  <a:srgbClr val="2D2D2D"/>
                </a:solidFill>
                <a:latin typeface="Calibri"/>
              </a:rPr>
              <a:t>Una recta con pendiente</a:t>
            </a:r>
          </a:p>
          <a:p>
            <a:pPr algn="l">
              <a:spcAft>
                <a:spcPts val="900"/>
              </a:spcAft>
            </a:pPr>
            <a:r>
              <a:rPr sz="1400">
                <a:solidFill>
                  <a:srgbClr val="2D2D2D"/>
                </a:solidFill>
                <a:latin typeface="Calibri"/>
              </a:rPr>
              <a:t>Direccional: predice Y desde X</a:t>
            </a:r>
          </a:p>
          <a:p>
            <a:pPr algn="l">
              <a:spcAft>
                <a:spcPts val="900"/>
              </a:spcAft>
            </a:pPr>
            <a:r>
              <a:rPr sz="1400">
                <a:solidFill>
                  <a:srgbClr val="2D2D2D"/>
                </a:solidFill>
                <a:latin typeface="Calibri"/>
              </a:rPr>
              <a:t>Pendiente en unidades de negocio</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3.1-3.2, celda 11</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es una regresión lineal simple?</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3.2 — jueves, bloque A1 — 25 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HACE — EL AJUSTE QUE PRODUCE LA RÉPLICA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Así se ajusta un OLS y se lee su summary()</a:t>
            </a:r>
          </a:p>
        </p:txBody>
      </p:sp>
      <p:sp>
        <p:nvSpPr>
          <p:cNvPr id="4" name="TextBox 3"/>
          <p:cNvSpPr txBox="1"/>
          <p:nvPr/>
        </p:nvSpPr>
        <p:spPr>
          <a:xfrm>
            <a:off x="548640" y="1755648"/>
            <a:ext cx="11094720" cy="457200"/>
          </a:xfrm>
          <a:prstGeom prst="rect">
            <a:avLst/>
          </a:prstGeom>
          <a:noFill/>
        </p:spPr>
        <p:txBody>
          <a:bodyPr wrap="square" lIns="0" tIns="0" bIns="0">
            <a:spAutoFit/>
          </a:bodyPr>
          <a:lstStyle/>
          <a:p>
            <a:r>
              <a:rPr sz="1400" b="1">
                <a:solidFill>
                  <a:srgbClr val="9B1B30"/>
                </a:solidFill>
                <a:latin typeface="Calibri"/>
              </a:rPr>
              <a:t>▸ Qué hace:  </a:t>
            </a:r>
            <a:r>
              <a:rPr sz="1400">
                <a:solidFill>
                  <a:srgbClr val="2D2D2D"/>
                </a:solidFill>
                <a:latin typeface="Calibri"/>
              </a:rPr>
              <a:t>ajusta childHeight ~ midparentHeight por OLS; summary() da β₁ = 0,64, IC 95 % [0,52; 0,76] y p &lt; 0,001.</a:t>
            </a:r>
          </a:p>
        </p:txBody>
      </p:sp>
      <p:sp>
        <p:nvSpPr>
          <p:cNvPr id="5" name="Rounded Rectangle 4"/>
          <p:cNvSpPr/>
          <p:nvPr/>
        </p:nvSpPr>
        <p:spPr>
          <a:xfrm>
            <a:off x="548640" y="2395728"/>
            <a:ext cx="11094720" cy="224942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542032"/>
            <a:ext cx="10637520" cy="256032"/>
          </a:xfrm>
          <a:prstGeom prst="rect">
            <a:avLst/>
          </a:prstGeom>
          <a:noFill/>
        </p:spPr>
        <p:txBody>
          <a:bodyPr wrap="none" lIns="0" tIns="0" bIns="0">
            <a:spAutoFit/>
          </a:bodyPr>
          <a:lstStyle/>
          <a:p>
            <a:r>
              <a:rPr sz="1050" b="1">
                <a:solidFill>
                  <a:srgbClr val="9B1B30"/>
                </a:solidFill>
                <a:latin typeface="Calibri"/>
              </a:rPr>
              <a:t>CÓDIGO REAL DEL CUADERNO</a:t>
            </a:r>
          </a:p>
        </p:txBody>
      </p:sp>
      <p:sp>
        <p:nvSpPr>
          <p:cNvPr id="7" name="TextBox 6"/>
          <p:cNvSpPr txBox="1"/>
          <p:nvPr/>
        </p:nvSpPr>
        <p:spPr>
          <a:xfrm>
            <a:off x="859536" y="2926080"/>
            <a:ext cx="10472928" cy="1645920"/>
          </a:xfrm>
          <a:prstGeom prst="rect">
            <a:avLst/>
          </a:prstGeom>
          <a:noFill/>
        </p:spPr>
        <p:txBody>
          <a:bodyPr wrap="square" lIns="0" tIns="0" bIns="0">
            <a:spAutoFit/>
          </a:bodyPr>
          <a:lstStyle/>
          <a:p>
            <a:pPr>
              <a:lnSpc>
                <a:spcPct val="130000"/>
              </a:lnSpc>
              <a:spcAft>
                <a:spcPts val="400"/>
              </a:spcAft>
            </a:pPr>
            <a:r>
              <a:rPr sz="1200">
                <a:solidFill>
                  <a:srgbClr val="2D2D2D"/>
                </a:solidFill>
                <a:latin typeface="Consolas"/>
              </a:rPr>
              <a:t>import statsmodels.api as sm</a:t>
            </a:r>
          </a:p>
          <a:p>
            <a:pPr>
              <a:lnSpc>
                <a:spcPct val="130000"/>
              </a:lnSpc>
              <a:spcAft>
                <a:spcPts val="400"/>
              </a:spcAft>
            </a:pPr>
            <a:r>
              <a:rPr sz="1200">
                <a:solidFill>
                  <a:srgbClr val="2D2D2D"/>
                </a:solidFill>
                <a:latin typeface="Consolas"/>
              </a:rPr>
              <a:t>X = sm.add_constant(galton["midparentHeight"])   # intercepto + predictor</a:t>
            </a:r>
          </a:p>
          <a:p>
            <a:pPr>
              <a:lnSpc>
                <a:spcPct val="130000"/>
              </a:lnSpc>
              <a:spcAft>
                <a:spcPts val="400"/>
              </a:spcAft>
            </a:pPr>
            <a:r>
              <a:rPr sz="1200">
                <a:solidFill>
                  <a:srgbClr val="2D2D2D"/>
                </a:solidFill>
                <a:latin typeface="Consolas"/>
              </a:rPr>
              <a:t>modelo = sm.OLS(galton["childHeight"], X).fit()  # mínimos cuadrados (OLS)</a:t>
            </a:r>
          </a:p>
          <a:p>
            <a:pPr>
              <a:lnSpc>
                <a:spcPct val="130000"/>
              </a:lnSpc>
              <a:spcAft>
                <a:spcPts val="400"/>
              </a:spcAft>
            </a:pPr>
            <a:r>
              <a:rPr sz="1200">
                <a:solidFill>
                  <a:srgbClr val="2D2D2D"/>
                </a:solidFill>
                <a:latin typeface="Consolas"/>
              </a:rPr>
              <a:t>print(modelo.summary())                           # coef, std err, t, IC 95 %</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notebook celda 25 (OLS primario). β₁ e IC de resultados/S03_resultados.xlsx (regresion_galton, inferencia_galton).</a:t>
            </a:r>
          </a:p>
        </p:txBody>
      </p:sp>
      <p:sp>
        <p:nvSpPr>
          <p:cNvPr id="9" name="Rounded Rectangle 8"/>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4, Paso 4, celda 25</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obtiene la recta óptima?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3.3 — jueves, bloque A1 — 30 min</a:t>
            </a:r>
          </a:p>
        </p:txBody>
      </p:sp>
      <p:pic>
        <p:nvPicPr>
          <p:cNvPr id="5" name="Picture 4" descr="book-open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EL MODELO LINEAL SIMPLE, EN TRES PIEZAS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OLS elige la recta de menor error al cuadrado</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arget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OLS minimiza el error²</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Elige la recta con la menor suma de residuales al cuadrado (SSE).</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auge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β₁, el número accionable</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Cambio esperado en Y por cada unidad adicional de X, en unidades de negocio.</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atabase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β₀, solo un ancla</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Valor de Y cuando X = 0; sin sentido de negocio si X = 0 no es plausible.</a:t>
            </a:r>
          </a:p>
        </p:txBody>
      </p:sp>
      <p:sp>
        <p:nvSpPr>
          <p:cNvPr id="16" name="Rounded Rectangle 1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3.2, celda 12</a:t>
            </a:r>
          </a:p>
        </p:txBody>
      </p:sp>
      <p:sp>
        <p:nvSpPr>
          <p:cNvPr id="17" name="TextBox 16"/>
          <p:cNvSpPr txBox="1"/>
          <p:nvPr/>
        </p:nvSpPr>
        <p:spPr>
          <a:xfrm>
            <a:off x="1508760" y="5870448"/>
            <a:ext cx="10131552" cy="292608"/>
          </a:xfrm>
          <a:prstGeom prst="rect">
            <a:avLst/>
          </a:prstGeom>
          <a:noFill/>
        </p:spPr>
        <p:txBody>
          <a:bodyPr wrap="square">
            <a:spAutoFit/>
          </a:bodyPr>
          <a:lstStyle/>
          <a:p>
            <a:r>
              <a:rPr sz="1000">
                <a:solidFill>
                  <a:srgbClr val="6E6E6E"/>
                </a:solidFill>
                <a:latin typeface="Calibri"/>
              </a:rPr>
              <a:t>Definiciones: DEFINICIONES Sección 2 (OLS) y Sección 3 (β₀, β₁) — ISLR Sección 3.1.1.</a:t>
            </a:r>
          </a:p>
        </p:txBody>
      </p:sp>
      <p:sp>
        <p:nvSpPr>
          <p:cNvPr id="18" name="Oval 17"/>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20" name="TextBox 19"/>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ajuste ofrece y qué confianza merece?</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3.4 — jueves, bloque A2 — 35 min</a:t>
            </a:r>
          </a:p>
        </p:txBody>
      </p:sp>
      <p:pic>
        <p:nvPicPr>
          <p:cNvPr id="5" name="Picture 4" descr="target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CUÁNTO EXPLICA EL MODELO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R² bajo no significa que el modelo sea inútil</a:t>
            </a:r>
          </a:p>
        </p:txBody>
      </p:sp>
      <p:pic>
        <p:nvPicPr>
          <p:cNvPr id="4" name="Picture 3" descr="deck_r2_comparado.png"/>
          <p:cNvPicPr>
            <a:picLocks noChangeAspect="1"/>
          </p:cNvPicPr>
          <p:nvPr/>
        </p:nvPicPr>
        <p:blipFill>
          <a:blip r:embed="rId2"/>
          <a:stretch>
            <a:fillRect/>
          </a:stretch>
        </p:blipFill>
        <p:spPr>
          <a:xfrm>
            <a:off x="548640" y="1828800"/>
            <a:ext cx="5447557" cy="370332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R² = varianza de Y que explica el modelo. Galton 10 % y Advertising 61 %: ambos válidos según el problema.</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R² de resultados/S03_resultados.xlsx (regresion_galton, advertising_ols). Definición: DEFINICIONES Sección 7 (ISLR Sección 3.1.3).</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6.1, celda 64</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INFERENCIA SOBRE LA PENDIENTE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IC de β₁ excluye el 0 y queda bajo 1</a:t>
            </a:r>
          </a:p>
        </p:txBody>
      </p:sp>
      <p:pic>
        <p:nvPicPr>
          <p:cNvPr id="4" name="Picture 3" descr="deck_ci_b1.png"/>
          <p:cNvPicPr>
            <a:picLocks noChangeAspect="1"/>
          </p:cNvPicPr>
          <p:nvPr/>
        </p:nvPicPr>
        <p:blipFill>
          <a:blip r:embed="rId2"/>
          <a:stretch>
            <a:fillRect/>
          </a:stretch>
        </p:blipFill>
        <p:spPr>
          <a:xfrm>
            <a:off x="548640" y="1828800"/>
            <a:ext cx="5655613" cy="370332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IC 95 % de β₁ = [0,52; 0,76], ancho 0,24: excluye 0 y queda bajo 1. t=10,35; F=107,03.</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IC, t y F de resultados/S03_resultados.xlsx!inferencia_galton (venv). Definición: DEFINICIONES Sección 8 (ISLR Sección 3.1.2).</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3.5, celda 19</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EL ERROR COSTOSO DE LA INFERENCIA — MEDIA VS. PREDICCIÓN</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predicción abarca al individuo, no al grupo</a:t>
            </a:r>
          </a:p>
        </p:txBody>
      </p:sp>
      <p:sp>
        <p:nvSpPr>
          <p:cNvPr id="4" name="Rounded Rectangle 3"/>
          <p:cNvSpPr/>
          <p:nvPr/>
        </p:nvSpPr>
        <p:spPr>
          <a:xfrm>
            <a:off x="548640" y="1828800"/>
            <a:ext cx="5285232" cy="361188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2048256"/>
            <a:ext cx="4700016" cy="548640"/>
          </a:xfrm>
          <a:prstGeom prst="rect">
            <a:avLst/>
          </a:prstGeom>
          <a:noFill/>
        </p:spPr>
        <p:txBody>
          <a:bodyPr wrap="square" anchor="t" lIns="0" rIns="0" tIns="0" bIns="0">
            <a:spAutoFit/>
          </a:bodyPr>
          <a:lstStyle/>
          <a:p>
            <a:pPr algn="l">
              <a:lnSpc>
                <a:spcPct val="105000"/>
              </a:lnSpc>
            </a:pPr>
            <a:r>
              <a:rPr sz="1600" b="1">
                <a:solidFill>
                  <a:srgbClr val="9B1B30"/>
                </a:solidFill>
                <a:latin typeface="Calibri"/>
              </a:rPr>
              <a:t>IC de la media (el grupo)</a:t>
            </a:r>
          </a:p>
        </p:txBody>
      </p:sp>
      <p:sp>
        <p:nvSpPr>
          <p:cNvPr id="6" name="TextBox 5"/>
          <p:cNvSpPr txBox="1"/>
          <p:nvPr/>
        </p:nvSpPr>
        <p:spPr>
          <a:xfrm>
            <a:off x="877824" y="2724912"/>
            <a:ext cx="4626864" cy="2532888"/>
          </a:xfrm>
          <a:prstGeom prst="rect">
            <a:avLst/>
          </a:prstGeom>
          <a:noFill/>
        </p:spPr>
        <p:txBody>
          <a:bodyPr wrap="square" lIns="0" tIns="0" bIns="0">
            <a:spAutoFit/>
          </a:bodyPr>
          <a:lstStyle/>
          <a:p>
            <a:pPr>
              <a:lnSpc>
                <a:spcPct val="105000"/>
              </a:lnSpc>
              <a:spcAft>
                <a:spcPts val="700"/>
              </a:spcAft>
            </a:pPr>
            <a:r>
              <a:rPr sz="1300">
                <a:solidFill>
                  <a:srgbClr val="E4002B"/>
                </a:solidFill>
                <a:latin typeface="Calibri"/>
              </a:rPr>
              <a:t>▪  </a:t>
            </a:r>
            <a:r>
              <a:rPr sz="1300">
                <a:solidFill>
                  <a:srgbClr val="2D2D2D"/>
                </a:solidFill>
                <a:latin typeface="Calibri"/>
              </a:rPr>
              <a:t>Rango de la respuesta MEDIA</a:t>
            </a:r>
          </a:p>
          <a:p>
            <a:pPr>
              <a:lnSpc>
                <a:spcPct val="105000"/>
              </a:lnSpc>
              <a:spcAft>
                <a:spcPts val="700"/>
              </a:spcAft>
            </a:pPr>
            <a:r>
              <a:rPr sz="1300">
                <a:solidFill>
                  <a:srgbClr val="E4002B"/>
                </a:solidFill>
                <a:latin typeface="Calibri"/>
              </a:rPr>
              <a:t>▪  </a:t>
            </a:r>
            <a:r>
              <a:rPr sz="1300">
                <a:solidFill>
                  <a:srgbClr val="2D2D2D"/>
                </a:solidFill>
                <a:latin typeface="Calibri"/>
              </a:rPr>
              <a:t>Solo incertidumbre de la recta</a:t>
            </a:r>
          </a:p>
          <a:p>
            <a:pPr>
              <a:lnSpc>
                <a:spcPct val="105000"/>
              </a:lnSpc>
              <a:spcAft>
                <a:spcPts val="700"/>
              </a:spcAft>
            </a:pPr>
            <a:r>
              <a:rPr sz="1300">
                <a:solidFill>
                  <a:srgbClr val="E4002B"/>
                </a:solidFill>
                <a:latin typeface="Calibri"/>
              </a:rPr>
              <a:t>▪  Estrecho; se reduce con más datos</a:t>
            </a:r>
            <a:r>
              <a:rPr sz="1300">
                <a:solidFill>
                  <a:srgbClr val="2D2D2D"/>
                </a:solidFill>
                <a:latin typeface="Calibri"/>
              </a:rPr>
              <a:t/>
            </a:r>
          </a:p>
          <a:p>
            <a:pPr>
              <a:lnSpc>
                <a:spcPct val="105000"/>
              </a:lnSpc>
              <a:spcAft>
                <a:spcPts val="700"/>
              </a:spcAft>
            </a:pPr>
            <a:r>
              <a:rPr sz="1300">
                <a:solidFill>
                  <a:srgbClr val="E4002B"/>
                </a:solidFill>
                <a:latin typeface="Calibri"/>
              </a:rPr>
              <a:t>▪  </a:t>
            </a:r>
            <a:r>
              <a:rPr sz="1300">
                <a:solidFill>
                  <a:srgbClr val="2D2D2D"/>
                </a:solidFill>
                <a:latin typeface="Calibri"/>
              </a:rPr>
              <a:t>Planeación agregada de ventas</a:t>
            </a:r>
          </a:p>
        </p:txBody>
      </p:sp>
      <p:sp>
        <p:nvSpPr>
          <p:cNvPr id="7" name="Rounded Rectangle 6"/>
          <p:cNvSpPr/>
          <p:nvPr/>
        </p:nvSpPr>
        <p:spPr>
          <a:xfrm>
            <a:off x="6355080" y="1828800"/>
            <a:ext cx="5285232" cy="361188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2048256"/>
            <a:ext cx="4700016" cy="548640"/>
          </a:xfrm>
          <a:prstGeom prst="rect">
            <a:avLst/>
          </a:prstGeom>
          <a:noFill/>
        </p:spPr>
        <p:txBody>
          <a:bodyPr wrap="square" anchor="t" lIns="0" rIns="0" tIns="0" bIns="0">
            <a:spAutoFit/>
          </a:bodyPr>
          <a:lstStyle/>
          <a:p>
            <a:pPr algn="l">
              <a:lnSpc>
                <a:spcPct val="105000"/>
              </a:lnSpc>
            </a:pPr>
            <a:r>
              <a:rPr sz="1600" b="1">
                <a:solidFill>
                  <a:srgbClr val="9B1B30"/>
                </a:solidFill>
                <a:latin typeface="Calibri"/>
              </a:rPr>
              <a:t>Intervalo de predicción (un individuo)</a:t>
            </a:r>
          </a:p>
        </p:txBody>
      </p:sp>
      <p:sp>
        <p:nvSpPr>
          <p:cNvPr id="9" name="TextBox 8"/>
          <p:cNvSpPr txBox="1"/>
          <p:nvPr/>
        </p:nvSpPr>
        <p:spPr>
          <a:xfrm>
            <a:off x="6684264" y="2724912"/>
            <a:ext cx="4626864" cy="2532888"/>
          </a:xfrm>
          <a:prstGeom prst="rect">
            <a:avLst/>
          </a:prstGeom>
          <a:noFill/>
        </p:spPr>
        <p:txBody>
          <a:bodyPr wrap="square" lIns="0" tIns="0" bIns="0">
            <a:spAutoFit/>
          </a:bodyPr>
          <a:lstStyle/>
          <a:p>
            <a:pPr>
              <a:lnSpc>
                <a:spcPct val="105000"/>
              </a:lnSpc>
              <a:spcAft>
                <a:spcPts val="700"/>
              </a:spcAft>
            </a:pPr>
            <a:r>
              <a:rPr sz="1300">
                <a:solidFill>
                  <a:srgbClr val="E4002B"/>
                </a:solidFill>
                <a:latin typeface="Calibri"/>
              </a:rPr>
              <a:t>▪  </a:t>
            </a:r>
            <a:r>
              <a:rPr sz="1300">
                <a:solidFill>
                  <a:srgbClr val="2D2D2D"/>
                </a:solidFill>
                <a:latin typeface="Calibri"/>
              </a:rPr>
              <a:t>Rango de UN caso concreto</a:t>
            </a:r>
          </a:p>
          <a:p>
            <a:pPr>
              <a:lnSpc>
                <a:spcPct val="105000"/>
              </a:lnSpc>
              <a:spcAft>
                <a:spcPts val="700"/>
              </a:spcAft>
            </a:pPr>
            <a:r>
              <a:rPr sz="1300">
                <a:solidFill>
                  <a:srgbClr val="E4002B"/>
                </a:solidFill>
                <a:latin typeface="Calibri"/>
              </a:rPr>
              <a:t>▪  </a:t>
            </a:r>
            <a:r>
              <a:rPr sz="1300">
                <a:solidFill>
                  <a:srgbClr val="2D2D2D"/>
                </a:solidFill>
                <a:latin typeface="Calibri"/>
              </a:rPr>
              <a:t>Suma el error irreducible</a:t>
            </a:r>
          </a:p>
          <a:p>
            <a:pPr>
              <a:lnSpc>
                <a:spcPct val="105000"/>
              </a:lnSpc>
              <a:spcAft>
                <a:spcPts val="700"/>
              </a:spcAft>
            </a:pPr>
            <a:r>
              <a:rPr sz="1300">
                <a:solidFill>
                  <a:srgbClr val="E4002B"/>
                </a:solidFill>
                <a:latin typeface="Calibri"/>
              </a:rPr>
              <a:t>▪  </a:t>
            </a:r>
            <a:r>
              <a:rPr sz="1300">
                <a:solidFill>
                  <a:srgbClr val="2D2D2D"/>
                </a:solidFill>
                <a:latin typeface="Calibri"/>
              </a:rPr>
              <a:t>Mucho más ancho; no colapsa</a:t>
            </a:r>
          </a:p>
          <a:p>
            <a:pPr>
              <a:lnSpc>
                <a:spcPct val="105000"/>
              </a:lnSpc>
              <a:spcAft>
                <a:spcPts val="700"/>
              </a:spcAft>
            </a:pPr>
            <a:r>
              <a:rPr sz="1300">
                <a:solidFill>
                  <a:srgbClr val="E4002B"/>
                </a:solidFill>
                <a:latin typeface="Calibri"/>
              </a:rPr>
              <a:t>▪  </a:t>
            </a:r>
            <a:r>
              <a:rPr sz="1300">
                <a:solidFill>
                  <a:srgbClr val="2D2D2D"/>
                </a:solidFill>
                <a:latin typeface="Calibri"/>
              </a:rPr>
              <a:t>Comprometerse con UNA tienda</a:t>
            </a:r>
          </a:p>
        </p:txBody>
      </p:sp>
      <p:sp>
        <p:nvSpPr>
          <p:cNvPr id="10" name="Oval 9"/>
          <p:cNvSpPr/>
          <p:nvPr/>
        </p:nvSpPr>
        <p:spPr>
          <a:xfrm>
            <a:off x="5897880" y="340614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vs</a:t>
            </a:r>
          </a:p>
        </p:txBody>
      </p:sp>
      <p:sp>
        <p:nvSpPr>
          <p:cNvPr id="11" name="TextBox 10"/>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Concepto (sin cifras del Excel): INTERPRETACION Sección 3 y DEFINICIONES Sección 9 (ISLR Sección 3.1.3). Cálculo ejecutable en el cuaderno, celda 56.</a:t>
            </a:r>
          </a:p>
        </p:txBody>
      </p:sp>
      <p:sp>
        <p:nvSpPr>
          <p:cNvPr id="12" name="Rounded Rectangle 11"/>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 IC, celda 56</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¿Qué intervalo decide: el promedio o el individuo?</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Debate rápido: ante 'prométeme cuánto venderá ESTA tienda', ¿qué intervalo pones en la diapositiva ejecutiva y por qué?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5</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¿Se sostiene con datos reales?</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3.5 — jueves, bloque A2 — 35 min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Mi objeto es poner fuera de toda duda la existencia de una ley simple y de largo alcance que gobierna la transmisión hereditaria de todas y cada una de esas cualidades simples que todos poseemos, aunque en grados desiguales.</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Francis Galton, 1886 — primera página del memoir (p. 246)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 EL PAPER Y POR QUÉ USÓ LO QUE USÓ</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Ninguna de sus decisiones fue casual</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la estatura</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Se mide con facilidad, no cambia en la adultez y apenas depende de la crianza. Al ser SUMA de cien partes del cuerpo, su distribución es casi normal.</a:t>
            </a:r>
          </a:p>
        </p:txBody>
      </p:sp>
      <p:sp>
        <p:nvSpPr>
          <p:cNvPr id="8" name="TextBox 7"/>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Eligió la variable con la distribución mejor comportada</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la mid-parent</a:t>
            </a:r>
          </a:p>
        </p:txBody>
      </p:sp>
      <p:sp>
        <p:nvSpPr>
          <p:cNvPr id="12" name="TextBox 11"/>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Primero llevó ambas estaturas a una escala común. Después COMPROBÓ que la diferencia de altura entre los padres no afecta a los hijos.</a:t>
            </a:r>
          </a:p>
        </p:txBody>
      </p:sp>
      <p:sp>
        <p:nvSpPr>
          <p:cNvPr id="13" name="TextBox 12"/>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Verificó el supuesto antes de apoyarse en él</a:t>
            </a:r>
          </a:p>
        </p:txBody>
      </p:sp>
      <p:sp>
        <p:nvSpPr>
          <p:cNvPr id="14" name="Rounded Rectangle 13"/>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una tabla y no una fórmula</a:t>
            </a:r>
          </a:p>
        </p:txBody>
      </p:sp>
      <p:sp>
        <p:nvSpPr>
          <p:cNvPr id="17" name="TextBox 16"/>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 correlación no existía (Pearson la formaliza diez años después) y los mínimos cuadrados servían para ajustar órbitas, no rasgos biológicos.</a:t>
            </a:r>
          </a:p>
        </p:txBody>
      </p:sp>
      <p:sp>
        <p:nvSpPr>
          <p:cNvPr id="18" name="TextBox 17"/>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Usó medianas y ajustó la recta gráficamente</a:t>
            </a:r>
          </a:p>
        </p:txBody>
      </p:sp>
      <p:sp>
        <p:nvSpPr>
          <p:cNvPr id="19" name="TextBox 18"/>
          <p:cNvSpPr txBox="1"/>
          <p:nvPr/>
        </p:nvSpPr>
        <p:spPr>
          <a:xfrm>
            <a:off x="548640" y="5870448"/>
            <a:ext cx="11091672" cy="292608"/>
          </a:xfrm>
          <a:prstGeom prst="rect">
            <a:avLst/>
          </a:prstGeom>
          <a:noFill/>
        </p:spPr>
        <p:txBody>
          <a:bodyPr wrap="square">
            <a:spAutoFit/>
          </a:bodyPr>
          <a:lstStyle/>
          <a:p>
            <a:r>
              <a:rPr sz="1000">
                <a:solidFill>
                  <a:srgbClr val="6E6E6E"/>
                </a:solidFill>
                <a:latin typeface="Calibri"/>
              </a:rPr>
              <a:t>Decisiones metodológicas documentadas en el original: REPLICACION_PAPER Sección 0.3 (Galton 1886, pp. 247-251).</a:t>
            </a:r>
          </a:p>
        </p:txBody>
      </p:sp>
      <p:sp>
        <p:nvSpPr>
          <p:cNvPr id="20" name="Oval 1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22" name="TextBox 2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RÉPLICA DE GALTON (1886) — N = 934</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Cada pulgada de los padres suma solo 0,64 al hijo</a:t>
            </a:r>
          </a:p>
        </p:txBody>
      </p:sp>
      <p:pic>
        <p:nvPicPr>
          <p:cNvPr id="4" name="Picture 3" descr="deck_galton_recta.png"/>
          <p:cNvPicPr>
            <a:picLocks noChangeAspect="1"/>
          </p:cNvPicPr>
          <p:nvPr/>
        </p:nvPicPr>
        <p:blipFill>
          <a:blip r:embed="rId2"/>
          <a:stretch>
            <a:fillRect/>
          </a:stretch>
        </p:blipFill>
        <p:spPr>
          <a:xfrm>
            <a:off x="548640" y="1828800"/>
            <a:ext cx="4628847" cy="329184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Pendiente 0,64 &lt; 1: en pulgadas crudas el hijo hereda ~2/3 de la ventaja. Intercepto 22,64, sin sentido físico.</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Réplica de Galton (1886); GaltonFamilies (n=934). Coeficientes: resultados/S03_resultados.xlsx!regresion_galton.</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6.2, celda 67</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0,64</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Los extremos siempre regresan a la media</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Valores extremos de X se asocian con valores menos extremos de Y. Padres +4 pulg → hijo solo +2,55.</a:t>
            </a:r>
          </a:p>
        </p:txBody>
      </p:sp>
      <p:pic>
        <p:nvPicPr>
          <p:cNvPr id="5" name="Picture 4" descr="lightbulb__E4002B.png"/>
          <p:cNvPicPr>
            <a:picLocks noChangeAspect="1"/>
          </p:cNvPicPr>
          <p:nvPr/>
        </p:nvPicPr>
        <p:blipFill>
          <a:blip r:embed="rId2"/>
          <a:stretch>
            <a:fillRect/>
          </a:stretch>
        </p:blipFill>
        <p:spPr>
          <a:xfrm>
            <a:off x="6766560" y="1325880"/>
            <a:ext cx="658368" cy="658368"/>
          </a:xfrm>
          <a:prstGeom prst="rect">
            <a:avLst/>
          </a:prstGeom>
        </p:spPr>
      </p:pic>
      <p:sp>
        <p:nvSpPr>
          <p:cNvPr id="6" name="TextBox 5"/>
          <p:cNvSpPr txBox="1"/>
          <p:nvPr/>
        </p:nvSpPr>
        <p:spPr>
          <a:xfrm>
            <a:off x="548640" y="5989320"/>
            <a:ext cx="11091672" cy="292608"/>
          </a:xfrm>
          <a:prstGeom prst="rect">
            <a:avLst/>
          </a:prstGeom>
          <a:noFill/>
        </p:spPr>
        <p:txBody>
          <a:bodyPr wrap="square">
            <a:spAutoFit/>
          </a:bodyPr>
          <a:lstStyle/>
          <a:p>
            <a:r>
              <a:rPr sz="1000">
                <a:solidFill>
                  <a:srgbClr val="6E6E6E"/>
                </a:solidFill>
                <a:latin typeface="Calibri"/>
              </a:rPr>
              <a:t>Definición: DEFINICIONES Sección 12 (Galton, 1886). Cálculo: regresion_galton!B2 × 4 = 2,55.</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18 /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MOMENTO DEL GÉNERO — HANLEY (2004)</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Igualar el sexo sube la pendiente de 0,64 a 0,71</a:t>
            </a:r>
          </a:p>
        </p:txBody>
      </p:sp>
      <p:pic>
        <p:nvPicPr>
          <p:cNvPr id="4" name="Picture 3" descr="deck_galton_genero.png"/>
          <p:cNvPicPr>
            <a:picLocks noChangeAspect="1"/>
          </p:cNvPicPr>
          <p:nvPr/>
        </p:nvPicPr>
        <p:blipFill>
          <a:blip r:embed="rId2"/>
          <a:stretch>
            <a:fillRect/>
          </a:stretch>
        </p:blipFill>
        <p:spPr>
          <a:xfrm>
            <a:off x="548640" y="1828800"/>
            <a:ext cx="4242358" cy="324612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Al transmutar la altura de las hijas (×1,08), r sube a 0,50 y la pendiente a 0,71: por eso Galton igualó los sexos.</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Hanley (2004); cálculo propio. Pendiente y r transmutadas: resultados/S03_resultados.xlsx!regresion_galton (B6, B7) — REPLICACION_PAPER.md Sección 3-4.</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6.2, celda 67</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PROCEDENCIA — OBTENIDO (VENV) VS. REFERENCIA HISTÓRICA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Reproduce el 2/3 de Galton y el 0,71 de Hanley</a:t>
            </a:r>
          </a:p>
        </p:txBody>
      </p:sp>
      <p:graphicFrame>
        <p:nvGraphicFramePr>
          <p:cNvPr id="4" name="Table 3"/>
          <p:cNvGraphicFramePr>
            <a:graphicFrameLocks noGrp="1"/>
          </p:cNvGraphicFramePr>
          <p:nvPr/>
        </p:nvGraphicFramePr>
        <p:xfrm>
          <a:off x="548640" y="1828800"/>
          <a:ext cx="11094720" cy="2103120"/>
        </p:xfrm>
        <a:graphic>
          <a:graphicData uri="http://schemas.openxmlformats.org/drawingml/2006/table">
            <a:tbl>
              <a:tblPr firstRow="1" bandRow="1">
                <a:tableStyleId>{5C22544A-7EE6-4342-B048-85BDC9FD1C3A}</a:tableStyleId>
              </a:tblPr>
              <a:tblGrid>
                <a:gridCol w="2773680"/>
                <a:gridCol w="2773680"/>
                <a:gridCol w="2773680"/>
                <a:gridCol w="2773680"/>
              </a:tblGrid>
              <a:tr h="420624">
                <a:tc>
                  <a:txBody>
                    <a:bodyPr/>
                    <a:lstStyle/>
                    <a:p>
                      <a:r>
                        <a:rPr sz="1400" b="1">
                          <a:solidFill>
                            <a:srgbClr val="FFFFFF"/>
                          </a:solidFill>
                          <a:latin typeface="Calibri"/>
                        </a:rPr>
                        <a:t>Objetivo de réplica</a:t>
                      </a:r>
                    </a:p>
                  </a:txBody>
                  <a:tcPr>
                    <a:solidFill>
                      <a:srgbClr val="9B1B30"/>
                    </a:solidFill>
                  </a:tcPr>
                </a:tc>
                <a:tc>
                  <a:txBody>
                    <a:bodyPr/>
                    <a:lstStyle/>
                    <a:p>
                      <a:r>
                        <a:rPr sz="1400" b="1">
                          <a:solidFill>
                            <a:srgbClr val="FFFFFF"/>
                          </a:solidFill>
                          <a:latin typeface="Calibri"/>
                        </a:rPr>
                        <a:t>Obtenido (venv)</a:t>
                      </a:r>
                    </a:p>
                  </a:txBody>
                  <a:tcPr>
                    <a:solidFill>
                      <a:srgbClr val="9B1B30"/>
                    </a:solidFill>
                  </a:tcPr>
                </a:tc>
                <a:tc>
                  <a:txBody>
                    <a:bodyPr/>
                    <a:lstStyle/>
                    <a:p>
                      <a:r>
                        <a:rPr sz="1400" b="1">
                          <a:solidFill>
                            <a:srgbClr val="FFFFFF"/>
                          </a:solidFill>
                          <a:latin typeface="Calibri"/>
                        </a:rPr>
                        <a:t>Referencia</a:t>
                      </a:r>
                    </a:p>
                  </a:txBody>
                  <a:tcPr>
                    <a:solidFill>
                      <a:srgbClr val="9B1B30"/>
                    </a:solidFill>
                  </a:tcPr>
                </a:tc>
                <a:tc>
                  <a:txBody>
                    <a:bodyPr/>
                    <a:lstStyle/>
                    <a:p>
                      <a:r>
                        <a:rPr sz="1400" b="1">
                          <a:solidFill>
                            <a:srgbClr val="FFFFFF"/>
                          </a:solidFill>
                          <a:latin typeface="Calibri"/>
                        </a:rPr>
                        <a:t>Δ = obt − esp</a:t>
                      </a:r>
                    </a:p>
                  </a:txBody>
                  <a:tcPr>
                    <a:solidFill>
                      <a:srgbClr val="9B1B30"/>
                    </a:solidFill>
                  </a:tcPr>
                </a:tc>
              </a:tr>
              <a:tr h="420624">
                <a:tc>
                  <a:txBody>
                    <a:bodyPr wrap="square"/>
                    <a:lstStyle/>
                    <a:p>
                      <a:r>
                        <a:rPr sz="1400">
                          <a:solidFill>
                            <a:srgbClr val="2D2D2D"/>
                          </a:solidFill>
                          <a:latin typeface="Calibri"/>
                        </a:rPr>
                        <a:t>Pendiente β₁ (cruda)</a:t>
                      </a:r>
                    </a:p>
                  </a:txBody>
                  <a:tcPr>
                    <a:solidFill>
                      <a:srgbClr val="FFFFFF"/>
                    </a:solidFill>
                  </a:tcPr>
                </a:tc>
                <a:tc>
                  <a:txBody>
                    <a:bodyPr wrap="square"/>
                    <a:lstStyle/>
                    <a:p>
                      <a:r>
                        <a:rPr sz="1400">
                          <a:solidFill>
                            <a:srgbClr val="2D2D2D"/>
                          </a:solidFill>
                          <a:latin typeface="Calibri"/>
                        </a:rPr>
                        <a:t>0,64</a:t>
                      </a:r>
                    </a:p>
                  </a:txBody>
                  <a:tcPr>
                    <a:solidFill>
                      <a:srgbClr val="FFFFFF"/>
                    </a:solidFill>
                  </a:tcPr>
                </a:tc>
                <a:tc>
                  <a:txBody>
                    <a:bodyPr wrap="square"/>
                    <a:lstStyle/>
                    <a:p>
                      <a:r>
                        <a:rPr sz="1400">
                          <a:solidFill>
                            <a:srgbClr val="2D2D2D"/>
                          </a:solidFill>
                          <a:latin typeface="Calibri"/>
                        </a:rPr>
                        <a:t>2/3 ≈ 0,667 (Galton 1886)</a:t>
                      </a:r>
                    </a:p>
                  </a:txBody>
                  <a:tcPr>
                    <a:solidFill>
                      <a:srgbClr val="FFFFFF"/>
                    </a:solidFill>
                  </a:tcPr>
                </a:tc>
                <a:tc>
                  <a:txBody>
                    <a:bodyPr wrap="square"/>
                    <a:lstStyle/>
                    <a:p>
                      <a:r>
                        <a:rPr sz="1400">
                          <a:solidFill>
                            <a:srgbClr val="2D2D2D"/>
                          </a:solidFill>
                          <a:latin typeface="Calibri"/>
                        </a:rPr>
                        <a:t>−0,03</a:t>
                      </a:r>
                    </a:p>
                  </a:txBody>
                  <a:tcPr>
                    <a:solidFill>
                      <a:srgbClr val="FFFFFF"/>
                    </a:solidFill>
                  </a:tcPr>
                </a:tc>
              </a:tr>
              <a:tr h="420624">
                <a:tc>
                  <a:txBody>
                    <a:bodyPr wrap="square"/>
                    <a:lstStyle/>
                    <a:p>
                      <a:r>
                        <a:rPr sz="1400">
                          <a:solidFill>
                            <a:srgbClr val="2D2D2D"/>
                          </a:solidFill>
                          <a:latin typeface="Calibri"/>
                        </a:rPr>
                        <a:t>Correlación r (Pearson)</a:t>
                      </a:r>
                    </a:p>
                  </a:txBody>
                  <a:tcPr>
                    <a:solidFill>
                      <a:srgbClr val="FCEDEE"/>
                    </a:solidFill>
                  </a:tcPr>
                </a:tc>
                <a:tc>
                  <a:txBody>
                    <a:bodyPr wrap="square"/>
                    <a:lstStyle/>
                    <a:p>
                      <a:r>
                        <a:rPr sz="1400">
                          <a:solidFill>
                            <a:srgbClr val="2D2D2D"/>
                          </a:solidFill>
                          <a:latin typeface="Calibri"/>
                        </a:rPr>
                        <a:t>0,32</a:t>
                      </a:r>
                    </a:p>
                  </a:txBody>
                  <a:tcPr>
                    <a:solidFill>
                      <a:srgbClr val="FCEDEE"/>
                    </a:solidFill>
                  </a:tcPr>
                </a:tc>
                <a:tc>
                  <a:txBody>
                    <a:bodyPr wrap="square"/>
                    <a:lstStyle/>
                    <a:p>
                      <a:r>
                        <a:rPr sz="1400">
                          <a:solidFill>
                            <a:srgbClr val="2D2D2D"/>
                          </a:solidFill>
                          <a:latin typeface="Calibri"/>
                        </a:rPr>
                        <a:t>baja por mezcla de sexos</a:t>
                      </a:r>
                    </a:p>
                  </a:txBody>
                  <a:tcPr>
                    <a:solidFill>
                      <a:srgbClr val="FCEDEE"/>
                    </a:solidFill>
                  </a:tcPr>
                </a:tc>
                <a:tc>
                  <a:txBody>
                    <a:bodyPr wrap="square"/>
                    <a:lstStyle/>
                    <a:p>
                      <a:r>
                        <a:rPr sz="1400">
                          <a:solidFill>
                            <a:srgbClr val="2D2D2D"/>
                          </a:solidFill>
                          <a:latin typeface="Calibri"/>
                        </a:rPr>
                        <a:t>cruda</a:t>
                      </a:r>
                    </a:p>
                  </a:txBody>
                  <a:tcPr>
                    <a:solidFill>
                      <a:srgbClr val="FCEDEE"/>
                    </a:solidFill>
                  </a:tcPr>
                </a:tc>
              </a:tr>
              <a:tr h="420624">
                <a:tc>
                  <a:txBody>
                    <a:bodyPr wrap="square"/>
                    <a:lstStyle/>
                    <a:p>
                      <a:r>
                        <a:rPr sz="1400">
                          <a:solidFill>
                            <a:srgbClr val="2D2D2D"/>
                          </a:solidFill>
                          <a:latin typeface="Calibri"/>
                        </a:rPr>
                        <a:t>Pendiente β₁ (transmutada)</a:t>
                      </a:r>
                    </a:p>
                  </a:txBody>
                  <a:tcPr>
                    <a:solidFill>
                      <a:srgbClr val="FFFFFF"/>
                    </a:solidFill>
                  </a:tcPr>
                </a:tc>
                <a:tc>
                  <a:txBody>
                    <a:bodyPr wrap="square"/>
                    <a:lstStyle/>
                    <a:p>
                      <a:r>
                        <a:rPr sz="1400">
                          <a:solidFill>
                            <a:srgbClr val="2D2D2D"/>
                          </a:solidFill>
                          <a:latin typeface="Calibri"/>
                        </a:rPr>
                        <a:t>0,71</a:t>
                      </a:r>
                    </a:p>
                  </a:txBody>
                  <a:tcPr>
                    <a:solidFill>
                      <a:srgbClr val="FFFFFF"/>
                    </a:solidFill>
                  </a:tcPr>
                </a:tc>
                <a:tc>
                  <a:txBody>
                    <a:bodyPr wrap="square"/>
                    <a:lstStyle/>
                    <a:p>
                      <a:r>
                        <a:rPr sz="1400">
                          <a:solidFill>
                            <a:srgbClr val="2D2D2D"/>
                          </a:solidFill>
                          <a:latin typeface="Calibri"/>
                        </a:rPr>
                        <a:t>0,71 (Hanley 2004)</a:t>
                      </a:r>
                    </a:p>
                  </a:txBody>
                  <a:tcPr>
                    <a:solidFill>
                      <a:srgbClr val="FFFFFF"/>
                    </a:solidFill>
                  </a:tcPr>
                </a:tc>
                <a:tc>
                  <a:txBody>
                    <a:bodyPr wrap="square"/>
                    <a:lstStyle/>
                    <a:p>
                      <a:r>
                        <a:rPr sz="1400">
                          <a:solidFill>
                            <a:srgbClr val="2D2D2D"/>
                          </a:solidFill>
                          <a:latin typeface="Calibri"/>
                        </a:rPr>
                        <a:t>≈ 0</a:t>
                      </a:r>
                    </a:p>
                  </a:txBody>
                  <a:tcPr>
                    <a:solidFill>
                      <a:srgbClr val="FFFFFF"/>
                    </a:solidFill>
                  </a:tcPr>
                </a:tc>
              </a:tr>
              <a:tr h="420624">
                <a:tc>
                  <a:txBody>
                    <a:bodyPr wrap="square"/>
                    <a:lstStyle/>
                    <a:p>
                      <a:r>
                        <a:rPr sz="1400">
                          <a:solidFill>
                            <a:srgbClr val="2D2D2D"/>
                          </a:solidFill>
                          <a:latin typeface="Calibri"/>
                        </a:rPr>
                        <a:t>R² (soporte)</a:t>
                      </a:r>
                    </a:p>
                  </a:txBody>
                  <a:tcPr>
                    <a:solidFill>
                      <a:srgbClr val="FCEDEE"/>
                    </a:solidFill>
                  </a:tcPr>
                </a:tc>
                <a:tc>
                  <a:txBody>
                    <a:bodyPr wrap="square"/>
                    <a:lstStyle/>
                    <a:p>
                      <a:r>
                        <a:rPr sz="1400">
                          <a:solidFill>
                            <a:srgbClr val="2D2D2D"/>
                          </a:solidFill>
                          <a:latin typeface="Calibri"/>
                        </a:rPr>
                        <a:t>0,103</a:t>
                      </a:r>
                    </a:p>
                  </a:txBody>
                  <a:tcPr>
                    <a:solidFill>
                      <a:srgbClr val="FCEDEE"/>
                    </a:solidFill>
                  </a:tcPr>
                </a:tc>
                <a:tc>
                  <a:txBody>
                    <a:bodyPr wrap="square"/>
                    <a:lstStyle/>
                    <a:p>
                      <a:r>
                        <a:rPr sz="1400">
                          <a:solidFill>
                            <a:srgbClr val="2D2D2D"/>
                          </a:solidFill>
                          <a:latin typeface="Calibri"/>
                        </a:rPr>
                        <a:t>= r² (r = 0,32)</a:t>
                      </a:r>
                    </a:p>
                  </a:txBody>
                  <a:tcPr>
                    <a:solidFill>
                      <a:srgbClr val="FCEDEE"/>
                    </a:solidFill>
                  </a:tcPr>
                </a:tc>
                <a:tc>
                  <a:txBody>
                    <a:bodyPr wrap="square"/>
                    <a:lstStyle/>
                    <a:p>
                      <a:r>
                        <a:rPr sz="1400">
                          <a:solidFill>
                            <a:srgbClr val="2D2D2D"/>
                          </a:solidFill>
                          <a:latin typeface="Calibri"/>
                        </a:rPr>
                        <a:t>≈ 0</a:t>
                      </a:r>
                    </a:p>
                  </a:txBody>
                  <a:tcPr>
                    <a:solidFill>
                      <a:srgbClr val="FCEDEE"/>
                    </a:solidFill>
                  </a:tcPr>
                </a:tc>
              </a:tr>
            </a:tbl>
          </a:graphicData>
        </a:graphic>
      </p:graphicFrame>
      <p:sp>
        <p:nvSpPr>
          <p:cNvPr id="5" name="Rounded Rectangle 4"/>
          <p:cNvSpPr/>
          <p:nvPr/>
        </p:nvSpPr>
        <p:spPr>
          <a:xfrm>
            <a:off x="548640" y="5212080"/>
            <a:ext cx="11091672"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ook-open__E4002B.png"/>
          <p:cNvPicPr>
            <a:picLocks noChangeAspect="1"/>
          </p:cNvPicPr>
          <p:nvPr/>
        </p:nvPicPr>
        <p:blipFill>
          <a:blip r:embed="rId2"/>
          <a:stretch>
            <a:fillRect/>
          </a:stretch>
        </p:blipFill>
        <p:spPr>
          <a:xfrm>
            <a:off x="694944" y="5266944"/>
            <a:ext cx="219456" cy="219456"/>
          </a:xfrm>
          <a:prstGeom prst="rect">
            <a:avLst/>
          </a:prstGeom>
        </p:spPr>
      </p:pic>
      <p:sp>
        <p:nvSpPr>
          <p:cNvPr id="7" name="TextBox 6"/>
          <p:cNvSpPr txBox="1"/>
          <p:nvPr/>
        </p:nvSpPr>
        <p:spPr>
          <a:xfrm>
            <a:off x="1005840" y="5244084"/>
            <a:ext cx="10524744"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Galton (1886), J. Anthropological Institute 15:246-263 — Hanley (2004), The American Statistician 58(3):237-243</a:t>
            </a:r>
          </a:p>
        </p:txBody>
      </p:sp>
      <p:sp>
        <p:nvSpPr>
          <p:cNvPr id="8" name="Rounded Rectangle 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6.1, celda 64</a:t>
            </a:r>
          </a:p>
        </p:txBody>
      </p:sp>
      <p:sp>
        <p:nvSpPr>
          <p:cNvPr id="9" name="TextBox 8"/>
          <p:cNvSpPr txBox="1"/>
          <p:nvPr/>
        </p:nvSpPr>
        <p:spPr>
          <a:xfrm>
            <a:off x="548640" y="5742432"/>
            <a:ext cx="11091672" cy="292608"/>
          </a:xfrm>
          <a:prstGeom prst="rect">
            <a:avLst/>
          </a:prstGeom>
          <a:noFill/>
        </p:spPr>
        <p:txBody>
          <a:bodyPr wrap="square">
            <a:spAutoFit/>
          </a:bodyPr>
          <a:lstStyle/>
          <a:p>
            <a:r>
              <a:rPr sz="1000">
                <a:solidFill>
                  <a:srgbClr val="6E6E6E"/>
                </a:solidFill>
                <a:latin typeface="Calibri"/>
              </a:rPr>
              <a:t>resultados/S03_resultados.xlsx!regresion_galton (venv). Targets y tolerancias: REPLICACION_PAPER.md Sección 4.</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 ACADÉMICA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la regresión lineal simple</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An Introduction to Statistical Learning (ISLR), cap. 3.1 y 3.3</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James, Witten, Hastie &amp; Tibshirani (2021)  —  mínimos cuadrados, inferencia y problemas del ajuste.</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The Elements of Statistical Learning (ESL), cap. 3.2 — referencia</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Hastie, Tibshirani &amp; Friedman (2009)  —  Gauss-Markov y la geometría de la proyección.</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Regression Towards Mediocrity in Hereditary Stature</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Galton (1886), J. Anthropological Institute 15  —  el paper que nombró la regresión; la pendiente &lt; 1.</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Graphs in Statistical Analysis (cuarteto)</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Anscombe (1973), The American Statistician 27(1)  —  por qué siempre hay que graficar antes de concluir.</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Transmuting Women into Men: Galton's Family Data</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Hanley (2004), The American Statistician 58(3)  —  la transmutación por género (×1,08).</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CIERRE DEL JUEVES — MIN 175-180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jueves deja la recta ajustada y replicada</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Lo que ya se sabe</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es el modelo, cómo se obtiene
la recta y qué confianza merece.</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3.1 a 3.4</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ook-open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Lo que se replicó</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 pendiente de Galton, 0,6374,
sobre su base original.</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3.5</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it-branch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Mañana</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Cuándo confiar, cómo no engañarse
y qué decidir con la recta.</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3.6 a 3.9</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S03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