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86" r:id="rId29"/>
    <p:sldId id="258" r:id="rId10"/>
    <p:sldId id="259" r:id="rId11"/>
    <p:sldId id="287" r:id="rId30"/>
    <p:sldId id="260" r:id="rId12"/>
    <p:sldId id="261" r:id="rId13"/>
    <p:sldId id="288" r:id="rId31"/>
    <p:sldId id="265" r:id="rId17"/>
    <p:sldId id="266" r:id="rId18"/>
    <p:sldId id="267" r:id="rId19"/>
    <p:sldId id="289" r:id="rId32"/>
    <p:sldId id="270" r:id="rId22"/>
    <p:sldId id="271" r:id="rId23"/>
    <p:sldId id="272" r:id="rId24"/>
    <p:sldId id="273" r:id="rId25"/>
    <p:sldId id="274" r:id="rId26"/>
    <p:sldId id="275" r:id="rId27"/>
    <p:sldId id="290" r:id="rId33"/>
    <p:sldId id="262" r:id="rId14"/>
    <p:sldId id="263" r:id="rId15"/>
    <p:sldId id="264" r:id="rId16"/>
    <p:sldId id="268" r:id="rId20"/>
    <p:sldId id="269" r:id="rId21"/>
    <p:sldId id="285" r:id="rId37"/>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21.xml"/><Relationship Id="rId15" Type="http://schemas.openxmlformats.org/officeDocument/2006/relationships/slide" Target="slides/slide22.xml"/><Relationship Id="rId16" Type="http://schemas.openxmlformats.org/officeDocument/2006/relationships/slide" Target="slides/slide23.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24.xml"/><Relationship Id="rId21" Type="http://schemas.openxmlformats.org/officeDocument/2006/relationships/slide" Target="slides/slide25.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9" Type="http://schemas.openxmlformats.org/officeDocument/2006/relationships/slide" Target="slides/slide3.xml"/><Relationship Id="rId30" Type="http://schemas.openxmlformats.org/officeDocument/2006/relationships/slide" Target="slides/slide6.xml"/><Relationship Id="rId31" Type="http://schemas.openxmlformats.org/officeDocument/2006/relationships/slide" Target="slides/slide9.xml"/><Relationship Id="rId32" Type="http://schemas.openxmlformats.org/officeDocument/2006/relationships/slide" Target="slides/slide13.xml"/><Relationship Id="rId33" Type="http://schemas.openxmlformats.org/officeDocument/2006/relationships/slide" Target="slides/slide20.xml"/><Relationship Id="rId37"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sesión que cierra el arco de clasificación de la Unidad 2. Promesa: distinguir el enfoque GENERATIVO (LDA/QDA, Naive Bayes) del discriminativo, y aprender a decidir cuando una clase es muy poco frecuente (fraude 99:1), donde la exactitud induce a error. Se asume KNN y SVM como prerequisito de IA I (solo se referencian). Método del deck: cada cifra se muestra contra su fuente y se LEE del Excel de resultados (fidelidad verificada). El botón «Abrir en Colab» lleva al cuaderno de la sesión. [Jueves]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Recorrer el viaje como cuatro actos con pulso Contexto → Evidencia → Decisión. Acto 1: el enfoque generativo y la paradoja de la exactitud. Acto 2: LDA, QDA y Naive Bayes replicando a Fisher sobre Iris. Acto 3: el caso real de fraude, donde la clase positiva es 0,17 %, la exactitud induce a error y PR-AUC es la métrica honesta. Acto 4: tratar el desbalance (SMOTE y alternativas), elegir el campeón por PR-AUC y fijar el umbral con el costo en dinero. Entregable evaluable: un benchmark reproducible de clasificadores. [Jueves]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primer acto. Antes de clasificar el fraude hay que construir el instrumental. Dos familias: la GENERATIVA (modela cómo se generan los datos de cada clase) y la DISCRIMINATIVA (modela solo la frontera). LDA, QDA y Naive Bayes son generativos. [Jueves, capítulo 10.1]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Golpe de apertura. Sobre el dataset de fraude ULB (284 807 transacciones, 492 fraudes), un clasificador trivial que predice «todo legítimo» obtiene accuracy 99,83% y recall de fraude EXACTAMENTE 0 (no detecta nada). Es la demostración canónica de que la accuracy no sirve en desbalance. Dejar la tensión abierta: la sesión enseñará por qué pasa y cómo evitarlo. Excel!clasificadores_iris B14. [Jueves, capítulo 10.1]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el eje de la sesión. El clasificador GENERATIVO modela la verosimilitud P(x|clase) y el prior P(clase), y aplica Bayes: P(clase|x) proporcional a P(x|clase)·P(clase). El DISCRIMINATIVO modela directamente P(clase|x) o la frontera (la logística de S09). Regla práctica: el generativo arranca bien con pocos datos y permite simular perfiles; el discriminativo suele dar mejor frontera con volumen. Fuente: DEFINICIONES Secciones 1-2. [Jueves, capítulo 10.2]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Concretar la intuición generativa. Se estima una gaussiana por especie (media y dispersión) sobre el largo del pétalo. Para clasificar una flor, Bayes compara las densidades y elige la clase de mayor posterior. LDA/QDA hacen esto en varias dimensiones; Naive Bayes lo simplifica asumiendo variables independientes. [Jueves, capítulo 10.2]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segundo acto sobre los tres clasificadores generativos, replicando el paper fundacional de Fisher (1936) sobre las 150 flores de Iris. Se verá qué son, qué frontera trazan y con qué precisión reproducen el resultado histórico. [Jueves, capítulo 10.5]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cualquier número. Fisher NO se propuso inventar un clasificador ni fabricar un dataset de práctica: el principio ya estaba en uso en su entorno (E. S. Martin lo aplicó a diferencias de sexo en medidas de la mandíbula; Mildred Barnard, a la tendencia secular de una serie de cráneos datados). Este artículo lo lleva a un problema TAXONÓMICO y discute su precisión. Son dos preguntas: ¿puede decidirse la especie de un ejemplar SOLO con las medidas (p. 182)?, y ¿con qué precisión, si la dirección se eligió justo para que la separación fuese máxima? Y lo que estaba en juego no era clasificar flores: Randolph (1934) había contado los cromosomas de las tres especies y Anderson sugirió que I. versicolor podía ser un HÍBRIDO POLIPLOIDE de las otras dos, que bajo genes aditivos caería a dos tercios del camino entre ellas (p. 185). Preguntar al aula: '¿por qué necesitaba un número y no le bastaba mirar las flores?'. Fuente: REPLICACION_PAPER.md Sección 0.1. [Jueves, capítulo 10.5]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slide que enseña a ELEGIR un método, no solo a aplicarlo. Recorrer las tres tarjetas y detenerse en la primera: el ancho de sépalo tiene la diferencia entre especies MÁS PEQUEÑA de las cuatro y además de signo contrario (-0,658 cm, Tabla II del paper), y aun así recibe el SEGUNDO peso más grande del compuesto, +5,9037 frente al 1 del largo de sépalo (p. 182). Una variable que por sí sola apunta al revés resulta valiosa EN COMPAÑÍA, porque corrige la variación conjunta de las demás. Conclusión de negocio, directa al proyecto: quien criba predictores de uno en uno por su correlación individual con el target descarta variables que solo valen acompañadas. Añadir la cuarta decisión, que no cabe en las tarjetas: Fisher corrigió los GRADOS DE LIBERTAD antes de declarar significativa la separación (4 en la regresión, 95 en el residuo, z = 3,2183, p. 185) porque la dirección se había elegido para maximizarla. No tenía evaluación fuera de muestra: de esa cautela de 1936 desciende la validación cruzada estratificada del laboratorio. Fuente: REPLICACION_PAPER.md Secciones 0.2 y 0.3. [Jueves, capítulo 10.5]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Las tres familias generativas. LDA asume una única matriz de covarianza compartida -&gt; frontera LINEAL (la proyección de Fisher que maximiza la separación entre clases). QDA da a cada clase su covarianza -&gt; frontera CUADRÁTICA, más flexible pero más hambrienta de datos. Naive Bayes asume independencia condicional: casi nunca es cierto, pero clasifica bien porque lo que importa es el ORDEN de las posteriores, no su valor exacto. [Jueves, capítulo 10.3]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Mostrar que ajustar los tres generativos son pocas líneas y que el protocolo es idéntico para los tres (StratifiedKFold de 5 folds, semilla 42). Resultado OPERATIVO del venv: LDA 0,9733, QDA 0,98, GaussianNB 0,9467. CAUTELA: la brecha LDA vs QDA (0,0067) cabe DENTRO del ruido -&gt; la dispersión entre folds es ±0,0389 (LDA) / ±0,0267 (QDA), ~6x la brecha; QDA no supera a LDA de forma real, se prefiere LDA por simplicidad. REGLA DE ORO: el benchmark publicado (0,978 / 0,973 con RepeatedStratifiedKFold, otro pipeline) se cita ETIQUETADO, nunca mezclado como propio; cae dentro de la tolerancia. Fuente: notebook celda 36; Excel B2, B3, B7. [Jueves, capítulo 10.3]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Comparar visualmente sobre largo × ancho de pétalo. LDA traza una RECTA (covarianzas iguales); QDA, una CURVA (una covarianza por clase). La forma de la frontera ES el supuesto hecho geometría. Regla de elección: si LDA y QDA rinden parecido, se prefiere LDA (más simple, menos varianza); QDA solo si mejora clara y consistentemente. [Jueves, capítulo 10.3]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hallazgo histórico de Fisher, reproducido hoy en sklearn. Sobre los dos ejes discriminantes, setosa queda completamente separada (linealmente separable) mientras versicolor y virginica se solapan. La accuracy de LDA en validación estratificada (5 folds, semilla 42) es 0,9733: reproduce el resultado de 1936. EN EL PAPER: Fisher (1936) funda el análisis discriminante lineal. Datos: Excel!iris_proyeccion_lda. [Jueves, capítulo 10.5]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prueba numérica sobre el holdout estratificado 30 % (45 flores). Cada fila es la clase real; cada columna, la predicha; la diagonal son aciertos. Setosa: 0 errores (separable, como en Fisher). Único fallo: una virginica clasificada como versicolor (las dos clases que se solapan). La matriz LOCALIZA el problema, no solo lo cuenta. Datos: Excel!iris_confusion_lda (B12, B13). [Jueves, capítulo 10.5]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Salto del laboratorio limpio (Iris balanceado) al mundo real. En fraude, enfermedad o abandono, la clase de interés es muy poco frecuente. Ahí las herramientas del acto anterior se enfrentan a la paradoja de la apertura: hay que cambiar de métrica. [Jueves, capítulo 10.4]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Dimensionar el desbalance. 492 fraudes entre 284 807 transacciones = 0,17% de la clase positiva (≈578:1, que en el discurso se redondea a «99:1»). El modelo aprende que decir «todo bien» casi siempre acierta, así que ignora a la clase rara —que es justo la que cuesta dinero—. Diagnosticar y tratar el desbalance es el núcleo del caso de negocio. [Jueves, capítulo 10.4]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de discusión. Dar 3 minutos y levantar respuestas. Guiar: en desbalance, «99,8 % de acierto» puede significar CERO detecciones. Antes de aprobar un modelo hay que fijar la métrica correcta (recall, precisión, F1, PR-AUC) y mirar la matriz de confusión de la clase rara, nunca la accuracy global. [Jueves, capítulo 10.4]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matriz de confusión sobre la clase positiva (fraude), con conteos exactos del test (umbral 0,5). VP 91, FP 16, FN 57, VN 85 279. PRECISIÓN = VP/(VP+FP) = 91 de 107 = 0,8505 (de las alertas, cuántas eran fraude). RECALL = VP/(VP+FN) = 91 de 148 = 0,6149 (de los fraudes, cuántos se detectaron; 38 % no se detectaron). El error MÁS COSTOSO son los FN: fraude no detectado. Datos: Excel!fraude_confusion. [Jueves, capítulo 10.4]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la métrica de decisión de la sesión. El PR-AUC (average precision) es el área bajo la curva precisión-recall; resume el modelo a través de TODOS los umbrales mirando solo la clase rara. Su línea base NO es 0,5 sino la prevalencia (≈0,0017). Contraste: el ROC-AUC 0,9567 aparenta ser excelente porque la FPR diluye los falsos positivos entre ~284 000 legítimas; el PR-AUC 0,708 sí penaliza que muchas alertas sean falsas. [Jueves, capítulo 10.4]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Misma logística base, dos lecturas. El ROC-AUC (0,9567) permanece alto porque la tasa de falsos positivos se diluye entre ~284 000 legítimas. El PR-AUC / average precision (0,708) sí penaliza que muchas alertas sean falsas: es el número HONESTO en 99:1. En desbalance se compara y se elige por PR-AUC, y el ROC-AUC se reporta solo como contexto. [Jueves, capítulo 10.4]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10.1. Se enuncia la pregunta tal como aparece en el sílabo, la ficha, el cuaderno y la guía: es el mismo código en todos. [Jueves, capítulo 10.1]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10.2. Se enuncia la pregunta tal como aparece en el sílabo, la ficha, el cuaderno y la guía: es el mismo código en todos. [Jueves, capítulo 10.2]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10.3. Se enuncia la pregunta tal como aparece en el sílabo, la ficha, el cuaderno y la guía: es el mismo código en todos. [Jueves, capítulo 10.3]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10.4. Se enuncia la pregunta tal como aparece en el sílabo, la ficha, el cuaderno y la guía: es el mismo código en todos. [Jueves, capítulo 10.4]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10.5. Se enuncia la pregunta tal como aparece en el sílabo, la ficha, el cuaderno y la guía: es el mismo código en todos. [Jueves, capítulo 10.5]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académica. Fisher funda el LDA (paper de la réplica); Domingos &amp; Pazzani explican por qué Naive Bayes funciona pese a violar la independencia; Chawla introduce SMOTE; Saito &amp; Rehmsmeier justifican PR-AUC sobre ROC en desbalance; He &amp; Garcia dan el panorama. Todo con enlaces libres en el cuaderno, sección «Para seguir explorando». Lectura de texto: ISLR cap. 4.4-4.5. [Jueves]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10_clasificadores_clasicos/notebook/S10_clasificadores_clasicos.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7.png"/><Relationship Id="rId4"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S10</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Clasificar cuando una clase casi no existe</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Clasificadores generativos (LDA, QDA, Naive Bayes) y el desbalance de clases</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CAPÍTULOS 10.1 A 10.5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bas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10.1</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qué la regresión logística no siempre es el mejor clasificador?</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column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10.2</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distingue un modelo generativo de uno discriminativo?</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riangle-alert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10.3</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clasifica cada uno de estos métodos?</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65-95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rending-up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10.4 y 10.5</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mide cuando una clase representa el 1 % de los casos? ¿Se sostiene con datos reales? La réplica de Fisher (1936)</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110-180</a:t>
            </a:r>
          </a:p>
        </p:txBody>
      </p:sp>
      <p:sp>
        <p:nvSpPr>
          <p:cNvPr id="28" name="Rounded Rectangle 27"/>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la regresión logística no siempre es el mejor clasificador?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10.1 — jueves, bloques A1 y A2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la regresión logística no siempre es el mejor clasificador?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¿Por qué la regresión logística no siempre es el mejor clasificador?</a:t>
            </a:r>
          </a:p>
        </p:txBody>
      </p:sp>
      <p:pic>
        <p:nvPicPr>
          <p:cNvPr id="5" name="Picture 4" descr="database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99,83%</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de exactitud sin detectar un solo fraude</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Un modelo que siempre predice «legítimo» acierta el 99,83% y detecta 0 fraudes. La exactitud induce a error cuando una clase es rara.</a:t>
            </a:r>
          </a:p>
        </p:txBody>
      </p:sp>
      <p:pic>
        <p:nvPicPr>
          <p:cNvPr id="5" name="Picture 4" descr="triangle-alert__E4002B.png"/>
          <p:cNvPicPr>
            <a:picLocks noChangeAspect="1"/>
          </p:cNvPicPr>
          <p:nvPr/>
        </p:nvPicPr>
        <p:blipFill>
          <a:blip r:embed="rId2"/>
          <a:stretch>
            <a:fillRect/>
          </a:stretch>
        </p:blipFill>
        <p:spPr>
          <a:xfrm>
            <a:off x="6766560" y="1325880"/>
            <a:ext cx="658368" cy="658368"/>
          </a:xfrm>
          <a:prstGeom prst="rect">
            <a:avLst/>
          </a:prstGeom>
        </p:spPr>
      </p:pic>
      <p:sp>
        <p:nvSpPr>
          <p:cNvPr id="6" name="Rounded Rectangle 5"/>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 7, celda 47</a:t>
            </a:r>
          </a:p>
        </p:txBody>
      </p:sp>
      <p:sp>
        <p:nvSpPr>
          <p:cNvPr id="7" name="TextBox 6"/>
          <p:cNvSpPr txBox="1"/>
          <p:nvPr/>
        </p:nvSpPr>
        <p:spPr>
          <a:xfrm>
            <a:off x="548640" y="5806440"/>
            <a:ext cx="11094720" cy="292608"/>
          </a:xfrm>
          <a:prstGeom prst="rect">
            <a:avLst/>
          </a:prstGeom>
          <a:noFill/>
        </p:spPr>
        <p:txBody>
          <a:bodyPr wrap="square">
            <a:spAutoFit/>
          </a:bodyPr>
          <a:lstStyle/>
          <a:p>
            <a:r>
              <a:rPr sz="1000">
                <a:solidFill>
                  <a:srgbClr val="6E6E6E"/>
                </a:solidFill>
                <a:latin typeface="Calibri"/>
              </a:rPr>
              <a:t>Paradoja de la accuracy — 1 − 492/284 807 (aritmética exacta). resultados/S10_resultados.xlsx!clasificadores_iris (B14).</a:t>
            </a:r>
          </a:p>
        </p:txBody>
      </p:sp>
      <p:sp>
        <p:nvSpPr>
          <p:cNvPr id="8" name="Oval 7"/>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10" name="TextBox 9"/>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distingue un modelo generativo de uno discriminativo?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10.2 — jueves, bloques A1 y A2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DEFINICIÓN, ISLR CAP. 4.4-4.5, DEFINICIONES SECCIÓN 1</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generativo simula; el discriminativo separa</a:t>
            </a:r>
          </a:p>
        </p:txBody>
      </p:sp>
      <p:sp>
        <p:nvSpPr>
          <p:cNvPr id="4" name="Oval 3"/>
          <p:cNvSpPr/>
          <p:nvPr/>
        </p:nvSpPr>
        <p:spPr>
          <a:xfrm>
            <a:off x="54864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G</a:t>
            </a:r>
          </a:p>
        </p:txBody>
      </p:sp>
      <p:sp>
        <p:nvSpPr>
          <p:cNvPr id="5" name="TextBox 4"/>
          <p:cNvSpPr txBox="1"/>
          <p:nvPr/>
        </p:nvSpPr>
        <p:spPr>
          <a:xfrm>
            <a:off x="114300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Generativo</a:t>
            </a:r>
          </a:p>
        </p:txBody>
      </p:sp>
      <p:sp>
        <p:nvSpPr>
          <p:cNvPr id="6" name="TextBox 5"/>
          <p:cNvSpPr txBox="1"/>
          <p:nvPr/>
        </p:nvSpPr>
        <p:spPr>
          <a:xfrm>
            <a:off x="62179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Modela P(x|clase) y el prior</a:t>
            </a:r>
          </a:p>
          <a:p>
            <a:pPr algn="l">
              <a:spcAft>
                <a:spcPts val="900"/>
              </a:spcAft>
            </a:pPr>
            <a:r>
              <a:rPr sz="1400">
                <a:solidFill>
                  <a:srgbClr val="2D2D2D"/>
                </a:solidFill>
                <a:latin typeface="Calibri"/>
              </a:rPr>
              <a:t>Aplica el teorema de Bayes</a:t>
            </a:r>
          </a:p>
          <a:p>
            <a:pPr algn="l">
              <a:spcAft>
                <a:spcPts val="900"/>
              </a:spcAft>
            </a:pPr>
            <a:r>
              <a:rPr sz="1400">
                <a:solidFill>
                  <a:srgbClr val="2D2D2D"/>
                </a:solidFill>
                <a:latin typeface="Calibri"/>
              </a:rPr>
              <a:t>LDA, QDA y Naive Bayes</a:t>
            </a:r>
          </a:p>
          <a:p>
            <a:pPr algn="l">
              <a:spcAft>
                <a:spcPts val="900"/>
              </a:spcAft>
            </a:pPr>
            <a:r>
              <a:rPr sz="1400">
                <a:solidFill>
                  <a:srgbClr val="2D2D2D"/>
                </a:solidFill>
                <a:latin typeface="Calibri"/>
              </a:rPr>
              <a:t>Sirve bien con pocos datos</a:t>
            </a:r>
          </a:p>
        </p:txBody>
      </p:sp>
      <p:sp>
        <p:nvSpPr>
          <p:cNvPr id="7" name="Oval 6"/>
          <p:cNvSpPr/>
          <p:nvPr/>
        </p:nvSpPr>
        <p:spPr>
          <a:xfrm>
            <a:off x="630936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D</a:t>
            </a:r>
          </a:p>
        </p:txBody>
      </p:sp>
      <p:sp>
        <p:nvSpPr>
          <p:cNvPr id="8" name="TextBox 7"/>
          <p:cNvSpPr txBox="1"/>
          <p:nvPr/>
        </p:nvSpPr>
        <p:spPr>
          <a:xfrm>
            <a:off x="690372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Discriminativo</a:t>
            </a:r>
          </a:p>
        </p:txBody>
      </p:sp>
      <p:sp>
        <p:nvSpPr>
          <p:cNvPr id="9" name="TextBox 8"/>
          <p:cNvSpPr txBox="1"/>
          <p:nvPr/>
        </p:nvSpPr>
        <p:spPr>
          <a:xfrm>
            <a:off x="638251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Modela P(clase|x) directo</a:t>
            </a:r>
          </a:p>
          <a:p>
            <a:pPr algn="l">
              <a:spcAft>
                <a:spcPts val="900"/>
              </a:spcAft>
            </a:pPr>
            <a:r>
              <a:rPr sz="1400">
                <a:solidFill>
                  <a:srgbClr val="2D2D2D"/>
                </a:solidFill>
                <a:latin typeface="Calibri"/>
              </a:rPr>
              <a:t>Describe solo la frontera</a:t>
            </a:r>
          </a:p>
          <a:p>
            <a:pPr algn="l">
              <a:spcAft>
                <a:spcPts val="900"/>
              </a:spcAft>
            </a:pPr>
            <a:r>
              <a:rPr sz="1400">
                <a:solidFill>
                  <a:srgbClr val="2D2D2D"/>
                </a:solidFill>
                <a:latin typeface="Calibri"/>
              </a:rPr>
              <a:t>La regresión logística (S09)</a:t>
            </a:r>
          </a:p>
          <a:p>
            <a:pPr algn="l">
              <a:spcAft>
                <a:spcPts val="900"/>
              </a:spcAft>
            </a:pPr>
            <a:r>
              <a:rPr sz="1400">
                <a:solidFill>
                  <a:srgbClr val="2D2D2D"/>
                </a:solidFill>
                <a:latin typeface="Calibri"/>
              </a:rPr>
              <a:t>Mejor frontera con más datos</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3.1, celda 10</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EVIDENCIA — VISIÓN GENERATIVA (UNA GAUSSIANA POR CLASE)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Cada especie es una campana y Bayes elige la mayor</a:t>
            </a:r>
          </a:p>
        </p:txBody>
      </p:sp>
      <p:pic>
        <p:nvPicPr>
          <p:cNvPr id="4" name="Picture 3" descr="deck_demo_generativo_gaussianas.png"/>
          <p:cNvPicPr>
            <a:picLocks noChangeAspect="1"/>
          </p:cNvPicPr>
          <p:nvPr/>
        </p:nvPicPr>
        <p:blipFill>
          <a:blip r:embed="rId2"/>
          <a:stretch>
            <a:fillRect/>
          </a:stretch>
        </p:blipFill>
        <p:spPr>
          <a:xfrm>
            <a:off x="548640" y="1828800"/>
            <a:ext cx="6949440" cy="2962752"/>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Cada especie se modela como una gaussiana. La regla de Bayes asigna cada punto a la clase de mayor probabilidad posterior.</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Regla de Bayes (ISLR 4.4) — figura del notebook S10 (demo generativa).</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3.1, celda 12</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clasifica cada uno de estos métodos?</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10.3 — jueves, bloques A1 y A2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DEFINICIONES, ISLR 4.4-4.5, FISHER (1936), DOMINGOS &amp; PAZZANI (1997)</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LDA traza rectas, QDA curvas y Naive Bayes asume independencia</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column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LDA — covarianza igual, frontera recta</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Una gaussiana por clase con la misma covarianza. Estable e interpretable; sirve con pocos datos.</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earch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QDA — una covarianza por clase, frontera curva</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Más flexible que LDA, pero estima más parámetros: necesita más datos y puede sobreajustar.</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atabase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Naive Bayes — asume variables independientes</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Muy rápido y escalable. Clasifica bien aunque el supuesto se viole (Domingos &amp; Pazzani).</a:t>
            </a:r>
          </a:p>
        </p:txBody>
      </p:sp>
      <p:sp>
        <p:nvSpPr>
          <p:cNvPr id="16" name="Rounded Rectangle 15"/>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3.2, celda 15</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 SKLEARN (DISCRIMINANT_ANALYSIS / NAIVE_BAYES)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validación cruzada reproduce a Fisher</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mide la accuracy de LDA, QDA y Naive Bayes por validación cruzada estratificada (5 folds, semilla 42).</a:t>
            </a:r>
          </a:p>
        </p:txBody>
      </p:sp>
      <p:sp>
        <p:nvSpPr>
          <p:cNvPr id="5" name="Rounded Rectangle 4"/>
          <p:cNvSpPr/>
          <p:nvPr/>
        </p:nvSpPr>
        <p:spPr>
          <a:xfrm>
            <a:off x="548640" y="2395728"/>
            <a:ext cx="11094720" cy="298094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237744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cv = StratifiedKFold(n_splits=5, shuffle=True, random_state=42)</a:t>
            </a:r>
          </a:p>
          <a:p>
            <a:pPr>
              <a:lnSpc>
                <a:spcPct val="130000"/>
              </a:lnSpc>
              <a:spcAft>
                <a:spcPts val="400"/>
              </a:spcAft>
            </a:pPr>
            <a:r>
              <a:rPr sz="1200">
                <a:solidFill>
                  <a:srgbClr val="2D2D2D"/>
                </a:solidFill>
                <a:latin typeface="Consolas"/>
              </a:rPr>
              <a:t>acc_lda = cross_val_score(LinearDiscriminantAnalysis(),   X, y, cv=cv).mean()</a:t>
            </a:r>
          </a:p>
          <a:p>
            <a:pPr>
              <a:lnSpc>
                <a:spcPct val="130000"/>
              </a:lnSpc>
              <a:spcAft>
                <a:spcPts val="400"/>
              </a:spcAft>
            </a:pPr>
            <a:r>
              <a:rPr sz="1200">
                <a:solidFill>
                  <a:srgbClr val="2D2D2D"/>
                </a:solidFill>
                <a:latin typeface="Consolas"/>
              </a:rPr>
              <a:t>acc_qda = cross_val_score(QuadraticDiscriminantAnalysis(), X, y, cv=cv).mean()</a:t>
            </a:r>
          </a:p>
          <a:p>
            <a:pPr>
              <a:lnSpc>
                <a:spcPct val="130000"/>
              </a:lnSpc>
              <a:spcAft>
                <a:spcPts val="400"/>
              </a:spcAft>
            </a:pPr>
            <a:r>
              <a:rPr sz="1200">
                <a:solidFill>
                  <a:srgbClr val="2D2D2D"/>
                </a:solidFill>
                <a:latin typeface="Consolas"/>
              </a:rPr>
              <a:t>acc_gnb = cross_val_score(GaussianNB(),                    X, y, cv=cv).mean()</a:t>
            </a:r>
          </a:p>
          <a:p>
            <a:pPr>
              <a:lnSpc>
                <a:spcPct val="130000"/>
              </a:lnSpc>
              <a:spcAft>
                <a:spcPts val="400"/>
              </a:spcAft>
            </a:pPr>
            <a:r>
              <a:rPr sz="1200">
                <a:solidFill>
                  <a:srgbClr val="2D2D2D"/>
                </a:solidFill>
                <a:latin typeface="Consolas"/>
              </a:rPr>
              <a:t>print(round(acc_lda, 4), round(acc_qda, 2), round(acc_gnb, 4))</a:t>
            </a:r>
          </a:p>
          <a:p>
            <a:pPr>
              <a:lnSpc>
                <a:spcPct val="130000"/>
              </a:lnSpc>
              <a:spcAft>
                <a:spcPts val="400"/>
              </a:spcAft>
            </a:pPr>
            <a:r>
              <a:rPr sz="1200">
                <a:solidFill>
                  <a:srgbClr val="2D2D2D"/>
                </a:solidFill>
                <a:latin typeface="Consolas"/>
              </a:rPr>
              <a:t># -&gt; 0.9733  0.98  0.9467   (operativo, semilla 42)</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celda 36 (Paso 2, accuracy CV). Operativo (venv) frente al benchmark publicado 0,978 / 0,973 (RepeatedStratifiedKFold), ETIQUETADO — Excel!clasificadores_iris (B2, B3, B7).</a:t>
            </a:r>
          </a:p>
        </p:txBody>
      </p:sp>
      <p:sp>
        <p:nvSpPr>
          <p:cNvPr id="9" name="Rounded Rectangle 8"/>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 2, celda 36</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EVIDENCIA — FRONTERA DE DECISIÓN (LDA VS QDA)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forma de la frontera revela el supuesto</a:t>
            </a:r>
          </a:p>
        </p:txBody>
      </p:sp>
      <p:pic>
        <p:nvPicPr>
          <p:cNvPr id="4" name="Picture 3" descr="deck_iris_fronteras_lda_qda.png"/>
          <p:cNvPicPr>
            <a:picLocks noChangeAspect="1"/>
          </p:cNvPicPr>
          <p:nvPr/>
        </p:nvPicPr>
        <p:blipFill>
          <a:blip r:embed="rId2"/>
          <a:stretch>
            <a:fillRect/>
          </a:stretch>
        </p:blipFill>
        <p:spPr>
          <a:xfrm>
            <a:off x="548640" y="1828800"/>
            <a:ext cx="6949440" cy="2888134"/>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La frontera es donde cambia la clase predicha. Recta ⇔ covarianzas iguales (LDA); curva ⇔ una covarianza por clase (QDA).</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Frontera de decisión: scikit-learn (LDA/QDA). Datos: resultados/S10_resultados.xlsx!iris_frontera_puntos.</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Fig 2, celda 68</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mide cuando una clase representa el 1 % de los casos?</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10.4 — jueves, bloques A1 y A2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mide cuando una clase representa el 1 % de los casos?</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¿Cómo se mide cuando una clase representa el 1 % de los casos?</a:t>
            </a:r>
          </a:p>
        </p:txBody>
      </p:sp>
      <p:pic>
        <p:nvPicPr>
          <p:cNvPr id="5" name="Picture 4" descr="triangle-alert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0,17%</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es la clase que importa: apenas 492 fraudes</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Solo 492 fraudes entre 284 807 transacciones (0,17%). El modelo favorece a la mayoría e ignora a la clase rara, la que cuesta dinero.</a:t>
            </a:r>
          </a:p>
        </p:txBody>
      </p:sp>
      <p:pic>
        <p:nvPicPr>
          <p:cNvPr id="5" name="Picture 4" descr="database__E4002B.png"/>
          <p:cNvPicPr>
            <a:picLocks noChangeAspect="1"/>
          </p:cNvPicPr>
          <p:nvPr/>
        </p:nvPicPr>
        <p:blipFill>
          <a:blip r:embed="rId2"/>
          <a:stretch>
            <a:fillRect/>
          </a:stretch>
        </p:blipFill>
        <p:spPr>
          <a:xfrm>
            <a:off x="6766560" y="1325880"/>
            <a:ext cx="658368" cy="658368"/>
          </a:xfrm>
          <a:prstGeom prst="rect">
            <a:avLst/>
          </a:prstGeom>
        </p:spPr>
      </p:pic>
      <p:sp>
        <p:nvSpPr>
          <p:cNvPr id="6" name="Rounded Rectangle 5"/>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 6, celda 45</a:t>
            </a:r>
          </a:p>
        </p:txBody>
      </p:sp>
      <p:sp>
        <p:nvSpPr>
          <p:cNvPr id="7" name="TextBox 6"/>
          <p:cNvSpPr txBox="1"/>
          <p:nvPr/>
        </p:nvSpPr>
        <p:spPr>
          <a:xfrm>
            <a:off x="548640" y="5806440"/>
            <a:ext cx="11094720" cy="292608"/>
          </a:xfrm>
          <a:prstGeom prst="rect">
            <a:avLst/>
          </a:prstGeom>
          <a:noFill/>
        </p:spPr>
        <p:txBody>
          <a:bodyPr wrap="square">
            <a:spAutoFit/>
          </a:bodyPr>
          <a:lstStyle/>
          <a:p>
            <a:r>
              <a:rPr sz="1000">
                <a:solidFill>
                  <a:srgbClr val="6E6E6E"/>
                </a:solidFill>
                <a:latin typeface="Calibri"/>
              </a:rPr>
              <a:t>Desbalance de clases, He &amp; Garcia (2009), IEEE TKDE 21(9). Dataset ULB/Worldline, prevalencia = 1 − acc_trivial — Excel!clasificadores_iris (B14).</a:t>
            </a:r>
          </a:p>
        </p:txBody>
      </p:sp>
      <p:sp>
        <p:nvSpPr>
          <p:cNvPr id="8" name="Oval 7"/>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10" name="TextBox 9"/>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¿Aprobarías un modelo con 99,8 % de acierto?</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en parejas (3 min): con la paradoja en mente, decidir qué métrica exigir antes de aprobar un clasificador.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CLASE POSITIVA = FRAUDE, UMBRAL 0,5, CONTEOS DEL TEST</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matriz de confusión localiza el error caro</a:t>
            </a:r>
          </a:p>
        </p:txBody>
      </p:sp>
      <p:sp>
        <p:nvSpPr>
          <p:cNvPr id="4" name="TextBox 3"/>
          <p:cNvSpPr txBox="1"/>
          <p:nvPr/>
        </p:nvSpPr>
        <p:spPr>
          <a:xfrm>
            <a:off x="548640" y="1627632"/>
            <a:ext cx="11094720" cy="320040"/>
          </a:xfrm>
          <a:prstGeom prst="rect">
            <a:avLst/>
          </a:prstGeom>
          <a:noFill/>
        </p:spPr>
        <p:txBody>
          <a:bodyPr wrap="square" anchor="t" lIns="0" rIns="0" tIns="0" bIns="0">
            <a:spAutoFit/>
          </a:bodyPr>
          <a:lstStyle/>
          <a:p>
            <a:pPr algn="l">
              <a:lnSpc>
                <a:spcPct val="110000"/>
              </a:lnSpc>
            </a:pPr>
            <a:r>
              <a:rPr sz="1300" b="0">
                <a:solidFill>
                  <a:srgbClr val="2D2D2D"/>
                </a:solidFill>
                <a:latin typeface="Calibri"/>
              </a:rPr>
              <a:t>Recall = 91 de 148 (0,6149) — precisión = 91 de 107 (0,8505). El costo real está en los 57 FN.</a:t>
            </a:r>
          </a:p>
        </p:txBody>
      </p:sp>
      <p:sp>
        <p:nvSpPr>
          <p:cNvPr id="5" name="TextBox 4"/>
          <p:cNvSpPr txBox="1"/>
          <p:nvPr/>
        </p:nvSpPr>
        <p:spPr>
          <a:xfrm>
            <a:off x="2331720" y="2084831"/>
            <a:ext cx="8759952" cy="274320"/>
          </a:xfrm>
          <a:prstGeom prst="rect">
            <a:avLst/>
          </a:prstGeom>
          <a:noFill/>
        </p:spPr>
        <p:txBody>
          <a:bodyPr wrap="square" anchor="t" lIns="0" rIns="0" tIns="0" bIns="0">
            <a:spAutoFit/>
          </a:bodyPr>
          <a:lstStyle/>
          <a:p>
            <a:pPr algn="ctr"/>
            <a:r>
              <a:rPr sz="1300" b="1">
                <a:solidFill>
                  <a:srgbClr val="9B1B30"/>
                </a:solidFill>
                <a:latin typeface="Calibri"/>
              </a:rPr>
              <a:t>PREDICCIÓN DEL MODELO</a:t>
            </a:r>
          </a:p>
        </p:txBody>
      </p:sp>
      <p:sp>
        <p:nvSpPr>
          <p:cNvPr id="6" name="TextBox 5"/>
          <p:cNvSpPr txBox="1"/>
          <p:nvPr/>
        </p:nvSpPr>
        <p:spPr>
          <a:xfrm>
            <a:off x="2331720" y="2377440"/>
            <a:ext cx="4251960" cy="310896"/>
          </a:xfrm>
          <a:prstGeom prst="rect">
            <a:avLst/>
          </a:prstGeom>
          <a:noFill/>
        </p:spPr>
        <p:txBody>
          <a:bodyPr wrap="square" anchor="t" lIns="0" rIns="0" tIns="0" bIns="0">
            <a:spAutoFit/>
          </a:bodyPr>
          <a:lstStyle/>
          <a:p>
            <a:pPr algn="ctr"/>
            <a:r>
              <a:rPr sz="1300" b="1">
                <a:solidFill>
                  <a:srgbClr val="2D2D2D"/>
                </a:solidFill>
                <a:latin typeface="Calibri"/>
              </a:rPr>
              <a:t>Legítima</a:t>
            </a:r>
          </a:p>
        </p:txBody>
      </p:sp>
      <p:sp>
        <p:nvSpPr>
          <p:cNvPr id="7" name="TextBox 6"/>
          <p:cNvSpPr txBox="1"/>
          <p:nvPr/>
        </p:nvSpPr>
        <p:spPr>
          <a:xfrm>
            <a:off x="6839712" y="2377440"/>
            <a:ext cx="4251960" cy="310896"/>
          </a:xfrm>
          <a:prstGeom prst="rect">
            <a:avLst/>
          </a:prstGeom>
          <a:noFill/>
        </p:spPr>
        <p:txBody>
          <a:bodyPr wrap="square" anchor="t" lIns="0" rIns="0" tIns="0" bIns="0">
            <a:spAutoFit/>
          </a:bodyPr>
          <a:lstStyle/>
          <a:p>
            <a:pPr algn="ctr"/>
            <a:r>
              <a:rPr sz="1300" b="1">
                <a:solidFill>
                  <a:srgbClr val="2D2D2D"/>
                </a:solidFill>
                <a:latin typeface="Calibri"/>
              </a:rPr>
              <a:t>Fraude</a:t>
            </a:r>
          </a:p>
        </p:txBody>
      </p:sp>
      <p:sp>
        <p:nvSpPr>
          <p:cNvPr id="8" name="TextBox 7"/>
          <p:cNvSpPr txBox="1"/>
          <p:nvPr/>
        </p:nvSpPr>
        <p:spPr>
          <a:xfrm>
            <a:off x="457200" y="2377440"/>
            <a:ext cx="1691640" cy="310896"/>
          </a:xfrm>
          <a:prstGeom prst="rect">
            <a:avLst/>
          </a:prstGeom>
          <a:noFill/>
        </p:spPr>
        <p:txBody>
          <a:bodyPr wrap="square" anchor="t" lIns="0" rIns="0" tIns="0" bIns="0">
            <a:spAutoFit/>
          </a:bodyPr>
          <a:lstStyle/>
          <a:p>
            <a:pPr algn="r"/>
            <a:r>
              <a:rPr sz="1300" b="1">
                <a:solidFill>
                  <a:srgbClr val="9B1B30"/>
                </a:solidFill>
                <a:latin typeface="Calibri"/>
              </a:rPr>
              <a:t>REALIDAD</a:t>
            </a:r>
          </a:p>
        </p:txBody>
      </p:sp>
      <p:sp>
        <p:nvSpPr>
          <p:cNvPr id="9" name="TextBox 8"/>
          <p:cNvSpPr txBox="1"/>
          <p:nvPr/>
        </p:nvSpPr>
        <p:spPr>
          <a:xfrm>
            <a:off x="457200" y="2743200"/>
            <a:ext cx="1691640" cy="1371600"/>
          </a:xfrm>
          <a:prstGeom prst="rect">
            <a:avLst/>
          </a:prstGeom>
          <a:noFill/>
        </p:spPr>
        <p:txBody>
          <a:bodyPr wrap="square" anchor="ctr" lIns="0" rIns="0" tIns="0" bIns="0">
            <a:spAutoFit/>
          </a:bodyPr>
          <a:lstStyle/>
          <a:p>
            <a:pPr algn="r"/>
            <a:r>
              <a:rPr sz="1300" b="1">
                <a:solidFill>
                  <a:srgbClr val="2D2D2D"/>
                </a:solidFill>
                <a:latin typeface="Calibri"/>
              </a:rPr>
              <a:t>Legítima</a:t>
            </a:r>
          </a:p>
        </p:txBody>
      </p:sp>
      <p:sp>
        <p:nvSpPr>
          <p:cNvPr id="10" name="TextBox 9"/>
          <p:cNvSpPr txBox="1"/>
          <p:nvPr/>
        </p:nvSpPr>
        <p:spPr>
          <a:xfrm>
            <a:off x="457200" y="4370832"/>
            <a:ext cx="1691640" cy="1371600"/>
          </a:xfrm>
          <a:prstGeom prst="rect">
            <a:avLst/>
          </a:prstGeom>
          <a:noFill/>
        </p:spPr>
        <p:txBody>
          <a:bodyPr wrap="square" anchor="ctr" lIns="0" rIns="0" tIns="0" bIns="0">
            <a:spAutoFit/>
          </a:bodyPr>
          <a:lstStyle/>
          <a:p>
            <a:pPr algn="r"/>
            <a:r>
              <a:rPr sz="1300" b="1">
                <a:solidFill>
                  <a:srgbClr val="2D2D2D"/>
                </a:solidFill>
                <a:latin typeface="Calibri"/>
              </a:rPr>
              <a:t>Fraude</a:t>
            </a:r>
          </a:p>
        </p:txBody>
      </p:sp>
      <p:sp>
        <p:nvSpPr>
          <p:cNvPr id="11" name="Rounded Rectangle 10"/>
          <p:cNvSpPr/>
          <p:nvPr/>
        </p:nvSpPr>
        <p:spPr>
          <a:xfrm>
            <a:off x="2331720" y="2743200"/>
            <a:ext cx="4251960" cy="13716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06040" y="2926080"/>
            <a:ext cx="3703320" cy="457200"/>
          </a:xfrm>
          <a:prstGeom prst="rect">
            <a:avLst/>
          </a:prstGeom>
          <a:noFill/>
        </p:spPr>
        <p:txBody>
          <a:bodyPr wrap="square" anchor="t" lIns="0" rIns="0" tIns="0" bIns="0">
            <a:spAutoFit/>
          </a:bodyPr>
          <a:lstStyle/>
          <a:p>
            <a:pPr algn="l"/>
            <a:r>
              <a:rPr sz="1500" b="1">
                <a:solidFill>
                  <a:srgbClr val="9B1B30"/>
                </a:solidFill>
                <a:latin typeface="Calibri"/>
              </a:rPr>
              <a:t>VN — 85 279</a:t>
            </a:r>
          </a:p>
        </p:txBody>
      </p:sp>
      <p:sp>
        <p:nvSpPr>
          <p:cNvPr id="13" name="TextBox 12"/>
          <p:cNvSpPr txBox="1"/>
          <p:nvPr/>
        </p:nvSpPr>
        <p:spPr>
          <a:xfrm>
            <a:off x="2606040" y="3401568"/>
            <a:ext cx="3703320" cy="594360"/>
          </a:xfrm>
          <a:prstGeom prst="rect">
            <a:avLst/>
          </a:prstGeom>
          <a:noFill/>
        </p:spPr>
        <p:txBody>
          <a:bodyPr wrap="square" anchor="t" lIns="0" rIns="0" tIns="0" bIns="0">
            <a:spAutoFit/>
          </a:bodyPr>
          <a:lstStyle/>
          <a:p>
            <a:pPr algn="l">
              <a:lnSpc>
                <a:spcPct val="105000"/>
              </a:lnSpc>
            </a:pPr>
            <a:r>
              <a:rPr sz="1100" b="0">
                <a:solidFill>
                  <a:srgbClr val="2D2D2D"/>
                </a:solidFill>
                <a:latin typeface="Calibri"/>
              </a:rPr>
              <a:t>legítimas bien clasificadas</a:t>
            </a:r>
          </a:p>
        </p:txBody>
      </p:sp>
      <p:sp>
        <p:nvSpPr>
          <p:cNvPr id="14" name="Rounded Rectangle 13"/>
          <p:cNvSpPr/>
          <p:nvPr/>
        </p:nvSpPr>
        <p:spPr>
          <a:xfrm>
            <a:off x="6839712" y="2743200"/>
            <a:ext cx="4251960" cy="13716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14032" y="2926080"/>
            <a:ext cx="3703320" cy="457200"/>
          </a:xfrm>
          <a:prstGeom prst="rect">
            <a:avLst/>
          </a:prstGeom>
          <a:noFill/>
        </p:spPr>
        <p:txBody>
          <a:bodyPr wrap="square" anchor="t" lIns="0" rIns="0" tIns="0" bIns="0">
            <a:spAutoFit/>
          </a:bodyPr>
          <a:lstStyle/>
          <a:p>
            <a:pPr algn="l"/>
            <a:r>
              <a:rPr sz="1500" b="1">
                <a:solidFill>
                  <a:srgbClr val="9B1B30"/>
                </a:solidFill>
                <a:latin typeface="Calibri"/>
              </a:rPr>
              <a:t>FP — 16</a:t>
            </a:r>
          </a:p>
        </p:txBody>
      </p:sp>
      <p:sp>
        <p:nvSpPr>
          <p:cNvPr id="16" name="TextBox 15"/>
          <p:cNvSpPr txBox="1"/>
          <p:nvPr/>
        </p:nvSpPr>
        <p:spPr>
          <a:xfrm>
            <a:off x="7114032" y="3401568"/>
            <a:ext cx="3703320" cy="594360"/>
          </a:xfrm>
          <a:prstGeom prst="rect">
            <a:avLst/>
          </a:prstGeom>
          <a:noFill/>
        </p:spPr>
        <p:txBody>
          <a:bodyPr wrap="square" anchor="t" lIns="0" rIns="0" tIns="0" bIns="0">
            <a:spAutoFit/>
          </a:bodyPr>
          <a:lstStyle/>
          <a:p>
            <a:pPr algn="l">
              <a:lnSpc>
                <a:spcPct val="105000"/>
              </a:lnSpc>
            </a:pPr>
            <a:r>
              <a:rPr sz="1100" b="0">
                <a:solidFill>
                  <a:srgbClr val="2D2D2D"/>
                </a:solidFill>
                <a:latin typeface="Calibri"/>
              </a:rPr>
              <a:t>falsas alarmas (molestan al cliente)</a:t>
            </a:r>
          </a:p>
        </p:txBody>
      </p:sp>
      <p:sp>
        <p:nvSpPr>
          <p:cNvPr id="17" name="Rounded Rectangle 16"/>
          <p:cNvSpPr/>
          <p:nvPr/>
        </p:nvSpPr>
        <p:spPr>
          <a:xfrm>
            <a:off x="2331720" y="4370832"/>
            <a:ext cx="4251960" cy="1371600"/>
          </a:xfrm>
          <a:prstGeom prst="roundRect">
            <a:avLst/>
          </a:prstGeom>
          <a:solidFill>
            <a:srgbClr val="FCEDEE"/>
          </a:solidFill>
          <a:ln w="2222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06040" y="4553712"/>
            <a:ext cx="3703320" cy="457200"/>
          </a:xfrm>
          <a:prstGeom prst="rect">
            <a:avLst/>
          </a:prstGeom>
          <a:noFill/>
        </p:spPr>
        <p:txBody>
          <a:bodyPr wrap="square" anchor="t" lIns="0" rIns="0" tIns="0" bIns="0">
            <a:spAutoFit/>
          </a:bodyPr>
          <a:lstStyle/>
          <a:p>
            <a:pPr algn="l"/>
            <a:r>
              <a:rPr sz="1500" b="1">
                <a:solidFill>
                  <a:srgbClr val="E4002B"/>
                </a:solidFill>
                <a:latin typeface="Calibri"/>
              </a:rPr>
              <a:t>FN — 57</a:t>
            </a:r>
          </a:p>
        </p:txBody>
      </p:sp>
      <p:sp>
        <p:nvSpPr>
          <p:cNvPr id="19" name="TextBox 18"/>
          <p:cNvSpPr txBox="1"/>
          <p:nvPr/>
        </p:nvSpPr>
        <p:spPr>
          <a:xfrm>
            <a:off x="2606040" y="5029200"/>
            <a:ext cx="3703320" cy="594360"/>
          </a:xfrm>
          <a:prstGeom prst="rect">
            <a:avLst/>
          </a:prstGeom>
          <a:noFill/>
        </p:spPr>
        <p:txBody>
          <a:bodyPr wrap="square" anchor="t" lIns="0" rIns="0" tIns="0" bIns="0">
            <a:spAutoFit/>
          </a:bodyPr>
          <a:lstStyle/>
          <a:p>
            <a:pPr algn="l">
              <a:lnSpc>
                <a:spcPct val="105000"/>
              </a:lnSpc>
            </a:pPr>
            <a:r>
              <a:rPr sz="1100" b="0">
                <a:solidFill>
                  <a:srgbClr val="2D2D2D"/>
                </a:solidFill>
                <a:latin typeface="Calibri"/>
              </a:rPr>
              <a:t>fraudes no detectados: el error más costoso</a:t>
            </a:r>
          </a:p>
        </p:txBody>
      </p:sp>
      <p:sp>
        <p:nvSpPr>
          <p:cNvPr id="20" name="Rounded Rectangle 19"/>
          <p:cNvSpPr/>
          <p:nvPr/>
        </p:nvSpPr>
        <p:spPr>
          <a:xfrm>
            <a:off x="6839712" y="4370832"/>
            <a:ext cx="4251960" cy="13716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4032" y="4553712"/>
            <a:ext cx="3703320" cy="457200"/>
          </a:xfrm>
          <a:prstGeom prst="rect">
            <a:avLst/>
          </a:prstGeom>
          <a:noFill/>
        </p:spPr>
        <p:txBody>
          <a:bodyPr wrap="square" anchor="t" lIns="0" rIns="0" tIns="0" bIns="0">
            <a:spAutoFit/>
          </a:bodyPr>
          <a:lstStyle/>
          <a:p>
            <a:pPr algn="l"/>
            <a:r>
              <a:rPr sz="1500" b="1">
                <a:solidFill>
                  <a:srgbClr val="9B1B30"/>
                </a:solidFill>
                <a:latin typeface="Calibri"/>
              </a:rPr>
              <a:t>VP — 91</a:t>
            </a:r>
          </a:p>
        </p:txBody>
      </p:sp>
      <p:sp>
        <p:nvSpPr>
          <p:cNvPr id="22" name="TextBox 21"/>
          <p:cNvSpPr txBox="1"/>
          <p:nvPr/>
        </p:nvSpPr>
        <p:spPr>
          <a:xfrm>
            <a:off x="7114032" y="5029200"/>
            <a:ext cx="3703320" cy="594360"/>
          </a:xfrm>
          <a:prstGeom prst="rect">
            <a:avLst/>
          </a:prstGeom>
          <a:noFill/>
        </p:spPr>
        <p:txBody>
          <a:bodyPr wrap="square" anchor="t" lIns="0" rIns="0" tIns="0" bIns="0">
            <a:spAutoFit/>
          </a:bodyPr>
          <a:lstStyle/>
          <a:p>
            <a:pPr algn="l">
              <a:lnSpc>
                <a:spcPct val="105000"/>
              </a:lnSpc>
            </a:pPr>
            <a:r>
              <a:rPr sz="1100" b="0">
                <a:solidFill>
                  <a:srgbClr val="2D2D2D"/>
                </a:solidFill>
                <a:latin typeface="Calibri"/>
              </a:rPr>
              <a:t>fraudes detectados</a:t>
            </a:r>
          </a:p>
        </p:txBody>
      </p:sp>
      <p:sp>
        <p:nvSpPr>
          <p:cNvPr id="23" name="Rounded Rectangle 22"/>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 8, celda 50</a:t>
            </a:r>
          </a:p>
        </p:txBody>
      </p:sp>
      <p:sp>
        <p:nvSpPr>
          <p:cNvPr id="24" name="Oval 2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26" name="TextBox 2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DEFINICIÓN, MÉTRICA HONESTA EN DESBALANCE, SAITO &amp; REHMSMEIER (2015)</a:t>
            </a:r>
          </a:p>
        </p:txBody>
      </p:sp>
      <p:sp>
        <p:nvSpPr>
          <p:cNvPr id="3" name="Oval 2"/>
          <p:cNvSpPr/>
          <p:nvPr/>
        </p:nvSpPr>
        <p:spPr>
          <a:xfrm>
            <a:off x="548640" y="1298448"/>
            <a:ext cx="841248" cy="8412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open__FFFFFF.png"/>
          <p:cNvPicPr>
            <a:picLocks noChangeAspect="1"/>
          </p:cNvPicPr>
          <p:nvPr/>
        </p:nvPicPr>
        <p:blipFill>
          <a:blip r:embed="rId2"/>
          <a:stretch>
            <a:fillRect/>
          </a:stretch>
        </p:blipFill>
        <p:spPr>
          <a:xfrm>
            <a:off x="784189" y="1533997"/>
            <a:ext cx="370150" cy="370150"/>
          </a:xfrm>
          <a:prstGeom prst="rect">
            <a:avLst/>
          </a:prstGeom>
        </p:spPr>
      </p:pic>
      <p:sp>
        <p:nvSpPr>
          <p:cNvPr id="5" name="TextBox 4"/>
          <p:cNvSpPr txBox="1"/>
          <p:nvPr/>
        </p:nvSpPr>
        <p:spPr>
          <a:xfrm>
            <a:off x="1719072" y="1280160"/>
            <a:ext cx="9924288" cy="914400"/>
          </a:xfrm>
          <a:prstGeom prst="rect">
            <a:avLst/>
          </a:prstGeom>
          <a:noFill/>
        </p:spPr>
        <p:txBody>
          <a:bodyPr wrap="square" anchor="ctr" lIns="0" rIns="0" tIns="0" bIns="0">
            <a:spAutoFit/>
          </a:bodyPr>
          <a:lstStyle/>
          <a:p>
            <a:pPr algn="l"/>
            <a:r>
              <a:rPr sz="5200" b="1">
                <a:solidFill>
                  <a:srgbClr val="2D2D2D"/>
                </a:solidFill>
                <a:latin typeface="Calibri"/>
              </a:rPr>
              <a:t>PR-AUC</a:t>
            </a:r>
          </a:p>
        </p:txBody>
      </p:sp>
      <p:sp>
        <p:nvSpPr>
          <p:cNvPr id="6" name="TextBox 5"/>
          <p:cNvSpPr txBox="1"/>
          <p:nvPr/>
        </p:nvSpPr>
        <p:spPr>
          <a:xfrm>
            <a:off x="548640" y="2542032"/>
            <a:ext cx="11094720" cy="274320"/>
          </a:xfrm>
          <a:prstGeom prst="rect">
            <a:avLst/>
          </a:prstGeom>
          <a:noFill/>
        </p:spPr>
        <p:txBody>
          <a:bodyPr wrap="square" anchor="t" lIns="0" rIns="0" tIns="0" bIns="0">
            <a:spAutoFit/>
          </a:bodyPr>
          <a:lstStyle/>
          <a:p>
            <a:pPr algn="l"/>
            <a:r>
              <a:rPr sz="1100" b="1">
                <a:solidFill>
                  <a:srgbClr val="9B1B30"/>
                </a:solidFill>
                <a:latin typeface="Calibri"/>
              </a:rPr>
              <a:t>DEFINICIÓN</a:t>
            </a:r>
          </a:p>
        </p:txBody>
      </p:sp>
      <p:sp>
        <p:nvSpPr>
          <p:cNvPr id="7" name="TextBox 6"/>
          <p:cNvSpPr txBox="1"/>
          <p:nvPr/>
        </p:nvSpPr>
        <p:spPr>
          <a:xfrm>
            <a:off x="548640" y="2834640"/>
            <a:ext cx="11094720" cy="1371600"/>
          </a:xfrm>
          <a:prstGeom prst="rect">
            <a:avLst/>
          </a:prstGeom>
          <a:noFill/>
        </p:spPr>
        <p:txBody>
          <a:bodyPr wrap="square" anchor="t" lIns="0" rIns="0" tIns="0" bIns="0">
            <a:spAutoFit/>
          </a:bodyPr>
          <a:lstStyle/>
          <a:p>
            <a:pPr algn="l">
              <a:lnSpc>
                <a:spcPct val="122000"/>
              </a:lnSpc>
            </a:pPr>
            <a:r>
              <a:rPr sz="2000" b="0">
                <a:solidFill>
                  <a:srgbClr val="2D2D2D"/>
                </a:solidFill>
                <a:latin typeface="Calibri"/>
              </a:rPr>
              <a:t>Área bajo la curva precisión-recall: resume el desempeño sobre la clase rara en todos los umbrales. Su línea base es la prevalencia, no 0,5.</a:t>
            </a:r>
          </a:p>
        </p:txBody>
      </p:sp>
      <p:sp>
        <p:nvSpPr>
          <p:cNvPr id="8" name="Rounded Rectangle 7"/>
          <p:cNvSpPr/>
          <p:nvPr/>
        </p:nvSpPr>
        <p:spPr>
          <a:xfrm>
            <a:off x="548640" y="4434840"/>
            <a:ext cx="11094720" cy="123444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ghtbulb__E4002B.png"/>
          <p:cNvPicPr>
            <a:picLocks noChangeAspect="1"/>
          </p:cNvPicPr>
          <p:nvPr/>
        </p:nvPicPr>
        <p:blipFill>
          <a:blip r:embed="rId3"/>
          <a:stretch>
            <a:fillRect/>
          </a:stretch>
        </p:blipFill>
        <p:spPr>
          <a:xfrm>
            <a:off x="841248" y="4617720"/>
            <a:ext cx="274320" cy="274320"/>
          </a:xfrm>
          <a:prstGeom prst="rect">
            <a:avLst/>
          </a:prstGeom>
        </p:spPr>
      </p:pic>
      <p:sp>
        <p:nvSpPr>
          <p:cNvPr id="10" name="TextBox 9"/>
          <p:cNvSpPr txBox="1"/>
          <p:nvPr/>
        </p:nvSpPr>
        <p:spPr>
          <a:xfrm>
            <a:off x="1207008" y="4608576"/>
            <a:ext cx="2743200" cy="274320"/>
          </a:xfrm>
          <a:prstGeom prst="rect">
            <a:avLst/>
          </a:prstGeom>
          <a:noFill/>
        </p:spPr>
        <p:txBody>
          <a:bodyPr wrap="square" anchor="t" lIns="0" rIns="0" tIns="0" bIns="0">
            <a:spAutoFit/>
          </a:bodyPr>
          <a:lstStyle/>
          <a:p>
            <a:pPr algn="l"/>
            <a:r>
              <a:rPr sz="1100" b="1">
                <a:solidFill>
                  <a:srgbClr val="9B1B30"/>
                </a:solidFill>
                <a:latin typeface="Calibri"/>
              </a:rPr>
              <a:t>EJEMPLO</a:t>
            </a:r>
          </a:p>
        </p:txBody>
      </p:sp>
      <p:sp>
        <p:nvSpPr>
          <p:cNvPr id="11" name="TextBox 10"/>
          <p:cNvSpPr txBox="1"/>
          <p:nvPr/>
        </p:nvSpPr>
        <p:spPr>
          <a:xfrm>
            <a:off x="859536" y="4956048"/>
            <a:ext cx="10472928" cy="640080"/>
          </a:xfrm>
          <a:prstGeom prst="rect">
            <a:avLst/>
          </a:prstGeom>
          <a:noFill/>
        </p:spPr>
        <p:txBody>
          <a:bodyPr wrap="square" anchor="t" lIns="0" rIns="0" tIns="0" bIns="0">
            <a:spAutoFit/>
          </a:bodyPr>
          <a:lstStyle/>
          <a:p>
            <a:pPr algn="l">
              <a:lnSpc>
                <a:spcPct val="115000"/>
              </a:lnSpc>
            </a:pPr>
            <a:r>
              <a:rPr sz="1500" b="0">
                <a:solidFill>
                  <a:srgbClr val="2D2D2D"/>
                </a:solidFill>
                <a:latin typeface="Calibri"/>
              </a:rPr>
              <a:t>En el fraude, el ROC-AUC 0,9567 parece excelente, pero el PR-AUC 0,708 es el número honesto.</a:t>
            </a:r>
          </a:p>
        </p:txBody>
      </p:sp>
      <p:sp>
        <p:nvSpPr>
          <p:cNvPr id="12" name="TextBox 11"/>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Saito &amp; Rehmsmeier (2015), PLoS ONE 10(3). notebook Sección 3.4 (celda 27) — Excel!clasificadores_iris (B5, B8).</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EVIDENCIA — DOS ÁREAS DE LA MISMA LOGÍSTICA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ROC-AUC 0,9567 induce a error; PR-AUC 0,708 es honesto</a:t>
            </a:r>
          </a:p>
        </p:txBody>
      </p:sp>
      <p:pic>
        <p:nvPicPr>
          <p:cNvPr id="4" name="Picture 3" descr="grafico_roc_vs_pr.png"/>
          <p:cNvPicPr>
            <a:picLocks noChangeAspect="1"/>
          </p:cNvPicPr>
          <p:nvPr/>
        </p:nvPicPr>
        <p:blipFill>
          <a:blip r:embed="rId2"/>
          <a:stretch>
            <a:fillRect/>
          </a:stretch>
        </p:blipFill>
        <p:spPr>
          <a:xfrm>
            <a:off x="548640" y="1828800"/>
            <a:ext cx="6949440" cy="4340435"/>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ROC-AUC se ve alto porque los falsos positivos se diluyen entre 284 000 legítimas. El PR-AUC (0,708) es el número honesto.</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Saito &amp; Rehmsmeier (2015), PLoS ONE 10(3). Datos: resultados/S10_resultados.xlsx!clasificadores_iris (roc_auc / pr_auc_base_fraude).</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 8, celda 50</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5</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¿Se sostiene con datos reales? La réplica de Fisher (1936)</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10.5 — jueves, bloques A1 y A2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5</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¿Se sostiene con datos reales? La réplica de Fisher (1936)</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¿Se sostiene con datos reales? La réplica de Fisher (1936)</a:t>
            </a:r>
          </a:p>
        </p:txBody>
      </p:sp>
      <p:pic>
        <p:nvPicPr>
          <p:cNvPr id="5" name="Picture 4" descr="chart-colum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En el presente artículo la aplicación del mismo principio se ilustrará sobre un problema taxonómico; también se discutirán algunas cuestiones relativas a la precisión de los procedimientos empleados.</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Ronald A. Fisher, 1936 — primera página del artículo (p. 179)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EL PAPER Y POR QUÉ USÓ LO QUE USÓ</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Ninguna de sus decisiones fue casual</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las cuatro medidas a la vez</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Buscó la función lineal que maximiza la separación entre especies RELATIVA a la variación dentro de cada especie, no la mejor medida aislada.</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ancho de sépalo, el peor separador por sí solo, pesa +5,9037 en el compuesto (paper)</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un cociente y no una distancia</a:t>
            </a:r>
          </a:p>
        </p:txBody>
      </p:sp>
      <p:sp>
        <p:nvSpPr>
          <p:cNvPr id="12" name="TextBox 11"/>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Multiplicar por diez los coeficientes decuplica la diferencia entre medias sin separar nada. El criterio D²/S elimina esa arbitrariedad.</a:t>
            </a:r>
          </a:p>
        </p:txBody>
      </p:sp>
      <p:sp>
        <p:nvSpPr>
          <p:cNvPr id="13" name="TextBox 12"/>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La solución fija una DIRECCIÓN, no una escala</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una sola matriz de dispersión</a:t>
            </a:r>
          </a:p>
        </p:txBody>
      </p:sp>
      <p:sp>
        <p:nvSpPr>
          <p:cNvPr id="17" name="TextBox 16"/>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Una única dispersión dentro de especies es lo que vuelve RECTA la frontera. Con tres especies vio que no eran iguales y las combinó con pesos (16, 1 y 25).</a:t>
            </a:r>
          </a:p>
        </p:txBody>
      </p:sp>
      <p:sp>
        <p:nvSpPr>
          <p:cNvPr id="18" name="TextBox 17"/>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Ese supuesto es justo el que QDA relaja</a:t>
            </a:r>
          </a:p>
        </p:txBody>
      </p:sp>
      <p:sp>
        <p:nvSpPr>
          <p:cNvPr id="19" name="TextBox 18"/>
          <p:cNvSpPr txBox="1"/>
          <p:nvPr/>
        </p:nvSpPr>
        <p:spPr>
          <a:xfrm>
            <a:off x="548640" y="5806440"/>
            <a:ext cx="11094720" cy="292608"/>
          </a:xfrm>
          <a:prstGeom prst="rect">
            <a:avLst/>
          </a:prstGeom>
          <a:noFill/>
        </p:spPr>
        <p:txBody>
          <a:bodyPr wrap="square">
            <a:spAutoFit/>
          </a:bodyPr>
          <a:lstStyle/>
          <a:p>
            <a:r>
              <a:rPr sz="1000">
                <a:solidFill>
                  <a:srgbClr val="6E6E6E"/>
                </a:solidFill>
                <a:latin typeface="Calibri"/>
              </a:rPr>
              <a:t>Decisiones metodológicas documentadas en el original: REPLICACION_PAPER Sección 0.3 (Fisher 1936, pp. 179-186).</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RÉPLICA — PROYECCIÓN DISCRIMINANTE (LDA)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proyección de Fisher aísla a setosa por completo</a:t>
            </a:r>
          </a:p>
        </p:txBody>
      </p:sp>
      <p:pic>
        <p:nvPicPr>
          <p:cNvPr id="4" name="Picture 3" descr="deck_iris_proyeccion_lda.png"/>
          <p:cNvPicPr>
            <a:picLocks noChangeAspect="1"/>
          </p:cNvPicPr>
          <p:nvPr/>
        </p:nvPicPr>
        <p:blipFill>
          <a:blip r:embed="rId2"/>
          <a:stretch>
            <a:fillRect/>
          </a:stretch>
        </p:blipFill>
        <p:spPr>
          <a:xfrm>
            <a:off x="548640" y="1874519"/>
            <a:ext cx="4522707" cy="297180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Sobre los ejes de Fisher, setosa se separa; versicolor y virginica se solapan. LDA acierta el 0,9733 en validación.</a:t>
            </a:r>
          </a:p>
        </p:txBody>
      </p:sp>
      <p:sp>
        <p:nvSpPr>
          <p:cNvPr id="9" name="Rounded Rectangle 8"/>
          <p:cNvSpPr/>
          <p:nvPr/>
        </p:nvSpPr>
        <p:spPr>
          <a:xfrm>
            <a:off x="548640" y="5029200"/>
            <a:ext cx="7040880"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ook-open__E4002B.png"/>
          <p:cNvPicPr>
            <a:picLocks noChangeAspect="1"/>
          </p:cNvPicPr>
          <p:nvPr/>
        </p:nvPicPr>
        <p:blipFill>
          <a:blip r:embed="rId4"/>
          <a:stretch>
            <a:fillRect/>
          </a:stretch>
        </p:blipFill>
        <p:spPr>
          <a:xfrm>
            <a:off x="694944" y="5084064"/>
            <a:ext cx="219456" cy="219456"/>
          </a:xfrm>
          <a:prstGeom prst="rect">
            <a:avLst/>
          </a:prstGeom>
        </p:spPr>
      </p:pic>
      <p:sp>
        <p:nvSpPr>
          <p:cNvPr id="11" name="TextBox 10"/>
          <p:cNvSpPr txBox="1"/>
          <p:nvPr/>
        </p:nvSpPr>
        <p:spPr>
          <a:xfrm>
            <a:off x="1005840" y="5061204"/>
            <a:ext cx="6473952"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Fisher (1936), The Use of Multiple Measurements, Annals of Eugenics 7(2):179-188</a:t>
            </a:r>
          </a:p>
        </p:txBody>
      </p:sp>
      <p:sp>
        <p:nvSpPr>
          <p:cNvPr id="12" name="Rounded Rectangle 11"/>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Fig 1, celda 66</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RÉPLICA, MATRIZ DE CONFUSIÓN LDA, HOLDOUT 70/30 (45 FLORES)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LDA reproduce a Fisher: solo 1 error en 45 flores</a:t>
            </a:r>
          </a:p>
        </p:txBody>
      </p:sp>
      <p:graphicFrame>
        <p:nvGraphicFramePr>
          <p:cNvPr id="4" name="Table 3"/>
          <p:cNvGraphicFramePr>
            <a:graphicFrameLocks noGrp="1"/>
          </p:cNvGraphicFramePr>
          <p:nvPr/>
        </p:nvGraphicFramePr>
        <p:xfrm>
          <a:off x="548640" y="1828800"/>
          <a:ext cx="11094720" cy="1719072"/>
        </p:xfrm>
        <a:graphic>
          <a:graphicData uri="http://schemas.openxmlformats.org/drawingml/2006/table">
            <a:tbl>
              <a:tblPr firstRow="1" bandRow="1">
                <a:tableStyleId>{5C22544A-7EE6-4342-B048-85BDC9FD1C3A}</a:tableStyleId>
              </a:tblPr>
              <a:tblGrid>
                <a:gridCol w="2773680"/>
                <a:gridCol w="2773680"/>
                <a:gridCol w="2773680"/>
                <a:gridCol w="2773680"/>
              </a:tblGrid>
              <a:tr h="429768">
                <a:tc>
                  <a:txBody>
                    <a:bodyPr/>
                    <a:lstStyle/>
                    <a:p>
                      <a:r>
                        <a:rPr sz="1300" b="1">
                          <a:solidFill>
                            <a:srgbClr val="FFFFFF"/>
                          </a:solidFill>
                          <a:latin typeface="Calibri"/>
                        </a:rPr>
                        <a:t>Real \ Predicho</a:t>
                      </a:r>
                    </a:p>
                  </a:txBody>
                  <a:tcPr>
                    <a:solidFill>
                      <a:srgbClr val="9B1B30"/>
                    </a:solidFill>
                  </a:tcPr>
                </a:tc>
                <a:tc>
                  <a:txBody>
                    <a:bodyPr/>
                    <a:lstStyle/>
                    <a:p>
                      <a:r>
                        <a:rPr sz="1300" b="1">
                          <a:solidFill>
                            <a:srgbClr val="FFFFFF"/>
                          </a:solidFill>
                          <a:latin typeface="Calibri"/>
                        </a:rPr>
                        <a:t>setosa</a:t>
                      </a:r>
                    </a:p>
                  </a:txBody>
                  <a:tcPr>
                    <a:solidFill>
                      <a:srgbClr val="9B1B30"/>
                    </a:solidFill>
                  </a:tcPr>
                </a:tc>
                <a:tc>
                  <a:txBody>
                    <a:bodyPr/>
                    <a:lstStyle/>
                    <a:p>
                      <a:r>
                        <a:rPr sz="1300" b="1">
                          <a:solidFill>
                            <a:srgbClr val="FFFFFF"/>
                          </a:solidFill>
                          <a:latin typeface="Calibri"/>
                        </a:rPr>
                        <a:t>versicolor</a:t>
                      </a:r>
                    </a:p>
                  </a:txBody>
                  <a:tcPr>
                    <a:solidFill>
                      <a:srgbClr val="9B1B30"/>
                    </a:solidFill>
                  </a:tcPr>
                </a:tc>
                <a:tc>
                  <a:txBody>
                    <a:bodyPr/>
                    <a:lstStyle/>
                    <a:p>
                      <a:r>
                        <a:rPr sz="1300" b="1">
                          <a:solidFill>
                            <a:srgbClr val="FFFFFF"/>
                          </a:solidFill>
                          <a:latin typeface="Calibri"/>
                        </a:rPr>
                        <a:t>virginica</a:t>
                      </a:r>
                    </a:p>
                  </a:txBody>
                  <a:tcPr>
                    <a:solidFill>
                      <a:srgbClr val="9B1B30"/>
                    </a:solidFill>
                  </a:tcPr>
                </a:tc>
              </a:tr>
              <a:tr h="429768">
                <a:tc>
                  <a:txBody>
                    <a:bodyPr wrap="square"/>
                    <a:lstStyle/>
                    <a:p>
                      <a:r>
                        <a:rPr sz="1300">
                          <a:solidFill>
                            <a:srgbClr val="2D2D2D"/>
                          </a:solidFill>
                          <a:latin typeface="Calibri"/>
                        </a:rPr>
                        <a:t>setosa</a:t>
                      </a:r>
                    </a:p>
                  </a:txBody>
                  <a:tcPr>
                    <a:solidFill>
                      <a:srgbClr val="FFFFFF"/>
                    </a:solidFill>
                  </a:tcPr>
                </a:tc>
                <a:tc>
                  <a:txBody>
                    <a:bodyPr wrap="square"/>
                    <a:lstStyle/>
                    <a:p>
                      <a:r>
                        <a:rPr sz="1300">
                          <a:solidFill>
                            <a:srgbClr val="2D2D2D"/>
                          </a:solidFill>
                          <a:latin typeface="Calibri"/>
                        </a:rPr>
                        <a:t>15</a:t>
                      </a:r>
                    </a:p>
                  </a:txBody>
                  <a:tcPr>
                    <a:solidFill>
                      <a:srgbClr val="FFFFFF"/>
                    </a:solidFill>
                  </a:tcPr>
                </a:tc>
                <a:tc>
                  <a:txBody>
                    <a:bodyPr wrap="square"/>
                    <a:lstStyle/>
                    <a:p>
                      <a:r>
                        <a:rPr sz="1300">
                          <a:solidFill>
                            <a:srgbClr val="2D2D2D"/>
                          </a:solidFill>
                          <a:latin typeface="Calibri"/>
                        </a:rPr>
                        <a:t>0</a:t>
                      </a:r>
                    </a:p>
                  </a:txBody>
                  <a:tcPr>
                    <a:solidFill>
                      <a:srgbClr val="FFFFFF"/>
                    </a:solidFill>
                  </a:tcPr>
                </a:tc>
                <a:tc>
                  <a:txBody>
                    <a:bodyPr wrap="square"/>
                    <a:lstStyle/>
                    <a:p>
                      <a:r>
                        <a:rPr sz="1300">
                          <a:solidFill>
                            <a:srgbClr val="2D2D2D"/>
                          </a:solidFill>
                          <a:latin typeface="Calibri"/>
                        </a:rPr>
                        <a:t>0</a:t>
                      </a:r>
                    </a:p>
                  </a:txBody>
                  <a:tcPr>
                    <a:solidFill>
                      <a:srgbClr val="FFFFFF"/>
                    </a:solidFill>
                  </a:tcPr>
                </a:tc>
              </a:tr>
              <a:tr h="429768">
                <a:tc>
                  <a:txBody>
                    <a:bodyPr wrap="square"/>
                    <a:lstStyle/>
                    <a:p>
                      <a:r>
                        <a:rPr sz="1300">
                          <a:solidFill>
                            <a:srgbClr val="2D2D2D"/>
                          </a:solidFill>
                          <a:latin typeface="Calibri"/>
                        </a:rPr>
                        <a:t>versicolor</a:t>
                      </a:r>
                    </a:p>
                  </a:txBody>
                  <a:tcPr>
                    <a:solidFill>
                      <a:srgbClr val="FCEDEE"/>
                    </a:solidFill>
                  </a:tcPr>
                </a:tc>
                <a:tc>
                  <a:txBody>
                    <a:bodyPr wrap="square"/>
                    <a:lstStyle/>
                    <a:p>
                      <a:r>
                        <a:rPr sz="1300">
                          <a:solidFill>
                            <a:srgbClr val="2D2D2D"/>
                          </a:solidFill>
                          <a:latin typeface="Calibri"/>
                        </a:rPr>
                        <a:t>0</a:t>
                      </a:r>
                    </a:p>
                  </a:txBody>
                  <a:tcPr>
                    <a:solidFill>
                      <a:srgbClr val="FCEDEE"/>
                    </a:solidFill>
                  </a:tcPr>
                </a:tc>
                <a:tc>
                  <a:txBody>
                    <a:bodyPr wrap="square"/>
                    <a:lstStyle/>
                    <a:p>
                      <a:r>
                        <a:rPr sz="1300">
                          <a:solidFill>
                            <a:srgbClr val="2D2D2D"/>
                          </a:solidFill>
                          <a:latin typeface="Calibri"/>
                        </a:rPr>
                        <a:t>15</a:t>
                      </a:r>
                    </a:p>
                  </a:txBody>
                  <a:tcPr>
                    <a:solidFill>
                      <a:srgbClr val="FCEDEE"/>
                    </a:solidFill>
                  </a:tcPr>
                </a:tc>
                <a:tc>
                  <a:txBody>
                    <a:bodyPr wrap="square"/>
                    <a:lstStyle/>
                    <a:p>
                      <a:r>
                        <a:rPr sz="1300">
                          <a:solidFill>
                            <a:srgbClr val="2D2D2D"/>
                          </a:solidFill>
                          <a:latin typeface="Calibri"/>
                        </a:rPr>
                        <a:t>0</a:t>
                      </a:r>
                    </a:p>
                  </a:txBody>
                  <a:tcPr>
                    <a:solidFill>
                      <a:srgbClr val="FCEDEE"/>
                    </a:solidFill>
                  </a:tcPr>
                </a:tc>
              </a:tr>
              <a:tr h="429768">
                <a:tc>
                  <a:txBody>
                    <a:bodyPr wrap="square"/>
                    <a:lstStyle/>
                    <a:p>
                      <a:r>
                        <a:rPr sz="1300">
                          <a:solidFill>
                            <a:srgbClr val="2D2D2D"/>
                          </a:solidFill>
                          <a:latin typeface="Calibri"/>
                        </a:rPr>
                        <a:t>virginica</a:t>
                      </a:r>
                    </a:p>
                  </a:txBody>
                  <a:tcPr>
                    <a:solidFill>
                      <a:srgbClr val="FFFFFF"/>
                    </a:solidFill>
                  </a:tcPr>
                </a:tc>
                <a:tc>
                  <a:txBody>
                    <a:bodyPr wrap="square"/>
                    <a:lstStyle/>
                    <a:p>
                      <a:r>
                        <a:rPr sz="1300">
                          <a:solidFill>
                            <a:srgbClr val="2D2D2D"/>
                          </a:solidFill>
                          <a:latin typeface="Calibri"/>
                        </a:rPr>
                        <a:t>0</a:t>
                      </a:r>
                    </a:p>
                  </a:txBody>
                  <a:tcPr>
                    <a:solidFill>
                      <a:srgbClr val="FFFFFF"/>
                    </a:solidFill>
                  </a:tcPr>
                </a:tc>
                <a:tc>
                  <a:txBody>
                    <a:bodyPr wrap="square"/>
                    <a:lstStyle/>
                    <a:p>
                      <a:r>
                        <a:rPr sz="1300">
                          <a:solidFill>
                            <a:srgbClr val="2D2D2D"/>
                          </a:solidFill>
                          <a:latin typeface="Calibri"/>
                        </a:rPr>
                        <a:t>1</a:t>
                      </a:r>
                    </a:p>
                  </a:txBody>
                  <a:tcPr>
                    <a:solidFill>
                      <a:srgbClr val="FFFFFF"/>
                    </a:solidFill>
                  </a:tcPr>
                </a:tc>
                <a:tc>
                  <a:txBody>
                    <a:bodyPr wrap="square"/>
                    <a:lstStyle/>
                    <a:p>
                      <a:r>
                        <a:rPr sz="1300">
                          <a:solidFill>
                            <a:srgbClr val="2D2D2D"/>
                          </a:solidFill>
                          <a:latin typeface="Calibri"/>
                        </a:rPr>
                        <a:t>14</a:t>
                      </a:r>
                    </a:p>
                  </a:txBody>
                  <a:tcPr>
                    <a:solidFill>
                      <a:srgbClr val="FFFFFF"/>
                    </a:solidFill>
                  </a:tcPr>
                </a:tc>
              </a:tr>
            </a:tbl>
          </a:graphicData>
        </a:graphic>
      </p:graphicFrame>
      <p:sp>
        <p:nvSpPr>
          <p:cNvPr id="5" name="Rounded Rectangle 4"/>
          <p:cNvSpPr/>
          <p:nvPr/>
        </p:nvSpPr>
        <p:spPr>
          <a:xfrm>
            <a:off x="548640" y="5212080"/>
            <a:ext cx="10881360"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open__E4002B.png"/>
          <p:cNvPicPr>
            <a:picLocks noChangeAspect="1"/>
          </p:cNvPicPr>
          <p:nvPr/>
        </p:nvPicPr>
        <p:blipFill>
          <a:blip r:embed="rId2"/>
          <a:stretch>
            <a:fillRect/>
          </a:stretch>
        </p:blipFill>
        <p:spPr>
          <a:xfrm>
            <a:off x="694944" y="5266944"/>
            <a:ext cx="219456" cy="219456"/>
          </a:xfrm>
          <a:prstGeom prst="rect">
            <a:avLst/>
          </a:prstGeom>
        </p:spPr>
      </p:pic>
      <p:sp>
        <p:nvSpPr>
          <p:cNvPr id="7" name="TextBox 6"/>
          <p:cNvSpPr txBox="1"/>
          <p:nvPr/>
        </p:nvSpPr>
        <p:spPr>
          <a:xfrm>
            <a:off x="1005840" y="5244084"/>
            <a:ext cx="10314432"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Fisher (1936): setosa linealmente separable; el error vive entre versicolor y virginica</a:t>
            </a:r>
          </a:p>
        </p:txBody>
      </p:sp>
      <p:sp>
        <p:nvSpPr>
          <p:cNvPr id="8" name="Rounded Rectangle 7"/>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Fig 3, celda 70</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los clasificadores y el desbalance</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Fisher (1936) — The Use of Multiple Measurements</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Annals of Eugenics 7(2)  —  origen del análisis discriminante lineal</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Domingos &amp; Pazzani (1997) — Simple Bayesian Classifier</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Machine Learning 29  —  por qué Naive Bayes funciona igual</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Chawla et al. (2002) — SMOTE</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JAIR 16  —  sobremuestreo sintético de la clase rara</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Saito &amp; Rehmsmeier (2015) — PR vs ROC</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PLoS ONE 10(3)  —  por qué se reporta PR-AUC en desbalance</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He &amp; Garcia (2009) — Learning from Imbalanced Data</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IEEE TKDE 21(9)  —  panorama de métodos para desbalance</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S10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26 /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