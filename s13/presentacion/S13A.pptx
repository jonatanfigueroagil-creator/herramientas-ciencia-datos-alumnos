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83" r:id="rId25"/>
    <p:sldId id="258" r:id="rId10"/>
    <p:sldId id="259" r:id="rId11"/>
    <p:sldId id="284" r:id="rId24"/>
    <p:sldId id="260" r:id="rId12"/>
    <p:sldId id="261" r:id="rId13"/>
    <p:sldId id="288" r:id="rId30"/>
    <p:sldId id="285" r:id="rId27"/>
    <p:sldId id="262" r:id="rId14"/>
    <p:sldId id="265" r:id="rId17"/>
    <p:sldId id="266" r:id="rId18"/>
    <p:sldId id="286" r:id="rId28"/>
    <p:sldId id="268" r:id="rId20"/>
    <p:sldId id="269" r:id="rId21"/>
    <p:sldId id="270" r:id="rId22"/>
    <p:sldId id="287" r:id="rId29"/>
    <p:sldId id="263" r:id="rId15"/>
    <p:sldId id="264" r:id="rId16"/>
    <p:sldId id="267" r:id="rId19"/>
    <p:sldId id="274" r:id="rId26"/>
    <p:sldId id="282" r:id="rId34"/>
  </p:sldIdLst>
  <p:sldSz cx="12192000" cy="6858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11.xml"/><Relationship Id="rId15" Type="http://schemas.openxmlformats.org/officeDocument/2006/relationships/slide" Target="slides/slide19.xml"/><Relationship Id="rId16" Type="http://schemas.openxmlformats.org/officeDocument/2006/relationships/slide" Target="slides/slide20.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21.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4" Type="http://schemas.openxmlformats.org/officeDocument/2006/relationships/slide" Target="slides/slide6.xml"/><Relationship Id="rId25" Type="http://schemas.openxmlformats.org/officeDocument/2006/relationships/slide" Target="slides/slide3.xml"/><Relationship Id="rId26" Type="http://schemas.openxmlformats.org/officeDocument/2006/relationships/slide" Target="slides/slide22.xml"/><Relationship Id="rId27" Type="http://schemas.openxmlformats.org/officeDocument/2006/relationships/slide" Target="slides/slide10.xml"/><Relationship Id="rId28" Type="http://schemas.openxmlformats.org/officeDocument/2006/relationships/slide" Target="slides/slide14.xml"/><Relationship Id="rId29" Type="http://schemas.openxmlformats.org/officeDocument/2006/relationships/slide" Target="slides/slide18.xml"/><Relationship Id="rId30" Type="http://schemas.openxmlformats.org/officeDocument/2006/relationships/slide" Target="slides/slide9.xml"/><Relationship Id="rId34"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Cerrar el bloque de modelado con el tiempo-hasta-evento. Promesa de la sesión: pasar de «¿se irá el cliente?» (clasificación, S09) a «¿cuándo?», para decidir el momento de la intervención. Se replica el modelo de Cox (1972) sobre Rossi y se lleva la supervivencia al negocio (churn y CLV). Cada cifra se muestra contra su fuente y se LEE del Excel (fidelidad verificada). El botón «Abrir en Colab» va al cuaderno. [Jueves]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Mapa en cuatro actos con pulso contexto → evidencia → decisión. Acto 1: la censura y las tres piezas (S(t), h(t), H(t)). Acto 2: Kaplan-Meier y log-rank sobre Rossi. Acto 3: la réplica de Cox (1972) sobre Rossi —HR de fin/age/prio— con el diagnóstico de PH por Schoenfeld. Acto 4: el negocio (Telco) con retención y CLV por contrato, y la generalización a Veterans. La regresión logística/GLM de S09 y la causalidad de S12 se nombran como conexión; S14 (recomendación) solo al cierre. [Jueves]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arco de contexto. El evento es tiempo-hasta-algo (reincidencia, churn, default) y casi siempre se corta el estudio antes de observarlo en todos. Ese «aún no ocurrió» es el dato censurado, y es la razón de ser de la disciplina. [Jueves, capítulo 13.1]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Golpe inicial. En Rossi hay 114 eventos (re-arrestos) y 318 censurados: el 74 % NO vivió el evento en el horizonte. La regresión lineal no representa «&gt; 52 semanas» y la logística pierde el «cuándo»; ambas fuerzan a descartar o distorsionar a la mayoría. La supervivencia existe para usar esa información parcial. En churn/default es idéntico: la mayoría sigue activa al cortar los datos. [Jueves, capítulo 13.1]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Tres definiciones ancla. (1) Censura por la derecha: el ex-recluso no re-arrestado en 52 semanas tiene tiempo real &gt; 52; tratarlo como «nunca reincidirá» sesga al alza, descartarlo sesga a la baja. (2) S(t)=P(T&gt;t) es monótona decreciente, S(0)=1; es directamente la retención. (3) h(t) es una tasa (puede superar 1), no una probabilidad; S(t)=exp(−H(t)). Estas tres piezas fundan todo lo que sigue. [Jueves, capítulo 13.2]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Primera pausa (2 min). Guiar: «sigue activo» es un tiempo censurado (&gt; antigüedad observada), no un tiempo de vida final; tratarlo como «nunca se irá» sesga la retención al alza y descartarlo la sesga a la baja. La solución es un método que use esa información parcial: Kaplan-Meier. [Jueves, capítulo 13.2]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la evidencia. Kaplan-Meier (1958) es el método estándar para dibujar y comparar curvas de retención sin asumir una forma; la prueba de log-rank es su compañera para decidir si dos segmentos difieren. [Jueves, capítulo 13.3]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Detenerse aquí antes de cualquier número. Kaplan y Meier NO se propusieron dibujar una curva escalonada, ni Cox construir un modelo de churn: los dos atacan esta anomalía del dato. Del sujeto censurado no se sabe nada completo, pero tampoco nada vacío — se sabe algo estricto y verdadero: su tiempo hasta el evento es MAYOR que el observado. Conviene relatar el origen de la pregunta: Kaplan medía los tubos de vacío de los repetidores de cables telefónicos hundidos en el océano, donde el reemplazo tiene un coste muy elevado; Meier venía de la duración del cáncer, donde lo que está en juego es qué se le dice a un paciente. El mismo obstáculo apareció por separado en ingeniería y en medicina, así que la censura no es un problema clínico: es un problema de cualquier dato de tiempo hasta un evento. Preguntar al aula: '¿por qué no se arregla con más datos?' — porque no es falta de muestra, es información parcial, y crece con la muestra en vez de diluirse. Fuente: REPLICACION_PAPER.md Sección 0.1. [Jueves, capítulo 13.5]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Este es el slide que enseña a ELEGIR un método, no solo a aplicarlo. Recorrer las tres tarjetas. (1) La alternativa descartada eran los intervalos fijos del método actuarial: no era falsa, era menos fina, porque obligaba a repartir las pérdidas dentro de cada intervalo por convención, y ese reparto es justo lo que el producto-límite deja de necesitar. (2) Cox pudo poner el tiempo como respuesta de una regresión y no lo hizo: el hazard es la única función definida condicionada a seguir vivo. (3) Aquí está el trato de la sesión, y hay que decirlo con las dos mitades: lo que se gana y lo que se paga. Añadir el hallazgo que lo hace viable, contado como el atasco que fue: Cox necesitó AÑOS para ver que la mayor parte de la verosimilitud era irrelevante; con el riesgo base sin especificar, la verosimilitud completa resultaba «of virtually useless complexity». La restricción dura fue algebraica antes que computacional. Anunciar que la factura de (3) se cobra en el Acto 3, con Schoenfeld y el caso de age. Fuente: REPLICACION_PAPER.md Sección 0.2 y 0.3. [Jueves, capítulo 13.5]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(1) Product-limit: en cada instante con eventos multiplica la supervivencia previa por (1 − dᵢ/nᵢ); los censurados solo achican el conjunto en riesgo (marca de censura), no bajan el escalón. Curva escalonada con banda de Greenwood, más ancha al final. (2) Log-rank suma observados − esperados bajo H0 en cada evento; χ² con g−1 gl. Atención: si las curvas se cruzan pierde potencia; solo dice SI difieren, no cuánto. [Jueves, capítulo 13.3]</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Réplica sobre el dataset original de Rossi (432 ex-reclusos). Dos curvas de Kaplan-Meier por ayuda financiera: con ayuda S(52) = 0,78, sin ayuda 0,69 → +8 puntos de retención. El log-rank da p ≈ 0,050 (al borde de 0,05): evidencia de diferencia. Coherente con el HR&lt;1 de fin que se verá en la Cox. Leer S(t) como retención a un plazo; la mediana es indefinida (la curva no cruza 0,5). [Jueves, capítulo 13.3]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Del «si difieren» (log-rank) al «cuánto y por qué» (Cox 1972): la técnica de referencia del tiempo-hasta-evento. Modelo semiparamétrico que conecta con la logística de S09 pero añade tiempo y censura. [Jueves, capítulo 13.5]</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(1) La innovación de Cox es la verosimilitud PARCIAL: estima β sin especificar el hazard base h₀(t) → efecto multiplicativo y constante en el tiempo (supuesto PH). (2) HR=exp(β): un HR de 1,8 = 80 % más de riesgo instantáneo; NO es «se irá el 80 %» ni una probabilidad. Es multiplicativo: prio con 3 antecedentes es 1,10³ ≈ 1,33, no +30 %. El HR es el análogo temporal del odds ratio de S09, condicional al resto. [Jueves, capítulo 13.4]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Mostrar que ajustar la Cox son literalmente dos líneas con lifelines: fit sobre (week, arrest) y leer exp(coef). El resultado es la tabla de HR que alimenta el forest: fin 0,68, age 0,94, prio 1,10; C-index 0,64. La verosimilitud parcial estima β sin modelar h₀(t). Fuente: notebook celda 9. [Jueves, capítulo 13.4]</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Forest de los 7 HR. fin 0,68 (−32 %, protector, accionable: política de ayuda), age 0,94 (−6 % por año), prio 1,10 (+10 % por antecedente, riesgo pero NO accionable: no se cambia el pasado). race/wexp/mar/paro cruzan 1 → no significativos. Concordancia 0,64 (discriminación modesta, esperable en un fenómeno social). El salto clave: de «significativo» a «útil» = significancia + magnitud + accionabilidad. [Jueves, capítulo 13.4]</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Divisor del capítulo 13.2. Se enuncia la pregunta tal como aparece en el sílabo, la ficha, el cuaderno y la guía: es el mismo código en todos. [Jueves, capítulo 13.2]</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Divisor del capítulo 13.1. Se enuncia la pregunta tal como aparece en el sílabo, la ficha, el cuaderno y la guía: es el mismo código en todos. [Jueves, capítulo 13.1]</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Segunda pausa. Pistas: prio (+10 % por antecedente) es muy significativo pero no se puede cambiar; fin (−32 %) es accionable vía política de ayuda. Priorizar por significancia + magnitud del HR + ACCIONABILIDAD. Además, si el IC 95 % del HR cruza 1, el factor no es fiable al 5 %. Es el salto de «significativo» a «útil». [Jueves, capítulo 13.5]</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Divisor del capítulo 13.3. Se enuncia la pregunta tal como aparece en el sílabo, la ficha, el cuaderno y la guía: es el mismo código en todos. [Jueves, capítulo 13.3]</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Divisor del capítulo 13.4. Se enuncia la pregunta tal como aparece en el sílabo, la ficha, el cuaderno y la guía: es el mismo código en todos. [Jueves, capítulo 13.4]</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Divisor del capítulo 13.5. Se enuncia la pregunta tal como aparece en el sílabo, la ficha, el cuaderno y la guía: es el mismo código en todos. [Jueves, capítulo 13.5]</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desarrolla el capítulo 13.2. Deriva de la Sección 6 de la guía docente y de la investigación de la sesión; las cifras salen del Excel de resultados. [Viernes, capítulo 13.2]</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Bibliografía verificada (FICHA punto 6 / BIBLIOGRAFIA_ALUMNOS.md). Kaplan &amp; Meier fundan la curva; Cox, el modelo de regresión y el HR; Therneau &amp; Grambsch, el diagnóstico de PH; Fader, Hardie &amp; Lee, el puente al CLV. Ruta del curso: empezar en el paper (Cox 1972 sobre Rossi), replicar su resultado con lifelines y recién entonces llevarlo a los datos de la organización (Telco). PDFs abiertos en el cuaderno. [Jueves]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jonatanfigueroagil-creator/Herramientas-de-Ciencias-de-Datos/blob/master/Sesiones/S13_supervivencia/notebook/S13_supervivencia.ipynb"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8.png"/><Relationship Id="rId4"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4002B"/>
        </a:solidFill>
        <a:effectLst/>
      </p:bgPr>
    </p:bg>
    <p:spTree>
      <p:nvGrpSpPr>
        <p:cNvPr id="1" name=""/>
        <p:cNvGrpSpPr/>
        <p:nvPr/>
      </p:nvGrpSpPr>
      <p:grpSpPr/>
      <p:sp>
        <p:nvSpPr>
          <p:cNvPr id="2" name="Oval 1"/>
          <p:cNvSpPr/>
          <p:nvPr/>
        </p:nvSpPr>
        <p:spPr>
          <a:xfrm>
            <a:off x="548640" y="640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a:solidFill>
                  <a:srgbClr val="E4002B"/>
                </a:solidFill>
                <a:latin typeface="Calibri"/>
              </a:rPr>
              <a:t>S13</a:t>
            </a:r>
          </a:p>
        </p:txBody>
      </p:sp>
      <p:sp>
        <p:nvSpPr>
          <p:cNvPr id="3" name="TextBox 2"/>
          <p:cNvSpPr txBox="1"/>
          <p:nvPr/>
        </p:nvSpPr>
        <p:spPr>
          <a:xfrm>
            <a:off x="548640" y="3291840"/>
            <a:ext cx="9906000" cy="2011680"/>
          </a:xfrm>
          <a:prstGeom prst="rect">
            <a:avLst/>
          </a:prstGeom>
          <a:noFill/>
        </p:spPr>
        <p:txBody>
          <a:bodyPr wrap="square" anchor="t" lIns="0" rIns="0" tIns="0" bIns="0">
            <a:spAutoFit/>
          </a:bodyPr>
          <a:lstStyle/>
          <a:p>
            <a:pPr algn="l">
              <a:lnSpc>
                <a:spcPct val="102000"/>
              </a:lnSpc>
            </a:pPr>
            <a:r>
              <a:rPr sz="4800" b="1">
                <a:solidFill>
                  <a:srgbClr val="FFFFFF"/>
                </a:solidFill>
                <a:latin typeface="Calibri"/>
              </a:rPr>
              <a:t>Análisis de supervivencia:
del churn al cuándo</a:t>
            </a:r>
          </a:p>
        </p:txBody>
      </p:sp>
      <p:sp>
        <p:nvSpPr>
          <p:cNvPr id="4" name="TextBox 3"/>
          <p:cNvSpPr txBox="1"/>
          <p:nvPr/>
        </p:nvSpPr>
        <p:spPr>
          <a:xfrm>
            <a:off x="548640" y="5394960"/>
            <a:ext cx="9906000" cy="640080"/>
          </a:xfrm>
          <a:prstGeom prst="rect">
            <a:avLst/>
          </a:prstGeom>
          <a:noFill/>
        </p:spPr>
        <p:txBody>
          <a:bodyPr wrap="square" anchor="t" lIns="0" rIns="0" tIns="0" bIns="0">
            <a:spAutoFit/>
          </a:bodyPr>
          <a:lstStyle/>
          <a:p>
            <a:pPr algn="l"/>
            <a:r>
              <a:rPr sz="2000" b="0">
                <a:solidFill>
                  <a:srgbClr val="FCEDEE"/>
                </a:solidFill>
                <a:latin typeface="Calibri"/>
              </a:rPr>
              <a:t>Censura, Kaplan-Meier, Cox, hazard ratio, CLV</a:t>
            </a:r>
          </a:p>
        </p:txBody>
      </p:sp>
      <p:sp>
        <p:nvSpPr>
          <p:cNvPr id="5" name="TextBox 4"/>
          <p:cNvSpPr txBox="1"/>
          <p:nvPr/>
        </p:nvSpPr>
        <p:spPr>
          <a:xfrm>
            <a:off x="548640" y="6263640"/>
            <a:ext cx="11094720" cy="320040"/>
          </a:xfrm>
          <a:prstGeom prst="rect">
            <a:avLst/>
          </a:prstGeom>
          <a:noFill/>
        </p:spPr>
        <p:txBody>
          <a:bodyPr wrap="square" anchor="t" lIns="0" rIns="0" tIns="0" bIns="0">
            <a:spAutoFit/>
          </a:bodyPr>
          <a:lstStyle/>
          <a:p>
            <a:pPr algn="l"/>
            <a:r>
              <a:rPr sz="1200" b="0">
                <a:solidFill>
                  <a:srgbClr val="FCEDEE"/>
                </a:solidFill>
                <a:latin typeface="Calibri"/>
              </a:rPr>
              <a:t>Herramientas para la Ciencia de Datos, UPC, Facultad de Negocios</a:t>
            </a:r>
          </a:p>
        </p:txBody>
      </p:sp>
      <p:sp>
        <p:nvSpPr>
          <p:cNvPr id="6" name="Rounded Rectangle 5">
            <a:hlinkClick r:id="rId2"/>
          </p:cNvPr>
          <p:cNvSpPr/>
          <p:nvPr/>
        </p:nvSpPr>
        <p:spPr>
          <a:xfrm>
            <a:off x="8549640" y="502920"/>
            <a:ext cx="3154680" cy="47548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E4002B"/>
                </a:solidFill>
              </a:rPr>
              <a:t>▶  Abrir en Google Colab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MAPA DEL JUEVES — CAPÍTULOS 13.1 A 13.5</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jueves avanza en cinco capítulos</a:t>
            </a:r>
          </a:p>
        </p:txBody>
      </p:sp>
      <p:sp>
        <p:nvSpPr>
          <p:cNvPr id="4" name="Rounded Rectangle 3"/>
          <p:cNvSpPr/>
          <p:nvPr/>
        </p:nvSpPr>
        <p:spPr>
          <a:xfrm>
            <a:off x="54864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lock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13.1</a:t>
            </a:r>
          </a:p>
        </p:txBody>
      </p:sp>
      <p:sp>
        <p:nvSpPr>
          <p:cNvPr id="8" name="TextBox 7"/>
          <p:cNvSpPr txBox="1"/>
          <p:nvPr/>
        </p:nvSpPr>
        <p:spPr>
          <a:xfrm>
            <a:off x="77724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¿Por qué la regresión falla cuando el cliente aún no ha abandonado?</a:t>
            </a:r>
          </a:p>
        </p:txBody>
      </p:sp>
      <p:sp>
        <p:nvSpPr>
          <p:cNvPr id="9" name="TextBox 8"/>
          <p:cNvSpPr txBox="1"/>
          <p:nvPr/>
        </p:nvSpPr>
        <p:spPr>
          <a:xfrm>
            <a:off x="77724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20-40</a:t>
            </a:r>
          </a:p>
        </p:txBody>
      </p:sp>
      <p:sp>
        <p:nvSpPr>
          <p:cNvPr id="10" name="Rounded Rectangle 9"/>
          <p:cNvSpPr/>
          <p:nvPr/>
        </p:nvSpPr>
        <p:spPr>
          <a:xfrm>
            <a:off x="341376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6423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hart-column__FFFFFF.png"/>
          <p:cNvPicPr>
            <a:picLocks noChangeAspect="1"/>
          </p:cNvPicPr>
          <p:nvPr/>
        </p:nvPicPr>
        <p:blipFill>
          <a:blip r:embed="rId3"/>
          <a:stretch>
            <a:fillRect/>
          </a:stretch>
        </p:blipFill>
        <p:spPr>
          <a:xfrm>
            <a:off x="3821582" y="2282341"/>
            <a:ext cx="281636" cy="281636"/>
          </a:xfrm>
          <a:prstGeom prst="rect">
            <a:avLst/>
          </a:prstGeom>
        </p:spPr>
      </p:pic>
      <p:sp>
        <p:nvSpPr>
          <p:cNvPr id="13" name="TextBox 12"/>
          <p:cNvSpPr txBox="1"/>
          <p:nvPr/>
        </p:nvSpPr>
        <p:spPr>
          <a:xfrm>
            <a:off x="364236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13.2</a:t>
            </a:r>
          </a:p>
        </p:txBody>
      </p:sp>
      <p:sp>
        <p:nvSpPr>
          <p:cNvPr id="14" name="TextBox 13"/>
          <p:cNvSpPr txBox="1"/>
          <p:nvPr/>
        </p:nvSpPr>
        <p:spPr>
          <a:xfrm>
            <a:off x="364236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¿Qué son la censura, la supervivencia y el riesgo instantáneo?</a:t>
            </a:r>
          </a:p>
        </p:txBody>
      </p:sp>
      <p:sp>
        <p:nvSpPr>
          <p:cNvPr id="15" name="TextBox 14"/>
          <p:cNvSpPr txBox="1"/>
          <p:nvPr/>
        </p:nvSpPr>
        <p:spPr>
          <a:xfrm>
            <a:off x="364236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40-65</a:t>
            </a:r>
          </a:p>
        </p:txBody>
      </p:sp>
      <p:sp>
        <p:nvSpPr>
          <p:cNvPr id="16" name="Rounded Rectangle 15"/>
          <p:cNvSpPr/>
          <p:nvPr/>
        </p:nvSpPr>
        <p:spPr>
          <a:xfrm>
            <a:off x="627888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0748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chart-column__FFFFFF.png"/>
          <p:cNvPicPr>
            <a:picLocks noChangeAspect="1"/>
          </p:cNvPicPr>
          <p:nvPr/>
        </p:nvPicPr>
        <p:blipFill>
          <a:blip r:embed="rId3"/>
          <a:stretch>
            <a:fillRect/>
          </a:stretch>
        </p:blipFill>
        <p:spPr>
          <a:xfrm>
            <a:off x="6686702" y="2282341"/>
            <a:ext cx="281636" cy="281636"/>
          </a:xfrm>
          <a:prstGeom prst="rect">
            <a:avLst/>
          </a:prstGeom>
        </p:spPr>
      </p:pic>
      <p:sp>
        <p:nvSpPr>
          <p:cNvPr id="19" name="TextBox 18"/>
          <p:cNvSpPr txBox="1"/>
          <p:nvPr/>
        </p:nvSpPr>
        <p:spPr>
          <a:xfrm>
            <a:off x="650748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13.3</a:t>
            </a:r>
          </a:p>
        </p:txBody>
      </p:sp>
      <p:sp>
        <p:nvSpPr>
          <p:cNvPr id="20" name="TextBox 19"/>
          <p:cNvSpPr txBox="1"/>
          <p:nvPr/>
        </p:nvSpPr>
        <p:spPr>
          <a:xfrm>
            <a:off x="650748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¿Cómo se estima la curva sin suponer una forma funcional?</a:t>
            </a:r>
          </a:p>
        </p:txBody>
      </p:sp>
      <p:sp>
        <p:nvSpPr>
          <p:cNvPr id="21" name="TextBox 20"/>
          <p:cNvSpPr txBox="1"/>
          <p:nvPr/>
        </p:nvSpPr>
        <p:spPr>
          <a:xfrm>
            <a:off x="650748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65-95</a:t>
            </a:r>
          </a:p>
        </p:txBody>
      </p:sp>
      <p:sp>
        <p:nvSpPr>
          <p:cNvPr id="22" name="Rounded Rectangle 21"/>
          <p:cNvSpPr/>
          <p:nvPr/>
        </p:nvSpPr>
        <p:spPr>
          <a:xfrm>
            <a:off x="914400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3726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briefcase__FFFFFF.png"/>
          <p:cNvPicPr>
            <a:picLocks noChangeAspect="1"/>
          </p:cNvPicPr>
          <p:nvPr/>
        </p:nvPicPr>
        <p:blipFill>
          <a:blip r:embed="rId4"/>
          <a:stretch>
            <a:fillRect/>
          </a:stretch>
        </p:blipFill>
        <p:spPr>
          <a:xfrm>
            <a:off x="9551822" y="2282341"/>
            <a:ext cx="281636" cy="281636"/>
          </a:xfrm>
          <a:prstGeom prst="rect">
            <a:avLst/>
          </a:prstGeom>
        </p:spPr>
      </p:pic>
      <p:sp>
        <p:nvSpPr>
          <p:cNvPr id="25" name="TextBox 24"/>
          <p:cNvSpPr txBox="1"/>
          <p:nvPr/>
        </p:nvSpPr>
        <p:spPr>
          <a:xfrm>
            <a:off x="937260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13.4 y 13.5</a:t>
            </a:r>
          </a:p>
        </p:txBody>
      </p:sp>
      <p:sp>
        <p:nvSpPr>
          <p:cNvPr id="26" name="TextBox 25"/>
          <p:cNvSpPr txBox="1"/>
          <p:nvPr/>
        </p:nvSpPr>
        <p:spPr>
          <a:xfrm>
            <a:off x="937260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¿Cómo se mide el efecto de una variable sobre el tiempo? ¿Se sostiene con datos reales? La réplica de Cox (1972)</a:t>
            </a:r>
          </a:p>
        </p:txBody>
      </p:sp>
      <p:sp>
        <p:nvSpPr>
          <p:cNvPr id="27" name="TextBox 26"/>
          <p:cNvSpPr txBox="1"/>
          <p:nvPr/>
        </p:nvSpPr>
        <p:spPr>
          <a:xfrm>
            <a:off x="937260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110-180</a:t>
            </a:r>
          </a:p>
        </p:txBody>
      </p:sp>
      <p:sp>
        <p:nvSpPr>
          <p:cNvPr id="28" name="Rounded Rectangle 27"/>
          <p:cNvSpPr/>
          <p:nvPr/>
        </p:nvSpPr>
        <p:spPr>
          <a:xfrm>
            <a:off x="8458200" y="310896"/>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Índice, celda 0</a:t>
            </a:r>
          </a:p>
        </p:txBody>
      </p:sp>
      <p:sp>
        <p:nvSpPr>
          <p:cNvPr id="29" name="Oval 2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S13 — Herramientas para la Ciencia de Datos, UPC</a:t>
            </a:r>
          </a:p>
        </p:txBody>
      </p:sp>
      <p:sp>
        <p:nvSpPr>
          <p:cNvPr id="31" name="TextBox 3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 / 23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1</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¿Por qué la regresión falla cuando el cliente aún no ha abandonado?</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Capítulo 13.1 — jueves, bloques A1 y A2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1</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¿Por qué la regresión falla cuando el cliente aún no ha abandonado?</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¿Por qué la regresión falla cuando el cliente aún no ha abandonado?</a:t>
            </a:r>
          </a:p>
        </p:txBody>
      </p:sp>
      <p:pic>
        <p:nvPicPr>
          <p:cNvPr id="5" name="Picture 4" descr="clock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828800"/>
            <a:ext cx="5852160" cy="2926080"/>
          </a:xfrm>
          <a:prstGeom prst="rect">
            <a:avLst/>
          </a:prstGeom>
          <a:noFill/>
        </p:spPr>
        <p:txBody>
          <a:bodyPr wrap="square" anchor="t" lIns="0" rIns="0" tIns="0" bIns="0">
            <a:spAutoFit/>
          </a:bodyPr>
          <a:lstStyle/>
          <a:p>
            <a:pPr algn="l"/>
            <a:r>
              <a:rPr sz="14000" b="1">
                <a:solidFill>
                  <a:srgbClr val="E4002B"/>
                </a:solidFill>
                <a:latin typeface="Calibri"/>
              </a:rPr>
              <a:t>74 %</a:t>
            </a:r>
          </a:p>
        </p:txBody>
      </p:sp>
      <p:sp>
        <p:nvSpPr>
          <p:cNvPr id="3" name="TextBox 2"/>
          <p:cNvSpPr txBox="1"/>
          <p:nvPr/>
        </p:nvSpPr>
        <p:spPr>
          <a:xfrm>
            <a:off x="6766560" y="2286000"/>
            <a:ext cx="4846320" cy="1371600"/>
          </a:xfrm>
          <a:prstGeom prst="rect">
            <a:avLst/>
          </a:prstGeom>
          <a:noFill/>
        </p:spPr>
        <p:txBody>
          <a:bodyPr wrap="square" anchor="t" lIns="0" rIns="0" tIns="0" bIns="0">
            <a:spAutoFit/>
          </a:bodyPr>
          <a:lstStyle/>
          <a:p>
            <a:pPr algn="l"/>
            <a:r>
              <a:rPr sz="2600" b="1">
                <a:solidFill>
                  <a:srgbClr val="2D2D2D"/>
                </a:solidFill>
                <a:latin typeface="Calibri"/>
              </a:rPr>
              <a:t>La regresión clásica descartaría a 3 de cada 4 casos</a:t>
            </a:r>
          </a:p>
        </p:txBody>
      </p:sp>
      <p:sp>
        <p:nvSpPr>
          <p:cNvPr id="4" name="TextBox 3"/>
          <p:cNvSpPr txBox="1"/>
          <p:nvPr/>
        </p:nvSpPr>
        <p:spPr>
          <a:xfrm>
            <a:off x="6766560" y="3749039"/>
            <a:ext cx="4846320" cy="2011680"/>
          </a:xfrm>
          <a:prstGeom prst="rect">
            <a:avLst/>
          </a:prstGeom>
          <a:noFill/>
        </p:spPr>
        <p:txBody>
          <a:bodyPr wrap="square" anchor="t" lIns="0" rIns="0" tIns="0" bIns="0">
            <a:spAutoFit/>
          </a:bodyPr>
          <a:lstStyle/>
          <a:p>
            <a:pPr algn="l">
              <a:lnSpc>
                <a:spcPct val="120000"/>
              </a:lnSpc>
            </a:pPr>
            <a:r>
              <a:rPr sz="1500" b="0">
                <a:solidFill>
                  <a:srgbClr val="6E6E6E"/>
                </a:solidFill>
                <a:latin typeface="Calibri"/>
              </a:rPr>
              <a:t>En Rossi, 318 de 432 ex-reclusos siguen sin reincidir a las 52 semanas: están censurados. Descartarlos sesga toda la retención.</a:t>
            </a:r>
          </a:p>
        </p:txBody>
      </p:sp>
      <p:pic>
        <p:nvPicPr>
          <p:cNvPr id="5" name="Picture 4" descr="triangle-alert__E4002B.png"/>
          <p:cNvPicPr>
            <a:picLocks noChangeAspect="1"/>
          </p:cNvPicPr>
          <p:nvPr/>
        </p:nvPicPr>
        <p:blipFill>
          <a:blip r:embed="rId2"/>
          <a:stretch>
            <a:fillRect/>
          </a:stretch>
        </p:blipFill>
        <p:spPr>
          <a:xfrm>
            <a:off x="6766560" y="1325880"/>
            <a:ext cx="658368" cy="658368"/>
          </a:xfrm>
          <a:prstGeom prst="rect">
            <a:avLst/>
          </a:prstGeom>
        </p:spPr>
      </p:pic>
      <p:sp>
        <p:nvSpPr>
          <p:cNvPr id="6" name="TextBox 5"/>
          <p:cNvSpPr txBox="1"/>
          <p:nvPr/>
        </p:nvSpPr>
        <p:spPr>
          <a:xfrm>
            <a:off x="548640" y="5870448"/>
            <a:ext cx="11064240" cy="320040"/>
          </a:xfrm>
          <a:prstGeom prst="rect">
            <a:avLst/>
          </a:prstGeom>
          <a:noFill/>
        </p:spPr>
        <p:txBody>
          <a:bodyPr wrap="square">
            <a:spAutoFit/>
          </a:bodyPr>
          <a:lstStyle/>
          <a:p>
            <a:r>
              <a:rPr sz="1000">
                <a:solidFill>
                  <a:srgbClr val="6E6E6E"/>
                </a:solidFill>
                <a:latin typeface="Calibri"/>
              </a:rPr>
              <a:t>Rossi (Cox 1972) — 318/432 censurados = 73,6 %, Excel survival!n_censurados, DEFINICIONES punto 1.</a:t>
            </a:r>
          </a:p>
        </p:txBody>
      </p:sp>
      <p:sp>
        <p:nvSpPr>
          <p:cNvPr id="7" name="Oval 6"/>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S13 — Herramientas para la Ciencia de Datos, UPC</a:t>
            </a:r>
          </a:p>
        </p:txBody>
      </p:sp>
      <p:sp>
        <p:nvSpPr>
          <p:cNvPr id="9" name="TextBox 8"/>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5 / 23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2</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¿Qué son la censura, la supervivencia y el riesgo instantáneo?</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Capítulo 13.2 — jueves, bloques A1 y A2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DEFINICIONES — FUNDAMENTOS DE LA SESIÓN</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La censura es la razón de ser de la supervivencia</a:t>
            </a:r>
          </a:p>
        </p:txBody>
      </p:sp>
      <p:sp>
        <p:nvSpPr>
          <p:cNvPr id="4" name="Oval 3"/>
          <p:cNvSpPr/>
          <p:nvPr/>
        </p:nvSpPr>
        <p:spPr>
          <a:xfrm>
            <a:off x="548640" y="2261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lock__FFFFFF.png"/>
          <p:cNvPicPr>
            <a:picLocks noChangeAspect="1"/>
          </p:cNvPicPr>
          <p:nvPr/>
        </p:nvPicPr>
        <p:blipFill>
          <a:blip r:embed="rId2"/>
          <a:stretch>
            <a:fillRect/>
          </a:stretch>
        </p:blipFill>
        <p:spPr>
          <a:xfrm>
            <a:off x="732983" y="2445959"/>
            <a:ext cx="289682" cy="289682"/>
          </a:xfrm>
          <a:prstGeom prst="rect">
            <a:avLst/>
          </a:prstGeom>
        </p:spPr>
      </p:pic>
      <p:sp>
        <p:nvSpPr>
          <p:cNvPr id="6" name="TextBox 5"/>
          <p:cNvSpPr txBox="1"/>
          <p:nvPr/>
        </p:nvSpPr>
        <p:spPr>
          <a:xfrm>
            <a:off x="1508760" y="1938528"/>
            <a:ext cx="10134600" cy="411480"/>
          </a:xfrm>
          <a:prstGeom prst="rect">
            <a:avLst/>
          </a:prstGeom>
          <a:noFill/>
        </p:spPr>
        <p:txBody>
          <a:bodyPr wrap="square" anchor="t" lIns="0" rIns="0" tIns="0" bIns="0">
            <a:spAutoFit/>
          </a:bodyPr>
          <a:lstStyle/>
          <a:p>
            <a:pPr algn="l"/>
            <a:r>
              <a:rPr sz="1800" b="1">
                <a:solidFill>
                  <a:srgbClr val="9B1B30"/>
                </a:solidFill>
                <a:latin typeface="Calibri"/>
              </a:rPr>
              <a:t>Dato censurado</a:t>
            </a:r>
          </a:p>
        </p:txBody>
      </p:sp>
      <p:sp>
        <p:nvSpPr>
          <p:cNvPr id="7" name="TextBox 6"/>
          <p:cNvSpPr txBox="1"/>
          <p:nvPr/>
        </p:nvSpPr>
        <p:spPr>
          <a:xfrm>
            <a:off x="1508760" y="2395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El evento aún no ocurrió al cerrar el estudio: solo se sabe que el tiempo real es mayor. Descartarlo o fijarlo sesga.</a:t>
            </a:r>
          </a:p>
        </p:txBody>
      </p:sp>
      <p:sp>
        <p:nvSpPr>
          <p:cNvPr id="8" name="Oval 7"/>
          <p:cNvSpPr/>
          <p:nvPr/>
        </p:nvSpPr>
        <p:spPr>
          <a:xfrm>
            <a:off x="548640" y="3785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hart-column__FFFFFF.png"/>
          <p:cNvPicPr>
            <a:picLocks noChangeAspect="1"/>
          </p:cNvPicPr>
          <p:nvPr/>
        </p:nvPicPr>
        <p:blipFill>
          <a:blip r:embed="rId3"/>
          <a:stretch>
            <a:fillRect/>
          </a:stretch>
        </p:blipFill>
        <p:spPr>
          <a:xfrm>
            <a:off x="732983" y="3969959"/>
            <a:ext cx="289682" cy="289682"/>
          </a:xfrm>
          <a:prstGeom prst="rect">
            <a:avLst/>
          </a:prstGeom>
        </p:spPr>
      </p:pic>
      <p:sp>
        <p:nvSpPr>
          <p:cNvPr id="10" name="TextBox 9"/>
          <p:cNvSpPr txBox="1"/>
          <p:nvPr/>
        </p:nvSpPr>
        <p:spPr>
          <a:xfrm>
            <a:off x="1508760" y="3462528"/>
            <a:ext cx="10134600" cy="411480"/>
          </a:xfrm>
          <a:prstGeom prst="rect">
            <a:avLst/>
          </a:prstGeom>
          <a:noFill/>
        </p:spPr>
        <p:txBody>
          <a:bodyPr wrap="square" anchor="t" lIns="0" rIns="0" tIns="0" bIns="0">
            <a:spAutoFit/>
          </a:bodyPr>
          <a:lstStyle/>
          <a:p>
            <a:pPr algn="l"/>
            <a:r>
              <a:rPr sz="1800" b="1">
                <a:solidFill>
                  <a:srgbClr val="9B1B30"/>
                </a:solidFill>
                <a:latin typeface="Calibri"/>
              </a:rPr>
              <a:t>Función de supervivencia S(t)</a:t>
            </a:r>
          </a:p>
        </p:txBody>
      </p:sp>
      <p:sp>
        <p:nvSpPr>
          <p:cNvPr id="11" name="TextBox 10"/>
          <p:cNvSpPr txBox="1"/>
          <p:nvPr/>
        </p:nvSpPr>
        <p:spPr>
          <a:xfrm>
            <a:off x="1508760" y="3919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Probabilidad de seguir sin el evento pasado t. Es la curva de retención: S(12 meses) = clientes activos al año.</a:t>
            </a:r>
          </a:p>
        </p:txBody>
      </p:sp>
      <p:sp>
        <p:nvSpPr>
          <p:cNvPr id="12" name="Oval 11"/>
          <p:cNvSpPr/>
          <p:nvPr/>
        </p:nvSpPr>
        <p:spPr>
          <a:xfrm>
            <a:off x="548640" y="5309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triangle-alert__FFFFFF.png"/>
          <p:cNvPicPr>
            <a:picLocks noChangeAspect="1"/>
          </p:cNvPicPr>
          <p:nvPr/>
        </p:nvPicPr>
        <p:blipFill>
          <a:blip r:embed="rId4"/>
          <a:stretch>
            <a:fillRect/>
          </a:stretch>
        </p:blipFill>
        <p:spPr>
          <a:xfrm>
            <a:off x="732983" y="5493959"/>
            <a:ext cx="289682" cy="289682"/>
          </a:xfrm>
          <a:prstGeom prst="rect">
            <a:avLst/>
          </a:prstGeom>
        </p:spPr>
      </p:pic>
      <p:sp>
        <p:nvSpPr>
          <p:cNvPr id="14" name="TextBox 13"/>
          <p:cNvSpPr txBox="1"/>
          <p:nvPr/>
        </p:nvSpPr>
        <p:spPr>
          <a:xfrm>
            <a:off x="1508760" y="4986528"/>
            <a:ext cx="10134600" cy="411480"/>
          </a:xfrm>
          <a:prstGeom prst="rect">
            <a:avLst/>
          </a:prstGeom>
          <a:noFill/>
        </p:spPr>
        <p:txBody>
          <a:bodyPr wrap="square" anchor="t" lIns="0" rIns="0" tIns="0" bIns="0">
            <a:spAutoFit/>
          </a:bodyPr>
          <a:lstStyle/>
          <a:p>
            <a:pPr algn="l"/>
            <a:r>
              <a:rPr sz="1800" b="1">
                <a:solidFill>
                  <a:srgbClr val="9B1B30"/>
                </a:solidFill>
                <a:latin typeface="Calibri"/>
              </a:rPr>
              <a:t>Riesgo o hazard h(t)</a:t>
            </a:r>
          </a:p>
        </p:txBody>
      </p:sp>
      <p:sp>
        <p:nvSpPr>
          <p:cNvPr id="15" name="TextBox 14"/>
          <p:cNvSpPr txBox="1"/>
          <p:nvPr/>
        </p:nvSpPr>
        <p:spPr>
          <a:xfrm>
            <a:off x="1508760" y="5443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Tasa instantánea del evento en t, dado que se sobrevivió hasta t. Dice cuándo es más peligroso perder al cliente.</a:t>
            </a:r>
          </a:p>
        </p:txBody>
      </p:sp>
      <p:sp>
        <p:nvSpPr>
          <p:cNvPr id="16" name="TextBox 15"/>
          <p:cNvSpPr txBox="1"/>
          <p:nvPr/>
        </p:nvSpPr>
        <p:spPr>
          <a:xfrm>
            <a:off x="548640" y="5870448"/>
            <a:ext cx="11064240" cy="320040"/>
          </a:xfrm>
          <a:prstGeom prst="rect">
            <a:avLst/>
          </a:prstGeom>
          <a:noFill/>
        </p:spPr>
        <p:txBody>
          <a:bodyPr wrap="square">
            <a:spAutoFit/>
          </a:bodyPr>
          <a:lstStyle/>
          <a:p>
            <a:r>
              <a:rPr sz="1000">
                <a:solidFill>
                  <a:srgbClr val="6E6E6E"/>
                </a:solidFill>
                <a:latin typeface="Calibri"/>
              </a:rPr>
              <a:t>DEFINICIONES puntos 1, 3, 4, Kaplan-Meier (1958), JASA 53(282); Cox (1972), JRSS-B 34(2). La regresión (S09) responde «si», no «cuándo».</a:t>
            </a:r>
          </a:p>
        </p:txBody>
      </p:sp>
      <p:sp>
        <p:nvSpPr>
          <p:cNvPr id="17" name="Oval 16"/>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S13 — Herramientas para la Ciencia de Datos, UPC</a:t>
            </a:r>
          </a:p>
        </p:txBody>
      </p:sp>
      <p:sp>
        <p:nvSpPr>
          <p:cNvPr id="19" name="TextBox 18"/>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7 / 23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EDEE"/>
        </a:solidFill>
        <a:effectLst/>
      </p:bgPr>
    </p:bg>
    <p:spTree>
      <p:nvGrpSpPr>
        <p:cNvPr id="1" name=""/>
        <p:cNvGrpSpPr/>
        <p:nvPr/>
      </p:nvGrpSpPr>
      <p:grpSpPr/>
      <p:sp>
        <p:nvSpPr>
          <p:cNvPr id="2" name="Oval 1"/>
          <p:cNvSpPr/>
          <p:nvPr/>
        </p:nvSpPr>
        <p:spPr>
          <a:xfrm>
            <a:off x="5593080" y="914400"/>
            <a:ext cx="1005840" cy="10058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400" b="1">
                <a:solidFill>
                  <a:srgbClr val="FFFFFF"/>
                </a:solidFill>
                <a:latin typeface="Calibri"/>
              </a:rPr>
              <a:t>?</a:t>
            </a:r>
          </a:p>
        </p:txBody>
      </p:sp>
      <p:sp>
        <p:nvSpPr>
          <p:cNvPr id="3" name="TextBox 2"/>
          <p:cNvSpPr txBox="1"/>
          <p:nvPr/>
        </p:nvSpPr>
        <p:spPr>
          <a:xfrm>
            <a:off x="1371600" y="2468880"/>
            <a:ext cx="9448800" cy="2011680"/>
          </a:xfrm>
          <a:prstGeom prst="rect">
            <a:avLst/>
          </a:prstGeom>
          <a:noFill/>
        </p:spPr>
        <p:txBody>
          <a:bodyPr wrap="square" anchor="t" lIns="0" rIns="0" tIns="0" bIns="0">
            <a:spAutoFit/>
          </a:bodyPr>
          <a:lstStyle/>
          <a:p>
            <a:pPr algn="ctr"/>
            <a:r>
              <a:rPr sz="3200" b="1">
                <a:solidFill>
                  <a:srgbClr val="9B1B30"/>
                </a:solidFill>
                <a:latin typeface="Calibri"/>
              </a:rPr>
              <a:t>¿Es lo mismo que un cliente siga activo a que no se vaya nunca?</a:t>
            </a:r>
          </a:p>
        </p:txBody>
      </p:sp>
      <p:sp>
        <p:nvSpPr>
          <p:cNvPr id="4" name="TextBox 3"/>
          <p:cNvSpPr txBox="1"/>
          <p:nvPr/>
        </p:nvSpPr>
        <p:spPr>
          <a:xfrm>
            <a:off x="2011680" y="4754880"/>
            <a:ext cx="8168640" cy="1280160"/>
          </a:xfrm>
          <a:prstGeom prst="rect">
            <a:avLst/>
          </a:prstGeom>
          <a:noFill/>
        </p:spPr>
        <p:txBody>
          <a:bodyPr wrap="square" anchor="t" lIns="0" rIns="0" tIns="0" bIns="0">
            <a:spAutoFit/>
          </a:bodyPr>
          <a:lstStyle/>
          <a:p>
            <a:pPr algn="ctr"/>
            <a:r>
              <a:rPr sz="1500" b="0">
                <a:solidFill>
                  <a:srgbClr val="2D2D2D"/>
                </a:solidFill>
                <a:latin typeface="Calibri"/>
              </a:rPr>
              <a:t>Discusión en parejas (2 min): ¿qué información aporta un cliente que aún no ha cancelado, y por qué descartarlo sesga la retención?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CAPÍTULO 13.2 — ¿QUÉ SON LA CENSURA, LA SUPERVIVENCIA Y EL RIESGO?</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Tres objetos distintos que la clase suele confundir</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1</a:t>
            </a:r>
          </a:p>
        </p:txBody>
      </p:sp>
      <p:sp>
        <p:nvSpPr>
          <p:cNvPr id="6" name="TextBox 5"/>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Censura</a:t>
            </a:r>
          </a:p>
        </p:txBody>
      </p:sp>
      <p:sp>
        <p:nvSpPr>
          <p:cNvPr id="7" name="TextBox 6"/>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El seguimiento terminó antes que el desenlace. No es un dato perdido: es información parcial que sí se usa.</a:t>
            </a:r>
          </a:p>
        </p:txBody>
      </p:sp>
      <p:sp>
        <p:nvSpPr>
          <p:cNvPr id="8" name="TextBox 7"/>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318 de 432 casos en Rossi</a:t>
            </a:r>
          </a:p>
        </p:txBody>
      </p:sp>
      <p:sp>
        <p:nvSpPr>
          <p:cNvPr id="9" name="Rounded Rectangle 8"/>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11" name="TextBox 10"/>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Supervivencia S(t)</a:t>
            </a:r>
          </a:p>
        </p:txBody>
      </p:sp>
      <p:sp>
        <p:nvSpPr>
          <p:cNvPr id="12" name="TextBox 11"/>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La probabilidad de seguir activo pasado el tiempo t. Responde «¿cuántos quedan?».</a:t>
            </a:r>
          </a:p>
        </p:txBody>
      </p:sp>
      <p:sp>
        <p:nvSpPr>
          <p:cNvPr id="13" name="TextBox 12"/>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Baja de forma escalonada</a:t>
            </a:r>
          </a:p>
        </p:txBody>
      </p:sp>
      <p:sp>
        <p:nvSpPr>
          <p:cNvPr id="14" name="Rounded Rectangle 13"/>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3</a:t>
            </a:r>
          </a:p>
        </p:txBody>
      </p:sp>
      <p:sp>
        <p:nvSpPr>
          <p:cNvPr id="16" name="TextBox 15"/>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Riesgo h(t)</a:t>
            </a:r>
          </a:p>
        </p:txBody>
      </p:sp>
      <p:sp>
        <p:nvSpPr>
          <p:cNvPr id="17" name="TextBox 16"/>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El riesgo instantáneo entre quienes siguen. Responde «¿cuál es el peligro ahora?».</a:t>
            </a:r>
          </a:p>
        </p:txBody>
      </p:sp>
      <p:sp>
        <p:nvSpPr>
          <p:cNvPr id="18" name="TextBox 17"/>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Puede subir mientras S(t) baja</a:t>
            </a:r>
          </a:p>
        </p:txBody>
      </p:sp>
      <p:sp>
        <p:nvSpPr>
          <p:cNvPr id="19" name="Oval 1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S13 — Herramientas para la Ciencia de Datos, UPC</a:t>
            </a:r>
          </a:p>
        </p:txBody>
      </p:sp>
      <p:sp>
        <p:nvSpPr>
          <p:cNvPr id="21" name="TextBox 2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9 / 23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3</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¿Cómo se estima la curva sin suponer una forma funcional?</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Capítulo 13.3 — jueves, bloques A1 y A2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5</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¿Se sostiene con datos reales? La réplica de Cox (1972)</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¿Se sostiene con datos reales? La réplica de Cox (1972)</a:t>
            </a:r>
          </a:p>
        </p:txBody>
      </p:sp>
      <p:pic>
        <p:nvPicPr>
          <p:cNvPr id="5" name="Picture 4" descr="chart-column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DEFINICIONES — NO PARAMÉTRICO</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Kaplan-Meier estima la curva; el log-rank la compara</a:t>
            </a:r>
          </a:p>
        </p:txBody>
      </p:sp>
      <p:sp>
        <p:nvSpPr>
          <p:cNvPr id="4" name="Oval 3"/>
          <p:cNvSpPr/>
          <p:nvPr/>
        </p:nvSpPr>
        <p:spPr>
          <a:xfrm>
            <a:off x="548640" y="2642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hart-column__FFFFFF.png"/>
          <p:cNvPicPr>
            <a:picLocks noChangeAspect="1"/>
          </p:cNvPicPr>
          <p:nvPr/>
        </p:nvPicPr>
        <p:blipFill>
          <a:blip r:embed="rId2"/>
          <a:stretch>
            <a:fillRect/>
          </a:stretch>
        </p:blipFill>
        <p:spPr>
          <a:xfrm>
            <a:off x="732983" y="2826959"/>
            <a:ext cx="289682" cy="289682"/>
          </a:xfrm>
          <a:prstGeom prst="rect">
            <a:avLst/>
          </a:prstGeom>
        </p:spPr>
      </p:pic>
      <p:sp>
        <p:nvSpPr>
          <p:cNvPr id="6" name="TextBox 5"/>
          <p:cNvSpPr txBox="1"/>
          <p:nvPr/>
        </p:nvSpPr>
        <p:spPr>
          <a:xfrm>
            <a:off x="1508760" y="1938528"/>
            <a:ext cx="10134600" cy="411480"/>
          </a:xfrm>
          <a:prstGeom prst="rect">
            <a:avLst/>
          </a:prstGeom>
          <a:noFill/>
        </p:spPr>
        <p:txBody>
          <a:bodyPr wrap="square" anchor="t" lIns="0" rIns="0" tIns="0" bIns="0">
            <a:spAutoFit/>
          </a:bodyPr>
          <a:lstStyle/>
          <a:p>
            <a:pPr algn="l"/>
            <a:r>
              <a:rPr sz="1800" b="1">
                <a:solidFill>
                  <a:srgbClr val="9B1B30"/>
                </a:solidFill>
                <a:latin typeface="Calibri"/>
              </a:rPr>
              <a:t>Estimador de Kaplan-Meier</a:t>
            </a:r>
          </a:p>
        </p:txBody>
      </p:sp>
      <p:sp>
        <p:nvSpPr>
          <p:cNvPr id="7" name="TextBox 6"/>
          <p:cNvSpPr txBox="1"/>
          <p:nvPr/>
        </p:nvSpPr>
        <p:spPr>
          <a:xfrm>
            <a:off x="1508760" y="2395728"/>
            <a:ext cx="10134600" cy="1645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Estima S(t) sin suponer una forma: los censurados reducen el conjunto en riesgo pero no cuentan como evento. Curva escalonada estándar.</a:t>
            </a:r>
          </a:p>
        </p:txBody>
      </p:sp>
      <p:sp>
        <p:nvSpPr>
          <p:cNvPr id="8" name="Oval 7"/>
          <p:cNvSpPr/>
          <p:nvPr/>
        </p:nvSpPr>
        <p:spPr>
          <a:xfrm>
            <a:off x="548640" y="4928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messages-square__FFFFFF.png"/>
          <p:cNvPicPr>
            <a:picLocks noChangeAspect="1"/>
          </p:cNvPicPr>
          <p:nvPr/>
        </p:nvPicPr>
        <p:blipFill>
          <a:blip r:embed="rId3"/>
          <a:stretch>
            <a:fillRect/>
          </a:stretch>
        </p:blipFill>
        <p:spPr>
          <a:xfrm>
            <a:off x="732983" y="5112959"/>
            <a:ext cx="289682" cy="289682"/>
          </a:xfrm>
          <a:prstGeom prst="rect">
            <a:avLst/>
          </a:prstGeom>
        </p:spPr>
      </p:pic>
      <p:sp>
        <p:nvSpPr>
          <p:cNvPr id="10" name="TextBox 9"/>
          <p:cNvSpPr txBox="1"/>
          <p:nvPr/>
        </p:nvSpPr>
        <p:spPr>
          <a:xfrm>
            <a:off x="1508760" y="4224528"/>
            <a:ext cx="10134600" cy="411480"/>
          </a:xfrm>
          <a:prstGeom prst="rect">
            <a:avLst/>
          </a:prstGeom>
          <a:noFill/>
        </p:spPr>
        <p:txBody>
          <a:bodyPr wrap="square" anchor="t" lIns="0" rIns="0" tIns="0" bIns="0">
            <a:spAutoFit/>
          </a:bodyPr>
          <a:lstStyle/>
          <a:p>
            <a:pPr algn="l"/>
            <a:r>
              <a:rPr sz="1800" b="1">
                <a:solidFill>
                  <a:srgbClr val="9B1B30"/>
                </a:solidFill>
                <a:latin typeface="Calibri"/>
              </a:rPr>
              <a:t>Prueba de log-rank</a:t>
            </a:r>
          </a:p>
        </p:txBody>
      </p:sp>
      <p:sp>
        <p:nvSpPr>
          <p:cNvPr id="11" name="TextBox 10"/>
          <p:cNvSpPr txBox="1"/>
          <p:nvPr/>
        </p:nvSpPr>
        <p:spPr>
          <a:xfrm>
            <a:off x="1508760" y="4681728"/>
            <a:ext cx="10134600" cy="1645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Compara dos o más curvas y contrasta si difieren. Da un p-valor, no el tamaño del efecto.</a:t>
            </a:r>
          </a:p>
        </p:txBody>
      </p:sp>
      <p:sp>
        <p:nvSpPr>
          <p:cNvPr id="12" name="TextBox 11"/>
          <p:cNvSpPr txBox="1"/>
          <p:nvPr/>
        </p:nvSpPr>
        <p:spPr>
          <a:xfrm>
            <a:off x="548640" y="5870448"/>
            <a:ext cx="11064240" cy="320040"/>
          </a:xfrm>
          <a:prstGeom prst="rect">
            <a:avLst/>
          </a:prstGeom>
          <a:noFill/>
        </p:spPr>
        <p:txBody>
          <a:bodyPr wrap="square">
            <a:spAutoFit/>
          </a:bodyPr>
          <a:lstStyle/>
          <a:p>
            <a:r>
              <a:rPr sz="1000">
                <a:solidFill>
                  <a:srgbClr val="6E6E6E"/>
                </a:solidFill>
                <a:latin typeface="Calibri"/>
              </a:rPr>
              <a:t>DEFINICIONES puntos 5, 6, Kaplan &amp; Meier (1958), JASA 53(282):457-481; implementación lifelines.statistics.logrank_test.</a:t>
            </a:r>
          </a:p>
        </p:txBody>
      </p:sp>
      <p:sp>
        <p:nvSpPr>
          <p:cNvPr id="13" name="Oval 12"/>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S13 — Herramientas para la Ciencia de Datos, UPC</a:t>
            </a:r>
          </a:p>
        </p:txBody>
      </p:sp>
      <p:sp>
        <p:nvSpPr>
          <p:cNvPr id="15" name="TextBox 14"/>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12 / 23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777240"/>
          </a:xfrm>
          <a:prstGeom prst="rect">
            <a:avLst/>
          </a:prstGeom>
          <a:noFill/>
        </p:spPr>
        <p:txBody>
          <a:bodyPr wrap="square" anchor="t" lIns="0" rIns="0" tIns="0" bIns="0">
            <a:spAutoFit/>
          </a:bodyPr>
          <a:lstStyle/>
          <a:p>
            <a:pPr algn="l"/>
            <a:r>
              <a:rPr sz="4000" b="1">
                <a:solidFill>
                  <a:srgbClr val="2D2D2D"/>
                </a:solidFill>
                <a:latin typeface="Calibri"/>
              </a:rPr>
              <a:t>Con ayuda financiera se reincide menos: 78 % frente a 69 % a 52 semanas</a:t>
            </a:r>
          </a:p>
        </p:txBody>
      </p:sp>
      <p:pic>
        <p:nvPicPr>
          <p:cNvPr id="3" name="Picture 2" descr="S13deck_km_rossi.png"/>
          <p:cNvPicPr>
            <a:picLocks noChangeAspect="1"/>
          </p:cNvPicPr>
          <p:nvPr/>
        </p:nvPicPr>
        <p:blipFill>
          <a:blip r:embed="rId2"/>
          <a:stretch>
            <a:fillRect/>
          </a:stretch>
        </p:blipFill>
        <p:spPr>
          <a:xfrm>
            <a:off x="548640" y="1828800"/>
            <a:ext cx="6949440" cy="3903950"/>
          </a:xfrm>
          <a:prstGeom prst="rect">
            <a:avLst/>
          </a:prstGeom>
        </p:spPr>
      </p:pic>
      <p:sp>
        <p:nvSpPr>
          <p:cNvPr id="4" name="Oval 3"/>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6" name="TextBox 5"/>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7" name="TextBox 6"/>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La curva con ayuda queda por encima toda la ventana. La brecha de S(52) es de 8 puntos; log-rank p ≈ 0,050.</a:t>
            </a:r>
          </a:p>
        </p:txBody>
      </p:sp>
      <p:sp>
        <p:nvSpPr>
          <p:cNvPr id="8" name="TextBox 7"/>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Réplica Cox/Rossi, KM por fin, S(52) 0,78 (con) vs. 0,69 (sin), log-rank p 0,050, venv/Excel (km_rossi_fin, survival).</a:t>
            </a:r>
          </a:p>
        </p:txBody>
      </p:sp>
      <p:sp>
        <p:nvSpPr>
          <p:cNvPr id="9" name="Oval 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S13 — Herramientas para la Ciencia de Datos, UPC</a:t>
            </a:r>
          </a:p>
        </p:txBody>
      </p:sp>
      <p:sp>
        <p:nvSpPr>
          <p:cNvPr id="11" name="TextBox 1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13 / 23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4</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¿Cómo se mide el efecto de una variable sobre el tiempo?</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Capítulo 13.4 — jueves, bloques A1 y A2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DEFINICIONES, SEMIPARAMÉTRICO, COX (1972)</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La Cox convierte cada atributo en un hazard ratio</a:t>
            </a:r>
          </a:p>
        </p:txBody>
      </p:sp>
      <p:sp>
        <p:nvSpPr>
          <p:cNvPr id="4" name="Oval 3"/>
          <p:cNvSpPr/>
          <p:nvPr/>
        </p:nvSpPr>
        <p:spPr>
          <a:xfrm>
            <a:off x="548640" y="2642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workflow__FFFFFF.png"/>
          <p:cNvPicPr>
            <a:picLocks noChangeAspect="1"/>
          </p:cNvPicPr>
          <p:nvPr/>
        </p:nvPicPr>
        <p:blipFill>
          <a:blip r:embed="rId2"/>
          <a:stretch>
            <a:fillRect/>
          </a:stretch>
        </p:blipFill>
        <p:spPr>
          <a:xfrm>
            <a:off x="732983" y="2826959"/>
            <a:ext cx="289682" cy="289682"/>
          </a:xfrm>
          <a:prstGeom prst="rect">
            <a:avLst/>
          </a:prstGeom>
        </p:spPr>
      </p:pic>
      <p:sp>
        <p:nvSpPr>
          <p:cNvPr id="6" name="TextBox 5"/>
          <p:cNvSpPr txBox="1"/>
          <p:nvPr/>
        </p:nvSpPr>
        <p:spPr>
          <a:xfrm>
            <a:off x="1508760" y="1938528"/>
            <a:ext cx="10134600" cy="411480"/>
          </a:xfrm>
          <a:prstGeom prst="rect">
            <a:avLst/>
          </a:prstGeom>
          <a:noFill/>
        </p:spPr>
        <p:txBody>
          <a:bodyPr wrap="square" anchor="t" lIns="0" rIns="0" tIns="0" bIns="0">
            <a:spAutoFit/>
          </a:bodyPr>
          <a:lstStyle/>
          <a:p>
            <a:pPr algn="l"/>
            <a:r>
              <a:rPr sz="1800" b="1">
                <a:solidFill>
                  <a:srgbClr val="9B1B30"/>
                </a:solidFill>
                <a:latin typeface="Calibri"/>
              </a:rPr>
              <a:t>Regresión de Cox</a:t>
            </a:r>
          </a:p>
        </p:txBody>
      </p:sp>
      <p:sp>
        <p:nvSpPr>
          <p:cNvPr id="7" name="TextBox 6"/>
          <p:cNvSpPr txBox="1"/>
          <p:nvPr/>
        </p:nvSpPr>
        <p:spPr>
          <a:xfrm>
            <a:off x="1508760" y="2395728"/>
            <a:ext cx="10134600" cy="1645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Modela h(t|x)=h₀(t)·exp(x'β): el hazard base queda libre y cada covariable multiplica el riesgo. Añade tiempo y censura a la logística.</a:t>
            </a:r>
          </a:p>
        </p:txBody>
      </p:sp>
      <p:sp>
        <p:nvSpPr>
          <p:cNvPr id="8" name="Oval 7"/>
          <p:cNvSpPr/>
          <p:nvPr/>
        </p:nvSpPr>
        <p:spPr>
          <a:xfrm>
            <a:off x="548640" y="4928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gauge__FFFFFF.png"/>
          <p:cNvPicPr>
            <a:picLocks noChangeAspect="1"/>
          </p:cNvPicPr>
          <p:nvPr/>
        </p:nvPicPr>
        <p:blipFill>
          <a:blip r:embed="rId3"/>
          <a:stretch>
            <a:fillRect/>
          </a:stretch>
        </p:blipFill>
        <p:spPr>
          <a:xfrm>
            <a:off x="732983" y="5112959"/>
            <a:ext cx="289682" cy="289682"/>
          </a:xfrm>
          <a:prstGeom prst="rect">
            <a:avLst/>
          </a:prstGeom>
        </p:spPr>
      </p:pic>
      <p:sp>
        <p:nvSpPr>
          <p:cNvPr id="10" name="TextBox 9"/>
          <p:cNvSpPr txBox="1"/>
          <p:nvPr/>
        </p:nvSpPr>
        <p:spPr>
          <a:xfrm>
            <a:off x="1508760" y="4224528"/>
            <a:ext cx="10134600" cy="411480"/>
          </a:xfrm>
          <a:prstGeom prst="rect">
            <a:avLst/>
          </a:prstGeom>
          <a:noFill/>
        </p:spPr>
        <p:txBody>
          <a:bodyPr wrap="square" anchor="t" lIns="0" rIns="0" tIns="0" bIns="0">
            <a:spAutoFit/>
          </a:bodyPr>
          <a:lstStyle/>
          <a:p>
            <a:pPr algn="l"/>
            <a:r>
              <a:rPr sz="1800" b="1">
                <a:solidFill>
                  <a:srgbClr val="9B1B30"/>
                </a:solidFill>
                <a:latin typeface="Calibri"/>
              </a:rPr>
              <a:t>Hazard ratio (HR = exp β)</a:t>
            </a:r>
          </a:p>
        </p:txBody>
      </p:sp>
      <p:sp>
        <p:nvSpPr>
          <p:cNvPr id="11" name="TextBox 10"/>
          <p:cNvSpPr txBox="1"/>
          <p:nvPr/>
        </p:nvSpPr>
        <p:spPr>
          <a:xfrm>
            <a:off x="1508760" y="4681728"/>
            <a:ext cx="10134600" cy="1645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Factor que multiplica el hazard al subir la variable una unidad. &gt;1 riesgo, &lt;1 protector, =1 sin efecto.</a:t>
            </a:r>
          </a:p>
        </p:txBody>
      </p:sp>
      <p:sp>
        <p:nvSpPr>
          <p:cNvPr id="12" name="TextBox 11"/>
          <p:cNvSpPr txBox="1"/>
          <p:nvPr/>
        </p:nvSpPr>
        <p:spPr>
          <a:xfrm>
            <a:off x="548640" y="5870448"/>
            <a:ext cx="11064240" cy="320040"/>
          </a:xfrm>
          <a:prstGeom prst="rect">
            <a:avLst/>
          </a:prstGeom>
          <a:noFill/>
        </p:spPr>
        <p:txBody>
          <a:bodyPr wrap="square">
            <a:spAutoFit/>
          </a:bodyPr>
          <a:lstStyle/>
          <a:p>
            <a:r>
              <a:rPr sz="1000">
                <a:solidFill>
                  <a:srgbClr val="6E6E6E"/>
                </a:solidFill>
                <a:latin typeface="Calibri"/>
              </a:rPr>
              <a:t>DEFINICIONES puntos 7, 8, Cox (1972), JRSS-B 34(2):187-220; Therneau &amp; Grambsch (2000). Verosimilitud parcial: β sin modelar h₀(t).</a:t>
            </a:r>
          </a:p>
        </p:txBody>
      </p:sp>
      <p:sp>
        <p:nvSpPr>
          <p:cNvPr id="13" name="Oval 12"/>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S13 — Herramientas para la Ciencia de Datos, UPC</a:t>
            </a:r>
          </a:p>
        </p:txBody>
      </p:sp>
      <p:sp>
        <p:nvSpPr>
          <p:cNvPr id="15" name="TextBox 14"/>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15 / 23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ASÍ SE HACE, LIFELINES, COXPHFITTER().FIT</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Ajustar la Cox son dos líneas: fit y hazard ratio</a:t>
            </a:r>
          </a:p>
        </p:txBody>
      </p:sp>
      <p:sp>
        <p:nvSpPr>
          <p:cNvPr id="4" name="TextBox 3"/>
          <p:cNvSpPr txBox="1"/>
          <p:nvPr/>
        </p:nvSpPr>
        <p:spPr>
          <a:xfrm>
            <a:off x="548640" y="1755648"/>
            <a:ext cx="11094720" cy="457200"/>
          </a:xfrm>
          <a:prstGeom prst="rect">
            <a:avLst/>
          </a:prstGeom>
          <a:noFill/>
        </p:spPr>
        <p:txBody>
          <a:bodyPr wrap="square" lIns="0" tIns="0" bIns="0">
            <a:spAutoFit/>
          </a:bodyPr>
          <a:lstStyle/>
          <a:p>
            <a:r>
              <a:rPr sz="1400" b="1">
                <a:solidFill>
                  <a:srgbClr val="9B1B30"/>
                </a:solidFill>
                <a:latin typeface="Calibri"/>
              </a:rPr>
              <a:t>▸ Qué hace:  </a:t>
            </a:r>
            <a:r>
              <a:rPr sz="1400">
                <a:solidFill>
                  <a:srgbClr val="2D2D2D"/>
                </a:solidFill>
                <a:latin typeface="Calibri"/>
              </a:rPr>
              <a:t>ajusta la Cox por verosimilitud parcial; cada covariable se vuelve un hazard ratio HR=exp(β).</a:t>
            </a:r>
          </a:p>
        </p:txBody>
      </p:sp>
      <p:sp>
        <p:nvSpPr>
          <p:cNvPr id="5" name="Rounded Rectangle 4"/>
          <p:cNvSpPr/>
          <p:nvPr/>
        </p:nvSpPr>
        <p:spPr>
          <a:xfrm>
            <a:off x="548640" y="2395728"/>
            <a:ext cx="11094720" cy="2980944"/>
          </a:xfrm>
          <a:prstGeom prst="roundRect">
            <a:avLst/>
          </a:prstGeom>
          <a:solidFill>
            <a:srgbClr val="F4F4F4"/>
          </a:solidFill>
          <a:ln w="9525">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2542032"/>
            <a:ext cx="10637520" cy="256032"/>
          </a:xfrm>
          <a:prstGeom prst="rect">
            <a:avLst/>
          </a:prstGeom>
          <a:noFill/>
        </p:spPr>
        <p:txBody>
          <a:bodyPr wrap="none" lIns="0" tIns="0" bIns="0">
            <a:spAutoFit/>
          </a:bodyPr>
          <a:lstStyle/>
          <a:p>
            <a:r>
              <a:rPr sz="1050" b="1">
                <a:solidFill>
                  <a:srgbClr val="9B1B30"/>
                </a:solidFill>
                <a:latin typeface="Calibri"/>
              </a:rPr>
              <a:t>CÓDIGO REAL DEL CUADERNO</a:t>
            </a:r>
          </a:p>
        </p:txBody>
      </p:sp>
      <p:sp>
        <p:nvSpPr>
          <p:cNvPr id="7" name="TextBox 6"/>
          <p:cNvSpPr txBox="1"/>
          <p:nvPr/>
        </p:nvSpPr>
        <p:spPr>
          <a:xfrm>
            <a:off x="859536" y="2926080"/>
            <a:ext cx="10472928" cy="2377440"/>
          </a:xfrm>
          <a:prstGeom prst="rect">
            <a:avLst/>
          </a:prstGeom>
          <a:noFill/>
        </p:spPr>
        <p:txBody>
          <a:bodyPr wrap="square" lIns="0" tIns="0" bIns="0">
            <a:spAutoFit/>
          </a:bodyPr>
          <a:lstStyle/>
          <a:p>
            <a:pPr>
              <a:lnSpc>
                <a:spcPct val="130000"/>
              </a:lnSpc>
              <a:spcAft>
                <a:spcPts val="400"/>
              </a:spcAft>
            </a:pPr>
            <a:r>
              <a:rPr sz="1200">
                <a:solidFill>
                  <a:srgbClr val="2D2D2D"/>
                </a:solidFill>
                <a:latin typeface="Consolas"/>
              </a:rPr>
              <a:t>from lifelines import CoxPHFitter</a:t>
            </a:r>
          </a:p>
          <a:p>
            <a:pPr>
              <a:lnSpc>
                <a:spcPct val="130000"/>
              </a:lnSpc>
              <a:spcAft>
                <a:spcPts val="400"/>
              </a:spcAft>
            </a:pPr>
            <a:r>
              <a:rPr sz="1200">
                <a:solidFill>
                  <a:srgbClr val="2D2D2D"/>
                </a:solidFill>
                <a:latin typeface="Consolas"/>
              </a:rPr>
              <a:t/>
            </a:r>
          </a:p>
          <a:p>
            <a:pPr>
              <a:lnSpc>
                <a:spcPct val="130000"/>
              </a:lnSpc>
              <a:spcAft>
                <a:spcPts val="400"/>
              </a:spcAft>
            </a:pPr>
            <a:r>
              <a:rPr sz="1200">
                <a:solidFill>
                  <a:srgbClr val="2D2D2D"/>
                </a:solidFill>
                <a:latin typeface="Consolas"/>
              </a:rPr>
              <a:t>cph = CoxPHFitter().fit(rossi, duration_col="week", event_col="arrest")</a:t>
            </a:r>
          </a:p>
          <a:p>
            <a:pPr>
              <a:lnSpc>
                <a:spcPct val="130000"/>
              </a:lnSpc>
              <a:spcAft>
                <a:spcPts val="400"/>
              </a:spcAft>
            </a:pPr>
            <a:r>
              <a:rPr sz="1200">
                <a:solidFill>
                  <a:srgbClr val="2D2D2D"/>
                </a:solidFill>
                <a:latin typeface="Consolas"/>
              </a:rPr>
              <a:t>print(cph.summary[["exp(coef)", "p"]].round(4).to_string())</a:t>
            </a:r>
          </a:p>
          <a:p>
            <a:pPr>
              <a:lnSpc>
                <a:spcPct val="130000"/>
              </a:lnSpc>
              <a:spcAft>
                <a:spcPts val="400"/>
              </a:spcAft>
            </a:pPr>
            <a:r>
              <a:rPr sz="1200">
                <a:solidFill>
                  <a:srgbClr val="2D2D2D"/>
                </a:solidFill>
                <a:latin typeface="Consolas"/>
              </a:rPr>
              <a:t>print(f"C-index = {cph.concordance_index_:.4f}")</a:t>
            </a:r>
          </a:p>
          <a:p>
            <a:pPr>
              <a:lnSpc>
                <a:spcPct val="130000"/>
              </a:lnSpc>
              <a:spcAft>
                <a:spcPts val="400"/>
              </a:spcAft>
            </a:pPr>
            <a:r>
              <a:rPr sz="1200">
                <a:solidFill>
                  <a:srgbClr val="2D2D2D"/>
                </a:solidFill>
                <a:latin typeface="Consolas"/>
              </a:rPr>
              <a:t># HR:  fin 0,68 ,  age 0,94 ,  prio 1,10     |     C-index 0,64</a:t>
            </a:r>
          </a:p>
        </p:txBody>
      </p:sp>
      <p:sp>
        <p:nvSpPr>
          <p:cNvPr id="8" name="TextBox 7"/>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notebook Sección 2, Cox sobre Rossi, exp(coef) → survival!B2-B4 y hoja cox_rossi, C-index survival!B15 — venv/Excel.</a:t>
            </a:r>
          </a:p>
        </p:txBody>
      </p:sp>
      <p:sp>
        <p:nvSpPr>
          <p:cNvPr id="9" name="Rounded Rectangle 8"/>
          <p:cNvSpPr/>
          <p:nvPr/>
        </p:nvSpPr>
        <p:spPr>
          <a:xfrm>
            <a:off x="9098280" y="310896"/>
            <a:ext cx="256032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celda 9</a:t>
            </a:r>
          </a:p>
        </p:txBody>
      </p:sp>
      <p:sp>
        <p:nvSpPr>
          <p:cNvPr id="10" name="Oval 9"/>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S13 — Herramientas para la Ciencia de Datos, UPC</a:t>
            </a:r>
          </a:p>
        </p:txBody>
      </p:sp>
      <p:sp>
        <p:nvSpPr>
          <p:cNvPr id="12" name="TextBox 11"/>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16 / 23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777240"/>
          </a:xfrm>
          <a:prstGeom prst="rect">
            <a:avLst/>
          </a:prstGeom>
          <a:noFill/>
        </p:spPr>
        <p:txBody>
          <a:bodyPr wrap="square" anchor="t" lIns="0" rIns="0" tIns="0" bIns="0">
            <a:spAutoFit/>
          </a:bodyPr>
          <a:lstStyle/>
          <a:p>
            <a:pPr algn="l"/>
            <a:r>
              <a:rPr sz="4000" b="1">
                <a:solidFill>
                  <a:srgbClr val="2D2D2D"/>
                </a:solidFill>
                <a:latin typeface="Calibri"/>
              </a:rPr>
              <a:t>La ayuda financiera baja el riesgo 32 %; cada antecedente lo sube 10 %</a:t>
            </a:r>
          </a:p>
        </p:txBody>
      </p:sp>
      <p:pic>
        <p:nvPicPr>
          <p:cNvPr id="3" name="Picture 2" descr="S13deck_forest.png"/>
          <p:cNvPicPr>
            <a:picLocks noChangeAspect="1"/>
          </p:cNvPicPr>
          <p:nvPr/>
        </p:nvPicPr>
        <p:blipFill>
          <a:blip r:embed="rId2"/>
          <a:stretch>
            <a:fillRect/>
          </a:stretch>
        </p:blipFill>
        <p:spPr>
          <a:xfrm>
            <a:off x="548640" y="1828800"/>
            <a:ext cx="6949440" cy="4032327"/>
          </a:xfrm>
          <a:prstGeom prst="rect">
            <a:avLst/>
          </a:prstGeom>
        </p:spPr>
      </p:pic>
      <p:sp>
        <p:nvSpPr>
          <p:cNvPr id="4" name="Oval 3"/>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6" name="TextBox 5"/>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7" name="TextBox 6"/>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Solo fin, age y prio son significativos (IC no cruza 1). fin HR 0,68, age 0,94, prio 1,10.</a:t>
            </a:r>
          </a:p>
        </p:txBody>
      </p:sp>
      <p:sp>
        <p:nvSpPr>
          <p:cNvPr id="8" name="TextBox 7"/>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Réplica Cox/Rossi, exp(coef) con IC 95 %, fin 0,68 / age 0,94 / prio 1,10 — concordancia 0,64 — venv/Excel (cox_rossi).</a:t>
            </a:r>
          </a:p>
        </p:txBody>
      </p:sp>
      <p:sp>
        <p:nvSpPr>
          <p:cNvPr id="9" name="Oval 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S13 — Herramientas para la Ciencia de Datos, UPC</a:t>
            </a:r>
          </a:p>
        </p:txBody>
      </p:sp>
      <p:sp>
        <p:nvSpPr>
          <p:cNvPr id="11" name="TextBox 1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17 / 23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5</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¿Se sostiene con datos reales? La réplica de Cox (1972)</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Capítulo 13.5 — jueves, bloques A1 y A2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2D2D2D"/>
        </a:solidFill>
        <a:effectLst/>
      </p:bgPr>
    </p:bg>
    <p:spTree>
      <p:nvGrpSpPr>
        <p:cNvPr id="1" name=""/>
        <p:cNvGrpSpPr/>
        <p:nvPr/>
      </p:nvGrpSpPr>
      <p:grpSpPr/>
      <p:sp>
        <p:nvSpPr>
          <p:cNvPr id="2" name="Oval 1"/>
          <p:cNvSpPr/>
          <p:nvPr/>
        </p:nvSpPr>
        <p:spPr>
          <a:xfrm>
            <a:off x="5638800" y="914400"/>
            <a:ext cx="914400" cy="9144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800" b="1">
                <a:solidFill>
                  <a:srgbClr val="FFFFFF"/>
                </a:solidFill>
                <a:latin typeface="Calibri"/>
              </a:rPr>
              <a:t>“</a:t>
            </a:r>
          </a:p>
        </p:txBody>
      </p:sp>
      <p:sp>
        <p:nvSpPr>
          <p:cNvPr id="3" name="TextBox 2"/>
          <p:cNvSpPr txBox="1"/>
          <p:nvPr/>
        </p:nvSpPr>
        <p:spPr>
          <a:xfrm>
            <a:off x="1645920" y="2377440"/>
            <a:ext cx="8900160" cy="2377440"/>
          </a:xfrm>
          <a:prstGeom prst="rect">
            <a:avLst/>
          </a:prstGeom>
          <a:noFill/>
        </p:spPr>
        <p:txBody>
          <a:bodyPr wrap="square" anchor="t" lIns="0" rIns="0" tIns="0" bIns="0">
            <a:spAutoFit/>
          </a:bodyPr>
          <a:lstStyle/>
          <a:p>
            <a:pPr algn="ctr">
              <a:lnSpc>
                <a:spcPct val="125000"/>
              </a:lnSpc>
            </a:pPr>
            <a:r>
              <a:rPr sz="2600" b="0">
                <a:solidFill>
                  <a:srgbClr val="FFFFFF"/>
                </a:solidFill>
                <a:latin typeface="Calibri"/>
              </a:rPr>
              <a:t>En pruebas de vida, seguimiento médico y otros campos, la observación del momento en que ocurre el evento de interés (llamado muerte) puede quedar impedida, para algunos elementos de la muestra, por la ocurrencia previa de otro evento (llamado pérdida).</a:t>
            </a:r>
          </a:p>
        </p:txBody>
      </p:sp>
      <p:sp>
        <p:nvSpPr>
          <p:cNvPr id="4" name="TextBox 3"/>
          <p:cNvSpPr txBox="1"/>
          <p:nvPr/>
        </p:nvSpPr>
        <p:spPr>
          <a:xfrm>
            <a:off x="1645920" y="5120640"/>
            <a:ext cx="8900160" cy="548640"/>
          </a:xfrm>
          <a:prstGeom prst="rect">
            <a:avLst/>
          </a:prstGeom>
          <a:noFill/>
        </p:spPr>
        <p:txBody>
          <a:bodyPr wrap="square" anchor="t" lIns="0" rIns="0" tIns="0" bIns="0">
            <a:spAutoFit/>
          </a:bodyPr>
          <a:lstStyle/>
          <a:p>
            <a:pPr algn="ctr"/>
            <a:r>
              <a:rPr sz="1500" b="0">
                <a:solidFill>
                  <a:srgbClr val="FCEDEE"/>
                </a:solidFill>
                <a:latin typeface="Calibri"/>
              </a:rPr>
              <a:t>— Kaplan y Meier, 1958 — primera línea del resumen (p. 457)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QUÉ PREGUNTABAN LOS PAPERS Y POR QUÉ USARON LO QUE USARON</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Tres decisiones, cada una con su alternativa descartada</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1</a:t>
            </a:r>
          </a:p>
        </p:txBody>
      </p:sp>
      <p:sp>
        <p:nvSpPr>
          <p:cNvPr id="6" name="TextBox 5"/>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Por qué un producto y no una proporción</a:t>
            </a:r>
          </a:p>
        </p:txBody>
      </p:sp>
      <p:sp>
        <p:nvSpPr>
          <p:cNvPr id="7" name="TextBox 6"/>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Con censura, el denominador cambia a cada instante. La única cantidad que TODO sujeto puede alimentar es local: la probabilidad de no fallar en un instante, dado que se llegó vivo hasta ahí.</a:t>
            </a:r>
          </a:p>
        </p:txBody>
      </p:sp>
      <p:sp>
        <p:nvSpPr>
          <p:cNvPr id="8" name="TextBox 7"/>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El censurado achica el riesgo, no baja el escalón</a:t>
            </a:r>
          </a:p>
        </p:txBody>
      </p:sp>
      <p:sp>
        <p:nvSpPr>
          <p:cNvPr id="9" name="Rounded Rectangle 8"/>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11" name="TextBox 10"/>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Por qué el riesgo y no el tiempo</a:t>
            </a:r>
          </a:p>
        </p:txBody>
      </p:sp>
      <p:sp>
        <p:nvSpPr>
          <p:cNvPr id="12" name="TextBox 11"/>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El hazard está definido CONDICIONADO a seguir vivo, que es justo lo que aporta un censurado. La forma de producto deja que cada atributo entre como un factor que multiplica el riesgo.</a:t>
            </a:r>
          </a:p>
        </p:txBody>
      </p:sp>
      <p:sp>
        <p:nvSpPr>
          <p:cNvPr id="13" name="TextBox 12"/>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Postulado «provisionally»: un supuesto, no una verdad</a:t>
            </a:r>
          </a:p>
        </p:txBody>
      </p:sp>
      <p:sp>
        <p:nvSpPr>
          <p:cNvPr id="14" name="Rounded Rectangle 13"/>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3</a:t>
            </a:r>
          </a:p>
        </p:txBody>
      </p:sp>
      <p:sp>
        <p:nvSpPr>
          <p:cNvPr id="16" name="TextBox 15"/>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Por qué el riesgo base queda libre</a:t>
            </a:r>
          </a:p>
        </p:txBody>
      </p:sp>
      <p:sp>
        <p:nvSpPr>
          <p:cNvPr id="17" name="TextBox 16"/>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Se gana no decidir la forma de la curva base, para la que casi nunca hay evidencia. Se paga que el efecto ya no puede depender del tiempo: riesgos proporcionales.</a:t>
            </a:r>
          </a:p>
        </p:txBody>
      </p:sp>
      <p:sp>
        <p:nvSpPr>
          <p:cNvPr id="18" name="TextBox 17"/>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La factura se cobra en el test de Schoenfeld</a:t>
            </a:r>
          </a:p>
        </p:txBody>
      </p:sp>
      <p:sp>
        <p:nvSpPr>
          <p:cNvPr id="19" name="TextBox 18"/>
          <p:cNvSpPr txBox="1"/>
          <p:nvPr/>
        </p:nvSpPr>
        <p:spPr>
          <a:xfrm>
            <a:off x="548640" y="5870448"/>
            <a:ext cx="11064240" cy="320040"/>
          </a:xfrm>
          <a:prstGeom prst="rect">
            <a:avLst/>
          </a:prstGeom>
          <a:noFill/>
        </p:spPr>
        <p:txBody>
          <a:bodyPr wrap="square">
            <a:spAutoFit/>
          </a:bodyPr>
          <a:lstStyle/>
          <a:p>
            <a:r>
              <a:rPr sz="1000">
                <a:solidFill>
                  <a:srgbClr val="6E6E6E"/>
                </a:solidFill>
                <a:latin typeface="Calibri"/>
              </a:rPr>
              <a:t>Decisiones documentadas en los originales: REPLICACION_PAPER Sección 0.3 (Kaplan y Meier 1958, pp. 457-458; Cox 1972 y su relato de 1986).</a:t>
            </a:r>
          </a:p>
        </p:txBody>
      </p:sp>
      <p:sp>
        <p:nvSpPr>
          <p:cNvPr id="20" name="Oval 19"/>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S13 — Herramientas para la Ciencia de Datos, UPC</a:t>
            </a:r>
          </a:p>
        </p:txBody>
      </p:sp>
      <p:sp>
        <p:nvSpPr>
          <p:cNvPr id="22" name="TextBox 21"/>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20 / 23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4</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¿Cómo se mide el efecto de una variable sobre el tiempo?</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¿Cómo se mide el efecto de una variable sobre el tiempo?</a:t>
            </a:r>
          </a:p>
        </p:txBody>
      </p:sp>
      <p:pic>
        <p:nvPicPr>
          <p:cNvPr id="5" name="Picture 4" descr="chart-column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CEDEE"/>
        </a:solidFill>
        <a:effectLst/>
      </p:bgPr>
    </p:bg>
    <p:spTree>
      <p:nvGrpSpPr>
        <p:cNvPr id="1" name=""/>
        <p:cNvGrpSpPr/>
        <p:nvPr/>
      </p:nvGrpSpPr>
      <p:grpSpPr/>
      <p:sp>
        <p:nvSpPr>
          <p:cNvPr id="2" name="Oval 1"/>
          <p:cNvSpPr/>
          <p:nvPr/>
        </p:nvSpPr>
        <p:spPr>
          <a:xfrm>
            <a:off x="5593080" y="914400"/>
            <a:ext cx="1005840" cy="10058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400" b="1">
                <a:solidFill>
                  <a:srgbClr val="FFFFFF"/>
                </a:solidFill>
                <a:latin typeface="Calibri"/>
              </a:rPr>
              <a:t>?</a:t>
            </a:r>
          </a:p>
        </p:txBody>
      </p:sp>
      <p:sp>
        <p:nvSpPr>
          <p:cNvPr id="3" name="TextBox 2"/>
          <p:cNvSpPr txBox="1"/>
          <p:nvPr/>
        </p:nvSpPr>
        <p:spPr>
          <a:xfrm>
            <a:off x="1371600" y="2468880"/>
            <a:ext cx="9448800" cy="2011680"/>
          </a:xfrm>
          <a:prstGeom prst="rect">
            <a:avLst/>
          </a:prstGeom>
          <a:noFill/>
        </p:spPr>
        <p:txBody>
          <a:bodyPr wrap="square" anchor="t" lIns="0" rIns="0" tIns="0" bIns="0">
            <a:spAutoFit/>
          </a:bodyPr>
          <a:lstStyle/>
          <a:p>
            <a:pPr algn="ctr"/>
            <a:r>
              <a:rPr sz="3200" b="1">
                <a:solidFill>
                  <a:srgbClr val="9B1B30"/>
                </a:solidFill>
                <a:latin typeface="Calibri"/>
              </a:rPr>
              <a:t>¿Un factor que predice el churn siempre sirve para decidir la intervención?</a:t>
            </a:r>
          </a:p>
        </p:txBody>
      </p:sp>
      <p:sp>
        <p:nvSpPr>
          <p:cNvPr id="4" name="TextBox 3"/>
          <p:cNvSpPr txBox="1"/>
          <p:nvPr/>
        </p:nvSpPr>
        <p:spPr>
          <a:xfrm>
            <a:off x="2011680" y="4754880"/>
            <a:ext cx="8168640" cy="1280160"/>
          </a:xfrm>
          <a:prstGeom prst="rect">
            <a:avLst/>
          </a:prstGeom>
          <a:noFill/>
        </p:spPr>
        <p:txBody>
          <a:bodyPr wrap="square" anchor="t" lIns="0" rIns="0" tIns="0" bIns="0">
            <a:spAutoFit/>
          </a:bodyPr>
          <a:lstStyle/>
          <a:p>
            <a:pPr algn="ctr"/>
            <a:r>
              <a:rPr sz="1500" b="0">
                <a:solidFill>
                  <a:srgbClr val="2D2D2D"/>
                </a:solidFill>
                <a:latin typeface="Calibri"/>
              </a:rPr>
              <a:t>prio es muy significativo pero no accionable; fin es protector y accionable. Significativo no es lo mismo que útil.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BIBLIOGRAFÍA</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Cuatro lecturas anclan la supervivencia y el CLV</a:t>
            </a:r>
          </a:p>
        </p:txBody>
      </p:sp>
      <p:sp>
        <p:nvSpPr>
          <p:cNvPr id="4" name="Oval 3"/>
          <p:cNvSpPr/>
          <p:nvPr/>
        </p:nvSpPr>
        <p:spPr>
          <a:xfrm>
            <a:off x="548640" y="1810512"/>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5" name="TextBox 4"/>
          <p:cNvSpPr txBox="1"/>
          <p:nvPr/>
        </p:nvSpPr>
        <p:spPr>
          <a:xfrm>
            <a:off x="1097280" y="1783080"/>
            <a:ext cx="10546080" cy="320040"/>
          </a:xfrm>
          <a:prstGeom prst="rect">
            <a:avLst/>
          </a:prstGeom>
          <a:noFill/>
        </p:spPr>
        <p:txBody>
          <a:bodyPr wrap="square" anchor="t" lIns="0" rIns="0" tIns="0" bIns="0">
            <a:spAutoFit/>
          </a:bodyPr>
          <a:lstStyle/>
          <a:p>
            <a:pPr algn="l"/>
            <a:r>
              <a:rPr sz="1500" b="1">
                <a:solidFill>
                  <a:srgbClr val="2D2D2D"/>
                </a:solidFill>
                <a:latin typeface="Calibri"/>
              </a:rPr>
              <a:t>Kaplan &amp; Meier (1958) — Nonparametric Estimation</a:t>
            </a:r>
          </a:p>
        </p:txBody>
      </p:sp>
      <p:sp>
        <p:nvSpPr>
          <p:cNvPr id="6" name="TextBox 5"/>
          <p:cNvSpPr txBox="1"/>
          <p:nvPr/>
        </p:nvSpPr>
        <p:spPr>
          <a:xfrm>
            <a:off x="1097280" y="2093976"/>
            <a:ext cx="10546080" cy="274320"/>
          </a:xfrm>
          <a:prstGeom prst="rect">
            <a:avLst/>
          </a:prstGeom>
          <a:noFill/>
        </p:spPr>
        <p:txBody>
          <a:bodyPr wrap="square" anchor="t" lIns="0" rIns="0" tIns="0" bIns="0">
            <a:spAutoFit/>
          </a:bodyPr>
          <a:lstStyle/>
          <a:p>
            <a:pPr algn="l"/>
            <a:r>
              <a:rPr sz="1200" b="0">
                <a:solidFill>
                  <a:srgbClr val="6E6E6E"/>
                </a:solidFill>
                <a:latin typeface="Calibri"/>
              </a:rPr>
              <a:t>JASA 53(282):457-481  —  el estimador producto-límite y la curva de retención</a:t>
            </a:r>
          </a:p>
        </p:txBody>
      </p:sp>
      <p:sp>
        <p:nvSpPr>
          <p:cNvPr id="7" name="Oval 6"/>
          <p:cNvSpPr/>
          <p:nvPr/>
        </p:nvSpPr>
        <p:spPr>
          <a:xfrm>
            <a:off x="548640" y="2706624"/>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8" name="TextBox 7"/>
          <p:cNvSpPr txBox="1"/>
          <p:nvPr/>
        </p:nvSpPr>
        <p:spPr>
          <a:xfrm>
            <a:off x="1097280" y="2679192"/>
            <a:ext cx="10546080" cy="320040"/>
          </a:xfrm>
          <a:prstGeom prst="rect">
            <a:avLst/>
          </a:prstGeom>
          <a:noFill/>
        </p:spPr>
        <p:txBody>
          <a:bodyPr wrap="square" anchor="t" lIns="0" rIns="0" tIns="0" bIns="0">
            <a:spAutoFit/>
          </a:bodyPr>
          <a:lstStyle/>
          <a:p>
            <a:pPr algn="l"/>
            <a:r>
              <a:rPr sz="1500" b="1">
                <a:solidFill>
                  <a:srgbClr val="2D2D2D"/>
                </a:solidFill>
                <a:latin typeface="Calibri"/>
              </a:rPr>
              <a:t>Cox (1972) — Regression Models and Life-Tables</a:t>
            </a:r>
          </a:p>
        </p:txBody>
      </p:sp>
      <p:sp>
        <p:nvSpPr>
          <p:cNvPr id="9" name="TextBox 8"/>
          <p:cNvSpPr txBox="1"/>
          <p:nvPr/>
        </p:nvSpPr>
        <p:spPr>
          <a:xfrm>
            <a:off x="1097280" y="2990088"/>
            <a:ext cx="10546080" cy="274320"/>
          </a:xfrm>
          <a:prstGeom prst="rect">
            <a:avLst/>
          </a:prstGeom>
          <a:noFill/>
        </p:spPr>
        <p:txBody>
          <a:bodyPr wrap="square" anchor="t" lIns="0" rIns="0" tIns="0" bIns="0">
            <a:spAutoFit/>
          </a:bodyPr>
          <a:lstStyle/>
          <a:p>
            <a:pPr algn="l"/>
            <a:r>
              <a:rPr sz="1200" b="0">
                <a:solidFill>
                  <a:srgbClr val="6E6E6E"/>
                </a:solidFill>
                <a:latin typeface="Calibri"/>
              </a:rPr>
              <a:t>JRSS-B 34(2):187-220  —  el modelo de riesgos proporcionales y el hazard ratio</a:t>
            </a:r>
          </a:p>
        </p:txBody>
      </p:sp>
      <p:sp>
        <p:nvSpPr>
          <p:cNvPr id="10" name="Oval 9"/>
          <p:cNvSpPr/>
          <p:nvPr/>
        </p:nvSpPr>
        <p:spPr>
          <a:xfrm>
            <a:off x="548640" y="3602736"/>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TextBox 10"/>
          <p:cNvSpPr txBox="1"/>
          <p:nvPr/>
        </p:nvSpPr>
        <p:spPr>
          <a:xfrm>
            <a:off x="1097280" y="3575304"/>
            <a:ext cx="10546080" cy="320040"/>
          </a:xfrm>
          <a:prstGeom prst="rect">
            <a:avLst/>
          </a:prstGeom>
          <a:noFill/>
        </p:spPr>
        <p:txBody>
          <a:bodyPr wrap="square" anchor="t" lIns="0" rIns="0" tIns="0" bIns="0">
            <a:spAutoFit/>
          </a:bodyPr>
          <a:lstStyle/>
          <a:p>
            <a:pPr algn="l"/>
            <a:r>
              <a:rPr sz="1500" b="1">
                <a:solidFill>
                  <a:srgbClr val="2D2D2D"/>
                </a:solidFill>
                <a:latin typeface="Calibri"/>
              </a:rPr>
              <a:t>Therneau &amp; Grambsch (2000) — Modeling Survival Data</a:t>
            </a:r>
          </a:p>
        </p:txBody>
      </p:sp>
      <p:sp>
        <p:nvSpPr>
          <p:cNvPr id="12" name="TextBox 11"/>
          <p:cNvSpPr txBox="1"/>
          <p:nvPr/>
        </p:nvSpPr>
        <p:spPr>
          <a:xfrm>
            <a:off x="1097280" y="3886200"/>
            <a:ext cx="10546080" cy="274320"/>
          </a:xfrm>
          <a:prstGeom prst="rect">
            <a:avLst/>
          </a:prstGeom>
          <a:noFill/>
        </p:spPr>
        <p:txBody>
          <a:bodyPr wrap="square" anchor="t" lIns="0" rIns="0" tIns="0" bIns="0">
            <a:spAutoFit/>
          </a:bodyPr>
          <a:lstStyle/>
          <a:p>
            <a:pPr algn="l"/>
            <a:r>
              <a:rPr sz="1200" b="0">
                <a:solidFill>
                  <a:srgbClr val="6E6E6E"/>
                </a:solidFill>
                <a:latin typeface="Calibri"/>
              </a:rPr>
              <a:t>Springer  —  diagnóstico de PH por residuales de Schoenfeld</a:t>
            </a:r>
          </a:p>
        </p:txBody>
      </p:sp>
      <p:sp>
        <p:nvSpPr>
          <p:cNvPr id="13" name="Oval 12"/>
          <p:cNvSpPr/>
          <p:nvPr/>
        </p:nvSpPr>
        <p:spPr>
          <a:xfrm>
            <a:off x="548640" y="4498848"/>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4" name="TextBox 13"/>
          <p:cNvSpPr txBox="1"/>
          <p:nvPr/>
        </p:nvSpPr>
        <p:spPr>
          <a:xfrm>
            <a:off x="1097280" y="4471416"/>
            <a:ext cx="10546080" cy="320040"/>
          </a:xfrm>
          <a:prstGeom prst="rect">
            <a:avLst/>
          </a:prstGeom>
          <a:noFill/>
        </p:spPr>
        <p:txBody>
          <a:bodyPr wrap="square" anchor="t" lIns="0" rIns="0" tIns="0" bIns="0">
            <a:spAutoFit/>
          </a:bodyPr>
          <a:lstStyle/>
          <a:p>
            <a:pPr algn="l"/>
            <a:r>
              <a:rPr sz="1500" b="1">
                <a:solidFill>
                  <a:srgbClr val="2D2D2D"/>
                </a:solidFill>
                <a:latin typeface="Calibri"/>
              </a:rPr>
              <a:t>Fader, Hardie &amp; Lee (2005) — RFM and CLV</a:t>
            </a:r>
          </a:p>
        </p:txBody>
      </p:sp>
      <p:sp>
        <p:nvSpPr>
          <p:cNvPr id="15" name="TextBox 14"/>
          <p:cNvSpPr txBox="1"/>
          <p:nvPr/>
        </p:nvSpPr>
        <p:spPr>
          <a:xfrm>
            <a:off x="1097280" y="4782312"/>
            <a:ext cx="10546080" cy="274320"/>
          </a:xfrm>
          <a:prstGeom prst="rect">
            <a:avLst/>
          </a:prstGeom>
          <a:noFill/>
        </p:spPr>
        <p:txBody>
          <a:bodyPr wrap="square" anchor="t" lIns="0" rIns="0" tIns="0" bIns="0">
            <a:spAutoFit/>
          </a:bodyPr>
          <a:lstStyle/>
          <a:p>
            <a:pPr algn="l"/>
            <a:r>
              <a:rPr sz="1200" b="0">
                <a:solidFill>
                  <a:srgbClr val="6E6E6E"/>
                </a:solidFill>
                <a:latin typeface="Calibri"/>
              </a:rPr>
              <a:t>JMR 42(4):415-430  —  CLV desde probabilidades de retención/supervivencia</a:t>
            </a:r>
          </a:p>
        </p:txBody>
      </p:sp>
      <p:sp>
        <p:nvSpPr>
          <p:cNvPr id="16" name="Oval 15"/>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S13 — Herramientas para la Ciencia de Datos, UPC</a:t>
            </a:r>
          </a:p>
        </p:txBody>
      </p:sp>
      <p:sp>
        <p:nvSpPr>
          <p:cNvPr id="18" name="TextBox 17"/>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23 / 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