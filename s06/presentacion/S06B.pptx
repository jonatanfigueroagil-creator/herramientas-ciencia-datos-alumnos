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73" r:id="rId25"/>
    <p:sldId id="281" r:id="rId33"/>
    <p:sldId id="280" r:id="rId32"/>
    <p:sldId id="274" r:id="rId26"/>
    <p:sldId id="275" r:id="rId27"/>
    <p:sldId id="276" r:id="rId28"/>
    <p:sldId id="277" r:id="rId29"/>
    <p:sldId id="278" r:id="rId30"/>
    <p:sldId id="279" r:id="rId31"/>
    <p:sldId id="282" r:id="rId34"/>
    <p:sldId id="283" r:id="rId35"/>
    <p:sldId id="284" r:id="rId36"/>
    <p:sldId id="285" r:id="rId37"/>
    <p:sldId id="286" r:id="rId38"/>
  </p:sldIdLst>
  <p:sldSz cx="12192000" cy="68580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25" Type="http://schemas.openxmlformats.org/officeDocument/2006/relationships/slide" Target="slides/slide3.xml"/><Relationship Id="rId26" Type="http://schemas.openxmlformats.org/officeDocument/2006/relationships/slide" Target="slides/slide6.xml"/><Relationship Id="rId27" Type="http://schemas.openxmlformats.org/officeDocument/2006/relationships/slide" Target="slides/slide7.xml"/><Relationship Id="rId28" Type="http://schemas.openxmlformats.org/officeDocument/2006/relationships/slide" Target="slides/slide8.xml"/><Relationship Id="rId29" Type="http://schemas.openxmlformats.org/officeDocument/2006/relationships/slide" Target="slides/slide9.xml"/><Relationship Id="rId30" Type="http://schemas.openxmlformats.org/officeDocument/2006/relationships/slide" Target="slides/slide10.xml"/><Relationship Id="rId31" Type="http://schemas.openxmlformats.org/officeDocument/2006/relationships/slide" Target="slides/slide11.xml"/><Relationship Id="rId32" Type="http://schemas.openxmlformats.org/officeDocument/2006/relationships/slide" Target="slides/slide5.xml"/><Relationship Id="rId33" Type="http://schemas.openxmlformats.org/officeDocument/2006/relationships/slide" Target="slides/slide4.xml"/><Relationship Id="rId34" Type="http://schemas.openxmlformats.org/officeDocument/2006/relationships/slide" Target="slides/slide12.xml"/><Relationship Id="rId35" Type="http://schemas.openxmlformats.org/officeDocument/2006/relationships/slide" Target="slides/slide13.xml"/><Relationship Id="rId36" Type="http://schemas.openxmlformats.org/officeDocument/2006/relationships/slide" Target="slides/slide14.xml"/><Relationship Id="rId37" Type="http://schemas.openxmlformats.org/officeDocument/2006/relationships/slide" Target="slides/slide15.xml"/><Relationship Id="rId38"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Abrir la sesión 6. Retomar en una frase la S05: con muchas variables, la regularización contraía hacia cero o descartaba predictores originales. La promesa de hoy: en lugar de descartar, se CREAN variables nuevas —los componentes— que comprimen la información. Al terminar, cada estudiante sabrá calcular e interpretar componentes principales y su varianza explicada, distinguir el PCA del Análisis Factorial, visualizar alta dimensión con t-SNE/UMAP reconociendo sus límites y decidir qué técnica usar según el objetivo: modelar o visualizar. El método del deck: cada cifra se muestra contra su fuente y se lee del Excel de resultados. El botón «Abrir en Colab» lleva al cuaderno. El escalado de S05 y el VIF de S04 se asumen cubiertos. [Viernes]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ANUNCIAR LO QUE SE VA A MOSTRAR. Las cuatro tarjetas son los CUATRO ACTOS del deck —sus divisores, en el mismo orden— y dentro de cada uno los pasos que contiene; el chip apunta al mapa de la sesión del cuaderno (celda 0). DESARROLLAR CADA UNO EN VOZ ALTA: ACTO 1 EL PROBLEMA (contexto) — por qué reducir: redundancia entre variables correlacionadas, distancias que se vuelven engañosas y la imposibilidad de VER en 30 ejes; y la definición que ancla todo, el componente principal como eje nuevo de máxima varianza. ACTO 2 LA EVIDENCIA — el PCA por dentro (eigenvalores y eigenvectores en pocas líneas de numpy), la réplica sobre Iris (92,46 % en PC1), el scree plot y el criterio de Kaiser, la lección de estandarizar (Wine) y el biplot para nombrar el componente; cierra con los supuestos. ACTO 3 LA APLICACIÓN — en qué se diferencia el Análisis Factorial (latentes, rotación varimax) del PCA, y la PCR como segunda vía contra la multicolinealidad de S04. ACTO 4 LA DECISIÓN — t-SNE y UMAP con sus parámetros (perplejidad, n_neighbors, min_dist), qué NO se puede leer en el mapa, y la regla de decisión: modelar o visualizar. El LABORATORIO (PCR + visualización 2D) es el cierre y se presenta al final, por eso no es un acto. Aviso clave: t-SNE y UMAP aquí SOLO visualizan; el clustering es S07. [Viernes]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(TRES supuestos en pantalla, uno por fila; el cuarto se dice de viva voz). Cada decisión se DIAGNOSTICA y luego se DECIDE con un método. (1) ESTANDARIZAR, la decisión central de S06: escalas dispares o un PC1 que 'explica' casi todo delatan que hay que estandarizar; correlación por defecto, covarianza solo con unidades homogéneas (Iris 0,9246 vs. 0,7296). (2) ADECUACIÓN DEL FACTORIAL: se comprueba ANTES de aplicarlo, con KMO (&lt;0,60 no factorizable) y Bartlett. Iris da KMO 0,5401 y Wine 0,7787: por eso el cuaderno factoriza Iris SOLO como CONTRAEJEMPLO deliberado —y el propio ajuste lo delata con un caso Heywood, comunalidad del pétalo = 1,0106 &gt; 1, imposible para una proporción de varianza—. (3) LEER UN MAPA t-SNE/UMAP: cambia con la semilla y los hiperparámetros, y las distancias/tamaños/ejes no son fiables; con 5 semillas UMAP oscila 0,9716-0,9816 y t-SNE 0,9750-0,9772. Se fija semilla, se mide trustworthiness y no se leen distancias globales. FUERA DEL SLIDE, se dice en una frase: (4) Nº DE COMPONENTES —scree (codo), varianza acumulada &gt;=90 % y Kaiser (eigenvalor &gt;1); se cruzan al menos DOS criterios y se reporta SIEMPRE la acumulada—; ya quedó demostrado en el Acto 2 con el scree de Iris y con Wine 1 vs. 8, así que aquí solo se nombra. Y para quien pregunte por los otros cuatro supuestos del expediente (centrado, linealidad, varianza = información, atípicos): el cuaderno los diagnostica en su Sección 8, con SEIS celdas ejecutables. Detalle: SUPUESTOS_S06.md. [Viernes, capítulo 6.6]</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Abrir la aplicación. Dos usos del PCA más allá de comprimir: (a) contrastarlo con el Análisis Factorial cuando la meta es descubrir constructos latentes, y (b) llevarlo a la regresión (PCR) como segunda vía contra la multicolinealidad de S04. [Viernes, capítulo 6.8]</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Distinguir dos técnicas que se parecen. El PCA es DESCRIPTIVO: componentes que resumen la varianza TOTAL (común + única) como combinaciones de las variables; van 'hacia afuera' (variables → componentes). El Análisis Factorial es un MODELO LATENTE: unos factores no observados GENERAN las variables y explica solo la varianza COMÚN (las correlaciones), dejando aparte el ruido único; van 'hacia adentro' (factores → variables). La rotación varimax gira los ejes —sin cambiar la varianza total— para que cada variable cargue en un solo factor y así se pueda NOMBRAR. CUIDADO CON ATRIBUIR EL NÚMERO DE FACTORES A KAISER, que es el error clásico aquí: el criterio de Kaiser (eigenvalor &gt; 1) da 1 factor en Iris y 3 en Wine (columna kaiser_eig_gt1 del Excel). Los 2 factores que el cuaderno ajusta en Iris son una ELECCIÓN DEL ANALISTA para construir la demostración (columna n_factores, nf=2 en la celda 67), NO una salida de Kaiser. Y esa demostración es un CONTRAEJEMPLO deliberado: el KMO de Iris es 0,5401 —BAJO el umbral 0,60—, y el ajuste forzado devuelve un caso Heywood (comunalidad del pétalo = 1,0106 &gt; 1, imposible para una proporción de varianza). En la práctica Iris NO se factoriza; el caso legítimo es Wine (KMO 0,7787), donde Kaiser y el analista coinciden en 3. Regla: comprimir/visualizar → PCA; constructos latentes → AF. Fuente: DEFINICIONES Sección 9-11; Excel adecuacion_af y cargas_factoriales. [Viernes, capítulo 6.8]</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Cerrar la aplicación con el puente a S04. La PCR aplica PCA a los predictores y regresa sobre los primeros k componentes. Como los componentes son ORTOGONALES por construcción, no hay multicolinealidad: el VIF máximo cae de 1037,4 (OLS pleno) a 1, con un error de prueba casi idéntico (MSE 0,0175 → 0,0185). Lo mismo vale para los scores de la PLS, cuyo VIF máximo es 1. Es la SEGUNDA vía contra la multicolinealidad, distinta de la regularización de S05: en vez de contraer hacia cero o descartar variables, las recombina en componentes estables. La PLS (supervisada) logra el mismo error con menos componentes porque elige direcciones que además predicen Y. CÓMO SE ELIGE k, que es lo que el entregable califica con más peso: por la CURVA DE ERROR DE CV, no por inspección visual — la hoja curva_cv_pcr da el mínimo de la PCR en k=60 y el de la PLS en k=10; la curva de la PCR se aplana desde k≈15, así que elegir el CODO es tan defendible como el mínimo y mucho más parsimonioso. Advertir: estandarizar antes. Fuente: DEFINICIONES Sección 7-8, INTERPRETACION_RESULTADOS.md Sección 9. [Viernes, capítulo 6.8]</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Tercera pausa, orientada a la decisión. Recoger posturas y cerrar: son dos filosofías para el mismo problema. El Lasso (S05) DESCARTA variables originales → modelo ralo e interpretable en las variables de negocio. La PCR RECOMBINA todas las variables en componentes ortogonales → elimina la multicolinealidad pero los ejes ya no son las variables originales (menos interpretable directamente). Si importa explicar qué variable entra, Lasso; si importa un predictor estable con todas las variables, PCR/PLS. Ninguna prueba causalidad. Conecta con el mapa de decisión del acto 4. [Viernes, capítulo 6.8]</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Abrir el cierre del arco: la decisión. El PCA es lineal y a veces no basta para VER la estructura de datos de muy alta dimensión. Entran t-SNE (2008) y UMAP (2018), técnicas no lineales pensadas SOLO para visualizar. Aviso permanente: producen un mapa, no un modelo ni clústeres; agrupar formalmente es S07. [Viernes, capítulo 6.8]</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Qué hacen t-SNE y UMAP. Sobre digits (64 dimensiones → 2D), ambos separan los 10 dígitos en agrupaciones claramente distinguibles, coloreados por su clase real. t-SNE convierte distancias en probabilidades de vecindad y ajusta el mapa para preservar la estructura LOCAL; UMAP hace algo análogo con un grafo de vecindades, más rápido y con algo más de estructura global. Lo que SÍ se lee: qué puntos son vecinos y qué grupos se solapan (los 4 y 9 se solapan parcialmente porque se parecen). Recordar: esto es VISUALIZACIÓN, no clustering. Fuente: DEFINICIONES Sección 12, Sección 14; INTERPRETACION_RESULTADOS.md Sección 7. [Viernes, capítulo 6.6]</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Convertir 'el mapa se ve bien' en una cifra. Como t-SNE/UMAP son visuales, se usa un PROXY medible: la exactitud de un kNN(5) 5-fold entrenado SOLO con las 2 coordenadas del embedding. Resultado (venv, random_state=42): t-SNE 98 % y UMAP 97 % casi igualan el techo de las 64 dimensiones (96 %), mientras el PCA-2D se queda en 60 % (pierde ~la mitad de la señal NO por retener poca varianza, sino porque la estructura de los dígitos es NO LINEAL —una variedad curva que una proyección lineal no despliega—; varianza retenida ≠ separabilidad de clases). Mensaje: para VISUALIZAR estructura no lineal, t-SNE/UMAP ≫ PCA. La brecha t-SNE vs. UMAP (98 % vs. 97 %) está DENTRO DEL RUIDO de la CV 5-fold y de la semilla: es un proxy estocástico y no debe leerse un orden entre ambas. Y esto está MEDIDO, no supuesto: con las semillas 0/1/7/42/2026 (hoja estabilidad_semillas) t-SNE cae en 0,9750-0,9772 y UMAP en 0,9716-0,9816, de modo que UMAP SUPERA A t-SNE EN 3 DE LAS 5 semillas; además el 0,9716 que se publica como cifra de contrato es el MÍNIMO de la distribución de UMAP, no su valor típico. Declararlo en clase. Matiz honesto: la trustworthiness (t-SNE 0,995, UMAP 0,9884, PCA-2D 0,8304) mide fidelidad LOCAL, no que las distancias globales del mapa sean fiables; el embedding 2D no se usa como features de producción. Fuente: INTERPRETACION_RESULTADOS.md Sección 8, REPLICACION target 4. [Viernes, capítulo 6.7]</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El error más caro con estas técnicas es SOBRE-INTERPRETAR el mapa. Cuatro límites que repetir: (1) la distancia entre agrupaciones NO es fiable —dos grupos lejanos en el mapa pueden estar cerca en el original—; (2) el tamaño de una agrupación no mide la dispersión real; (3) los ejes no significan nada (a diferencia del PCA, no hay 'eje X interpretable'); (4) el mapa cambia con la semilla y los hiperparámetros (perplejidad en t-SNE; n_neighbors/min_dist en UMAP): no es único. En el cuaderno (celda 108) se comprueba con dos semillas: la trustworthiness es estable pero la disparidad de Procrustes es &gt; 0. Conclusión: t-SNE/UMAP son GENERADORES DE HIPÓTESIS visuales, no conclusiones. Fuente: DEFINICIONES Sección 16, INTERPRETACION_RESULTADOS.md Sección 7. [Viernes, capítulo 6.6]</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La regla de decisión que pide el entregable. ¿Modelar, quitar multicolinealidad, conservar interpretabilidad lineal? → PCA (o PCR/PLS si alimenta una regresión): lineal, determinista, ejes interpretables, varianza medible. ¿Descubrir constructos latentes detrás de las correlaciones? → Análisis Factorial con varimax. ¿Solo visualizar datos de muy alta dimensión y detectar patrones por inspección visual? → t-SNE o UMAP (UMAP si además importa velocidad/escala): no lineales, estocásticos, sin ejes interpretables, solo para ver. Confundir visualización con reducción para modelar es el error que la sesión previene. Fuente: DEFINICIONES Sección 17. [Viernes, capítulo 6.8]</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(TRES bloques en pantalla: lo del aula, la réplica de casa y el negocio de casa; el desglose paso a paso está en la guía, no se lee aquí). Presentar el laboratorio y lanzar el trabajo (parejas, entrega individual). Hay UN SOLO laboratorio, el de laboratorio/GUIA_LABORATORIO_S06.md, con SIETE pasos (0 a 6); el motor es el cuaderno de Colab de la portada. REGLA DE REPARTO, que hay que decir en voz alta: los siete pasos piden ~118 minutos y el aula solo tiene 15 (2 de presentación + 13 de parejas), así que EN CLASE se hacen los pasos 0, 1 y 2 en versión compacta —contexto de Hotelling y los cuatro targets, carga de los tres datasets y, sobre todo, la DECISIÓN DE CONVENCIÓN covarianza vs. correlación escrita dataset por dataset— y EN CASA los pasos 3 a 6 (~88 min), que forman parte de la entrega: PCA + scree + biplot + Análisis Factorial; comparación con los valores publicados; interpretación y nombramiento de componentes y factores; y el bloque de negocio (PCR sobre el dataset colineal de S04/S05 con k por CV y VIF≈1, contrastado con OLS y Ridge/Lasso de S05; t-SNE con perplejidad 5/30/50 y UMAP con n_neighbors/min_dist, con el proxy kNN y trustworthiness) que cierra en la recomendación modelar vs. visualizar. Los tres drills también van a casa. Convención del curso: volcar a las 14 hojas de resultados/S06_resultados.xlsx y graficar leyendo ese Excel. Prohibido hacer clustering sobre los embeddings: es S07. Rúbrica 0-20. [Viernes, capítulo 6.8]</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(2 min: TRES ideas en pantalla, una por fuente; las otras dos SOLO si sobra tiempo). IDEA 1 - visualizar embeddings ya es infraestructura: Fiddler AI usa UMAP para proyectar embeddings de 384-4096 dimensiones a 2D y detectar deriva del modelo. IDEA 2 - comprimir dimensiones es DINERO: el arXiv 2505.00105 logra 8x con PCA al 50 % + cuantización (la hoja costeo_compresion del Excel lo pone en 0,896 $/mes por millón de vectores). IDEA 3 - el mapa no decide solo: el arXiv 2509.04222 pide métricas de precisión/recall antes de concluir. DE CONSULTA RÁPIDA (no van al slide, se nombran si hay tiempo): FutureAGI (2026) sitúa la proyección con UMAP/t-SNE/PCA en los stacks de semantic-cache, memoria de agentes y RAG, y subraya el patrón correcto —visualizar para GENERAR hipótesis y confirmarlas con métricas—; y el arXiv 2603.02275 (01/03/2026) documenta que UMAP NO siempre supera a las alternativas (rinde menos en regresión), lo que refuerza el mensaje de la sesión de no proclamar un ganador. REFERENCIA COMPLETA (no leer en clase). Fiddler AI usa UMAP para proyectar embeddings de 384-4096 dimensiones a 2D y detectar clústeres problemáticos, outliers y DERIVA del modelo: la visualización de alta dimensión es ya infraestructura de monitoreo. La guía de FutureAGI (2026) sitúa la proyección con UMAP/t-SNE/PCA como mecanismo de descubrimiento en los stacks donde los embeddings alimentan semantic-cache, memoria de agentes y RAG, y subraya el patrón correcto de la sesión: visualizar para GENERAR hipótesis y confirmarlas después con métricas. El arXiv 2505.00105 muestra que el PCA es la técnica más efectiva para comprimir embeddings de RAG (8x con cuantización): reducir dimensiones = coste. El arXiv 2509.04222 propone métricas de precisión/recall para no sobre-interpretar el mapa. El arXiv 2603.02275 documenta que UMAP no siempre supera a las alternativas (rinde menos en regresión). Enlaces verificados el 18/07/2026 en las fuentes de actualidad de la sesión. [Viernes, capítulo 6.8]</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(1 min: TRES referencias, una frase cada una; no leer la lista larga). POR DÓNDE EMPEZAR: ISLR, de acceso libre en statlearning.com — Sección 12.2 (PCA) y 6.3 (PCR/PLS). EL PAPER DE HOY: Hotelling (1933), del que proviene el 92,46 %. LOS DOS DE VISUALIZAR: van der Maaten y Hinton (2008) para t-SNE y McInnes y otros (2018) para UMAP. PARA CONSULTA POSTERIOR (fuera del slide, se nombran solo si preguntan): Jolliffe (2002) es el tratado de referencia; Wattenberg y otros (2016, Distill) «How to Use t-SNE Effectively» documenta los límites del mapa; y la caja de herramientas es scikit-learn + factor_analyzer + umap-learn. REFERENCIA COMPLETA (no leer en clase). ISLR (statlearning.com, PDF libre): Sección 12.2 cubre el PCA (varianza explicada, biplot, PVE) y Sección 6.3 la PCR/PLS. Hotelling (1933, J. Educ. Psychology 24) es el paper seminal y de la réplica; Jolliffe (2002) el tratado de referencia. Para la visualización: van der Maaten y Hinton (2008, JMLR 9) introduce t-SNE y McInnes et al. (2018, arXiv:1802.03426) UMAP; Wattenberg et al. (2016, Distill) 'How to Use t-SNE Effectively' documenta los límites. La práctica se apoya en scikit-learn, factor_analyzer y umap-learn. Enlaces verificados el 18/07/2026 en la bibliografía de la sesión. [Viernes]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Recapitular en una frase: de la maldición de la dimensionalidad al PCA (Iris 92,46 % en PC1); la lección de estandarizar (Wine 1 vs. 8); el biplot que nombra los componentes; PCA vs. Análisis Factorial; la PCR contra la multicolinealidad de S04 (VIF 1037,4 → 1); y t-SNE/UMAP para VISUALIZAR (kNN 98/97 % vs. PCA-2D 60 %) con sus límites. Cada cifra se mostró contra su fuente y se leyó de las 14 hojas del Excel (fidelidad verificada). Recordar el entregable y LANZAR el control corto como TAREA TAKE-HOME: son 8 preguntas de interpretación que piden ~15 minutos y NO caben en este minuto de cierre; se entregan antes de la próxima clase. Los tres drills van a casa con los pasos 3-6 del laboratorio. Despedir anunciando la S07: clustering y detección de anomalías —agrupar FORMALMENTE lo que hoy solo se exploró de forma visual—, hoy solo nombrada. [Viernes, capítulo 6.9]</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lab.research.google.com/github/jonatanfigueroagil-creator/Herramientas-de-Ciencias-de-Datos/blob/master/Sesiones/S06_reduccion_dim/notebook/S06_reduccion_dim.ipynb" TargetMode="Externa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19.png"/><Relationship Id="rId4" Type="http://schemas.openxmlformats.org/officeDocument/2006/relationships/image" Target="../media/image6.png"/><Relationship Id="rId5" Type="http://schemas.openxmlformats.org/officeDocument/2006/relationships/image" Target="../media/image20.png"/><Relationship Id="rId6" Type="http://schemas.openxmlformats.org/officeDocument/2006/relationships/notesSlide" Target="../notesSlides/notesSlide2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2.png"/><Relationship Id="rId4" Type="http://schemas.openxmlformats.org/officeDocument/2006/relationships/notesSlide" Target="../notesSlides/notesSlide2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2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2.png"/><Relationship Id="rId4" Type="http://schemas.openxmlformats.org/officeDocument/2006/relationships/notesSlide" Target="../notesSlides/notesSlide2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6.png"/><Relationship Id="rId4" Type="http://schemas.openxmlformats.org/officeDocument/2006/relationships/image" Target="../media/image12.png"/><Relationship Id="rId5" Type="http://schemas.openxmlformats.org/officeDocument/2006/relationships/notesSlide" Target="../notesSlides/notesSlide2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4002B"/>
        </a:solidFill>
        <a:effectLst/>
      </p:bgPr>
    </p:bg>
    <p:spTree>
      <p:nvGrpSpPr>
        <p:cNvPr id="1" name=""/>
        <p:cNvGrpSpPr/>
        <p:nvPr/>
      </p:nvGrpSpPr>
      <p:grpSpPr/>
      <p:sp>
        <p:nvSpPr>
          <p:cNvPr id="2" name="Oval 1"/>
          <p:cNvSpPr/>
          <p:nvPr/>
        </p:nvSpPr>
        <p:spPr>
          <a:xfrm>
            <a:off x="548640" y="640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600" b="1">
                <a:solidFill>
                  <a:srgbClr val="E4002B"/>
                </a:solidFill>
                <a:latin typeface="Calibri"/>
              </a:rPr>
              <a:t>S06</a:t>
            </a:r>
          </a:p>
        </p:txBody>
      </p:sp>
      <p:sp>
        <p:nvSpPr>
          <p:cNvPr id="3" name="TextBox 2"/>
          <p:cNvSpPr txBox="1"/>
          <p:nvPr/>
        </p:nvSpPr>
        <p:spPr>
          <a:xfrm>
            <a:off x="548640" y="3291840"/>
            <a:ext cx="9906000" cy="2011680"/>
          </a:xfrm>
          <a:prstGeom prst="rect">
            <a:avLst/>
          </a:prstGeom>
          <a:noFill/>
        </p:spPr>
        <p:txBody>
          <a:bodyPr wrap="square" anchor="t" lIns="0" rIns="0" tIns="0" bIns="0">
            <a:spAutoFit/>
          </a:bodyPr>
          <a:lstStyle/>
          <a:p>
            <a:pPr algn="l">
              <a:lnSpc>
                <a:spcPct val="102000"/>
              </a:lnSpc>
            </a:pPr>
            <a:r>
              <a:rPr sz="4800" b="1">
                <a:solidFill>
                  <a:srgbClr val="FFFFFF"/>
                </a:solidFill>
                <a:latin typeface="Calibri"/>
              </a:rPr>
              <a:t>Comprimir muchas variables en pocas decisiones</a:t>
            </a:r>
          </a:p>
        </p:txBody>
      </p:sp>
      <p:sp>
        <p:nvSpPr>
          <p:cNvPr id="4" name="TextBox 3"/>
          <p:cNvSpPr txBox="1"/>
          <p:nvPr/>
        </p:nvSpPr>
        <p:spPr>
          <a:xfrm>
            <a:off x="548640" y="5394960"/>
            <a:ext cx="9906000" cy="640080"/>
          </a:xfrm>
          <a:prstGeom prst="rect">
            <a:avLst/>
          </a:prstGeom>
          <a:noFill/>
        </p:spPr>
        <p:txBody>
          <a:bodyPr wrap="square" anchor="t" lIns="0" rIns="0" tIns="0" bIns="0">
            <a:spAutoFit/>
          </a:bodyPr>
          <a:lstStyle/>
          <a:p>
            <a:pPr algn="l"/>
            <a:r>
              <a:rPr sz="2000" b="0">
                <a:solidFill>
                  <a:srgbClr val="FCEDEE"/>
                </a:solidFill>
                <a:latin typeface="Calibri"/>
              </a:rPr>
              <a:t>Reducción de dimensionalidad: PCA, Análisis Factorial, t-SNE, UMAP</a:t>
            </a:r>
          </a:p>
        </p:txBody>
      </p:sp>
      <p:sp>
        <p:nvSpPr>
          <p:cNvPr id="5" name="TextBox 4"/>
          <p:cNvSpPr txBox="1"/>
          <p:nvPr/>
        </p:nvSpPr>
        <p:spPr>
          <a:xfrm>
            <a:off x="548640" y="6263640"/>
            <a:ext cx="11094720" cy="320040"/>
          </a:xfrm>
          <a:prstGeom prst="rect">
            <a:avLst/>
          </a:prstGeom>
          <a:noFill/>
        </p:spPr>
        <p:txBody>
          <a:bodyPr wrap="square" anchor="t" lIns="0" rIns="0" tIns="0" bIns="0">
            <a:spAutoFit/>
          </a:bodyPr>
          <a:lstStyle/>
          <a:p>
            <a:pPr algn="l"/>
            <a:r>
              <a:rPr sz="1200" b="0">
                <a:solidFill>
                  <a:srgbClr val="FCEDEE"/>
                </a:solidFill>
                <a:latin typeface="Calibri"/>
              </a:rPr>
              <a:t>Herramientas para la Ciencia de Datos, UPC, Facultad de Negocios</a:t>
            </a:r>
          </a:p>
        </p:txBody>
      </p:sp>
      <p:sp>
        <p:nvSpPr>
          <p:cNvPr id="6" name="Rounded Rectangle 5">
            <a:hlinkClick r:id="rId2"/>
          </p:cNvPr>
          <p:cNvSpPr/>
          <p:nvPr/>
        </p:nvSpPr>
        <p:spPr>
          <a:xfrm>
            <a:off x="8549640" y="502920"/>
            <a:ext cx="3154680" cy="475488"/>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E4002B"/>
                </a:solidFill>
              </a:rPr>
              <a:t>▶  Abrir en Google Colab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MAPA DEL VIERNES — CAPÍTULOS 6.6 A 6.9</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viernes cierra la sesión en cuatro capítulos</a:t>
            </a:r>
          </a:p>
        </p:txBody>
      </p:sp>
      <p:sp>
        <p:nvSpPr>
          <p:cNvPr id="4" name="Rounded Rectangle 3"/>
          <p:cNvSpPr/>
          <p:nvPr/>
        </p:nvSpPr>
        <p:spPr>
          <a:xfrm>
            <a:off x="54864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database__FFFFFF.png"/>
          <p:cNvPicPr>
            <a:picLocks noChangeAspect="1"/>
          </p:cNvPicPr>
          <p:nvPr/>
        </p:nvPicPr>
        <p:blipFill>
          <a:blip r:embed="rId2"/>
          <a:stretch>
            <a:fillRect/>
          </a:stretch>
        </p:blipFill>
        <p:spPr>
          <a:xfrm>
            <a:off x="956462" y="2282341"/>
            <a:ext cx="281636" cy="281636"/>
          </a:xfrm>
          <a:prstGeom prst="rect">
            <a:avLst/>
          </a:prstGeom>
        </p:spPr>
      </p:pic>
      <p:sp>
        <p:nvSpPr>
          <p:cNvPr id="7" name="TextBox 6"/>
          <p:cNvSpPr txBox="1"/>
          <p:nvPr/>
        </p:nvSpPr>
        <p:spPr>
          <a:xfrm>
            <a:off x="77724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Capítulo 6.6</a:t>
            </a:r>
          </a:p>
        </p:txBody>
      </p:sp>
      <p:sp>
        <p:nvSpPr>
          <p:cNvPr id="8" name="TextBox 7"/>
          <p:cNvSpPr txBox="1"/>
          <p:nvPr/>
        </p:nvSpPr>
        <p:spPr>
          <a:xfrm>
            <a:off x="77724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¿Cuándo se puede confiar en una proyección?</a:t>
            </a:r>
          </a:p>
        </p:txBody>
      </p:sp>
      <p:sp>
        <p:nvSpPr>
          <p:cNvPr id="9" name="TextBox 8"/>
          <p:cNvSpPr txBox="1"/>
          <p:nvPr/>
        </p:nvSpPr>
        <p:spPr>
          <a:xfrm>
            <a:off x="77724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0-40</a:t>
            </a:r>
          </a:p>
        </p:txBody>
      </p:sp>
      <p:sp>
        <p:nvSpPr>
          <p:cNvPr id="10" name="Rounded Rectangle 9"/>
          <p:cNvSpPr/>
          <p:nvPr/>
        </p:nvSpPr>
        <p:spPr>
          <a:xfrm>
            <a:off x="341376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6423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book-open__FFFFFF.png"/>
          <p:cNvPicPr>
            <a:picLocks noChangeAspect="1"/>
          </p:cNvPicPr>
          <p:nvPr/>
        </p:nvPicPr>
        <p:blipFill>
          <a:blip r:embed="rId3"/>
          <a:stretch>
            <a:fillRect/>
          </a:stretch>
        </p:blipFill>
        <p:spPr>
          <a:xfrm>
            <a:off x="3821582" y="2282341"/>
            <a:ext cx="281636" cy="281636"/>
          </a:xfrm>
          <a:prstGeom prst="rect">
            <a:avLst/>
          </a:prstGeom>
        </p:spPr>
      </p:pic>
      <p:sp>
        <p:nvSpPr>
          <p:cNvPr id="13" name="TextBox 12"/>
          <p:cNvSpPr txBox="1"/>
          <p:nvPr/>
        </p:nvSpPr>
        <p:spPr>
          <a:xfrm>
            <a:off x="364236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Capítulo 6.7</a:t>
            </a:r>
          </a:p>
        </p:txBody>
      </p:sp>
      <p:sp>
        <p:nvSpPr>
          <p:cNvPr id="14" name="TextBox 13"/>
          <p:cNvSpPr txBox="1"/>
          <p:nvPr/>
        </p:nvSpPr>
        <p:spPr>
          <a:xfrm>
            <a:off x="364236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¿Cómo se verifica que el resultado es real?</a:t>
            </a:r>
          </a:p>
        </p:txBody>
      </p:sp>
      <p:sp>
        <p:nvSpPr>
          <p:cNvPr id="15" name="TextBox 14"/>
          <p:cNvSpPr txBox="1"/>
          <p:nvPr/>
        </p:nvSpPr>
        <p:spPr>
          <a:xfrm>
            <a:off x="364236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40-65</a:t>
            </a:r>
          </a:p>
        </p:txBody>
      </p:sp>
      <p:sp>
        <p:nvSpPr>
          <p:cNvPr id="16" name="Rounded Rectangle 15"/>
          <p:cNvSpPr/>
          <p:nvPr/>
        </p:nvSpPr>
        <p:spPr>
          <a:xfrm>
            <a:off x="627888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0748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briefcase__FFFFFF.png"/>
          <p:cNvPicPr>
            <a:picLocks noChangeAspect="1"/>
          </p:cNvPicPr>
          <p:nvPr/>
        </p:nvPicPr>
        <p:blipFill>
          <a:blip r:embed="rId4"/>
          <a:stretch>
            <a:fillRect/>
          </a:stretch>
        </p:blipFill>
        <p:spPr>
          <a:xfrm>
            <a:off x="6686702" y="2282341"/>
            <a:ext cx="281636" cy="281636"/>
          </a:xfrm>
          <a:prstGeom prst="rect">
            <a:avLst/>
          </a:prstGeom>
        </p:spPr>
      </p:pic>
      <p:sp>
        <p:nvSpPr>
          <p:cNvPr id="19" name="TextBox 18"/>
          <p:cNvSpPr txBox="1"/>
          <p:nvPr/>
        </p:nvSpPr>
        <p:spPr>
          <a:xfrm>
            <a:off x="650748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Capítulo 6.8</a:t>
            </a:r>
          </a:p>
        </p:txBody>
      </p:sp>
      <p:sp>
        <p:nvSpPr>
          <p:cNvPr id="20" name="TextBox 19"/>
          <p:cNvSpPr txBox="1"/>
          <p:nvPr/>
        </p:nvSpPr>
        <p:spPr>
          <a:xfrm>
            <a:off x="650748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¿Qué decisión habilita? PCR sobre el conjunto de S04</a:t>
            </a:r>
          </a:p>
        </p:txBody>
      </p:sp>
      <p:sp>
        <p:nvSpPr>
          <p:cNvPr id="21" name="TextBox 20"/>
          <p:cNvSpPr txBox="1"/>
          <p:nvPr/>
        </p:nvSpPr>
        <p:spPr>
          <a:xfrm>
            <a:off x="650748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65-105</a:t>
            </a:r>
          </a:p>
        </p:txBody>
      </p:sp>
      <p:sp>
        <p:nvSpPr>
          <p:cNvPr id="22" name="Rounded Rectangle 21"/>
          <p:cNvSpPr/>
          <p:nvPr/>
        </p:nvSpPr>
        <p:spPr>
          <a:xfrm>
            <a:off x="914400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3726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git-branch__FFFFFF.png"/>
          <p:cNvPicPr>
            <a:picLocks noChangeAspect="1"/>
          </p:cNvPicPr>
          <p:nvPr/>
        </p:nvPicPr>
        <p:blipFill>
          <a:blip r:embed="rId5"/>
          <a:stretch>
            <a:fillRect/>
          </a:stretch>
        </p:blipFill>
        <p:spPr>
          <a:xfrm>
            <a:off x="9551822" y="2282341"/>
            <a:ext cx="281636" cy="281636"/>
          </a:xfrm>
          <a:prstGeom prst="rect">
            <a:avLst/>
          </a:prstGeom>
        </p:spPr>
      </p:pic>
      <p:sp>
        <p:nvSpPr>
          <p:cNvPr id="25" name="TextBox 24"/>
          <p:cNvSpPr txBox="1"/>
          <p:nvPr/>
        </p:nvSpPr>
        <p:spPr>
          <a:xfrm>
            <a:off x="937260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Capítulo 6.9</a:t>
            </a:r>
          </a:p>
        </p:txBody>
      </p:sp>
      <p:sp>
        <p:nvSpPr>
          <p:cNvPr id="26" name="TextBox 25"/>
          <p:cNvSpPr txBox="1"/>
          <p:nvPr/>
        </p:nvSpPr>
        <p:spPr>
          <a:xfrm>
            <a:off x="937260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¿Qué no se puede afirmar, y qué sigue en S07?</a:t>
            </a:r>
          </a:p>
        </p:txBody>
      </p:sp>
      <p:sp>
        <p:nvSpPr>
          <p:cNvPr id="27" name="TextBox 26"/>
          <p:cNvSpPr txBox="1"/>
          <p:nvPr/>
        </p:nvSpPr>
        <p:spPr>
          <a:xfrm>
            <a:off x="937260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105-120</a:t>
            </a:r>
          </a:p>
        </p:txBody>
      </p:sp>
      <p:sp>
        <p:nvSpPr>
          <p:cNvPr id="28" name="Rounded Rectangle 27"/>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Índice, celda 0</a:t>
            </a:r>
          </a:p>
        </p:txBody>
      </p:sp>
      <p:sp>
        <p:nvSpPr>
          <p:cNvPr id="29" name="Oval 28"/>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S06 — Herramientas para la Ciencia de Datos, UPC</a:t>
            </a:r>
          </a:p>
        </p:txBody>
      </p:sp>
      <p:sp>
        <p:nvSpPr>
          <p:cNvPr id="31" name="TextBox 30"/>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 / 16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SUPUESTOS Y REGLAS DE LECTURA — SUPUESTOS_S06.MD</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Cada decisión de PCA, AF y embedding tiene su diagnóstico</a:t>
            </a:r>
          </a:p>
        </p:txBody>
      </p:sp>
      <p:sp>
        <p:nvSpPr>
          <p:cNvPr id="4" name="TextBox 3"/>
          <p:cNvSpPr txBox="1"/>
          <p:nvPr/>
        </p:nvSpPr>
        <p:spPr>
          <a:xfrm>
            <a:off x="548640" y="2139696"/>
            <a:ext cx="9966960" cy="457200"/>
          </a:xfrm>
          <a:prstGeom prst="rect">
            <a:avLst/>
          </a:prstGeom>
          <a:noFill/>
        </p:spPr>
        <p:txBody>
          <a:bodyPr wrap="square" anchor="t" lIns="0" rIns="0" tIns="0" bIns="0">
            <a:spAutoFit/>
          </a:bodyPr>
          <a:lstStyle/>
          <a:p>
            <a:pPr algn="l">
              <a:lnSpc>
                <a:spcPct val="114000"/>
              </a:lnSpc>
            </a:pPr>
            <a:r>
              <a:rPr sz="1200" b="0">
                <a:solidFill>
                  <a:srgbClr val="6E6E6E"/>
                </a:solidFill>
                <a:latin typeface="Calibri"/>
              </a:rPr>
              <a:t>Estas técnicas no supervisadas no tienen los supuestos del OLS: tienen decisiones de preparación y reglas de lectura. Cada una lleva su señal y su método:</a:t>
            </a:r>
          </a:p>
        </p:txBody>
      </p:sp>
      <p:pic>
        <p:nvPicPr>
          <p:cNvPr id="5" name="Picture 4" descr="triangle-alert__E4002B.png"/>
          <p:cNvPicPr>
            <a:picLocks noChangeAspect="1"/>
          </p:cNvPicPr>
          <p:nvPr/>
        </p:nvPicPr>
        <p:blipFill>
          <a:blip r:embed="rId2"/>
          <a:stretch>
            <a:fillRect/>
          </a:stretch>
        </p:blipFill>
        <p:spPr>
          <a:xfrm>
            <a:off x="11064240" y="2011680"/>
            <a:ext cx="457200" cy="457200"/>
          </a:xfrm>
          <a:prstGeom prst="rect">
            <a:avLst/>
          </a:prstGeom>
        </p:spPr>
      </p:pic>
      <p:sp>
        <p:nvSpPr>
          <p:cNvPr id="6" name="TextBox 5"/>
          <p:cNvSpPr txBox="1"/>
          <p:nvPr/>
        </p:nvSpPr>
        <p:spPr>
          <a:xfrm>
            <a:off x="548640" y="2615184"/>
            <a:ext cx="2788920" cy="274320"/>
          </a:xfrm>
          <a:prstGeom prst="rect">
            <a:avLst/>
          </a:prstGeom>
          <a:noFill/>
        </p:spPr>
        <p:txBody>
          <a:bodyPr wrap="square" anchor="t" lIns="0" rIns="0" tIns="0" bIns="0">
            <a:spAutoFit/>
          </a:bodyPr>
          <a:lstStyle/>
          <a:p>
            <a:pPr algn="l"/>
            <a:r>
              <a:rPr sz="1100" b="1">
                <a:solidFill>
                  <a:srgbClr val="9B1B30"/>
                </a:solidFill>
                <a:latin typeface="Calibri"/>
              </a:rPr>
              <a:t>DECISIÓN / SUPUESTO</a:t>
            </a:r>
          </a:p>
        </p:txBody>
      </p:sp>
      <p:sp>
        <p:nvSpPr>
          <p:cNvPr id="7" name="TextBox 6"/>
          <p:cNvSpPr txBox="1"/>
          <p:nvPr/>
        </p:nvSpPr>
        <p:spPr>
          <a:xfrm>
            <a:off x="3429000" y="2615184"/>
            <a:ext cx="3886200" cy="274320"/>
          </a:xfrm>
          <a:prstGeom prst="rect">
            <a:avLst/>
          </a:prstGeom>
          <a:noFill/>
        </p:spPr>
        <p:txBody>
          <a:bodyPr wrap="square" anchor="t" lIns="0" rIns="0" tIns="0" bIns="0">
            <a:spAutoFit/>
          </a:bodyPr>
          <a:lstStyle/>
          <a:p>
            <a:pPr algn="l"/>
            <a:r>
              <a:rPr sz="1100" b="1">
                <a:solidFill>
                  <a:srgbClr val="9B1B30"/>
                </a:solidFill>
                <a:latin typeface="Calibri"/>
              </a:rPr>
              <a:t>CÓMO SE IDENTIFICA</a:t>
            </a:r>
          </a:p>
        </p:txBody>
      </p:sp>
      <p:sp>
        <p:nvSpPr>
          <p:cNvPr id="8" name="TextBox 7"/>
          <p:cNvSpPr txBox="1"/>
          <p:nvPr/>
        </p:nvSpPr>
        <p:spPr>
          <a:xfrm>
            <a:off x="7498079" y="2615184"/>
            <a:ext cx="4206240" cy="274320"/>
          </a:xfrm>
          <a:prstGeom prst="rect">
            <a:avLst/>
          </a:prstGeom>
          <a:noFill/>
        </p:spPr>
        <p:txBody>
          <a:bodyPr wrap="square" anchor="t" lIns="0" rIns="0" tIns="0" bIns="0">
            <a:spAutoFit/>
          </a:bodyPr>
          <a:lstStyle/>
          <a:p>
            <a:pPr algn="l"/>
            <a:r>
              <a:rPr sz="1100" b="1">
                <a:solidFill>
                  <a:srgbClr val="9B1B30"/>
                </a:solidFill>
                <a:latin typeface="Calibri"/>
              </a:rPr>
              <a:t>CÓMO SE DECIDE (MÉTODO)</a:t>
            </a:r>
          </a:p>
        </p:txBody>
      </p:sp>
      <p:sp>
        <p:nvSpPr>
          <p:cNvPr id="9" name="Rounded Rectangle 8"/>
          <p:cNvSpPr/>
          <p:nvPr/>
        </p:nvSpPr>
        <p:spPr>
          <a:xfrm>
            <a:off x="420624" y="2880360"/>
            <a:ext cx="11356848" cy="786384"/>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62656"/>
            <a:ext cx="2788920" cy="731520"/>
          </a:xfrm>
          <a:prstGeom prst="rect">
            <a:avLst/>
          </a:prstGeom>
          <a:noFill/>
        </p:spPr>
        <p:txBody>
          <a:bodyPr wrap="square" anchor="t" lIns="0" rIns="0" tIns="0" bIns="0">
            <a:spAutoFit/>
          </a:bodyPr>
          <a:lstStyle/>
          <a:p>
            <a:pPr algn="l">
              <a:lnSpc>
                <a:spcPct val="105000"/>
              </a:lnSpc>
            </a:pPr>
            <a:r>
              <a:rPr sz="1200" b="1">
                <a:solidFill>
                  <a:srgbClr val="2D2D2D"/>
                </a:solidFill>
                <a:latin typeface="Calibri"/>
              </a:rPr>
              <a:t>Estandarizar (cov vs. corr)</a:t>
            </a:r>
          </a:p>
        </p:txBody>
      </p:sp>
      <p:sp>
        <p:nvSpPr>
          <p:cNvPr id="11" name="TextBox 10"/>
          <p:cNvSpPr txBox="1"/>
          <p:nvPr/>
        </p:nvSpPr>
        <p:spPr>
          <a:xfrm>
            <a:off x="3429000" y="2962656"/>
            <a:ext cx="3886200" cy="731520"/>
          </a:xfrm>
          <a:prstGeom prst="rect">
            <a:avLst/>
          </a:prstGeom>
          <a:noFill/>
        </p:spPr>
        <p:txBody>
          <a:bodyPr wrap="square" anchor="t" lIns="0" rIns="0" tIns="0" bIns="0">
            <a:spAutoFit/>
          </a:bodyPr>
          <a:lstStyle/>
          <a:p>
            <a:pPr algn="l">
              <a:lnSpc>
                <a:spcPct val="106000"/>
              </a:lnSpc>
            </a:pPr>
            <a:r>
              <a:rPr sz="1100" b="0">
                <a:solidFill>
                  <a:srgbClr val="2D2D2D"/>
                </a:solidFill>
                <a:latin typeface="Calibri"/>
              </a:rPr>
              <a:t>Escalas dispares; un PC1 que 'explica' casi todo (Wine crudo 99,8 %).</a:t>
            </a:r>
          </a:p>
        </p:txBody>
      </p:sp>
      <p:sp>
        <p:nvSpPr>
          <p:cNvPr id="12" name="TextBox 11"/>
          <p:cNvSpPr txBox="1"/>
          <p:nvPr/>
        </p:nvSpPr>
        <p:spPr>
          <a:xfrm>
            <a:off x="7498079" y="2962656"/>
            <a:ext cx="4206240" cy="731520"/>
          </a:xfrm>
          <a:prstGeom prst="rect">
            <a:avLst/>
          </a:prstGeom>
          <a:noFill/>
        </p:spPr>
        <p:txBody>
          <a:bodyPr wrap="square" anchor="t" lIns="0" rIns="0" tIns="0" bIns="0">
            <a:spAutoFit/>
          </a:bodyPr>
          <a:lstStyle/>
          <a:p>
            <a:pPr algn="l">
              <a:lnSpc>
                <a:spcPct val="106000"/>
              </a:lnSpc>
            </a:pPr>
            <a:r>
              <a:rPr sz="1100" b="0">
                <a:solidFill>
                  <a:srgbClr val="2D2D2D"/>
                </a:solidFill>
                <a:latin typeface="Calibri"/>
              </a:rPr>
              <a:t>Correlación por defecto; covarianza solo si las unidades son homogéneas.</a:t>
            </a:r>
          </a:p>
        </p:txBody>
      </p:sp>
      <p:sp>
        <p:nvSpPr>
          <p:cNvPr id="13" name="TextBox 12"/>
          <p:cNvSpPr txBox="1"/>
          <p:nvPr/>
        </p:nvSpPr>
        <p:spPr>
          <a:xfrm>
            <a:off x="548640" y="3785616"/>
            <a:ext cx="2788920" cy="731520"/>
          </a:xfrm>
          <a:prstGeom prst="rect">
            <a:avLst/>
          </a:prstGeom>
          <a:noFill/>
        </p:spPr>
        <p:txBody>
          <a:bodyPr wrap="square" anchor="t" lIns="0" rIns="0" tIns="0" bIns="0">
            <a:spAutoFit/>
          </a:bodyPr>
          <a:lstStyle/>
          <a:p>
            <a:pPr algn="l">
              <a:lnSpc>
                <a:spcPct val="105000"/>
              </a:lnSpc>
            </a:pPr>
            <a:r>
              <a:rPr sz="1200" b="1">
                <a:solidFill>
                  <a:srgbClr val="2D2D2D"/>
                </a:solidFill>
                <a:latin typeface="Calibri"/>
              </a:rPr>
              <a:t>Adecuación del Factorial</a:t>
            </a:r>
          </a:p>
        </p:txBody>
      </p:sp>
      <p:sp>
        <p:nvSpPr>
          <p:cNvPr id="14" name="TextBox 13"/>
          <p:cNvSpPr txBox="1"/>
          <p:nvPr/>
        </p:nvSpPr>
        <p:spPr>
          <a:xfrm>
            <a:off x="3429000" y="3785616"/>
            <a:ext cx="3886200" cy="731520"/>
          </a:xfrm>
          <a:prstGeom prst="rect">
            <a:avLst/>
          </a:prstGeom>
          <a:noFill/>
        </p:spPr>
        <p:txBody>
          <a:bodyPr wrap="square" anchor="t" lIns="0" rIns="0" tIns="0" bIns="0">
            <a:spAutoFit/>
          </a:bodyPr>
          <a:lstStyle/>
          <a:p>
            <a:pPr algn="l">
              <a:lnSpc>
                <a:spcPct val="106000"/>
              </a:lnSpc>
            </a:pPr>
            <a:r>
              <a:rPr sz="1100" b="0">
                <a:solidFill>
                  <a:srgbClr val="2D2D2D"/>
                </a:solidFill>
                <a:latin typeface="Calibri"/>
              </a:rPr>
              <a:t>KMO (&lt;0,60 no factorizable): Iris 0,5401 NO, Wine 0,7787 sí; Bartlett p&lt;&lt;0,05.</a:t>
            </a:r>
          </a:p>
        </p:txBody>
      </p:sp>
      <p:sp>
        <p:nvSpPr>
          <p:cNvPr id="15" name="TextBox 14"/>
          <p:cNvSpPr txBox="1"/>
          <p:nvPr/>
        </p:nvSpPr>
        <p:spPr>
          <a:xfrm>
            <a:off x="7498079" y="3785616"/>
            <a:ext cx="4206240" cy="731520"/>
          </a:xfrm>
          <a:prstGeom prst="rect">
            <a:avLst/>
          </a:prstGeom>
          <a:noFill/>
        </p:spPr>
        <p:txBody>
          <a:bodyPr wrap="square" anchor="t" lIns="0" rIns="0" tIns="0" bIns="0">
            <a:spAutoFit/>
          </a:bodyPr>
          <a:lstStyle/>
          <a:p>
            <a:pPr algn="l">
              <a:lnSpc>
                <a:spcPct val="106000"/>
              </a:lnSpc>
            </a:pPr>
            <a:r>
              <a:rPr sz="1100" b="0">
                <a:solidFill>
                  <a:srgbClr val="2D2D2D"/>
                </a:solidFill>
                <a:latin typeface="Calibri"/>
              </a:rPr>
              <a:t>Factorizar solo si KMO &gt;=0,60 y Bartlett significativo; comprobar antes, no después.</a:t>
            </a:r>
          </a:p>
        </p:txBody>
      </p:sp>
      <p:sp>
        <p:nvSpPr>
          <p:cNvPr id="16" name="Rounded Rectangle 15"/>
          <p:cNvSpPr/>
          <p:nvPr/>
        </p:nvSpPr>
        <p:spPr>
          <a:xfrm>
            <a:off x="420624" y="4526280"/>
            <a:ext cx="11356848" cy="786384"/>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4608576"/>
            <a:ext cx="2788920" cy="731520"/>
          </a:xfrm>
          <a:prstGeom prst="rect">
            <a:avLst/>
          </a:prstGeom>
          <a:noFill/>
        </p:spPr>
        <p:txBody>
          <a:bodyPr wrap="square" anchor="t" lIns="0" rIns="0" tIns="0" bIns="0">
            <a:spAutoFit/>
          </a:bodyPr>
          <a:lstStyle/>
          <a:p>
            <a:pPr algn="l">
              <a:lnSpc>
                <a:spcPct val="105000"/>
              </a:lnSpc>
            </a:pPr>
            <a:r>
              <a:rPr sz="1200" b="1">
                <a:solidFill>
                  <a:srgbClr val="2D2D2D"/>
                </a:solidFill>
                <a:latin typeface="Calibri"/>
              </a:rPr>
              <a:t>Leer un mapa t-SNE/UMAP</a:t>
            </a:r>
          </a:p>
        </p:txBody>
      </p:sp>
      <p:sp>
        <p:nvSpPr>
          <p:cNvPr id="18" name="TextBox 17"/>
          <p:cNvSpPr txBox="1"/>
          <p:nvPr/>
        </p:nvSpPr>
        <p:spPr>
          <a:xfrm>
            <a:off x="3429000" y="4608576"/>
            <a:ext cx="3886200" cy="731520"/>
          </a:xfrm>
          <a:prstGeom prst="rect">
            <a:avLst/>
          </a:prstGeom>
          <a:noFill/>
        </p:spPr>
        <p:txBody>
          <a:bodyPr wrap="square" anchor="t" lIns="0" rIns="0" tIns="0" bIns="0">
            <a:spAutoFit/>
          </a:bodyPr>
          <a:lstStyle/>
          <a:p>
            <a:pPr algn="l">
              <a:lnSpc>
                <a:spcPct val="106000"/>
              </a:lnSpc>
            </a:pPr>
            <a:r>
              <a:rPr sz="1100" b="0">
                <a:solidFill>
                  <a:srgbClr val="2D2D2D"/>
                </a:solidFill>
                <a:latin typeface="Calibri"/>
              </a:rPr>
              <a:t>Cambia con la semilla: UMAP oscila 0,9716-0,9816 entre 5 semillas.</a:t>
            </a:r>
          </a:p>
        </p:txBody>
      </p:sp>
      <p:sp>
        <p:nvSpPr>
          <p:cNvPr id="19" name="TextBox 18"/>
          <p:cNvSpPr txBox="1"/>
          <p:nvPr/>
        </p:nvSpPr>
        <p:spPr>
          <a:xfrm>
            <a:off x="7498079" y="4608576"/>
            <a:ext cx="4206240" cy="731520"/>
          </a:xfrm>
          <a:prstGeom prst="rect">
            <a:avLst/>
          </a:prstGeom>
          <a:noFill/>
        </p:spPr>
        <p:txBody>
          <a:bodyPr wrap="square" anchor="t" lIns="0" rIns="0" tIns="0" bIns="0">
            <a:spAutoFit/>
          </a:bodyPr>
          <a:lstStyle/>
          <a:p>
            <a:pPr algn="l">
              <a:lnSpc>
                <a:spcPct val="106000"/>
              </a:lnSpc>
            </a:pPr>
            <a:r>
              <a:rPr sz="1100" b="0">
                <a:solidFill>
                  <a:srgbClr val="2D2D2D"/>
                </a:solidFill>
                <a:latin typeface="Calibri"/>
              </a:rPr>
              <a:t>Fijar semilla, medir trustworthiness; no leer distancias globales ni ejes.</a:t>
            </a:r>
          </a:p>
        </p:txBody>
      </p:sp>
      <p:sp>
        <p:nvSpPr>
          <p:cNvPr id="20" name="Rounded Rectangle 19"/>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8, celda 96</a:t>
            </a:r>
          </a:p>
        </p:txBody>
      </p:sp>
      <p:sp>
        <p:nvSpPr>
          <p:cNvPr id="21" name="TextBox 20"/>
          <p:cNvSpPr txBox="1"/>
          <p:nvPr/>
        </p:nvSpPr>
        <p:spPr>
          <a:xfrm>
            <a:off x="548640" y="5596128"/>
            <a:ext cx="11094720" cy="292608"/>
          </a:xfrm>
          <a:prstGeom prst="rect">
            <a:avLst/>
          </a:prstGeom>
          <a:noFill/>
        </p:spPr>
        <p:txBody>
          <a:bodyPr wrap="square">
            <a:spAutoFit/>
          </a:bodyPr>
          <a:lstStyle/>
          <a:p>
            <a:r>
              <a:rPr sz="1000">
                <a:solidFill>
                  <a:srgbClr val="6E6E6E"/>
                </a:solidFill>
                <a:latin typeface="Calibri"/>
              </a:rPr>
              <a:t>Fuente única: la guía de supuestos de la sesión (Partes 1-3). Alcance S06: reconocer la decisión y decidir; el ajuste fino (kernel PCA, rotaciones oblicuas) solo se nombra.</a:t>
            </a:r>
          </a:p>
        </p:txBody>
      </p:sp>
      <p:sp>
        <p:nvSpPr>
          <p:cNvPr id="22" name="Oval 21"/>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S06 — Herramientas para la Ciencia de Datos, UPC</a:t>
            </a:r>
          </a:p>
        </p:txBody>
      </p:sp>
      <p:sp>
        <p:nvSpPr>
          <p:cNvPr id="24" name="TextBox 23"/>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3 / 16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QUÉ NO LEER EN UN MAPA T-SNE/UMAP — SUPUESTOS SECCIÓN 3</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Las distancias del mapa no son fiables: cuatro límites</a:t>
            </a:r>
          </a:p>
        </p:txBody>
      </p:sp>
      <p:sp>
        <p:nvSpPr>
          <p:cNvPr id="4" name="Oval 3"/>
          <p:cNvSpPr/>
          <p:nvPr/>
        </p:nvSpPr>
        <p:spPr>
          <a:xfrm>
            <a:off x="548640" y="20711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riangle-alert__FFFFFF.png"/>
          <p:cNvPicPr>
            <a:picLocks noChangeAspect="1"/>
          </p:cNvPicPr>
          <p:nvPr/>
        </p:nvPicPr>
        <p:blipFill>
          <a:blip r:embed="rId2"/>
          <a:stretch>
            <a:fillRect/>
          </a:stretch>
        </p:blipFill>
        <p:spPr>
          <a:xfrm>
            <a:off x="732983" y="2255459"/>
            <a:ext cx="289682" cy="289682"/>
          </a:xfrm>
          <a:prstGeom prst="rect">
            <a:avLst/>
          </a:prstGeom>
        </p:spPr>
      </p:pic>
      <p:sp>
        <p:nvSpPr>
          <p:cNvPr id="6" name="TextBox 5"/>
          <p:cNvSpPr txBox="1"/>
          <p:nvPr/>
        </p:nvSpPr>
        <p:spPr>
          <a:xfrm>
            <a:off x="1508760" y="1938528"/>
            <a:ext cx="10134600" cy="411480"/>
          </a:xfrm>
          <a:prstGeom prst="rect">
            <a:avLst/>
          </a:prstGeom>
          <a:noFill/>
        </p:spPr>
        <p:txBody>
          <a:bodyPr wrap="square" anchor="t" lIns="0" rIns="0" tIns="0" bIns="0">
            <a:spAutoFit/>
          </a:bodyPr>
          <a:lstStyle/>
          <a:p>
            <a:pPr algn="l"/>
            <a:r>
              <a:rPr sz="1800" b="1">
                <a:solidFill>
                  <a:srgbClr val="9B1B30"/>
                </a:solidFill>
                <a:latin typeface="Calibri"/>
              </a:rPr>
              <a:t>Distancias no fiables</a:t>
            </a:r>
          </a:p>
        </p:txBody>
      </p:sp>
      <p:sp>
        <p:nvSpPr>
          <p:cNvPr id="7" name="TextBox 6"/>
          <p:cNvSpPr txBox="1"/>
          <p:nvPr/>
        </p:nvSpPr>
        <p:spPr>
          <a:xfrm>
            <a:off x="1508760" y="2395728"/>
            <a:ext cx="10134600" cy="502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La distancia entre agrupaciones del mapa no refleja la distancia real.</a:t>
            </a:r>
          </a:p>
        </p:txBody>
      </p:sp>
      <p:sp>
        <p:nvSpPr>
          <p:cNvPr id="8" name="Oval 7"/>
          <p:cNvSpPr/>
          <p:nvPr/>
        </p:nvSpPr>
        <p:spPr>
          <a:xfrm>
            <a:off x="548640" y="32141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hart-column__FFFFFF.png"/>
          <p:cNvPicPr>
            <a:picLocks noChangeAspect="1"/>
          </p:cNvPicPr>
          <p:nvPr/>
        </p:nvPicPr>
        <p:blipFill>
          <a:blip r:embed="rId3"/>
          <a:stretch>
            <a:fillRect/>
          </a:stretch>
        </p:blipFill>
        <p:spPr>
          <a:xfrm>
            <a:off x="732983" y="3398459"/>
            <a:ext cx="289682" cy="289682"/>
          </a:xfrm>
          <a:prstGeom prst="rect">
            <a:avLst/>
          </a:prstGeom>
        </p:spPr>
      </p:pic>
      <p:sp>
        <p:nvSpPr>
          <p:cNvPr id="10" name="TextBox 9"/>
          <p:cNvSpPr txBox="1"/>
          <p:nvPr/>
        </p:nvSpPr>
        <p:spPr>
          <a:xfrm>
            <a:off x="1508760" y="3081528"/>
            <a:ext cx="10134600" cy="411480"/>
          </a:xfrm>
          <a:prstGeom prst="rect">
            <a:avLst/>
          </a:prstGeom>
          <a:noFill/>
        </p:spPr>
        <p:txBody>
          <a:bodyPr wrap="square" anchor="t" lIns="0" rIns="0" tIns="0" bIns="0">
            <a:spAutoFit/>
          </a:bodyPr>
          <a:lstStyle/>
          <a:p>
            <a:pPr algn="l"/>
            <a:r>
              <a:rPr sz="1800" b="1">
                <a:solidFill>
                  <a:srgbClr val="9B1B30"/>
                </a:solidFill>
                <a:latin typeface="Calibri"/>
              </a:rPr>
              <a:t>Tamaño sin sentido</a:t>
            </a:r>
          </a:p>
        </p:txBody>
      </p:sp>
      <p:sp>
        <p:nvSpPr>
          <p:cNvPr id="11" name="TextBox 10"/>
          <p:cNvSpPr txBox="1"/>
          <p:nvPr/>
        </p:nvSpPr>
        <p:spPr>
          <a:xfrm>
            <a:off x="1508760" y="3538728"/>
            <a:ext cx="10134600" cy="502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El tamaño de una agrupación no mide la dispersión real del grupo.</a:t>
            </a:r>
          </a:p>
        </p:txBody>
      </p:sp>
      <p:sp>
        <p:nvSpPr>
          <p:cNvPr id="12" name="Oval 11"/>
          <p:cNvSpPr/>
          <p:nvPr/>
        </p:nvSpPr>
        <p:spPr>
          <a:xfrm>
            <a:off x="548640" y="43571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search__FFFFFF.png"/>
          <p:cNvPicPr>
            <a:picLocks noChangeAspect="1"/>
          </p:cNvPicPr>
          <p:nvPr/>
        </p:nvPicPr>
        <p:blipFill>
          <a:blip r:embed="rId4"/>
          <a:stretch>
            <a:fillRect/>
          </a:stretch>
        </p:blipFill>
        <p:spPr>
          <a:xfrm>
            <a:off x="732983" y="4541459"/>
            <a:ext cx="289682" cy="289682"/>
          </a:xfrm>
          <a:prstGeom prst="rect">
            <a:avLst/>
          </a:prstGeom>
        </p:spPr>
      </p:pic>
      <p:sp>
        <p:nvSpPr>
          <p:cNvPr id="14" name="TextBox 13"/>
          <p:cNvSpPr txBox="1"/>
          <p:nvPr/>
        </p:nvSpPr>
        <p:spPr>
          <a:xfrm>
            <a:off x="1508760" y="4224528"/>
            <a:ext cx="10134600" cy="411480"/>
          </a:xfrm>
          <a:prstGeom prst="rect">
            <a:avLst/>
          </a:prstGeom>
          <a:noFill/>
        </p:spPr>
        <p:txBody>
          <a:bodyPr wrap="square" anchor="t" lIns="0" rIns="0" tIns="0" bIns="0">
            <a:spAutoFit/>
          </a:bodyPr>
          <a:lstStyle/>
          <a:p>
            <a:pPr algn="l"/>
            <a:r>
              <a:rPr sz="1800" b="1">
                <a:solidFill>
                  <a:srgbClr val="9B1B30"/>
                </a:solidFill>
                <a:latin typeface="Calibri"/>
              </a:rPr>
              <a:t>Ejes mudos</a:t>
            </a:r>
          </a:p>
        </p:txBody>
      </p:sp>
      <p:sp>
        <p:nvSpPr>
          <p:cNvPr id="15" name="TextBox 14"/>
          <p:cNvSpPr txBox="1"/>
          <p:nvPr/>
        </p:nvSpPr>
        <p:spPr>
          <a:xfrm>
            <a:off x="1508760" y="4681728"/>
            <a:ext cx="10134600" cy="502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Los ejes del mapa no significan nada, a diferencia del PCA.</a:t>
            </a:r>
          </a:p>
        </p:txBody>
      </p:sp>
      <p:sp>
        <p:nvSpPr>
          <p:cNvPr id="16" name="Oval 15"/>
          <p:cNvSpPr/>
          <p:nvPr/>
        </p:nvSpPr>
        <p:spPr>
          <a:xfrm>
            <a:off x="548640" y="55001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refresh-cw__FFFFFF.png"/>
          <p:cNvPicPr>
            <a:picLocks noChangeAspect="1"/>
          </p:cNvPicPr>
          <p:nvPr/>
        </p:nvPicPr>
        <p:blipFill>
          <a:blip r:embed="rId5"/>
          <a:stretch>
            <a:fillRect/>
          </a:stretch>
        </p:blipFill>
        <p:spPr>
          <a:xfrm>
            <a:off x="732983" y="5684459"/>
            <a:ext cx="289682" cy="289682"/>
          </a:xfrm>
          <a:prstGeom prst="rect">
            <a:avLst/>
          </a:prstGeom>
        </p:spPr>
      </p:pic>
      <p:sp>
        <p:nvSpPr>
          <p:cNvPr id="18" name="TextBox 17"/>
          <p:cNvSpPr txBox="1"/>
          <p:nvPr/>
        </p:nvSpPr>
        <p:spPr>
          <a:xfrm>
            <a:off x="1508760" y="5367528"/>
            <a:ext cx="10134600" cy="411480"/>
          </a:xfrm>
          <a:prstGeom prst="rect">
            <a:avLst/>
          </a:prstGeom>
          <a:noFill/>
        </p:spPr>
        <p:txBody>
          <a:bodyPr wrap="square" anchor="t" lIns="0" rIns="0" tIns="0" bIns="0">
            <a:spAutoFit/>
          </a:bodyPr>
          <a:lstStyle/>
          <a:p>
            <a:pPr algn="l"/>
            <a:r>
              <a:rPr sz="1800" b="1">
                <a:solidFill>
                  <a:srgbClr val="9B1B30"/>
                </a:solidFill>
                <a:latin typeface="Calibri"/>
              </a:rPr>
              <a:t>Mapa no único</a:t>
            </a:r>
          </a:p>
        </p:txBody>
      </p:sp>
      <p:sp>
        <p:nvSpPr>
          <p:cNvPr id="19" name="TextBox 18"/>
          <p:cNvSpPr txBox="1"/>
          <p:nvPr/>
        </p:nvSpPr>
        <p:spPr>
          <a:xfrm>
            <a:off x="1508760" y="5824728"/>
            <a:ext cx="10134600" cy="502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El dibujo cambia con la semilla y con cada hiperparámetro.</a:t>
            </a:r>
          </a:p>
        </p:txBody>
      </p:sp>
      <p:sp>
        <p:nvSpPr>
          <p:cNvPr id="20" name="Rounded Rectangle 19"/>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8, Diag. 3, celda 104</a:t>
            </a:r>
          </a:p>
        </p:txBody>
      </p:sp>
      <p:sp>
        <p:nvSpPr>
          <p:cNvPr id="21" name="Oval 20"/>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S06 — Herramientas para la Ciencia de Datos, UPC</a:t>
            </a:r>
          </a:p>
        </p:txBody>
      </p:sp>
      <p:sp>
        <p:nvSpPr>
          <p:cNvPr id="23" name="TextBox 22"/>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4 / 16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PROXY MEDIBLE — ¿EL MAPA CONSERVA LA SEÑAL?</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En 2D, t-SNE (98) y UMAP superan al PCA (60)</a:t>
            </a:r>
          </a:p>
        </p:txBody>
      </p:sp>
      <p:pic>
        <p:nvPicPr>
          <p:cNvPr id="4" name="Picture 3" descr="grafico_deck_knn_embeddings.png"/>
          <p:cNvPicPr>
            <a:picLocks noChangeAspect="1"/>
          </p:cNvPicPr>
          <p:nvPr/>
        </p:nvPicPr>
        <p:blipFill>
          <a:blip r:embed="rId2"/>
          <a:stretch>
            <a:fillRect/>
          </a:stretch>
        </p:blipFill>
        <p:spPr>
          <a:xfrm>
            <a:off x="548640" y="1828800"/>
            <a:ext cx="5308667" cy="3383280"/>
          </a:xfrm>
          <a:prstGeom prst="rect">
            <a:avLst/>
          </a:prstGeom>
        </p:spPr>
      </p:pic>
      <p:sp>
        <p:nvSpPr>
          <p:cNvPr id="5" name="Oval 4"/>
          <p:cNvSpPr/>
          <p:nvPr/>
        </p:nvSpPr>
        <p:spPr>
          <a:xfrm>
            <a:off x="7955279" y="2011680"/>
            <a:ext cx="548640" cy="5486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ightbulb__FFFFFF.png"/>
          <p:cNvPicPr>
            <a:picLocks noChangeAspect="1"/>
          </p:cNvPicPr>
          <p:nvPr/>
        </p:nvPicPr>
        <p:blipFill>
          <a:blip r:embed="rId3"/>
          <a:stretch>
            <a:fillRect/>
          </a:stretch>
        </p:blipFill>
        <p:spPr>
          <a:xfrm>
            <a:off x="8108898" y="2165299"/>
            <a:ext cx="241402" cy="241402"/>
          </a:xfrm>
          <a:prstGeom prst="rect">
            <a:avLst/>
          </a:prstGeom>
        </p:spPr>
      </p:pic>
      <p:sp>
        <p:nvSpPr>
          <p:cNvPr id="7" name="TextBox 6"/>
          <p:cNvSpPr txBox="1"/>
          <p:nvPr/>
        </p:nvSpPr>
        <p:spPr>
          <a:xfrm>
            <a:off x="8686800" y="2057400"/>
            <a:ext cx="2926080" cy="548640"/>
          </a:xfrm>
          <a:prstGeom prst="rect">
            <a:avLst/>
          </a:prstGeom>
          <a:noFill/>
        </p:spPr>
        <p:txBody>
          <a:bodyPr wrap="square" anchor="t" lIns="0" rIns="0" tIns="0" bIns="0">
            <a:spAutoFit/>
          </a:bodyPr>
          <a:lstStyle/>
          <a:p>
            <a:pPr algn="l"/>
            <a:r>
              <a:rPr sz="1500" b="1">
                <a:solidFill>
                  <a:srgbClr val="9B1B30"/>
                </a:solidFill>
                <a:latin typeface="Calibri"/>
              </a:rPr>
              <a:t>Lectura de negocio</a:t>
            </a:r>
          </a:p>
        </p:txBody>
      </p:sp>
      <p:sp>
        <p:nvSpPr>
          <p:cNvPr id="8" name="TextBox 7"/>
          <p:cNvSpPr txBox="1"/>
          <p:nvPr/>
        </p:nvSpPr>
        <p:spPr>
          <a:xfrm>
            <a:off x="7955279" y="2880360"/>
            <a:ext cx="3657600" cy="3108960"/>
          </a:xfrm>
          <a:prstGeom prst="rect">
            <a:avLst/>
          </a:prstGeom>
          <a:noFill/>
        </p:spPr>
        <p:txBody>
          <a:bodyPr wrap="square" anchor="t" lIns="0" rIns="0" tIns="0" bIns="0">
            <a:spAutoFit/>
          </a:bodyPr>
          <a:lstStyle/>
          <a:p>
            <a:pPr algn="l">
              <a:lnSpc>
                <a:spcPct val="125000"/>
              </a:lnSpc>
            </a:pPr>
            <a:r>
              <a:rPr sz="1500" b="0">
                <a:solidFill>
                  <a:srgbClr val="2D2D2D"/>
                </a:solidFill>
                <a:latin typeface="Calibri"/>
              </a:rPr>
              <a:t>El embedding no lineal recupera casi toda la señal en 2D. Entre t-SNE y UMAP no hay orden: cambia con la semilla.</a:t>
            </a:r>
          </a:p>
        </p:txBody>
      </p:sp>
      <p:sp>
        <p:nvSpPr>
          <p:cNvPr id="9" name="TextBox 8"/>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Proxy kNN(5) 5-fold sobre digits (random_state=42) — embeddings. Con 5 semillas, UMAP 0,9716-0,9816 y t-SNE 0,9750-0,9772: el orden NO es robusto (estabilidad_semillas; celda 81 del cuaderno).</a:t>
            </a:r>
          </a:p>
        </p:txBody>
      </p:sp>
      <p:sp>
        <p:nvSpPr>
          <p:cNvPr id="10" name="Rounded Rectangle 9"/>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6, Fig 2, celda 81</a:t>
            </a:r>
          </a:p>
        </p:txBody>
      </p:sp>
      <p:sp>
        <p:nvSpPr>
          <p:cNvPr id="11" name="Oval 10"/>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S06 — Herramientas para la Ciencia de Datos, UPC</a:t>
            </a:r>
          </a:p>
        </p:txBody>
      </p:sp>
      <p:sp>
        <p:nvSpPr>
          <p:cNvPr id="13" name="TextBox 12"/>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5 / 16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3</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La aplicación</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Factorial y PCR contra la multicolinealidad</a:t>
            </a:r>
          </a:p>
        </p:txBody>
      </p:sp>
      <p:pic>
        <p:nvPicPr>
          <p:cNvPr id="5" name="Picture 4" descr="briefcase__FFFFFF.png"/>
          <p:cNvPicPr>
            <a:picLocks noChangeAspect="1"/>
          </p:cNvPicPr>
          <p:nvPr/>
        </p:nvPicPr>
        <p:blipFill>
          <a:blip r:embed="rId2"/>
          <a:stretch>
            <a:fillRect/>
          </a:stretch>
        </p:blipFill>
        <p:spPr>
          <a:xfrm>
            <a:off x="10195560" y="640080"/>
            <a:ext cx="1051560" cy="105156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DOS TÉCNICAS QUE SE CONFUNDEN — DEFINICIONES SECCIÓN 9-11</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PCA describe; el Factorial explica</a:t>
            </a:r>
          </a:p>
        </p:txBody>
      </p:sp>
      <p:sp>
        <p:nvSpPr>
          <p:cNvPr id="4" name="Rounded Rectangle 3"/>
          <p:cNvSpPr/>
          <p:nvPr/>
        </p:nvSpPr>
        <p:spPr>
          <a:xfrm>
            <a:off x="548640" y="1828800"/>
            <a:ext cx="5285232" cy="361188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2048256"/>
            <a:ext cx="4700016" cy="548640"/>
          </a:xfrm>
          <a:prstGeom prst="rect">
            <a:avLst/>
          </a:prstGeom>
          <a:noFill/>
        </p:spPr>
        <p:txBody>
          <a:bodyPr wrap="square" anchor="t" lIns="0" rIns="0" tIns="0" bIns="0">
            <a:spAutoFit/>
          </a:bodyPr>
          <a:lstStyle/>
          <a:p>
            <a:pPr algn="l">
              <a:lnSpc>
                <a:spcPct val="105000"/>
              </a:lnSpc>
            </a:pPr>
            <a:r>
              <a:rPr sz="1600" b="1">
                <a:solidFill>
                  <a:srgbClr val="9B1B30"/>
                </a:solidFill>
                <a:latin typeface="Calibri"/>
              </a:rPr>
              <a:t>PCA — describe</a:t>
            </a:r>
          </a:p>
        </p:txBody>
      </p:sp>
      <p:sp>
        <p:nvSpPr>
          <p:cNvPr id="6" name="TextBox 5"/>
          <p:cNvSpPr txBox="1"/>
          <p:nvPr/>
        </p:nvSpPr>
        <p:spPr>
          <a:xfrm>
            <a:off x="877824" y="2724912"/>
            <a:ext cx="4626864" cy="2532888"/>
          </a:xfrm>
          <a:prstGeom prst="rect">
            <a:avLst/>
          </a:prstGeom>
          <a:noFill/>
        </p:spPr>
        <p:txBody>
          <a:bodyPr wrap="square" anchor="t" lIns="0" rIns="0" tIns="0" bIns="0">
            <a:spAutoFit/>
          </a:bodyPr>
          <a:lstStyle/>
          <a:p>
            <a:pPr algn="l">
              <a:lnSpc>
                <a:spcPct val="120000"/>
              </a:lnSpc>
            </a:pPr>
            <a:r>
              <a:rPr sz="1300" b="0">
                <a:solidFill>
                  <a:srgbClr val="2D2D2D"/>
                </a:solidFill>
                <a:latin typeface="Calibri"/>
              </a:rPr>
              <a:t>Resume la varianza total en componentes que combinan las variables. Comprime, visualiza y quita colinealidad.</a:t>
            </a:r>
          </a:p>
        </p:txBody>
      </p:sp>
      <p:sp>
        <p:nvSpPr>
          <p:cNvPr id="7" name="Rounded Rectangle 6"/>
          <p:cNvSpPr/>
          <p:nvPr/>
        </p:nvSpPr>
        <p:spPr>
          <a:xfrm>
            <a:off x="6355080" y="1828800"/>
            <a:ext cx="5285232" cy="361188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47688" y="2048256"/>
            <a:ext cx="4700016" cy="548640"/>
          </a:xfrm>
          <a:prstGeom prst="rect">
            <a:avLst/>
          </a:prstGeom>
          <a:noFill/>
        </p:spPr>
        <p:txBody>
          <a:bodyPr wrap="square" anchor="t" lIns="0" rIns="0" tIns="0" bIns="0">
            <a:spAutoFit/>
          </a:bodyPr>
          <a:lstStyle/>
          <a:p>
            <a:pPr algn="l">
              <a:lnSpc>
                <a:spcPct val="105000"/>
              </a:lnSpc>
            </a:pPr>
            <a:r>
              <a:rPr sz="1600" b="1">
                <a:solidFill>
                  <a:srgbClr val="9B1B30"/>
                </a:solidFill>
                <a:latin typeface="Calibri"/>
              </a:rPr>
              <a:t>Análisis Factorial — explica</a:t>
            </a:r>
          </a:p>
        </p:txBody>
      </p:sp>
      <p:sp>
        <p:nvSpPr>
          <p:cNvPr id="9" name="TextBox 8"/>
          <p:cNvSpPr txBox="1"/>
          <p:nvPr/>
        </p:nvSpPr>
        <p:spPr>
          <a:xfrm>
            <a:off x="6684264" y="2724912"/>
            <a:ext cx="4626864" cy="2532888"/>
          </a:xfrm>
          <a:prstGeom prst="rect">
            <a:avLst/>
          </a:prstGeom>
          <a:noFill/>
        </p:spPr>
        <p:txBody>
          <a:bodyPr wrap="square" anchor="t" lIns="0" rIns="0" tIns="0" bIns="0">
            <a:spAutoFit/>
          </a:bodyPr>
          <a:lstStyle/>
          <a:p>
            <a:pPr algn="l">
              <a:lnSpc>
                <a:spcPct val="120000"/>
              </a:lnSpc>
            </a:pPr>
            <a:r>
              <a:rPr sz="1300" b="0">
                <a:solidFill>
                  <a:srgbClr val="2D2D2D"/>
                </a:solidFill>
                <a:latin typeface="Calibri"/>
              </a:rPr>
              <a:t>Postula factores latentes que generan las variables y explican la varianza común. La rotación varimax permite nombrarlos.</a:t>
            </a:r>
          </a:p>
        </p:txBody>
      </p:sp>
      <p:sp>
        <p:nvSpPr>
          <p:cNvPr id="10" name="Oval 9"/>
          <p:cNvSpPr/>
          <p:nvPr/>
        </p:nvSpPr>
        <p:spPr>
          <a:xfrm>
            <a:off x="5897880" y="3406140"/>
            <a:ext cx="457200" cy="4572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vs</a:t>
            </a:r>
          </a:p>
        </p:txBody>
      </p:sp>
      <p:sp>
        <p:nvSpPr>
          <p:cNvPr id="11" name="TextBox 10"/>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Criterio de Kaiser (eigenvalor&gt;1): Iris 1 — Wine 3. Los 2 factores de Iris son ELECCIÓN DEL ANALISTA, no Kaiser — resultados/S06_resultados.xlsx!factor_analysis (kaiser_eig_gt1 C2/C3 vs. n_factores B2/B3; celda 67 del cuaderno).</a:t>
            </a:r>
          </a:p>
        </p:txBody>
      </p:sp>
      <p:sp>
        <p:nvSpPr>
          <p:cNvPr id="12" name="Rounded Rectangle 11"/>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3.4, celda 26</a:t>
            </a:r>
          </a:p>
        </p:txBody>
      </p:sp>
      <p:sp>
        <p:nvSpPr>
          <p:cNvPr id="13" name="Oval 12"/>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S06 — Herramientas para la Ciencia de Datos, UPC</a:t>
            </a:r>
          </a:p>
        </p:txBody>
      </p:sp>
      <p:sp>
        <p:nvSpPr>
          <p:cNvPr id="15" name="TextBox 14"/>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7 / 16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828800"/>
            <a:ext cx="5852160" cy="2926080"/>
          </a:xfrm>
          <a:prstGeom prst="rect">
            <a:avLst/>
          </a:prstGeom>
          <a:noFill/>
        </p:spPr>
        <p:txBody>
          <a:bodyPr wrap="square" anchor="t" lIns="0" rIns="0" tIns="0" bIns="0">
            <a:spAutoFit/>
          </a:bodyPr>
          <a:lstStyle/>
          <a:p>
            <a:pPr algn="l"/>
            <a:r>
              <a:rPr sz="14000" b="1">
                <a:solidFill>
                  <a:srgbClr val="E4002B"/>
                </a:solidFill>
                <a:latin typeface="Calibri"/>
              </a:rPr>
              <a:t>1</a:t>
            </a:r>
          </a:p>
        </p:txBody>
      </p:sp>
      <p:sp>
        <p:nvSpPr>
          <p:cNvPr id="3" name="TextBox 2"/>
          <p:cNvSpPr txBox="1"/>
          <p:nvPr/>
        </p:nvSpPr>
        <p:spPr>
          <a:xfrm>
            <a:off x="6766560" y="2286000"/>
            <a:ext cx="4846320" cy="1371600"/>
          </a:xfrm>
          <a:prstGeom prst="rect">
            <a:avLst/>
          </a:prstGeom>
          <a:noFill/>
        </p:spPr>
        <p:txBody>
          <a:bodyPr wrap="square" anchor="t" lIns="0" rIns="0" tIns="0" bIns="0">
            <a:spAutoFit/>
          </a:bodyPr>
          <a:lstStyle/>
          <a:p>
            <a:pPr algn="l"/>
            <a:r>
              <a:rPr sz="2600" b="1">
                <a:solidFill>
                  <a:srgbClr val="2D2D2D"/>
                </a:solidFill>
                <a:latin typeface="Calibri"/>
              </a:rPr>
              <a:t>es el VIF máximo que deja la PCR (era 1037,4)</a:t>
            </a:r>
          </a:p>
        </p:txBody>
      </p:sp>
      <p:sp>
        <p:nvSpPr>
          <p:cNvPr id="4" name="TextBox 3"/>
          <p:cNvSpPr txBox="1"/>
          <p:nvPr/>
        </p:nvSpPr>
        <p:spPr>
          <a:xfrm>
            <a:off x="6766560" y="3749039"/>
            <a:ext cx="4846320" cy="2011680"/>
          </a:xfrm>
          <a:prstGeom prst="rect">
            <a:avLst/>
          </a:prstGeom>
          <a:noFill/>
        </p:spPr>
        <p:txBody>
          <a:bodyPr wrap="square" anchor="t" lIns="0" rIns="0" tIns="0" bIns="0">
            <a:spAutoFit/>
          </a:bodyPr>
          <a:lstStyle/>
          <a:p>
            <a:pPr algn="l">
              <a:lnSpc>
                <a:spcPct val="120000"/>
              </a:lnSpc>
            </a:pPr>
            <a:r>
              <a:rPr sz="1500" b="0">
                <a:solidFill>
                  <a:srgbClr val="6E6E6E"/>
                </a:solidFill>
                <a:latin typeface="Calibri"/>
              </a:rPr>
              <a:t>Los componentes ortogonales eliminan la multicolinealidad de la Sesión 4; el error de prueba apenas cambia (MSE 0,0175 → 0,0185).</a:t>
            </a:r>
          </a:p>
        </p:txBody>
      </p:sp>
      <p:pic>
        <p:nvPicPr>
          <p:cNvPr id="5" name="Picture 4" descr="circle-check__E4002B.png"/>
          <p:cNvPicPr>
            <a:picLocks noChangeAspect="1"/>
          </p:cNvPicPr>
          <p:nvPr/>
        </p:nvPicPr>
        <p:blipFill>
          <a:blip r:embed="rId2"/>
          <a:stretch>
            <a:fillRect/>
          </a:stretch>
        </p:blipFill>
        <p:spPr>
          <a:xfrm>
            <a:off x="6766560" y="1325880"/>
            <a:ext cx="658368" cy="658368"/>
          </a:xfrm>
          <a:prstGeom prst="rect">
            <a:avLst/>
          </a:prstGeom>
        </p:spPr>
      </p:pic>
      <p:sp>
        <p:nvSpPr>
          <p:cNvPr id="6" name="TextBox 5"/>
          <p:cNvSpPr txBox="1"/>
          <p:nvPr/>
        </p:nvSpPr>
        <p:spPr>
          <a:xfrm>
            <a:off x="548640" y="5943600"/>
            <a:ext cx="11094720" cy="292608"/>
          </a:xfrm>
          <a:prstGeom prst="rect">
            <a:avLst/>
          </a:prstGeom>
          <a:noFill/>
        </p:spPr>
        <p:txBody>
          <a:bodyPr wrap="square">
            <a:spAutoFit/>
          </a:bodyPr>
          <a:lstStyle/>
          <a:p>
            <a:r>
              <a:rPr sz="1000">
                <a:solidFill>
                  <a:srgbClr val="6E6E6E"/>
                </a:solidFill>
                <a:latin typeface="Calibri"/>
              </a:rPr>
              <a:t>PCR vs. OLS/PLS (Communities and Crime, multicolineal): la PLS deja el mismo VIF 1 — resultados/S06_resultados.xlsx!comparacion_pcr (E2, E3, E4, C2, C3).</a:t>
            </a:r>
          </a:p>
        </p:txBody>
      </p:sp>
      <p:sp>
        <p:nvSpPr>
          <p:cNvPr id="7" name="Oval 6"/>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S06 — Herramientas para la Ciencia de Datos, UPC</a:t>
            </a:r>
          </a:p>
        </p:txBody>
      </p:sp>
      <p:sp>
        <p:nvSpPr>
          <p:cNvPr id="9" name="TextBox 8"/>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8 / 16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CEDEE"/>
        </a:solidFill>
        <a:effectLst/>
      </p:bgPr>
    </p:bg>
    <p:spTree>
      <p:nvGrpSpPr>
        <p:cNvPr id="1" name=""/>
        <p:cNvGrpSpPr/>
        <p:nvPr/>
      </p:nvGrpSpPr>
      <p:grpSpPr/>
      <p:sp>
        <p:nvSpPr>
          <p:cNvPr id="2" name="Oval 1"/>
          <p:cNvSpPr/>
          <p:nvPr/>
        </p:nvSpPr>
        <p:spPr>
          <a:xfrm>
            <a:off x="5593080" y="914400"/>
            <a:ext cx="1005840" cy="10058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400" b="1">
                <a:solidFill>
                  <a:srgbClr val="FFFFFF"/>
                </a:solidFill>
                <a:latin typeface="Calibri"/>
              </a:rPr>
              <a:t>?</a:t>
            </a:r>
          </a:p>
        </p:txBody>
      </p:sp>
      <p:sp>
        <p:nvSpPr>
          <p:cNvPr id="3" name="TextBox 2"/>
          <p:cNvSpPr txBox="1"/>
          <p:nvPr/>
        </p:nvSpPr>
        <p:spPr>
          <a:xfrm>
            <a:off x="1371600" y="2468880"/>
            <a:ext cx="9448800" cy="2011680"/>
          </a:xfrm>
          <a:prstGeom prst="rect">
            <a:avLst/>
          </a:prstGeom>
          <a:noFill/>
        </p:spPr>
        <p:txBody>
          <a:bodyPr wrap="square" anchor="t" lIns="0" rIns="0" tIns="0" bIns="0">
            <a:spAutoFit/>
          </a:bodyPr>
          <a:lstStyle/>
          <a:p>
            <a:pPr algn="ctr"/>
            <a:r>
              <a:rPr sz="3200" b="1">
                <a:solidFill>
                  <a:srgbClr val="9B1B30"/>
                </a:solidFill>
                <a:latin typeface="Calibri"/>
              </a:rPr>
              <a:t>¿PCR o Lasso contra la multicolinealidad de la sesión 4?</a:t>
            </a:r>
          </a:p>
        </p:txBody>
      </p:sp>
      <p:sp>
        <p:nvSpPr>
          <p:cNvPr id="4" name="TextBox 3"/>
          <p:cNvSpPr txBox="1"/>
          <p:nvPr/>
        </p:nvSpPr>
        <p:spPr>
          <a:xfrm>
            <a:off x="2011680" y="4754880"/>
            <a:ext cx="8168640" cy="1280160"/>
          </a:xfrm>
          <a:prstGeom prst="rect">
            <a:avLst/>
          </a:prstGeom>
          <a:noFill/>
        </p:spPr>
        <p:txBody>
          <a:bodyPr wrap="square" anchor="t" lIns="0" rIns="0" tIns="0" bIns="0">
            <a:spAutoFit/>
          </a:bodyPr>
          <a:lstStyle/>
          <a:p>
            <a:pPr algn="ctr"/>
            <a:r>
              <a:rPr sz="1500" b="0">
                <a:solidFill>
                  <a:srgbClr val="2D2D2D"/>
                </a:solidFill>
                <a:latin typeface="Calibri"/>
              </a:rPr>
              <a:t>Debate: para el mismo VIF alto, ¿recombinar todo en componentes (PCR) o descartar variables (Lasso, S05)?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4</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La decisión</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t-SNE y UMAP: ver, no medir</a:t>
            </a:r>
          </a:p>
        </p:txBody>
      </p:sp>
      <p:pic>
        <p:nvPicPr>
          <p:cNvPr id="5" name="Picture 4" descr="git-branch__FFFFFF.png"/>
          <p:cNvPicPr>
            <a:picLocks noChangeAspect="1"/>
          </p:cNvPicPr>
          <p:nvPr/>
        </p:nvPicPr>
        <p:blipFill>
          <a:blip r:embed="rId2"/>
          <a:stretch>
            <a:fillRect/>
          </a:stretch>
        </p:blipFill>
        <p:spPr>
          <a:xfrm>
            <a:off x="10195560" y="640080"/>
            <a:ext cx="1051560" cy="105156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VISUALIZACIÓN NO LINEAL — PRESERVAR LA VECINDAD LOCAL</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t-SNE y UMAP dibujan 10 agrupaciones, una por dígito</a:t>
            </a:r>
          </a:p>
        </p:txBody>
      </p:sp>
      <p:pic>
        <p:nvPicPr>
          <p:cNvPr id="4" name="Picture 3" descr="deck_embeddings.png"/>
          <p:cNvPicPr>
            <a:picLocks noChangeAspect="1"/>
          </p:cNvPicPr>
          <p:nvPr/>
        </p:nvPicPr>
        <p:blipFill>
          <a:blip r:embed="rId2"/>
          <a:stretch>
            <a:fillRect/>
          </a:stretch>
        </p:blipFill>
        <p:spPr>
          <a:xfrm>
            <a:off x="548640" y="1828800"/>
            <a:ext cx="6949440" cy="3054994"/>
          </a:xfrm>
          <a:prstGeom prst="rect">
            <a:avLst/>
          </a:prstGeom>
        </p:spPr>
      </p:pic>
      <p:sp>
        <p:nvSpPr>
          <p:cNvPr id="5" name="Oval 4"/>
          <p:cNvSpPr/>
          <p:nvPr/>
        </p:nvSpPr>
        <p:spPr>
          <a:xfrm>
            <a:off x="7955279" y="2011680"/>
            <a:ext cx="548640" cy="5486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ightbulb__FFFFFF.png"/>
          <p:cNvPicPr>
            <a:picLocks noChangeAspect="1"/>
          </p:cNvPicPr>
          <p:nvPr/>
        </p:nvPicPr>
        <p:blipFill>
          <a:blip r:embed="rId3"/>
          <a:stretch>
            <a:fillRect/>
          </a:stretch>
        </p:blipFill>
        <p:spPr>
          <a:xfrm>
            <a:off x="8108898" y="2165299"/>
            <a:ext cx="241402" cy="241402"/>
          </a:xfrm>
          <a:prstGeom prst="rect">
            <a:avLst/>
          </a:prstGeom>
        </p:spPr>
      </p:pic>
      <p:sp>
        <p:nvSpPr>
          <p:cNvPr id="7" name="TextBox 6"/>
          <p:cNvSpPr txBox="1"/>
          <p:nvPr/>
        </p:nvSpPr>
        <p:spPr>
          <a:xfrm>
            <a:off x="8686800" y="2057400"/>
            <a:ext cx="2926080" cy="548640"/>
          </a:xfrm>
          <a:prstGeom prst="rect">
            <a:avLst/>
          </a:prstGeom>
          <a:noFill/>
        </p:spPr>
        <p:txBody>
          <a:bodyPr wrap="square" anchor="t" lIns="0" rIns="0" tIns="0" bIns="0">
            <a:spAutoFit/>
          </a:bodyPr>
          <a:lstStyle/>
          <a:p>
            <a:pPr algn="l"/>
            <a:r>
              <a:rPr sz="1500" b="1">
                <a:solidFill>
                  <a:srgbClr val="9B1B30"/>
                </a:solidFill>
                <a:latin typeface="Calibri"/>
              </a:rPr>
              <a:t>Lectura de negocio</a:t>
            </a:r>
          </a:p>
        </p:txBody>
      </p:sp>
      <p:sp>
        <p:nvSpPr>
          <p:cNvPr id="8" name="TextBox 7"/>
          <p:cNvSpPr txBox="1"/>
          <p:nvPr/>
        </p:nvSpPr>
        <p:spPr>
          <a:xfrm>
            <a:off x="7955279" y="2880360"/>
            <a:ext cx="3657600" cy="3108960"/>
          </a:xfrm>
          <a:prstGeom prst="rect">
            <a:avLst/>
          </a:prstGeom>
          <a:noFill/>
        </p:spPr>
        <p:txBody>
          <a:bodyPr wrap="square" anchor="t" lIns="0" rIns="0" tIns="0" bIns="0">
            <a:spAutoFit/>
          </a:bodyPr>
          <a:lstStyle/>
          <a:p>
            <a:pPr algn="l">
              <a:lnSpc>
                <a:spcPct val="125000"/>
              </a:lnSpc>
            </a:pPr>
            <a:r>
              <a:rPr sz="1500" b="0">
                <a:solidFill>
                  <a:srgbClr val="2D2D2D"/>
                </a:solidFill>
                <a:latin typeface="Calibri"/>
              </a:rPr>
              <a:t>Embedding no lineal: mapa 2D que preserva la vecindad local. t-SNE y UMAP solo visualizan; no agrupan.</a:t>
            </a:r>
          </a:p>
        </p:txBody>
      </p:sp>
      <p:sp>
        <p:nvSpPr>
          <p:cNvPr id="9" name="TextBox 8"/>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Embedding t-SNE/UMAP — el glosario de la sesión, Sección 14; mapas 2D de digits (celda 73 del cuaderno).</a:t>
            </a:r>
          </a:p>
        </p:txBody>
      </p:sp>
      <p:sp>
        <p:nvSpPr>
          <p:cNvPr id="10" name="Rounded Rectangle 9"/>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5c, mapas, celda 73</a:t>
            </a:r>
          </a:p>
        </p:txBody>
      </p:sp>
      <p:sp>
        <p:nvSpPr>
          <p:cNvPr id="11" name="Oval 10"/>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S06 — Herramientas para la Ciencia de Datos, UPC</a:t>
            </a:r>
          </a:p>
        </p:txBody>
      </p:sp>
      <p:sp>
        <p:nvSpPr>
          <p:cNvPr id="13" name="TextBox 12"/>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11 / 16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MAPA DE DECISIÓN — DEFINICIONES SECCIÓN 17</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objetivo decide la técnica: modelar o visualizar</a:t>
            </a:r>
          </a:p>
        </p:txBody>
      </p:sp>
      <p:sp>
        <p:nvSpPr>
          <p:cNvPr id="4" name="Rounded Rectangle 3"/>
          <p:cNvSpPr/>
          <p:nvPr/>
        </p:nvSpPr>
        <p:spPr>
          <a:xfrm>
            <a:off x="54864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column__FFFFFF.png"/>
          <p:cNvPicPr>
            <a:picLocks noChangeAspect="1"/>
          </p:cNvPicPr>
          <p:nvPr/>
        </p:nvPicPr>
        <p:blipFill>
          <a:blip r:embed="rId2"/>
          <a:stretch>
            <a:fillRect/>
          </a:stretch>
        </p:blipFill>
        <p:spPr>
          <a:xfrm>
            <a:off x="956462" y="2282341"/>
            <a:ext cx="281636" cy="281636"/>
          </a:xfrm>
          <a:prstGeom prst="rect">
            <a:avLst/>
          </a:prstGeom>
        </p:spPr>
      </p:pic>
      <p:sp>
        <p:nvSpPr>
          <p:cNvPr id="7" name="TextBox 6"/>
          <p:cNvSpPr txBox="1"/>
          <p:nvPr/>
        </p:nvSpPr>
        <p:spPr>
          <a:xfrm>
            <a:off x="77724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PCA — PCR / PLS</a:t>
            </a:r>
          </a:p>
        </p:txBody>
      </p:sp>
      <p:sp>
        <p:nvSpPr>
          <p:cNvPr id="8" name="TextBox 7"/>
          <p:cNvSpPr txBox="1"/>
          <p:nvPr/>
        </p:nvSpPr>
        <p:spPr>
          <a:xfrm>
            <a:off x="77724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Comprime, quita colinealidad y conserva ejes interpretables con varianza medible.</a:t>
            </a:r>
          </a:p>
        </p:txBody>
      </p:sp>
      <p:sp>
        <p:nvSpPr>
          <p:cNvPr id="9" name="TextBox 8"/>
          <p:cNvSpPr txBox="1"/>
          <p:nvPr/>
        </p:nvSpPr>
        <p:spPr>
          <a:xfrm>
            <a:off x="77724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Para modelar</a:t>
            </a:r>
          </a:p>
        </p:txBody>
      </p:sp>
      <p:sp>
        <p:nvSpPr>
          <p:cNvPr id="10" name="Rounded Rectangle 9"/>
          <p:cNvSpPr/>
          <p:nvPr/>
        </p:nvSpPr>
        <p:spPr>
          <a:xfrm>
            <a:off x="436880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5974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earch__FFFFFF.png"/>
          <p:cNvPicPr>
            <a:picLocks noChangeAspect="1"/>
          </p:cNvPicPr>
          <p:nvPr/>
        </p:nvPicPr>
        <p:blipFill>
          <a:blip r:embed="rId3"/>
          <a:stretch>
            <a:fillRect/>
          </a:stretch>
        </p:blipFill>
        <p:spPr>
          <a:xfrm>
            <a:off x="4776622" y="2282341"/>
            <a:ext cx="281636" cy="281636"/>
          </a:xfrm>
          <a:prstGeom prst="rect">
            <a:avLst/>
          </a:prstGeom>
        </p:spPr>
      </p:pic>
      <p:sp>
        <p:nvSpPr>
          <p:cNvPr id="13" name="TextBox 12"/>
          <p:cNvSpPr txBox="1"/>
          <p:nvPr/>
        </p:nvSpPr>
        <p:spPr>
          <a:xfrm>
            <a:off x="459740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Análisis Factorial</a:t>
            </a:r>
          </a:p>
        </p:txBody>
      </p:sp>
      <p:sp>
        <p:nvSpPr>
          <p:cNvPr id="14" name="TextBox 13"/>
          <p:cNvSpPr txBox="1"/>
          <p:nvPr/>
        </p:nvSpPr>
        <p:spPr>
          <a:xfrm>
            <a:off x="459740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Descubre constructos latentes tras las correlaciones, con rotación varimax.</a:t>
            </a:r>
          </a:p>
        </p:txBody>
      </p:sp>
      <p:sp>
        <p:nvSpPr>
          <p:cNvPr id="15" name="TextBox 14"/>
          <p:cNvSpPr txBox="1"/>
          <p:nvPr/>
        </p:nvSpPr>
        <p:spPr>
          <a:xfrm>
            <a:off x="459740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Para explicar</a:t>
            </a:r>
          </a:p>
        </p:txBody>
      </p:sp>
      <p:sp>
        <p:nvSpPr>
          <p:cNvPr id="16" name="Rounded Rectangle 15"/>
          <p:cNvSpPr/>
          <p:nvPr/>
        </p:nvSpPr>
        <p:spPr>
          <a:xfrm>
            <a:off x="818896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4175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lightbulb__FFFFFF.png"/>
          <p:cNvPicPr>
            <a:picLocks noChangeAspect="1"/>
          </p:cNvPicPr>
          <p:nvPr/>
        </p:nvPicPr>
        <p:blipFill>
          <a:blip r:embed="rId4"/>
          <a:stretch>
            <a:fillRect/>
          </a:stretch>
        </p:blipFill>
        <p:spPr>
          <a:xfrm>
            <a:off x="8596782" y="2282341"/>
            <a:ext cx="281636" cy="281636"/>
          </a:xfrm>
          <a:prstGeom prst="rect">
            <a:avLst/>
          </a:prstGeom>
        </p:spPr>
      </p:pic>
      <p:sp>
        <p:nvSpPr>
          <p:cNvPr id="19" name="TextBox 18"/>
          <p:cNvSpPr txBox="1"/>
          <p:nvPr/>
        </p:nvSpPr>
        <p:spPr>
          <a:xfrm>
            <a:off x="841756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t-SNE / UMAP</a:t>
            </a:r>
          </a:p>
        </p:txBody>
      </p:sp>
      <p:sp>
        <p:nvSpPr>
          <p:cNvPr id="20" name="TextBox 19"/>
          <p:cNvSpPr txBox="1"/>
          <p:nvPr/>
        </p:nvSpPr>
        <p:spPr>
          <a:xfrm>
            <a:off x="841756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Solo visualiza alta dimensión y detecta patrones y grupos por inspección visual.</a:t>
            </a:r>
          </a:p>
        </p:txBody>
      </p:sp>
      <p:sp>
        <p:nvSpPr>
          <p:cNvPr id="21" name="TextBox 20"/>
          <p:cNvSpPr txBox="1"/>
          <p:nvPr/>
        </p:nvSpPr>
        <p:spPr>
          <a:xfrm>
            <a:off x="841756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Para ver</a:t>
            </a:r>
          </a:p>
        </p:txBody>
      </p:sp>
      <p:sp>
        <p:nvSpPr>
          <p:cNvPr id="22" name="Oval 21"/>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S06 — Herramientas para la Ciencia de Datos, UPC</a:t>
            </a:r>
          </a:p>
        </p:txBody>
      </p:sp>
      <p:sp>
        <p:nvSpPr>
          <p:cNvPr id="24" name="TextBox 23"/>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12 / 16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LABORATORIO (7 PASOS) → ENTREGABLE EVALUABLE — RÚBRICA 0-20</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laboratorio son 7 pasos: 0-2 en aula y 3-6 en casa</a:t>
            </a:r>
          </a:p>
        </p:txBody>
      </p:sp>
      <p:sp>
        <p:nvSpPr>
          <p:cNvPr id="4" name="Rectangle 3"/>
          <p:cNvSpPr/>
          <p:nvPr/>
        </p:nvSpPr>
        <p:spPr>
          <a:xfrm>
            <a:off x="2397760" y="2802255"/>
            <a:ext cx="7396480" cy="1905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2054860" y="2468880"/>
            <a:ext cx="685800" cy="6858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1</a:t>
            </a:r>
          </a:p>
        </p:txBody>
      </p:sp>
      <p:sp>
        <p:nvSpPr>
          <p:cNvPr id="6" name="TextBox 5"/>
          <p:cNvSpPr txBox="1"/>
          <p:nvPr/>
        </p:nvSpPr>
        <p:spPr>
          <a:xfrm>
            <a:off x="621792" y="3319272"/>
            <a:ext cx="3551936" cy="594360"/>
          </a:xfrm>
          <a:prstGeom prst="rect">
            <a:avLst/>
          </a:prstGeom>
          <a:noFill/>
        </p:spPr>
        <p:txBody>
          <a:bodyPr wrap="square" anchor="t" lIns="0" rIns="0" tIns="0" bIns="0">
            <a:spAutoFit/>
          </a:bodyPr>
          <a:lstStyle/>
          <a:p>
            <a:pPr algn="ctr"/>
            <a:r>
              <a:rPr sz="1500" b="1">
                <a:solidFill>
                  <a:srgbClr val="2D2D2D"/>
                </a:solidFill>
                <a:latin typeface="Calibri"/>
              </a:rPr>
              <a:t>Pasos 0-2</a:t>
            </a:r>
          </a:p>
        </p:txBody>
      </p:sp>
      <p:sp>
        <p:nvSpPr>
          <p:cNvPr id="7" name="TextBox 6"/>
          <p:cNvSpPr txBox="1"/>
          <p:nvPr/>
        </p:nvSpPr>
        <p:spPr>
          <a:xfrm>
            <a:off x="621792" y="3931920"/>
            <a:ext cx="3551936" cy="1554480"/>
          </a:xfrm>
          <a:prstGeom prst="rect">
            <a:avLst/>
          </a:prstGeom>
          <a:noFill/>
        </p:spPr>
        <p:txBody>
          <a:bodyPr wrap="square" anchor="t" lIns="0" rIns="0" tIns="0" bIns="0">
            <a:spAutoFit/>
          </a:bodyPr>
          <a:lstStyle/>
          <a:p>
            <a:pPr algn="ctr"/>
            <a:r>
              <a:rPr sz="1200" b="0">
                <a:solidFill>
                  <a:srgbClr val="6E6E6E"/>
                </a:solidFill>
                <a:latin typeface="Calibri"/>
              </a:rPr>
              <a:t>EN AULA (~13 min): paper, datos y la decisión cov/corr</a:t>
            </a:r>
          </a:p>
        </p:txBody>
      </p:sp>
      <p:sp>
        <p:nvSpPr>
          <p:cNvPr id="8" name="Oval 7"/>
          <p:cNvSpPr/>
          <p:nvPr/>
        </p:nvSpPr>
        <p:spPr>
          <a:xfrm>
            <a:off x="5753100" y="2468880"/>
            <a:ext cx="685800" cy="685800"/>
          </a:xfrm>
          <a:prstGeom prst="ellipse">
            <a:avLst/>
          </a:prstGeom>
          <a:solidFill>
            <a:srgbClr val="9B1B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2</a:t>
            </a:r>
          </a:p>
        </p:txBody>
      </p:sp>
      <p:sp>
        <p:nvSpPr>
          <p:cNvPr id="9" name="TextBox 8"/>
          <p:cNvSpPr txBox="1"/>
          <p:nvPr/>
        </p:nvSpPr>
        <p:spPr>
          <a:xfrm>
            <a:off x="4320032" y="3319272"/>
            <a:ext cx="3551936" cy="594360"/>
          </a:xfrm>
          <a:prstGeom prst="rect">
            <a:avLst/>
          </a:prstGeom>
          <a:noFill/>
        </p:spPr>
        <p:txBody>
          <a:bodyPr wrap="square" anchor="t" lIns="0" rIns="0" tIns="0" bIns="0">
            <a:spAutoFit/>
          </a:bodyPr>
          <a:lstStyle/>
          <a:p>
            <a:pPr algn="ctr"/>
            <a:r>
              <a:rPr sz="1500" b="1">
                <a:solidFill>
                  <a:srgbClr val="2D2D2D"/>
                </a:solidFill>
                <a:latin typeface="Calibri"/>
              </a:rPr>
              <a:t>Pasos 3-5</a:t>
            </a:r>
          </a:p>
        </p:txBody>
      </p:sp>
      <p:sp>
        <p:nvSpPr>
          <p:cNvPr id="10" name="TextBox 9"/>
          <p:cNvSpPr txBox="1"/>
          <p:nvPr/>
        </p:nvSpPr>
        <p:spPr>
          <a:xfrm>
            <a:off x="4320032" y="3931920"/>
            <a:ext cx="3551936" cy="1554480"/>
          </a:xfrm>
          <a:prstGeom prst="rect">
            <a:avLst/>
          </a:prstGeom>
          <a:noFill/>
        </p:spPr>
        <p:txBody>
          <a:bodyPr wrap="square" anchor="t" lIns="0" rIns="0" tIns="0" bIns="0">
            <a:spAutoFit/>
          </a:bodyPr>
          <a:lstStyle/>
          <a:p>
            <a:pPr algn="ctr"/>
            <a:r>
              <a:rPr sz="1200" b="0">
                <a:solidFill>
                  <a:srgbClr val="6E6E6E"/>
                </a:solidFill>
                <a:latin typeface="Calibri"/>
              </a:rPr>
              <a:t>EN CASA (~58 min): PCA, biplot, Factorial e interpretación</a:t>
            </a:r>
          </a:p>
        </p:txBody>
      </p:sp>
      <p:sp>
        <p:nvSpPr>
          <p:cNvPr id="11" name="Oval 10"/>
          <p:cNvSpPr/>
          <p:nvPr/>
        </p:nvSpPr>
        <p:spPr>
          <a:xfrm>
            <a:off x="9451340" y="2468880"/>
            <a:ext cx="685800" cy="6858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3</a:t>
            </a:r>
          </a:p>
        </p:txBody>
      </p:sp>
      <p:sp>
        <p:nvSpPr>
          <p:cNvPr id="12" name="TextBox 11"/>
          <p:cNvSpPr txBox="1"/>
          <p:nvPr/>
        </p:nvSpPr>
        <p:spPr>
          <a:xfrm>
            <a:off x="8018272" y="3319272"/>
            <a:ext cx="3551936" cy="594360"/>
          </a:xfrm>
          <a:prstGeom prst="rect">
            <a:avLst/>
          </a:prstGeom>
          <a:noFill/>
        </p:spPr>
        <p:txBody>
          <a:bodyPr wrap="square" anchor="t" lIns="0" rIns="0" tIns="0" bIns="0">
            <a:spAutoFit/>
          </a:bodyPr>
          <a:lstStyle/>
          <a:p>
            <a:pPr algn="ctr"/>
            <a:r>
              <a:rPr sz="1500" b="1">
                <a:solidFill>
                  <a:srgbClr val="2D2D2D"/>
                </a:solidFill>
                <a:latin typeface="Calibri"/>
              </a:rPr>
              <a:t>Paso 6</a:t>
            </a:r>
          </a:p>
        </p:txBody>
      </p:sp>
      <p:sp>
        <p:nvSpPr>
          <p:cNvPr id="13" name="TextBox 12"/>
          <p:cNvSpPr txBox="1"/>
          <p:nvPr/>
        </p:nvSpPr>
        <p:spPr>
          <a:xfrm>
            <a:off x="8018272" y="3931920"/>
            <a:ext cx="3551936" cy="1554480"/>
          </a:xfrm>
          <a:prstGeom prst="rect">
            <a:avLst/>
          </a:prstGeom>
          <a:noFill/>
        </p:spPr>
        <p:txBody>
          <a:bodyPr wrap="square" anchor="t" lIns="0" rIns="0" tIns="0" bIns="0">
            <a:spAutoFit/>
          </a:bodyPr>
          <a:lstStyle/>
          <a:p>
            <a:pPr algn="ctr"/>
            <a:r>
              <a:rPr sz="1200" b="0">
                <a:solidFill>
                  <a:srgbClr val="6E6E6E"/>
                </a:solidFill>
                <a:latin typeface="Calibri"/>
              </a:rPr>
              <a:t>EN CASA (~30 min): PCR + t-SNE/UMAP → recomendación</a:t>
            </a:r>
          </a:p>
        </p:txBody>
      </p:sp>
      <p:sp>
        <p:nvSpPr>
          <p:cNvPr id="14" name="Rounded Rectangle 13"/>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5, celda 60</a:t>
            </a:r>
          </a:p>
        </p:txBody>
      </p:sp>
      <p:sp>
        <p:nvSpPr>
          <p:cNvPr id="15" name="Oval 14"/>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S06 — Herramientas para la Ciencia de Datos, UPC</a:t>
            </a:r>
          </a:p>
        </p:txBody>
      </p:sp>
      <p:sp>
        <p:nvSpPr>
          <p:cNvPr id="17" name="TextBox 16"/>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13 / 16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ACTUALIDAD — 3 DE LAS 5 FUENTES VERIFICADAS (LAS 5, EN FUENTES_ACTUALIDAD_S06.MD)</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Visualizar embeddings ya es infraestructura de IA</a:t>
            </a:r>
          </a:p>
        </p:txBody>
      </p:sp>
      <p:sp>
        <p:nvSpPr>
          <p:cNvPr id="4" name="Oval 3"/>
          <p:cNvSpPr/>
          <p:nvPr/>
        </p:nvSpPr>
        <p:spPr>
          <a:xfrm>
            <a:off x="548640" y="1810512"/>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5" name="TextBox 4"/>
          <p:cNvSpPr txBox="1"/>
          <p:nvPr/>
        </p:nvSpPr>
        <p:spPr>
          <a:xfrm>
            <a:off x="1097280" y="1783080"/>
            <a:ext cx="10546080" cy="320040"/>
          </a:xfrm>
          <a:prstGeom prst="rect">
            <a:avLst/>
          </a:prstGeom>
          <a:noFill/>
        </p:spPr>
        <p:txBody>
          <a:bodyPr wrap="square" anchor="t" lIns="0" rIns="0" tIns="0" bIns="0">
            <a:spAutoFit/>
          </a:bodyPr>
          <a:lstStyle/>
          <a:p>
            <a:pPr algn="l"/>
            <a:r>
              <a:rPr sz="1500" b="1">
                <a:solidFill>
                  <a:srgbClr val="2D2D2D"/>
                </a:solidFill>
                <a:latin typeface="Calibri"/>
              </a:rPr>
              <a:t>UMAP monitorea embeddings de LLM en producción</a:t>
            </a:r>
          </a:p>
        </p:txBody>
      </p:sp>
      <p:sp>
        <p:nvSpPr>
          <p:cNvPr id="6" name="TextBox 5"/>
          <p:cNvSpPr txBox="1"/>
          <p:nvPr/>
        </p:nvSpPr>
        <p:spPr>
          <a:xfrm>
            <a:off x="1097280" y="2093976"/>
            <a:ext cx="10546080" cy="274320"/>
          </a:xfrm>
          <a:prstGeom prst="rect">
            <a:avLst/>
          </a:prstGeom>
          <a:noFill/>
        </p:spPr>
        <p:txBody>
          <a:bodyPr wrap="square" anchor="t" lIns="0" rIns="0" tIns="0" bIns="0">
            <a:spAutoFit/>
          </a:bodyPr>
          <a:lstStyle/>
          <a:p>
            <a:pPr algn="l"/>
            <a:r>
              <a:rPr sz="1200" b="0">
                <a:solidFill>
                  <a:srgbClr val="6E6E6E"/>
                </a:solidFill>
                <a:latin typeface="Calibri"/>
              </a:rPr>
              <a:t>Fiddler AI — 2026  —  proyecta 4096 dimensiones a 2D para ver la deriva del modelo.</a:t>
            </a:r>
          </a:p>
        </p:txBody>
      </p:sp>
      <p:sp>
        <p:nvSpPr>
          <p:cNvPr id="7" name="Oval 6"/>
          <p:cNvSpPr/>
          <p:nvPr/>
        </p:nvSpPr>
        <p:spPr>
          <a:xfrm>
            <a:off x="548640" y="2706624"/>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8" name="TextBox 7"/>
          <p:cNvSpPr txBox="1"/>
          <p:nvPr/>
        </p:nvSpPr>
        <p:spPr>
          <a:xfrm>
            <a:off x="1097280" y="2679192"/>
            <a:ext cx="10546080" cy="320040"/>
          </a:xfrm>
          <a:prstGeom prst="rect">
            <a:avLst/>
          </a:prstGeom>
          <a:noFill/>
        </p:spPr>
        <p:txBody>
          <a:bodyPr wrap="square" anchor="t" lIns="0" rIns="0" tIns="0" bIns="0">
            <a:spAutoFit/>
          </a:bodyPr>
          <a:lstStyle/>
          <a:p>
            <a:pPr algn="l"/>
            <a:r>
              <a:rPr sz="1500" b="1">
                <a:solidFill>
                  <a:srgbClr val="2D2D2D"/>
                </a:solidFill>
                <a:latin typeface="Calibri"/>
              </a:rPr>
              <a:t>PCA comprime embeddings 8x y abarata el RAG</a:t>
            </a:r>
          </a:p>
        </p:txBody>
      </p:sp>
      <p:sp>
        <p:nvSpPr>
          <p:cNvPr id="9" name="TextBox 8"/>
          <p:cNvSpPr txBox="1"/>
          <p:nvPr/>
        </p:nvSpPr>
        <p:spPr>
          <a:xfrm>
            <a:off x="1097280" y="2990088"/>
            <a:ext cx="10546080" cy="274320"/>
          </a:xfrm>
          <a:prstGeom prst="rect">
            <a:avLst/>
          </a:prstGeom>
          <a:noFill/>
        </p:spPr>
        <p:txBody>
          <a:bodyPr wrap="square" anchor="t" lIns="0" rIns="0" tIns="0" bIns="0">
            <a:spAutoFit/>
          </a:bodyPr>
          <a:lstStyle/>
          <a:p>
            <a:pPr algn="l"/>
            <a:r>
              <a:rPr sz="1200" b="0">
                <a:solidFill>
                  <a:srgbClr val="6E6E6E"/>
                </a:solidFill>
                <a:latin typeface="Calibri"/>
              </a:rPr>
              <a:t>arXiv 2505.00105 — 30/04/2025  —  reducir dimensiones baja el coste de memoria y de cómputo.</a:t>
            </a:r>
          </a:p>
        </p:txBody>
      </p:sp>
      <p:sp>
        <p:nvSpPr>
          <p:cNvPr id="10" name="Oval 9"/>
          <p:cNvSpPr/>
          <p:nvPr/>
        </p:nvSpPr>
        <p:spPr>
          <a:xfrm>
            <a:off x="548640" y="3602736"/>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1" name="TextBox 10"/>
          <p:cNvSpPr txBox="1"/>
          <p:nvPr/>
        </p:nvSpPr>
        <p:spPr>
          <a:xfrm>
            <a:off x="1097280" y="3575304"/>
            <a:ext cx="10546080" cy="320040"/>
          </a:xfrm>
          <a:prstGeom prst="rect">
            <a:avLst/>
          </a:prstGeom>
          <a:noFill/>
        </p:spPr>
        <p:txBody>
          <a:bodyPr wrap="square" anchor="t" lIns="0" rIns="0" tIns="0" bIns="0">
            <a:spAutoFit/>
          </a:bodyPr>
          <a:lstStyle/>
          <a:p>
            <a:pPr algn="l"/>
            <a:r>
              <a:rPr sz="1500" b="1">
                <a:solidFill>
                  <a:srgbClr val="2D2D2D"/>
                </a:solidFill>
                <a:latin typeface="Calibri"/>
              </a:rPr>
              <a:t>Cuándo NO confiar en un mapa 2D</a:t>
            </a:r>
          </a:p>
        </p:txBody>
      </p:sp>
      <p:sp>
        <p:nvSpPr>
          <p:cNvPr id="12" name="TextBox 11"/>
          <p:cNvSpPr txBox="1"/>
          <p:nvPr/>
        </p:nvSpPr>
        <p:spPr>
          <a:xfrm>
            <a:off x="1097280" y="3886200"/>
            <a:ext cx="10546080" cy="274320"/>
          </a:xfrm>
          <a:prstGeom prst="rect">
            <a:avLst/>
          </a:prstGeom>
          <a:noFill/>
        </p:spPr>
        <p:txBody>
          <a:bodyPr wrap="square" anchor="t" lIns="0" rIns="0" tIns="0" bIns="0">
            <a:spAutoFit/>
          </a:bodyPr>
          <a:lstStyle/>
          <a:p>
            <a:pPr algn="l"/>
            <a:r>
              <a:rPr sz="1200" b="0">
                <a:solidFill>
                  <a:srgbClr val="6E6E6E"/>
                </a:solidFill>
                <a:latin typeface="Calibri"/>
              </a:rPr>
              <a:t>arXiv 2509.04222 — 04/09/2025  —  métricas de precisión y recall antes de decidir sobre el mapa.</a:t>
            </a:r>
          </a:p>
        </p:txBody>
      </p:sp>
      <p:sp>
        <p:nvSpPr>
          <p:cNvPr id="13" name="Oval 12"/>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S06 — Herramientas para la Ciencia de Datos, UPC</a:t>
            </a:r>
          </a:p>
        </p:txBody>
      </p:sp>
      <p:sp>
        <p:nvSpPr>
          <p:cNvPr id="15" name="TextBox 14"/>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14 / 16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BIBLIOGRAFÍA — LAS REFERENCIAS COMPLETAS, EN BIBLIOGRAFIA_ALUMNOS.MD</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Cinco lecturas anclan la reducción de dimensiones</a:t>
            </a:r>
          </a:p>
        </p:txBody>
      </p:sp>
      <p:sp>
        <p:nvSpPr>
          <p:cNvPr id="4" name="Oval 3"/>
          <p:cNvSpPr/>
          <p:nvPr/>
        </p:nvSpPr>
        <p:spPr>
          <a:xfrm>
            <a:off x="548640" y="2261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book-open__FFFFFF.png"/>
          <p:cNvPicPr>
            <a:picLocks noChangeAspect="1"/>
          </p:cNvPicPr>
          <p:nvPr/>
        </p:nvPicPr>
        <p:blipFill>
          <a:blip r:embed="rId2"/>
          <a:stretch>
            <a:fillRect/>
          </a:stretch>
        </p:blipFill>
        <p:spPr>
          <a:xfrm>
            <a:off x="732983" y="2445959"/>
            <a:ext cx="289682" cy="289682"/>
          </a:xfrm>
          <a:prstGeom prst="rect">
            <a:avLst/>
          </a:prstGeom>
        </p:spPr>
      </p:pic>
      <p:sp>
        <p:nvSpPr>
          <p:cNvPr id="6" name="TextBox 5"/>
          <p:cNvSpPr txBox="1"/>
          <p:nvPr/>
        </p:nvSpPr>
        <p:spPr>
          <a:xfrm>
            <a:off x="1508760" y="1938528"/>
            <a:ext cx="10134600" cy="411480"/>
          </a:xfrm>
          <a:prstGeom prst="rect">
            <a:avLst/>
          </a:prstGeom>
          <a:noFill/>
        </p:spPr>
        <p:txBody>
          <a:bodyPr wrap="square" anchor="t" lIns="0" rIns="0" tIns="0" bIns="0">
            <a:spAutoFit/>
          </a:bodyPr>
          <a:lstStyle/>
          <a:p>
            <a:pPr algn="l"/>
            <a:r>
              <a:rPr sz="1800" b="1">
                <a:solidFill>
                  <a:srgbClr val="9B1B30"/>
                </a:solidFill>
                <a:latin typeface="Calibri"/>
              </a:rPr>
              <a:t>ISLR Secciones 6.3 y 12.2</a:t>
            </a:r>
          </a:p>
        </p:txBody>
      </p:sp>
      <p:sp>
        <p:nvSpPr>
          <p:cNvPr id="7" name="TextBox 6"/>
          <p:cNvSpPr txBox="1"/>
          <p:nvPr/>
        </p:nvSpPr>
        <p:spPr>
          <a:xfrm>
            <a:off x="1508760" y="2395728"/>
            <a:ext cx="10134600" cy="883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Por dónde empezar: PCA, biplot, elección de k y PCR/PLS.</a:t>
            </a:r>
          </a:p>
        </p:txBody>
      </p:sp>
      <p:sp>
        <p:nvSpPr>
          <p:cNvPr id="8" name="Oval 7"/>
          <p:cNvSpPr/>
          <p:nvPr/>
        </p:nvSpPr>
        <p:spPr>
          <a:xfrm>
            <a:off x="548640" y="3785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book-open__FFFFFF.png"/>
          <p:cNvPicPr>
            <a:picLocks noChangeAspect="1"/>
          </p:cNvPicPr>
          <p:nvPr/>
        </p:nvPicPr>
        <p:blipFill>
          <a:blip r:embed="rId2"/>
          <a:stretch>
            <a:fillRect/>
          </a:stretch>
        </p:blipFill>
        <p:spPr>
          <a:xfrm>
            <a:off x="732983" y="3969959"/>
            <a:ext cx="289682" cy="289682"/>
          </a:xfrm>
          <a:prstGeom prst="rect">
            <a:avLst/>
          </a:prstGeom>
        </p:spPr>
      </p:pic>
      <p:sp>
        <p:nvSpPr>
          <p:cNvPr id="10" name="TextBox 9"/>
          <p:cNvSpPr txBox="1"/>
          <p:nvPr/>
        </p:nvSpPr>
        <p:spPr>
          <a:xfrm>
            <a:off x="1508760" y="3462528"/>
            <a:ext cx="10134600" cy="411480"/>
          </a:xfrm>
          <a:prstGeom prst="rect">
            <a:avLst/>
          </a:prstGeom>
          <a:noFill/>
        </p:spPr>
        <p:txBody>
          <a:bodyPr wrap="square" anchor="t" lIns="0" rIns="0" tIns="0" bIns="0">
            <a:spAutoFit/>
          </a:bodyPr>
          <a:lstStyle/>
          <a:p>
            <a:pPr algn="l"/>
            <a:r>
              <a:rPr sz="1800" b="1">
                <a:solidFill>
                  <a:srgbClr val="9B1B30"/>
                </a:solidFill>
                <a:latin typeface="Calibri"/>
              </a:rPr>
              <a:t>Hotelling (1933) — PCA</a:t>
            </a:r>
          </a:p>
        </p:txBody>
      </p:sp>
      <p:sp>
        <p:nvSpPr>
          <p:cNvPr id="11" name="TextBox 10"/>
          <p:cNvSpPr txBox="1"/>
          <p:nvPr/>
        </p:nvSpPr>
        <p:spPr>
          <a:xfrm>
            <a:off x="1508760" y="3919728"/>
            <a:ext cx="10134600" cy="883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El paper de la réplica: los componentes principales.</a:t>
            </a:r>
          </a:p>
        </p:txBody>
      </p:sp>
      <p:sp>
        <p:nvSpPr>
          <p:cNvPr id="12" name="Oval 11"/>
          <p:cNvSpPr/>
          <p:nvPr/>
        </p:nvSpPr>
        <p:spPr>
          <a:xfrm>
            <a:off x="548640" y="5309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book-open__FFFFFF.png"/>
          <p:cNvPicPr>
            <a:picLocks noChangeAspect="1"/>
          </p:cNvPicPr>
          <p:nvPr/>
        </p:nvPicPr>
        <p:blipFill>
          <a:blip r:embed="rId2"/>
          <a:stretch>
            <a:fillRect/>
          </a:stretch>
        </p:blipFill>
        <p:spPr>
          <a:xfrm>
            <a:off x="732983" y="5493959"/>
            <a:ext cx="289682" cy="289682"/>
          </a:xfrm>
          <a:prstGeom prst="rect">
            <a:avLst/>
          </a:prstGeom>
        </p:spPr>
      </p:pic>
      <p:sp>
        <p:nvSpPr>
          <p:cNvPr id="14" name="TextBox 13"/>
          <p:cNvSpPr txBox="1"/>
          <p:nvPr/>
        </p:nvSpPr>
        <p:spPr>
          <a:xfrm>
            <a:off x="1508760" y="4986528"/>
            <a:ext cx="10134600" cy="411480"/>
          </a:xfrm>
          <a:prstGeom prst="rect">
            <a:avLst/>
          </a:prstGeom>
          <a:noFill/>
        </p:spPr>
        <p:txBody>
          <a:bodyPr wrap="square" anchor="t" lIns="0" rIns="0" tIns="0" bIns="0">
            <a:spAutoFit/>
          </a:bodyPr>
          <a:lstStyle/>
          <a:p>
            <a:pPr algn="l"/>
            <a:r>
              <a:rPr sz="1800" b="1">
                <a:solidFill>
                  <a:srgbClr val="9B1B30"/>
                </a:solidFill>
                <a:latin typeface="Calibri"/>
              </a:rPr>
              <a:t>t-SNE (2008) y UMAP (2018)</a:t>
            </a:r>
          </a:p>
        </p:txBody>
      </p:sp>
      <p:sp>
        <p:nvSpPr>
          <p:cNvPr id="15" name="TextBox 14"/>
          <p:cNvSpPr txBox="1"/>
          <p:nvPr/>
        </p:nvSpPr>
        <p:spPr>
          <a:xfrm>
            <a:off x="1508760" y="5443728"/>
            <a:ext cx="10134600" cy="883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Los dos papers de la visualización no lineal.</a:t>
            </a:r>
          </a:p>
        </p:txBody>
      </p:sp>
      <p:sp>
        <p:nvSpPr>
          <p:cNvPr id="16" name="Oval 15"/>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S06 — Herramientas para la Ciencia de Datos, UPC</a:t>
            </a:r>
          </a:p>
        </p:txBody>
      </p:sp>
      <p:sp>
        <p:nvSpPr>
          <p:cNvPr id="18" name="TextBox 17"/>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15 / 16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CIERRE</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entregable decide la técnica según el objetivo</a:t>
            </a:r>
          </a:p>
        </p:txBody>
      </p:sp>
      <p:sp>
        <p:nvSpPr>
          <p:cNvPr id="4" name="Rounded Rectangle 3"/>
          <p:cNvSpPr/>
          <p:nvPr/>
        </p:nvSpPr>
        <p:spPr>
          <a:xfrm>
            <a:off x="54864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a:t>
            </a:r>
          </a:p>
        </p:txBody>
      </p:sp>
      <p:sp>
        <p:nvSpPr>
          <p:cNvPr id="6" name="TextBox 5"/>
          <p:cNvSpPr txBox="1"/>
          <p:nvPr/>
        </p:nvSpPr>
        <p:spPr>
          <a:xfrm>
            <a:off x="77724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Entregable</a:t>
            </a:r>
          </a:p>
        </p:txBody>
      </p:sp>
      <p:sp>
        <p:nvSpPr>
          <p:cNvPr id="7" name="TextBox 6"/>
          <p:cNvSpPr txBox="1"/>
          <p:nvPr/>
        </p:nvSpPr>
        <p:spPr>
          <a:xfrm>
            <a:off x="77724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PCA con nº de componentes por varianza, biplot, t-SNE vs. UMAP y PCR de S04, con recomendación. Individual, rúbrica 0-20.</a:t>
            </a:r>
          </a:p>
        </p:txBody>
      </p:sp>
      <p:sp>
        <p:nvSpPr>
          <p:cNvPr id="8" name="Rounded Rectangle 7"/>
          <p:cNvSpPr/>
          <p:nvPr/>
        </p:nvSpPr>
        <p:spPr>
          <a:xfrm>
            <a:off x="436880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5974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a:t>
            </a:r>
          </a:p>
        </p:txBody>
      </p:sp>
      <p:sp>
        <p:nvSpPr>
          <p:cNvPr id="10" name="TextBox 9"/>
          <p:cNvSpPr txBox="1"/>
          <p:nvPr/>
        </p:nvSpPr>
        <p:spPr>
          <a:xfrm>
            <a:off x="459740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Evaluación</a:t>
            </a:r>
          </a:p>
        </p:txBody>
      </p:sp>
      <p:sp>
        <p:nvSpPr>
          <p:cNvPr id="11" name="TextBox 10"/>
          <p:cNvSpPr txBox="1"/>
          <p:nvPr/>
        </p:nvSpPr>
        <p:spPr>
          <a:xfrm>
            <a:off x="459740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Control corto como tarea take-home (8 preguntas, ~15 min), para la próxima clase; los drills, en casa con los pasos 3-6.</a:t>
            </a:r>
          </a:p>
        </p:txBody>
      </p:sp>
      <p:sp>
        <p:nvSpPr>
          <p:cNvPr id="12" name="Rounded Rectangle 11"/>
          <p:cNvSpPr/>
          <p:nvPr/>
        </p:nvSpPr>
        <p:spPr>
          <a:xfrm>
            <a:off x="818896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4175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a:t>
            </a:r>
          </a:p>
        </p:txBody>
      </p:sp>
      <p:sp>
        <p:nvSpPr>
          <p:cNvPr id="14" name="TextBox 13"/>
          <p:cNvSpPr txBox="1"/>
          <p:nvPr/>
        </p:nvSpPr>
        <p:spPr>
          <a:xfrm>
            <a:off x="841756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Próxima sesión</a:t>
            </a:r>
          </a:p>
        </p:txBody>
      </p:sp>
      <p:sp>
        <p:nvSpPr>
          <p:cNvPr id="15" name="TextBox 14"/>
          <p:cNvSpPr txBox="1"/>
          <p:nvPr/>
        </p:nvSpPr>
        <p:spPr>
          <a:xfrm>
            <a:off x="841756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S07 — Clustering y detección de anomalías: agrupar formalmente lo que hoy solo se visualiza — hoy solo se nombra.</a:t>
            </a:r>
          </a:p>
        </p:txBody>
      </p:sp>
      <p:sp>
        <p:nvSpPr>
          <p:cNvPr id="16" name="Oval 15"/>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S06 — Herramientas para la Ciencia de Datos, UPC</a:t>
            </a:r>
          </a:p>
        </p:txBody>
      </p:sp>
      <p:sp>
        <p:nvSpPr>
          <p:cNvPr id="18" name="TextBox 17"/>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16 / 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