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7" r:id="rId22"/>
    <p:sldId id="280" r:id="rId32"/>
    <p:sldId id="282" r:id="rId34"/>
    <p:sldId id="288" r:id="rId23"/>
    <p:sldId id="276" r:id="rId28"/>
    <p:sldId id="275" r:id="rId27"/>
    <p:sldId id="277" r:id="rId29"/>
    <p:sldId id="278" r:id="rId30"/>
    <p:sldId id="279" r:id="rId31"/>
    <p:sldId id="281" r:id="rId33"/>
    <p:sldId id="289" r:id="rId24"/>
    <p:sldId id="283" r:id="rId35"/>
    <p:sldId id="290" r:id="rId25"/>
    <p:sldId id="286" r:id="rId21"/>
    <p:sldId id="285" r:id="rId37"/>
    <p:sldId id="284" r:id="rId36"/>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21" Type="http://schemas.openxmlformats.org/officeDocument/2006/relationships/slide" Target="slides/slide16.xml"/><Relationship Id="rId22" Type="http://schemas.openxmlformats.org/officeDocument/2006/relationships/slide" Target="slides/slide3.xml"/><Relationship Id="rId23" Type="http://schemas.openxmlformats.org/officeDocument/2006/relationships/slide" Target="slides/slide6.xml"/><Relationship Id="rId24" Type="http://schemas.openxmlformats.org/officeDocument/2006/relationships/slide" Target="slides/slide13.xml"/><Relationship Id="rId25" Type="http://schemas.openxmlformats.org/officeDocument/2006/relationships/slide" Target="slides/slide15.xml"/><Relationship Id="rId27" Type="http://schemas.openxmlformats.org/officeDocument/2006/relationships/slide" Target="slides/slide8.xml"/><Relationship Id="rId28" Type="http://schemas.openxmlformats.org/officeDocument/2006/relationships/slide" Target="slides/slide7.xml"/><Relationship Id="rId29" Type="http://schemas.openxmlformats.org/officeDocument/2006/relationships/slide" Target="slides/slide9.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4.xml"/><Relationship Id="rId33" Type="http://schemas.openxmlformats.org/officeDocument/2006/relationships/slide" Target="slides/slide12.xml"/><Relationship Id="rId34" Type="http://schemas.openxmlformats.org/officeDocument/2006/relationships/slide" Target="slides/slide5.xml"/><Relationship Id="rId35" Type="http://schemas.openxmlformats.org/officeDocument/2006/relationships/slide" Target="slides/slide14.xml"/><Relationship Id="rId36" Type="http://schemas.openxmlformats.org/officeDocument/2006/relationships/slide" Target="slides/slide18.xml"/><Relationship Id="rId37"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Unidad 3 (técnicas especializadas). Promesa: convertir la historia de una serie en un pronóstico con incertidumbre y en una decisión de negocio, sin mirar el futuro. Se replica el modelo aerolínea de Box &amp; Jenkins (1970) y el ejemplo oficial de Prophet (Taylor &amp; Letham, 2018). Método del deck: cada cifra se muestra contra su fuente y se LEE del Excel de resultados (fidelidad verificada). El botón «Abrir en Colab» lleva al cuaderno. [Viernes]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Recorrer la sesión en cuatro actos con pulso Contexto -&gt; Evidencia -&gt; Decisión, el hilo del curso: ir del dato a la decisión. Acto 1: por qué el pronóstico decide y por qué validar es lo difícil. Acto 2: descomponer y probar estacionariedad antes de modelar. Acto 3: las DOS réplicas del cuaderno —el modelo aerolínea de Box &amp; Jenkins (SARIMA) y el ejemplo oficial de Prophet— junto a ETS. Acto 4: métricas, backtesting rolling-origin sin fuga y elección del campeón. Las técnicas de S12-S14 solo se nombran al cierre. [Viernes]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nombrando la frontera. Cada límite se dice en voz alta y se enlaza con la sesión que sí lo resuelve. No es una advertencia legal: es la competencia que separa a quien reporta un número de quien sabe qué autoriza. [Viernes, capítulo 11.9]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11.6. Se enuncia la pregunta tal como aparece en el sílabo, la ficha, el cuaderno y la guía: es el mismo código en todos. [Viernes, capítulo 11.6]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11.7. Se enuncia la pregunta tal como aparece en el sílabo, la ficha, el cuaderno y la guía: es el mismo código en todos.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11.8. Se enuncia la pregunta tal como aparece en el sílabo, la ficha, el cuaderno y la guía: es el mismo código en todos. [Viernes, capítulo 11.8]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11.9. Se enuncia la pregunta tal como aparece en el sílabo, la ficha, el cuaderno y la guía: es el mismo código en todos. [Viernes, capítulo 11.9]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MAPE crece con el horizonte: 5,84 % a corto plazo y 10,04 % a un año, coherente con la documentación de Prophet (benchmark, otro pipeline). El MAPE CV medio es 7,45 %. Reportar un único MAPE sin decir a qué horizonte es un error: el error depende fuertemente de h. Se reporta al horizonte que importa al negocio y se revisa la cobertura del intervalo.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la decisión. La métrica debe ajustarse al problema y la validación honesta es el origen móvil. Aquí se cierra el arco: elegir el campeón y comunicar la recomendación.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las métricas de error. RMSE cuando importan los errores grandes; MAPE/sMAPE para comparar series de distinta escala (muchos SKU). sMAPE = mean(2·|A−F|/(|A|+|F|))·100, rango 0-200 %: NO es MAPE, su denominador incluye el pronóstico. Elegir mal la métrica premia al modelo equivocado.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rolling-origin es la única evaluación honesta en series: fijar un origen, entrenar con lo anterior, pronosticar h, avanzar y repetir, respetando el orden temporal. Un K-fold aleatorio mezclaría futuro y pasado y daría precisión ilusoria. El ML global aprende de features temporales (lags, medias móviles, calendario) y de variables externas.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Laboratorio de negocio: demanda mensual de un producto (Store Item Demand). El campeón es el de menor sMAPE promediado sobre los orígenes que bata a la línea base. Regla de sensatez de las competencias M: si un modelo complejo no supera al seasonal-naive (repetir el mismo mes del año anterior), no aporta. Aquí SARIMA es el campeón (4,09 % vs. naive 5,78 %, ETS 5,50 %). Las barras se reconstruyen de backtesting_store y su media coincide con B6/B12/B11.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fuga temporal es el error #1 del forecasting aplicado: un modelo que «aparenta» ser mejor en el reporte colapsa en producción. Albelali &amp; Ahmed (2025) miden que la fuga esconde hasta ~20,5 % del error real (el reporte con fuga es optimista; el honesto es más alto). Retoma el leakage de S10 (SMOTE antes del split), ahora en el eje tiempo. [Viernes, capítulo 11.6]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Ante métricas sospechosamente buenas, auditar el pipeline: ¿las features usan solo el pasado?, ¿el escalado se ajustó solo en train?, ¿el split respeta el tiempo? Si no se puede explicar el resultado, se asume fuga hasta demostrar lo contrario. [Viernes, capítulo 11.7]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cada decisión se DIAGNOSTICA y luego se DECIDE con un método. (1) ESTACIONARIEDAD: ADF y KPSS con nulas opuestas; tras d=1/D=1 la log-serie da ADF p 0,0002. (2) ADITIVA/MULTIPLICATIVA: el panel seasonal del STL muestra amplitud creciente -&gt; log. (3) RUIDO BLANCO: Ljung-Box p 0,754 &gt; 0,05 -&gt; aceptar; si no, volver a identificar. (4) FUGA TEMPORAL: rolling-origin sin fuga, el campeón SARIMA (4,09 %) supera al naive (5,78 %). Fuente: SUPUESTOS_S11.md. [Viernes, capítulo 11.6]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estudios recientes que anclan la sesión en la práctica actual. Los dos primeros refuerzan la advertencia central (fuga temporal); el tercero da una guía operativa de eficiencia. Todos con enlace verificado en las fuentes de la sesión. [Viernes, capítulo 11.8]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verificada. FPP3 cubre toda la sesión y es gratuita. Box &amp; Jenkins fundan ARIMA y el modelo aerolínea; Taylor &amp; Letham presentan Prophet; Hyndman &amp; Khandakar, la selección automática; Makridakis et al. consolidan el sMAPE. La ruta del curso: empezar en el paper que fundó la técnica, replicar su resultado y recién llevarlo a los datos de la organización. Enlaces en el cuaderno, «Para seguir explorando». [Viernes]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Cierre. El entregable es individual: elegir el campeón por sMAPE con origen móvil y comunicar la recomendación con su banda de incertidumbre. Recoge la promesa de la portada: del dato a la decisión, sin mirar el futuro. Cada cifra se mostró contra su fuente y se leyó del Excel (fidelidad verificada). S12-S14 (causalidad, supervivencia, recomendación) solo se nombran. [Viernes, capítulo 11.9]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11_series_temporales/notebook/S11_series_temporales.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notesSlide" Target="../notesSlides/notesSlide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notesSlide" Target="../notesSlides/notesSlide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notesSlide" Target="../notesSlides/notesSlide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notesSlide" Target="../notesSlides/notesSlide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S11</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Series temporales:
del pasado al pronóstico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Descomposición, ARIMA/SARIMA, ETS, Prophet, backtesting sin fuga</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VIERNES — CAPÍTULOS 11.6 A 11.9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viernes cierra la sesión en cuatro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lock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11.6</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se puede confiar en este pronóstico?</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column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11.7</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verifica que el resultado es real?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resentation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11.8</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decisión habilita? Demanda mensual de un producto</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65-105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it-branch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11.9</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no se puede afirmar, y qué sigue en S12?</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105-120</a:t>
            </a:r>
          </a:p>
        </p:txBody>
      </p:sp>
      <p:sp>
        <p:nvSpPr>
          <p:cNvPr id="28" name="Rounded Rectangle 27"/>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6</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¿Cuándo se puede confiar en este pronóstico?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11.6 — viernes, bloque 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FUGA TEMPORAL, ALBELALI &amp; AHMED (2025), RETOMA S10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fuga temporal esconde hasta un 20 % del error real</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iangle-alert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Nunca usar K-fold aleatorio</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Mezcla pasado y futuro; se usa siempre backtesting de origen móvil.</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unnel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Features construidas tras el corte</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Lags, medias y escalado solo con datos del pasado del origen.</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lock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El naive solo mira el año anterior</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Un sMAPE demasiado bueno es la señal típica de fuga temporal.</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Diag. 8.5, celda 96</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SUPUESTOS Y DECISIONES — SUPUESTOS_S11.MD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decisión del pronóstico tiene su diagnóstico y su método</a:t>
            </a:r>
          </a:p>
        </p:txBody>
      </p:sp>
      <p:sp>
        <p:nvSpPr>
          <p:cNvPr id="4" name="TextBox 3"/>
          <p:cNvSpPr txBox="1"/>
          <p:nvPr/>
        </p:nvSpPr>
        <p:spPr>
          <a:xfrm>
            <a:off x="548640" y="2139696"/>
            <a:ext cx="9966960" cy="457200"/>
          </a:xfrm>
          <a:prstGeom prst="rect">
            <a:avLst/>
          </a:prstGeom>
          <a:noFill/>
        </p:spPr>
        <p:txBody>
          <a:bodyPr wrap="square" anchor="t" lIns="0" rIns="0" tIns="0" bIns="0">
            <a:spAutoFit/>
          </a:bodyPr>
          <a:lstStyle/>
          <a:p>
            <a:pPr algn="l">
              <a:lnSpc>
                <a:spcPct val="114000"/>
              </a:lnSpc>
            </a:pPr>
            <a:r>
              <a:rPr sz="1200" b="0">
                <a:solidFill>
                  <a:srgbClr val="6E6E6E"/>
                </a:solidFill>
                <a:latin typeface="Calibri"/>
              </a:rPr>
              <a:t>ARIMA no es una regresión: sus supuestos son sobre la propia serie y la validación. Cada punto lleva su señal y su método:</a:t>
            </a:r>
          </a:p>
        </p:txBody>
      </p:sp>
      <p:pic>
        <p:nvPicPr>
          <p:cNvPr id="5" name="Picture 4" descr="triangle-alert__E4002B.png"/>
          <p:cNvPicPr>
            <a:picLocks noChangeAspect="1"/>
          </p:cNvPicPr>
          <p:nvPr/>
        </p:nvPicPr>
        <p:blipFill>
          <a:blip r:embed="rId2"/>
          <a:stretch>
            <a:fillRect/>
          </a:stretch>
        </p:blipFill>
        <p:spPr>
          <a:xfrm>
            <a:off x="11064240" y="2011680"/>
            <a:ext cx="457200" cy="457200"/>
          </a:xfrm>
          <a:prstGeom prst="rect">
            <a:avLst/>
          </a:prstGeom>
        </p:spPr>
      </p:pic>
      <p:sp>
        <p:nvSpPr>
          <p:cNvPr id="6" name="TextBox 5"/>
          <p:cNvSpPr txBox="1"/>
          <p:nvPr/>
        </p:nvSpPr>
        <p:spPr>
          <a:xfrm>
            <a:off x="548640" y="2615184"/>
            <a:ext cx="2788920" cy="274320"/>
          </a:xfrm>
          <a:prstGeom prst="rect">
            <a:avLst/>
          </a:prstGeom>
          <a:noFill/>
        </p:spPr>
        <p:txBody>
          <a:bodyPr wrap="square" anchor="t" lIns="0" rIns="0" tIns="0" bIns="0">
            <a:spAutoFit/>
          </a:bodyPr>
          <a:lstStyle/>
          <a:p>
            <a:pPr algn="l"/>
            <a:r>
              <a:rPr sz="1100" b="1">
                <a:solidFill>
                  <a:srgbClr val="9B1B30"/>
                </a:solidFill>
                <a:latin typeface="Calibri"/>
              </a:rPr>
              <a:t>DECISIÓN / SUPUESTO</a:t>
            </a:r>
          </a:p>
        </p:txBody>
      </p:sp>
      <p:sp>
        <p:nvSpPr>
          <p:cNvPr id="7" name="TextBox 6"/>
          <p:cNvSpPr txBox="1"/>
          <p:nvPr/>
        </p:nvSpPr>
        <p:spPr>
          <a:xfrm>
            <a:off x="3429000" y="2615184"/>
            <a:ext cx="3886200" cy="274320"/>
          </a:xfrm>
          <a:prstGeom prst="rect">
            <a:avLst/>
          </a:prstGeom>
          <a:noFill/>
        </p:spPr>
        <p:txBody>
          <a:bodyPr wrap="square" anchor="t" lIns="0" rIns="0" tIns="0" bIns="0">
            <a:spAutoFit/>
          </a:bodyPr>
          <a:lstStyle/>
          <a:p>
            <a:pPr algn="l"/>
            <a:r>
              <a:rPr sz="1100" b="1">
                <a:solidFill>
                  <a:srgbClr val="9B1B30"/>
                </a:solidFill>
                <a:latin typeface="Calibri"/>
              </a:rPr>
              <a:t>CÓMO SE IDENTIFICA</a:t>
            </a:r>
          </a:p>
        </p:txBody>
      </p:sp>
      <p:sp>
        <p:nvSpPr>
          <p:cNvPr id="8" name="TextBox 7"/>
          <p:cNvSpPr txBox="1"/>
          <p:nvPr/>
        </p:nvSpPr>
        <p:spPr>
          <a:xfrm>
            <a:off x="7498079" y="2615184"/>
            <a:ext cx="4206240" cy="274320"/>
          </a:xfrm>
          <a:prstGeom prst="rect">
            <a:avLst/>
          </a:prstGeom>
          <a:noFill/>
        </p:spPr>
        <p:txBody>
          <a:bodyPr wrap="square" anchor="t" lIns="0" rIns="0" tIns="0" bIns="0">
            <a:spAutoFit/>
          </a:bodyPr>
          <a:lstStyle/>
          <a:p>
            <a:pPr algn="l"/>
            <a:r>
              <a:rPr sz="1100" b="1">
                <a:solidFill>
                  <a:srgbClr val="9B1B30"/>
                </a:solidFill>
                <a:latin typeface="Calibri"/>
              </a:rPr>
              <a:t>CÓMO SE DECIDE (MÉTODO)</a:t>
            </a:r>
          </a:p>
        </p:txBody>
      </p:sp>
      <p:sp>
        <p:nvSpPr>
          <p:cNvPr id="9" name="Rounded Rectangle 8"/>
          <p:cNvSpPr/>
          <p:nvPr/>
        </p:nvSpPr>
        <p:spPr>
          <a:xfrm>
            <a:off x="420624" y="2880360"/>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62656"/>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Estacionariedad (ADF y KPSS)</a:t>
            </a:r>
          </a:p>
        </p:txBody>
      </p:sp>
      <p:sp>
        <p:nvSpPr>
          <p:cNvPr id="11" name="TextBox 10"/>
          <p:cNvSpPr txBox="1"/>
          <p:nvPr/>
        </p:nvSpPr>
        <p:spPr>
          <a:xfrm>
            <a:off x="3429000" y="2962656"/>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Nulas opuestas; log diferenciada da ADF p 0,0002 -&gt; estacionaria.</a:t>
            </a:r>
          </a:p>
        </p:txBody>
      </p:sp>
      <p:sp>
        <p:nvSpPr>
          <p:cNvPr id="12" name="TextBox 11"/>
          <p:cNvSpPr txBox="1"/>
          <p:nvPr/>
        </p:nvSpPr>
        <p:spPr>
          <a:xfrm>
            <a:off x="7498079" y="2962656"/>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Diferenciar/transformar y repetir ADF y KPSS hasta lograrla.</a:t>
            </a:r>
          </a:p>
        </p:txBody>
      </p:sp>
      <p:sp>
        <p:nvSpPr>
          <p:cNvPr id="13" name="TextBox 12"/>
          <p:cNvSpPr txBox="1"/>
          <p:nvPr/>
        </p:nvSpPr>
        <p:spPr>
          <a:xfrm>
            <a:off x="548640" y="3607308"/>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Aditiva vs. multiplicativa</a:t>
            </a:r>
          </a:p>
        </p:txBody>
      </p:sp>
      <p:sp>
        <p:nvSpPr>
          <p:cNvPr id="14" name="TextBox 13"/>
          <p:cNvSpPr txBox="1"/>
          <p:nvPr/>
        </p:nvSpPr>
        <p:spPr>
          <a:xfrm>
            <a:off x="3429000" y="3607308"/>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Panel seasonal del STL: la amplitud crece con el nivel.</a:t>
            </a:r>
          </a:p>
        </p:txBody>
      </p:sp>
      <p:sp>
        <p:nvSpPr>
          <p:cNvPr id="15" name="TextBox 14"/>
          <p:cNvSpPr txBox="1"/>
          <p:nvPr/>
        </p:nvSpPr>
        <p:spPr>
          <a:xfrm>
            <a:off x="7498079" y="3607308"/>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log (o Box-Cox) si es multiplicativa; des-transformar con exp.</a:t>
            </a:r>
          </a:p>
        </p:txBody>
      </p:sp>
      <p:sp>
        <p:nvSpPr>
          <p:cNvPr id="16" name="Rounded Rectangle 15"/>
          <p:cNvSpPr/>
          <p:nvPr/>
        </p:nvSpPr>
        <p:spPr>
          <a:xfrm>
            <a:off x="420624" y="4169664"/>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251960"/>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Residuos = ruido blanco</a:t>
            </a:r>
          </a:p>
        </p:txBody>
      </p:sp>
      <p:sp>
        <p:nvSpPr>
          <p:cNvPr id="18" name="TextBox 17"/>
          <p:cNvSpPr txBox="1"/>
          <p:nvPr/>
        </p:nvSpPr>
        <p:spPr>
          <a:xfrm>
            <a:off x="3429000" y="4251960"/>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Ljung-Box(12) p 0,754 &gt; 0,05 -&gt; ruido blanco (buen ajuste).</a:t>
            </a:r>
          </a:p>
        </p:txBody>
      </p:sp>
      <p:sp>
        <p:nvSpPr>
          <p:cNvPr id="19" name="TextBox 18"/>
          <p:cNvSpPr txBox="1"/>
          <p:nvPr/>
        </p:nvSpPr>
        <p:spPr>
          <a:xfrm>
            <a:off x="7498079" y="4251960"/>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Si p alto, aceptar; si no, volver a identificar (AR/MA).</a:t>
            </a:r>
          </a:p>
        </p:txBody>
      </p:sp>
      <p:sp>
        <p:nvSpPr>
          <p:cNvPr id="20" name="TextBox 19"/>
          <p:cNvSpPr txBox="1"/>
          <p:nvPr/>
        </p:nvSpPr>
        <p:spPr>
          <a:xfrm>
            <a:off x="548640" y="4896612"/>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Fuga temporal y backtesting</a:t>
            </a:r>
          </a:p>
        </p:txBody>
      </p:sp>
      <p:sp>
        <p:nvSpPr>
          <p:cNvPr id="21" name="TextBox 20"/>
          <p:cNvSpPr txBox="1"/>
          <p:nvPr/>
        </p:nvSpPr>
        <p:spPr>
          <a:xfrm>
            <a:off x="3429000" y="4896612"/>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Un sMAPE menor que el de train delata fuga; el naive marca 5,78 %.</a:t>
            </a:r>
          </a:p>
        </p:txBody>
      </p:sp>
      <p:sp>
        <p:nvSpPr>
          <p:cNvPr id="22" name="TextBox 21"/>
          <p:cNvSpPr txBox="1"/>
          <p:nvPr/>
        </p:nvSpPr>
        <p:spPr>
          <a:xfrm>
            <a:off x="7498079" y="4896612"/>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Rolling-origin sin fuga; el campeón supera al naive (SARIMA 4,09 %).</a:t>
            </a:r>
          </a:p>
        </p:txBody>
      </p:sp>
      <p:sp>
        <p:nvSpPr>
          <p:cNvPr id="23" name="Rounded Rectangle 22"/>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celda 82</a:t>
            </a:r>
          </a:p>
        </p:txBody>
      </p:sp>
      <p:sp>
        <p:nvSpPr>
          <p:cNvPr id="24" name="TextBox 23"/>
          <p:cNvSpPr txBox="1"/>
          <p:nvPr/>
        </p:nvSpPr>
        <p:spPr>
          <a:xfrm>
            <a:off x="548640" y="5596128"/>
            <a:ext cx="11094720" cy="292608"/>
          </a:xfrm>
          <a:prstGeom prst="rect">
            <a:avLst/>
          </a:prstGeom>
          <a:noFill/>
        </p:spPr>
        <p:txBody>
          <a:bodyPr wrap="square">
            <a:spAutoFit/>
          </a:bodyPr>
          <a:lstStyle/>
          <a:p>
            <a:r>
              <a:rPr sz="1000">
                <a:solidFill>
                  <a:srgbClr val="6E6E6E"/>
                </a:solidFill>
                <a:latin typeface="Calibri"/>
              </a:rPr>
              <a:t>Fuente única: la guía de supuestos de la sesión (Partes 2-4). Alcance S11: reconocer la decisión y decidir; el ajuste fino avanzado (TBATS, GARCH) solo se nombra.</a:t>
            </a:r>
          </a:p>
        </p:txBody>
      </p:sp>
      <p:sp>
        <p:nvSpPr>
          <p:cNvPr id="25" name="Oval 2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7" name="TextBox 2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7</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verifica que el resultado es real?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11.7 — viernes, bloque 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7</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verifica que el resultado es real?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verifica que el resultado es real?</a:t>
            </a:r>
          </a:p>
        </p:txBody>
      </p:sp>
      <p:pic>
        <p:nvPicPr>
          <p:cNvPr id="5" name="Picture 4" descr="git-branch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MAPE POR HORIZONTE (CROSS_VALIDATION)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error de Prophet crece del 5,84 % al 10,04 %</a:t>
            </a:r>
          </a:p>
        </p:txBody>
      </p:sp>
      <p:pic>
        <p:nvPicPr>
          <p:cNvPr id="4" name="Picture 3" descr="deck_prophet.png"/>
          <p:cNvPicPr>
            <a:picLocks noChangeAspect="1"/>
          </p:cNvPicPr>
          <p:nvPr/>
        </p:nvPicPr>
        <p:blipFill>
          <a:blip r:embed="rId2"/>
          <a:stretch>
            <a:fillRect/>
          </a:stretch>
        </p:blipFill>
        <p:spPr>
          <a:xfrm>
            <a:off x="548640" y="1874519"/>
            <a:ext cx="4568439" cy="288036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error medio es 7,45 %: crece con el horizonte, de 5,84 % a corto plazo a 10,04 % a un año.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Prophet / Peyton Manning, cross_validation (730/180/365), reconstruido de Excel!prophet_cv (media B5).</a:t>
            </a:r>
          </a:p>
        </p:txBody>
      </p:sp>
      <p:sp>
        <p:nvSpPr>
          <p:cNvPr id="10" name="Rounded Rectangle 9"/>
          <p:cNvSpPr/>
          <p:nvPr/>
        </p:nvSpPr>
        <p:spPr>
          <a:xfrm>
            <a:off x="548640" y="5029200"/>
            <a:ext cx="704088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ook-open__E4002B.png"/>
          <p:cNvPicPr>
            <a:picLocks noChangeAspect="1"/>
          </p:cNvPicPr>
          <p:nvPr/>
        </p:nvPicPr>
        <p:blipFill>
          <a:blip r:embed="rId4"/>
          <a:stretch>
            <a:fillRect/>
          </a:stretch>
        </p:blipFill>
        <p:spPr>
          <a:xfrm>
            <a:off x="694944" y="5084064"/>
            <a:ext cx="219456" cy="219456"/>
          </a:xfrm>
          <a:prstGeom prst="rect">
            <a:avLst/>
          </a:prstGeom>
        </p:spPr>
      </p:pic>
      <p:sp>
        <p:nvSpPr>
          <p:cNvPr id="12" name="TextBox 11"/>
          <p:cNvSpPr txBox="1"/>
          <p:nvPr/>
        </p:nvSpPr>
        <p:spPr>
          <a:xfrm>
            <a:off x="1005840" y="5061204"/>
            <a:ext cx="647395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Taylor &amp; Letham (2018), Forecasting at Scale, The American Statistician 72(1)</a:t>
            </a:r>
          </a:p>
        </p:txBody>
      </p:sp>
      <p:sp>
        <p:nvSpPr>
          <p:cNvPr id="13" name="Rounded Rectangle 12"/>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Pasos 8-9, celda 56</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ERROR DE PRONÓSTICO, HYNDMAN &amp; KOEHLER (2006), FPP3 CAP. 5.8</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sMAPE es simétrico y compara escalas distintas</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rget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RMSE — en las unidades</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Penaliza los errores grandes; útil cuando duele una rotura de stock.</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hart-column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MAPE — error porcentual</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Adimensional, pero diverge cuando el valor real se acerca a cero.</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ircle-check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sMAPE, simétrico (0 a 200 %)</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Acota el denominador; es la métrica oficial de la competencia M4.</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1.4, celda 14</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BACKTESTING / ROLLING-ORIGIN, TASHMAN (2000), FPP3 CAP. 5.10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backtesting separa el pasado del futuro</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Validación de origen móvil</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Fija un origen de pronóstico</a:t>
            </a:r>
          </a:p>
          <a:p>
            <a:pPr algn="l">
              <a:spcAft>
                <a:spcPts val="900"/>
              </a:spcAft>
            </a:pPr>
            <a:r>
              <a:rPr sz="1400">
                <a:solidFill>
                  <a:srgbClr val="2D2D2D"/>
                </a:solidFill>
                <a:latin typeface="Calibri"/>
              </a:rPr>
              <a:t>Entrena pasado, predice futuro</a:t>
            </a:r>
          </a:p>
          <a:p>
            <a:pPr algn="l">
              <a:spcAft>
                <a:spcPts val="900"/>
              </a:spcAft>
            </a:pPr>
            <a:r>
              <a:rPr sz="1400">
                <a:solidFill>
                  <a:srgbClr val="2D2D2D"/>
                </a:solidFill>
                <a:latin typeface="Calibri"/>
              </a:rPr>
              <a:t>Avanza el origen y repite</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f</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Features temporales</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Lags: y(t−1), y(t−12)</a:t>
            </a:r>
          </a:p>
          <a:p>
            <a:pPr algn="l">
              <a:spcAft>
                <a:spcPts val="900"/>
              </a:spcAft>
            </a:pPr>
            <a:r>
              <a:rPr sz="1400">
                <a:solidFill>
                  <a:srgbClr val="2D2D2D"/>
                </a:solidFill>
                <a:latin typeface="Calibri"/>
              </a:rPr>
              <a:t>Medias móviles del pasado</a:t>
            </a:r>
          </a:p>
          <a:p>
            <a:pPr algn="l">
              <a:spcAft>
                <a:spcPts val="900"/>
              </a:spcAft>
            </a:pPr>
            <a:r>
              <a:rPr sz="1400">
                <a:solidFill>
                  <a:srgbClr val="2D2D2D"/>
                </a:solidFill>
                <a:latin typeface="Calibri"/>
              </a:rPr>
              <a:t>Calendario: mes, festivo</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Diag. 8.6, celda 99</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DECISIÓN — SMAPE MEDIO POR MODELO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SARIMA lidera con 4,09 % y supera al naive 5,78 %</a:t>
            </a:r>
          </a:p>
        </p:txBody>
      </p:sp>
      <p:pic>
        <p:nvPicPr>
          <p:cNvPr id="4" name="Picture 3" descr="deck_backtesting.png"/>
          <p:cNvPicPr>
            <a:picLocks noChangeAspect="1"/>
          </p:cNvPicPr>
          <p:nvPr/>
        </p:nvPicPr>
        <p:blipFill>
          <a:blip r:embed="rId2"/>
          <a:stretch>
            <a:fillRect/>
          </a:stretch>
        </p:blipFill>
        <p:spPr>
          <a:xfrm>
            <a:off x="548640" y="1828800"/>
            <a:ext cx="6949440" cy="4185148"/>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SARIMA (4,09 %) supera al seasonal-naive (5,78 %) y al ETS (5,50 %): es el campeón.</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Store Item Demand (Kaggle), rolling-origin (initial 36, horizon 6, step 6), reconstruido de Excel!backtesting_store (medias = B6/B12/B11).</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11, celda 63</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¿Qué revela un sMAPE demasiado bueno para ser cierto?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Pista: un error de validación menor que el de entrenamiento delata fuga temporal.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8</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decisión habilita? Demanda mensual de un producto</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11.8 — viernes, bloque 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ACTUALIDAD — FUENTES_ACTUALIDAD_S11.MD</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Tres estudios de 2025 exigen validar sin fuga</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La fuga temporal esconde hasta un 20,5 % del error real</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arXiv, Albelali &amp; Ahmed, 07/12/2025  —  el reporte con fuga es optimista; el honesto es más alto</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El leakage se esconde en los modelos fundacionales de series</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arXiv, Meyer et al., 15/10/2025  —  exigir evaluación fuera de muestra antes de confiar</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Reentrenar menos mantiene la precisión y ahorra cómputo</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arXiv/MLWA, Zanotti, 14/01/2026  —  guía de eficiencia: no siempre hace falta reentrenar</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9</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no se puede afirmar, y qué sigue en S12?</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11.9 — viernes, bloque 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CAPÍTULO 11.9 — ¿QUÉ NO SE PUEDE AFIRMAR, Y QUÉ SIGUE EN S12?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Lo que esta sesión no autoriza a afirmar</a:t>
            </a:r>
          </a:p>
        </p:txBody>
      </p:sp>
      <p:sp>
        <p:nvSpPr>
          <p:cNvPr id="4" name="Oval 3"/>
          <p:cNvSpPr/>
          <p:nvPr/>
        </p:nvSpPr>
        <p:spPr>
          <a:xfrm>
            <a:off x="548640" y="1965960"/>
            <a:ext cx="256032" cy="256032"/>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5" name="TextBox 4"/>
          <p:cNvSpPr txBox="1"/>
          <p:nvPr/>
        </p:nvSpPr>
        <p:spPr>
          <a:xfrm>
            <a:off x="960120" y="1920240"/>
            <a:ext cx="10637520" cy="685800"/>
          </a:xfrm>
          <a:prstGeom prst="rect">
            <a:avLst/>
          </a:prstGeom>
          <a:noFill/>
        </p:spPr>
        <p:txBody>
          <a:bodyPr wrap="square" anchor="t" lIns="0" rIns="0" tIns="0" bIns="0">
            <a:spAutoFit/>
          </a:bodyPr>
          <a:lstStyle/>
          <a:p>
            <a:pPr algn="l"/>
            <a:r>
              <a:rPr sz="1600" b="0">
                <a:solidFill>
                  <a:srgbClr val="2D2D2D"/>
                </a:solidFill>
                <a:latin typeface="Calibri"/>
              </a:rPr>
              <a:t>Un pronóstico no explica por qué sube la demanda</a:t>
            </a:r>
          </a:p>
        </p:txBody>
      </p:sp>
      <p:sp>
        <p:nvSpPr>
          <p:cNvPr id="6" name="Oval 5"/>
          <p:cNvSpPr/>
          <p:nvPr/>
        </p:nvSpPr>
        <p:spPr>
          <a:xfrm>
            <a:off x="548640" y="2624328"/>
            <a:ext cx="256032" cy="256032"/>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7" name="TextBox 6"/>
          <p:cNvSpPr txBox="1"/>
          <p:nvPr/>
        </p:nvSpPr>
        <p:spPr>
          <a:xfrm>
            <a:off x="960120" y="2578608"/>
            <a:ext cx="10637520" cy="685800"/>
          </a:xfrm>
          <a:prstGeom prst="rect">
            <a:avLst/>
          </a:prstGeom>
          <a:noFill/>
        </p:spPr>
        <p:txBody>
          <a:bodyPr wrap="square" anchor="t" lIns="0" rIns="0" tIns="0" bIns="0">
            <a:spAutoFit/>
          </a:bodyPr>
          <a:lstStyle/>
          <a:p>
            <a:pPr algn="l"/>
            <a:r>
              <a:rPr sz="1600" b="0">
                <a:solidFill>
                  <a:srgbClr val="2D2D2D"/>
                </a:solidFill>
                <a:latin typeface="Calibri"/>
              </a:rPr>
              <a:t>Extrapolar más allá del horizonte validado no es pronosticar, es adivinar</a:t>
            </a:r>
          </a:p>
        </p:txBody>
      </p:sp>
      <p:sp>
        <p:nvSpPr>
          <p:cNvPr id="8" name="Oval 7"/>
          <p:cNvSpPr/>
          <p:nvPr/>
        </p:nvSpPr>
        <p:spPr>
          <a:xfrm>
            <a:off x="548640" y="3282696"/>
            <a:ext cx="256032" cy="256032"/>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9" name="TextBox 8"/>
          <p:cNvSpPr txBox="1"/>
          <p:nvPr/>
        </p:nvSpPr>
        <p:spPr>
          <a:xfrm>
            <a:off x="960120" y="3236976"/>
            <a:ext cx="10637520" cy="685800"/>
          </a:xfrm>
          <a:prstGeom prst="rect">
            <a:avLst/>
          </a:prstGeom>
          <a:noFill/>
        </p:spPr>
        <p:txBody>
          <a:bodyPr wrap="square" anchor="t" lIns="0" rIns="0" tIns="0" bIns="0">
            <a:spAutoFit/>
          </a:bodyPr>
          <a:lstStyle/>
          <a:p>
            <a:pPr algn="l"/>
            <a:r>
              <a:rPr sz="1600" b="0">
                <a:solidFill>
                  <a:srgbClr val="2D2D2D"/>
                </a:solidFill>
                <a:latin typeface="Calibri"/>
              </a:rPr>
              <a:t>Ninguna métrica vale si se calculó con partición aleatoria</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entregable va del dato a la decisión</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Pronóstico mensual de demanda: descomponer, comparar 3 modelos con intervalos, validar con rolling-origin sin fuga y recomendar el campeón.</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Control corto de cierre y banco [S11]. Rúbrica vigesimal 0-20.</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S12 — Inferencia causal: solo se nombra como conexión.</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el pronóstico moderno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Principles and Practice (FPP3)</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Hyndman &amp; Athanasopoulos — otexts.com/fpp3  —  texto libre; cubre toda la sesión</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Time Series Analysis: Forecasting and Control</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Box &amp; Jenkins (1970)  —  origen de ARIMA y del modelo aerolínea</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Forecasting at Scale (Prophet)</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Taylor &amp; Letham (2018) — TAS 72(1)  —  el ejemplo oficial de Peyton Manning</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Automatic Time Series Forecasting</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Hyndman &amp; Khandakar (2008) — JSS 27(3)  —  auto.arima y ets: selección a escala</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The M4 Competition</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Makridakis et al. (2020) — IJF 36(1)  —  consolida el uso del sMAPE</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S11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