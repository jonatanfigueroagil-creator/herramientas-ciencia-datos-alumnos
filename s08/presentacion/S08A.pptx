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8" r:id="rId20"/>
    <p:sldId id="269" r:id="rId21"/>
    <p:sldId id="266" r:id="rId18"/>
    <p:sldId id="267" r:id="rId19"/>
    <p:sldId id="270" r:id="rId22"/>
    <p:sldId id="271" r:id="rId23"/>
    <p:sldId id="282" r:id="rId34"/>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5.xml"/><Relationship Id="rId23" Type="http://schemas.openxmlformats.org/officeDocument/2006/relationships/slide" Target="slides/slide16.xml"/><Relationship Id="rId3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sesión 8, PRIMERA de la Unidad 2 (tras el examen PARCIAL). Promesa: sin datos demográficos ni modelo predictivo, el alumno aprenderá a descubrir qué productos se compran juntos, a medir la fuerza de esa relación con soporte, confianza, LIFT, leverage y conviction, a distinguir una regla útil de una trivial, a comparar Apriori y FP-Growth, y a convertir reglas en cross-selling con impacto estimado. Método del deck: cada cifra se muestra contra su fuente y se LEE del Excel de resultados. Aviso de alcance: las reglas se vuelven features booleanas, pero hoy NO se ajusta ningún modelo supervisado (eso es S09-S10). El botón «Abrir en Colab» lleva al cuaderno de la sesión. [Jueves]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ANUNCIAR LO QUE SE VA A MOSTRAR. Las cuatro tarjetas son los CUATRO ACTOS del deck —sus divisores, en el mismo orden— y dentro de cada uno los pasos que contiene; el chip apunta al mapa de la sesión del cuaderno (celda 0). DESARROLLAR CADA UNO EN VOZ ALTA: ACTO 1 LA CANASTA DE MERCADO (contexto) — qué es una transacción, qué es un itemset frecuente y su soporte, qué es una regla X → Y, y por qué esto mueve dinero. ACTO 2 CÓMO SE MIDE UNA REGLA — soporte, confianza, LIFT, leverage y conviction, cómo se calculan manualmente y por qué la confianza sola induce a error (la regla trivial de la bolsa, lift &lt; 1). ACTO 3 APRIORI ES IGUAL A FP-GROWTH (evidencia) — Apriori (anti-monotonía: generación + poda) y FP-Growth (FP-tree, sin candidatos) con la réplica sobre T10I4D100K: hallan EXACTAMENTE los mismos itemsets, solo cambia la eficiencia; entre medias, los supuestos y decisiones de umbral. ACTO 4 DEL PATRÓN A LA VENTA CRUZADA (decisión) — las reglas de mayor lift sobre Online Retail II, cómo filtrar las triviales, cómo convertir la regla en palanca con impacto estimado, y las features booleanas como puente a S09-S10 (hoy no se ajusta ningún modelo supervisado). El LABORATORIO (market basket y cross-selling sobre Online Retail II) es el cierre y se presenta al final, por eso no es un acto. Anunciar entregable y control corto. [Jueves]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arco de contexto. Toda empresa que registra ventas ya tiene 'canastas': los conjuntos de ítems que un cliente compra junto. El análisis de canasta busca qué tiende a aparecer junto, para colocar productos, armar bundles, cruzar cupones y recomendar. Antes de calcular, fijar el vocabulario y ver por qué esto mueve dinero. Fuente: DEFINICIONES Sección 1. [Jueves, capítulo 8.1]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Vínculo con el contexto —el 'dato' del acto 1, ilustrativo—. The AI Journal (19/12/2025) reporta que las recomendaciones basadas en afinidad de canasta elevan el valor medio del pedido entre 15 % y 30 %. Advertencia honesta: son cifras de marketing, un rango de referencia, no causalidad probada —justo la salvaguarda que el entregable pedirá comunicar; no proviene del Excel de resultados—. Lo importante: recomendar el complemento correcto recupera valor del ticket, y para saber cuál es ese complemento hace falta descubrir qué se compra junto. Fuente: fuentes_actualidad_S08.md. [Jueves, capítulo 8.1]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Fijar el vocabulario con sus definiciones. (1) TRANSACCIÓN (ticket, canasta): el conjunto de ítems de una misma compra; es la unidad de análisis —una fila = una transacción, NUNCA por cliente, que mezclaría compras distintas e inflaría el soporte—. (2) ITEMSET FRECUENTE: subconjunto de ítems cuyo soporte alcanza el umbral 'minsup' que fija el analista; es el material bruto de las reglas. (3) REGLA DE ASOCIACIÓN X → Y: implicación entre un antecedente X y un consecuente Y —el objeto que se mide y se acciona—. El problema y estos conceptos los funda Agrawal, Imieliński &amp; Swami (1993). Fuente: DEFINICIONES Secciones 1-2 y 4. [Jueves, capítulo 8.2]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acto 2. Con el vocabulario claro, corresponde medir la fuerza de una regla X → Y. Cuatro métricas responden cuatro preguntas distintas; la clave de la sesión es entender por qué la confianza sola induce a error y por qué el LIFT es la métrica de decisión. Fuente: DEFINICIONES Secciones 3-6. [Jueves, capítulo 8.2]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las cinco métricas. SOPORTE = fracción de tickets con todo el patrón (volumen, primer filtro). CONFIANZA = soporte(X∪Y)/soporte(X): dado X, qué fracción lleva también Y (fiabilidad). LIFT = confianza/soporte(Y): cuántas veces supera al azar la co-ocurrencia —&gt;1 asociación positiva, =1 independencia, &lt;1 sustitución—; es SIMÉTRICO y es LA métrica de decisión. LEVERAGE = soporte(X∪Y)−soporte(X)·soporte(Y): el mismo exceso pero en DIFERENCIA absoluta, no razón; delata un lift espectacular sostenido por muy pocas transacciones (DEFINICIONES Sección 6). CONVICTION = (1−soporte(Y))/(1−confianza): cuán real es la implicación, penaliza contraejemplos; es direccional. El lift, el leverage y la conviction los introduce Brin et al. (1997); el lift retoma su definición del A/B testing (S02), ahora sobre itemsets. Fuente: DEFINICIONES Secciones 3-6. [Jueves, capítulo 8.4]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'dato' del acto 2 —el malentendido más importante de la sesión, con un ejemplo didáctico de libro (números redondos, NO una salida de cómputo sobre los datos de la sesión)—. En una tienda donde el 90 % de las canastas llevan bolsa, la regla {leche} → {bolsa} tiene confianza 0,88 (parece muy alta), pero lift = 0,88 / 0,90 = 0,98 &lt; 1: la confianza es alta SOLO porque la bolsa es ubicua, no porque la leche la 'empuje'; de hecho lift &lt; 1 dice que quien lleva leche compra bolsa un poco MENOS que el cliente promedio. Es una regla TRIVIAL y se descarta. El cuaderno, sobre su propio mini-conjunto de 10 tickets, computa la misma lección con otros números SÍ ejecutados: conf 0,80/lift 0,889 (celda 20) y conf 0,90/lift 1,00 (celda 80) — misma lección, tres procedencias distintas, no se citan como el mismo cálculo. Regla de lectura: la confianza es condición necesaria pero NO suficiente; nunca ordenar reglas por confianza sola, siempre exigir además lift &gt; 1. Fuente: INTERPRETACION Sección 3. [Jueves, capítulo 8.4]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de discusión. Dar 2 minutos y recoger 2-3 respuestas. Guiar: NO, una confianza alta no basta. Si el consecuente es muy popular, la confianza sube por volumen aunque no exista asociación real; el lift lo corrige dividiendo por la popularidad del consecuente. La regla solo es candidata a recomendación si además tiene lift &gt; 1 (con margen, p. ej. ≥ 1,2-2 según el dominio). Cerrar enlazando con la evidencia: para hallar TODAS las reglas frecuentes hacen falta algoritmos —y ahí aparece la pregunta de eficiencia—. [Jueves, capítulo 8.4]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acto de evidencia con la réplica cuantitativa. En 1994 Agrawal &amp; Srikant publicaron Apriori y su propiedad de anti-monotonía, que volvió factible minar reglas; en 2000 Han, Pei &amp; Yin propusieron FP-Growth para superar su cuello de botella (generar millones de candidatos). Ambos son algoritmos EXACTOS: producen el mismo conjunto de itemsets; difieren solo en eficiencia. Se reproduce sobre T10I4D100K (benchmark FIMI, 100 000 transacciones sintéticas del generador IBM Quest) a minsup = 1 %. Regla de oro: el valor OPERATIVO es el del venv; el comunitario se cita etiquetado. [Jueves, capítulo 8.3]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Detenerse aquí antes de cualquier número. El paper de la sesión NO descubrió qué se compra junto: eso ya estaba planteado y definido un año antes por Agrawal, Imielinski y Swami (SIGMOD 1993), de quienes este artículo toma la formulación literal del problema, el soporte y la confianza. Lo que aporta 1994 cabe en la primera palabra de su título: Fast. La pregunta es si generar TODAS las reglas era computacionalmente posible sobre las bases que el código de barras ya acumulaba —los datos existían, la manera de explotarlos no—. Y la palabra que lo vuelve difícil es 'todas': no las más interesantes, no una muestra, sino el conjunto completo, lo que prohíbe cualquier atajo y traslada el problema a la combinatoria. Contexto de la época: una IBM RS/6000 a 33 MHz, con 64 MB de memoria y un disco que leía 2 MB por segundo, de modo que cada pasada sobre el fichero costaba tiempo real. Preguntar al aula: '¿por qué no basta con esperar a que el ordenador termine?'. Fuente: REPLICACION_PAPER.md Sección 0.1. [Jueves, capítulo 8.5]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es el slide que enseña a ELEGIR un método, no solo a aplicarlo. Recorrer las tres tarjetas y detenerse en la primera, que es el núcleo del paper: AIS y SETM generaban los candidatos al vuelo mientras leían la base y, en palabras de los autores, contaban 'demasiados itemsets candidatos que resultan no ser frecuentes'; Apriori los construye SOLO desde los itemsets frecuentes de la pasada anterior, sin mirar las transacciones. La licencia es la anti-monotonía —todo subconjunto de un frecuente es frecuente— y su forma útil es la contrapuesta: si un itemset no llega al soporte mínimo, ningún superconjunto suyo llegará, de modo que el candidato se descarta sin contarlo, sin abrir el fichero, sin tocar un ticket. En el ejemplo del propio artículo (p. 490), ante una transacción de cinco ítems AIS y SETM generan cinco candidatos en la cuarta pasada y Apriori genera uno, 'porque concluye A PRIORI que las demás combinaciones no pueden alcanzar el soporte mínimo': ahí aparece, literalmente, el nombre del algoritmo. Cerrar con un dato revelador: las cien mil transacciones del benchmark no son una cifra redonda por comodidad, son el techo que imponía SETM, el rival contra el que había que competir (p. 493). Fuente: REPLICACION_PAPER.md Secciones 0.2 y 0.3. [Jueves, capítulo 8.5]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Contrastar los dos algoritmos con su definición. APRIORI procede nivel por nivel (BFS): cuenta los 1-itemsets frecuentes, GENERA candidatos combinándolos, PODA por anti-monotonía —si un subconjunto es infrecuente, el superconjunto también, sin tocar los datos— y recorre la base para contar los supervivientes; repite. Cuello de botella: generar y contar muchos candidatos con varias pasadas. FP-GROWTH comprime la base en un FP-tree (árbol de prefijos donde canastas parecidas comparten ramas) y mina con FP-trees condicionales, SIN generar candidatos y con solo dos pasadas. En mlxtend, fpgrowth es un drop-in replacement de apriori: misma firma, misma salida. Fuente: DEFINICIONES Secciones 8-9. [Jueves, capítulo 8.3]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Mostrar que minar es pocas líneas y que fpgrowth es un reemplazo directo de apriori (misma firma, misma salida). Se pasa la matriz one-hot booleana 'oh' con el mismo min_support a ambos; se verifica con un assert que el conjunto de itemsets es idéntico (comparando frozensets, no el orden). association_rules genera las reglas a partir de los itemsets filtrando por confianza ≥ 0,5: se obtienen 7 reglas. La salida 'True' es la identidad Apriori == FP-Growth (diferencia 0): si resultara 'False' habría un error de preparación (distinto min_support, one-hot con enteros, ítems duplicados), no un hallazgo. Fuente: notebook celdas 37 y 40; asociacion_apriori B2, B4, B5. [Jueves, capítulo 8.3]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núcleo conceptual de la sesión (target primario de la réplica). A minsup = 1 % sobre T10I4D100K, Apriori halla 385 itemsets frecuentes (375 de 1 ítem + 9 de 2 + 1 trío) y FP-Growth halla EXACTAMENTE los mismos 385: diferencia = 0. No es casualidad: es una GARANTÍA algorítmica (ambos son exactos) y sirve de verificación de correctitud. A este umbral aparecen además 7 reglas con confianza ≥ 0,5. En el paper: Agrawal &amp; Srikant (1994) fundan Apriori y la anti-monotonía. REGLA DE ORO: 385 es el valor OPERATIVO del venv; el benchmark comunitario ≈ 385 (repo mark-antal, mismo .dat) coincide, pero se cita etiquetado. Fuente: REPLICACION Secciones 3-4, Excel!asociacion_apriori. [Jueves, capítulo 8.5]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de discusión, sobre la honestidad analítica —regla dura del curso—. Recoger posturas y cerrar: se reporta el valor OPERATIVO del venv (385), porque es lo que produce el análisis reproducible sobre los datos usados. El ≈385 comunitario (repo mark-antal sobre el mismo .dat) se cita en columna aparte, ETIQUETADO como 'benchmark comunitario', para contextualizar —no como si fuera el resultado propio—. Aquí coinciden, pero mezclarlos sería deshonesto; y el conteo puede moverse unos pocos en otra máquina por la frontera del umbral (0,01 no es exacto en punto flotante). Lo que NO se mueve es la identidad Apriori == FP-Growth (diferencia 0). [Jueves, capítulo 8.5]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Orientar el estudio posterior (3 ideas núcleo: papers seminales, papers de métricas/eficiencia, libro+herramienta). Papers seminales: Agrawal, Imieliński &amp; Swami (1993, SIGMOD) fundó el problema con soporte y confianza; Agrawal &amp; Srikant (1994, VLDB) es el de la réplica —Apriori y la anti-monotonía— (PDF libre vldb.org/conf/1994/P487.PDF). Han, Pei &amp; Yin (2000, SIGMOD) el FP-Growth (cs.sfu.ca/~jpei/publications/sigmod00.pdf); Brin et al. (1997, SIGMOD) introdujo el lift (como interest) y la conviction. Libro: Tan, Steinbach &amp; Kumar, cap. 5. La práctica se apoya en mlxtend (apriori, fpgrowth, association_rules, TransactionEncoder). Todos los enlaces, verificados el 18/07/2026, en la bibliografía de la sesión. [Jueves]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08_reglas_asociacion/notebook/S08_reglas_asociacion.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png"/><Relationship Id="rId4"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S08</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Descubrir qué se compra junto para vender más</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Reglas de asociación, market basket, Apriori vs. FP-Growth</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JUEVES — CAPÍTULOS 8.1 A 8.5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jueves avanza en cinco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tabas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8.1</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¿Por qué agrupar clientes no revela qué productos se adquieren de forma conjunta?</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20-40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column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8.2</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es una regla de asociación?</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refresh-cw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8.3</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identifican sin evaluar todas las combinaciones?</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65-95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rending-up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8.4 y 8.5</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mide el valor de una regla? ¿Se sostiene con datos reales? La réplica de Agrawal y Srikant (1994)</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110-180</a:t>
            </a:r>
          </a:p>
        </p:txBody>
      </p:sp>
      <p:sp>
        <p:nvSpPr>
          <p:cNvPr id="28" name="Rounded Rectangle 2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La canasta de mercado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Qué se compra junto y por qué importa</a:t>
            </a:r>
          </a:p>
        </p:txBody>
      </p:sp>
      <p:pic>
        <p:nvPicPr>
          <p:cNvPr id="5" name="Picture 4" descr="database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+30%</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más por pedido al recomendar el complemento correcto</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Cifra ILUSTRATIVA (no del Excel): recomendar el complemento correcto eleva el pedido; hallarlo es el trabajo de hoy.</a:t>
            </a:r>
          </a:p>
        </p:txBody>
      </p:sp>
      <p:pic>
        <p:nvPicPr>
          <p:cNvPr id="5" name="Picture 4" descr="trending-up__E4002B.png"/>
          <p:cNvPicPr>
            <a:picLocks noChangeAspect="1"/>
          </p:cNvPicPr>
          <p:nvPr/>
        </p:nvPicPr>
        <p:blipFill>
          <a:blip r:embed="rId2"/>
          <a:stretch>
            <a:fillRect/>
          </a:stretch>
        </p:blipFill>
        <p:spPr>
          <a:xfrm>
            <a:off x="6766560" y="1325880"/>
            <a:ext cx="658368" cy="658368"/>
          </a:xfrm>
          <a:prstGeom prst="rect">
            <a:avLst/>
          </a:prstGeom>
        </p:spPr>
      </p:pic>
      <p:sp>
        <p:nvSpPr>
          <p:cNvPr id="6" name="TextBox 5"/>
          <p:cNvSpPr txBox="1"/>
          <p:nvPr/>
        </p:nvSpPr>
        <p:spPr>
          <a:xfrm>
            <a:off x="548640" y="5806440"/>
            <a:ext cx="11094720" cy="292608"/>
          </a:xfrm>
          <a:prstGeom prst="rect">
            <a:avLst/>
          </a:prstGeom>
          <a:noFill/>
        </p:spPr>
        <p:txBody>
          <a:bodyPr wrap="square">
            <a:spAutoFit/>
          </a:bodyPr>
          <a:lstStyle/>
          <a:p>
            <a:r>
              <a:rPr sz="1000">
                <a:solidFill>
                  <a:srgbClr val="6E6E6E"/>
                </a:solidFill>
                <a:latin typeface="Calibri"/>
              </a:rPr>
              <a:t>ILUSTRATIVO — The AI Journal (19/12/2025): recomendaciones por afinidad elevan el pedido 15-30 % (cifra de marketing, no causalidad). las fuentes de actualidad de la sesión.</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VOCABULARIO — DEFINICIONES SECCIONES 1-2 Y 4 — AGRAWAL ET AL. (1993)</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Toda venta ya guarda un patrón de qué va con qué</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tabase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Transacción o canasta</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El conjunto de ítems que un cliente compra en una misma operación (el ticket).</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earch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Itemset frecuente</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Combinación de ítems que aparece en al menos un soporte mínimo (minsup) de los tickets.</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rrow-right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Regla de asociación</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Implicación X → Y: si el ticket lleva X (antecedente), tiende a llevar Y (consecuente).</a:t>
            </a:r>
          </a:p>
        </p:txBody>
      </p:sp>
      <p:sp>
        <p:nvSpPr>
          <p:cNvPr id="16" name="Rounded Rectangle 15"/>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3.1, celda 12</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mide una regla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Soporte, confianza, lift, leverage y conviction</a:t>
            </a:r>
          </a:p>
        </p:txBody>
      </p:sp>
      <p:pic>
        <p:nvPicPr>
          <p:cNvPr id="5" name="Picture 4" descr="chart-column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PARA UNA REGLA X → Y — DEFINICIONES SECCIONES 3-6 — LIFT, LEVERAGE Y CONVICTION: BRIN ET AL. (1997)</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Cuatro (más una) métricas deciden si una regla vale</a:t>
            </a:r>
          </a:p>
        </p:txBody>
      </p:sp>
      <p:sp>
        <p:nvSpPr>
          <p:cNvPr id="4" name="Oval 3"/>
          <p:cNvSpPr/>
          <p:nvPr/>
        </p:nvSpPr>
        <p:spPr>
          <a:xfrm>
            <a:off x="548640" y="19568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rt-column__FFFFFF.png"/>
          <p:cNvPicPr>
            <a:picLocks noChangeAspect="1"/>
          </p:cNvPicPr>
          <p:nvPr/>
        </p:nvPicPr>
        <p:blipFill>
          <a:blip r:embed="rId2"/>
          <a:stretch>
            <a:fillRect/>
          </a:stretch>
        </p:blipFill>
        <p:spPr>
          <a:xfrm>
            <a:off x="732983" y="21411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Soporte</a:t>
            </a:r>
          </a:p>
        </p:txBody>
      </p:sp>
      <p:sp>
        <p:nvSpPr>
          <p:cNvPr id="7" name="TextBox 6"/>
          <p:cNvSpPr txBox="1"/>
          <p:nvPr/>
        </p:nvSpPr>
        <p:spPr>
          <a:xfrm>
            <a:off x="1508760" y="2395728"/>
            <a:ext cx="10134600" cy="2743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Qué fracción de los tickets contiene el patrón: mide su volumen.</a:t>
            </a:r>
          </a:p>
        </p:txBody>
      </p:sp>
      <p:sp>
        <p:nvSpPr>
          <p:cNvPr id="8" name="Oval 7"/>
          <p:cNvSpPr/>
          <p:nvPr/>
        </p:nvSpPr>
        <p:spPr>
          <a:xfrm>
            <a:off x="548640" y="28712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ircle-check__FFFFFF.png"/>
          <p:cNvPicPr>
            <a:picLocks noChangeAspect="1"/>
          </p:cNvPicPr>
          <p:nvPr/>
        </p:nvPicPr>
        <p:blipFill>
          <a:blip r:embed="rId3"/>
          <a:stretch>
            <a:fillRect/>
          </a:stretch>
        </p:blipFill>
        <p:spPr>
          <a:xfrm>
            <a:off x="732983" y="3055559"/>
            <a:ext cx="289682" cy="289682"/>
          </a:xfrm>
          <a:prstGeom prst="rect">
            <a:avLst/>
          </a:prstGeom>
        </p:spPr>
      </p:pic>
      <p:sp>
        <p:nvSpPr>
          <p:cNvPr id="10" name="TextBox 9"/>
          <p:cNvSpPr txBox="1"/>
          <p:nvPr/>
        </p:nvSpPr>
        <p:spPr>
          <a:xfrm>
            <a:off x="1508760" y="2852928"/>
            <a:ext cx="10134600" cy="411480"/>
          </a:xfrm>
          <a:prstGeom prst="rect">
            <a:avLst/>
          </a:prstGeom>
          <a:noFill/>
        </p:spPr>
        <p:txBody>
          <a:bodyPr wrap="square" anchor="t" lIns="0" rIns="0" tIns="0" bIns="0">
            <a:spAutoFit/>
          </a:bodyPr>
          <a:lstStyle/>
          <a:p>
            <a:pPr algn="l"/>
            <a:r>
              <a:rPr sz="1800" b="1">
                <a:solidFill>
                  <a:srgbClr val="9B1B30"/>
                </a:solidFill>
                <a:latin typeface="Calibri"/>
              </a:rPr>
              <a:t>Confianza</a:t>
            </a:r>
          </a:p>
        </p:txBody>
      </p:sp>
      <p:sp>
        <p:nvSpPr>
          <p:cNvPr id="11" name="TextBox 10"/>
          <p:cNvSpPr txBox="1"/>
          <p:nvPr/>
        </p:nvSpPr>
        <p:spPr>
          <a:xfrm>
            <a:off x="1508760" y="3310128"/>
            <a:ext cx="10134600" cy="2743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De quienes llevan X, qué fracción también lleva Y: la fiabilidad de la sugerencia.</a:t>
            </a:r>
          </a:p>
        </p:txBody>
      </p:sp>
      <p:sp>
        <p:nvSpPr>
          <p:cNvPr id="12" name="Oval 11"/>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rending-up__FFFFFF.png"/>
          <p:cNvPicPr>
            <a:picLocks noChangeAspect="1"/>
          </p:cNvPicPr>
          <p:nvPr/>
        </p:nvPicPr>
        <p:blipFill>
          <a:blip r:embed="rId4"/>
          <a:stretch>
            <a:fillRect/>
          </a:stretch>
        </p:blipFill>
        <p:spPr>
          <a:xfrm>
            <a:off x="732983" y="3969959"/>
            <a:ext cx="289682" cy="289682"/>
          </a:xfrm>
          <a:prstGeom prst="rect">
            <a:avLst/>
          </a:prstGeom>
        </p:spPr>
      </p:pic>
      <p:sp>
        <p:nvSpPr>
          <p:cNvPr id="14" name="TextBox 13"/>
          <p:cNvSpPr txBox="1"/>
          <p:nvPr/>
        </p:nvSpPr>
        <p:spPr>
          <a:xfrm>
            <a:off x="1508760" y="3767328"/>
            <a:ext cx="10134600" cy="411480"/>
          </a:xfrm>
          <a:prstGeom prst="rect">
            <a:avLst/>
          </a:prstGeom>
          <a:noFill/>
        </p:spPr>
        <p:txBody>
          <a:bodyPr wrap="square" anchor="t" lIns="0" rIns="0" tIns="0" bIns="0">
            <a:spAutoFit/>
          </a:bodyPr>
          <a:lstStyle/>
          <a:p>
            <a:pPr algn="l"/>
            <a:r>
              <a:rPr sz="1800" b="1">
                <a:solidFill>
                  <a:srgbClr val="9B1B30"/>
                </a:solidFill>
                <a:latin typeface="Calibri"/>
              </a:rPr>
              <a:t>Lift</a:t>
            </a:r>
          </a:p>
        </p:txBody>
      </p:sp>
      <p:sp>
        <p:nvSpPr>
          <p:cNvPr id="15" name="TextBox 14"/>
          <p:cNvSpPr txBox="1"/>
          <p:nvPr/>
        </p:nvSpPr>
        <p:spPr>
          <a:xfrm>
            <a:off x="1508760" y="4224528"/>
            <a:ext cx="10134600" cy="2743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Cuántas veces supera al azar la co-ocurrencia: &gt;1 asocia, =1 independiente, &lt;1 sustituye.</a:t>
            </a:r>
          </a:p>
        </p:txBody>
      </p:sp>
      <p:sp>
        <p:nvSpPr>
          <p:cNvPr id="16" name="Oval 15"/>
          <p:cNvSpPr/>
          <p:nvPr/>
        </p:nvSpPr>
        <p:spPr>
          <a:xfrm>
            <a:off x="548640" y="47000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gauge__FFFFFF.png"/>
          <p:cNvPicPr>
            <a:picLocks noChangeAspect="1"/>
          </p:cNvPicPr>
          <p:nvPr/>
        </p:nvPicPr>
        <p:blipFill>
          <a:blip r:embed="rId5"/>
          <a:stretch>
            <a:fillRect/>
          </a:stretch>
        </p:blipFill>
        <p:spPr>
          <a:xfrm>
            <a:off x="732983" y="4884359"/>
            <a:ext cx="289682" cy="289682"/>
          </a:xfrm>
          <a:prstGeom prst="rect">
            <a:avLst/>
          </a:prstGeom>
        </p:spPr>
      </p:pic>
      <p:sp>
        <p:nvSpPr>
          <p:cNvPr id="18" name="TextBox 17"/>
          <p:cNvSpPr txBox="1"/>
          <p:nvPr/>
        </p:nvSpPr>
        <p:spPr>
          <a:xfrm>
            <a:off x="1508760" y="4681728"/>
            <a:ext cx="10134600" cy="411480"/>
          </a:xfrm>
          <a:prstGeom prst="rect">
            <a:avLst/>
          </a:prstGeom>
          <a:noFill/>
        </p:spPr>
        <p:txBody>
          <a:bodyPr wrap="square" anchor="t" lIns="0" rIns="0" tIns="0" bIns="0">
            <a:spAutoFit/>
          </a:bodyPr>
          <a:lstStyle/>
          <a:p>
            <a:pPr algn="l"/>
            <a:r>
              <a:rPr sz="1800" b="1">
                <a:solidFill>
                  <a:srgbClr val="9B1B30"/>
                </a:solidFill>
                <a:latin typeface="Calibri"/>
              </a:rPr>
              <a:t>Leverage</a:t>
            </a:r>
          </a:p>
        </p:txBody>
      </p:sp>
      <p:sp>
        <p:nvSpPr>
          <p:cNvPr id="19" name="TextBox 18"/>
          <p:cNvSpPr txBox="1"/>
          <p:nvPr/>
        </p:nvSpPr>
        <p:spPr>
          <a:xfrm>
            <a:off x="1508760" y="5138928"/>
            <a:ext cx="10134600" cy="2743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Exceso ABSOLUTO de co-ocurrencia (no razón): un lift muy elevado sobre soportes ínfimos puede valer ≈0.</a:t>
            </a:r>
          </a:p>
        </p:txBody>
      </p:sp>
      <p:sp>
        <p:nvSpPr>
          <p:cNvPr id="20" name="Oval 19"/>
          <p:cNvSpPr/>
          <p:nvPr/>
        </p:nvSpPr>
        <p:spPr>
          <a:xfrm>
            <a:off x="548640" y="56144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git-branch__FFFFFF.png"/>
          <p:cNvPicPr>
            <a:picLocks noChangeAspect="1"/>
          </p:cNvPicPr>
          <p:nvPr/>
        </p:nvPicPr>
        <p:blipFill>
          <a:blip r:embed="rId6"/>
          <a:stretch>
            <a:fillRect/>
          </a:stretch>
        </p:blipFill>
        <p:spPr>
          <a:xfrm>
            <a:off x="732983" y="5798759"/>
            <a:ext cx="289682" cy="289682"/>
          </a:xfrm>
          <a:prstGeom prst="rect">
            <a:avLst/>
          </a:prstGeom>
        </p:spPr>
      </p:pic>
      <p:sp>
        <p:nvSpPr>
          <p:cNvPr id="22" name="TextBox 21"/>
          <p:cNvSpPr txBox="1"/>
          <p:nvPr/>
        </p:nvSpPr>
        <p:spPr>
          <a:xfrm>
            <a:off x="1508760" y="5596128"/>
            <a:ext cx="10134600" cy="411480"/>
          </a:xfrm>
          <a:prstGeom prst="rect">
            <a:avLst/>
          </a:prstGeom>
          <a:noFill/>
        </p:spPr>
        <p:txBody>
          <a:bodyPr wrap="square" anchor="t" lIns="0" rIns="0" tIns="0" bIns="0">
            <a:spAutoFit/>
          </a:bodyPr>
          <a:lstStyle/>
          <a:p>
            <a:pPr algn="l"/>
            <a:r>
              <a:rPr sz="1800" b="1">
                <a:solidFill>
                  <a:srgbClr val="9B1B30"/>
                </a:solidFill>
                <a:latin typeface="Calibri"/>
              </a:rPr>
              <a:t>Conviction</a:t>
            </a:r>
          </a:p>
        </p:txBody>
      </p:sp>
      <p:sp>
        <p:nvSpPr>
          <p:cNvPr id="23" name="TextBox 22"/>
          <p:cNvSpPr txBox="1"/>
          <p:nvPr/>
        </p:nvSpPr>
        <p:spPr>
          <a:xfrm>
            <a:off x="1508760" y="6053328"/>
            <a:ext cx="10134600" cy="2743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Cuán real es la implicación: penaliza los contraejemplos (es direccional).</a:t>
            </a:r>
          </a:p>
        </p:txBody>
      </p:sp>
      <p:sp>
        <p:nvSpPr>
          <p:cNvPr id="24" name="Rounded Rectangle 23"/>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3.2, celda 14</a:t>
            </a:r>
          </a:p>
        </p:txBody>
      </p:sp>
      <p:sp>
        <p:nvSpPr>
          <p:cNvPr id="25" name="Oval 2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27" name="TextBox 2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0,98</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el lift de una regla con confianza 0,88</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Ejemplo DIDÁCTICO DE LIBRO, no cómputo real: bolsa ubicua (90 %) → confianza 0,88 pero lift 0,98 (&lt;1). Trivial.</a:t>
            </a:r>
          </a:p>
        </p:txBody>
      </p:sp>
      <p:pic>
        <p:nvPicPr>
          <p:cNvPr id="5" name="Picture 4" descr="triangle-alert__E4002B.png"/>
          <p:cNvPicPr>
            <a:picLocks noChangeAspect="1"/>
          </p:cNvPicPr>
          <p:nvPr/>
        </p:nvPicPr>
        <p:blipFill>
          <a:blip r:embed="rId2"/>
          <a:stretch>
            <a:fillRect/>
          </a:stretch>
        </p:blipFill>
        <p:spPr>
          <a:xfrm>
            <a:off x="6766560" y="1325880"/>
            <a:ext cx="658368" cy="658368"/>
          </a:xfrm>
          <a:prstGeom prst="rect">
            <a:avLst/>
          </a:prstGeom>
        </p:spPr>
      </p:pic>
      <p:sp>
        <p:nvSpPr>
          <p:cNvPr id="6" name="TextBox 5"/>
          <p:cNvSpPr txBox="1"/>
          <p:nvPr/>
        </p:nvSpPr>
        <p:spPr>
          <a:xfrm>
            <a:off x="548640" y="5806440"/>
            <a:ext cx="11094720" cy="292608"/>
          </a:xfrm>
          <a:prstGeom prst="rect">
            <a:avLst/>
          </a:prstGeom>
          <a:noFill/>
        </p:spPr>
        <p:txBody>
          <a:bodyPr wrap="square">
            <a:spAutoFit/>
          </a:bodyPr>
          <a:lstStyle/>
          <a:p>
            <a:r>
              <a:rPr sz="1000">
                <a:solidFill>
                  <a:srgbClr val="6E6E6E"/>
                </a:solidFill>
                <a:latin typeface="Calibri"/>
              </a:rPr>
              <a:t>EJEMPLO DIDÁCTICO DE LIBRO (no del Excel, no es salida de ningún cómputo sobre T10I4D100K ni Online Retail II) — INTERPRETACION_RESULTADOS Sección 3: la confianza induce a error cuando el consecuente es popular; el lift la pone en contexto dividiéndola por su popularidad.</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¿Una confianza alta siempre es una buena recomendación?</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En parejas (2 min): una regla con confianza 0,88 puede tener lift &lt; 1. ¿Se recomienda el producto o se descarta la regla?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Apriori es igual a FP-Growth</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Mismos itemsets, distinta eficiencia — réplica sobre T10I4D100K</a:t>
            </a:r>
          </a:p>
        </p:txBody>
      </p:sp>
      <p:pic>
        <p:nvPicPr>
          <p:cNvPr id="5" name="Picture 4" descr="refresh-cw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AGRAWAL &amp; SRIKANT (1994) — HAN, PEI &amp; YIN (2000) — DEFINICIONES SECCIONES 8-9</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Dos caminos llegan a los mismos 385 itemsets</a:t>
            </a:r>
          </a:p>
        </p:txBody>
      </p:sp>
      <p:sp>
        <p:nvSpPr>
          <p:cNvPr id="4" name="Oval 3"/>
          <p:cNvSpPr/>
          <p:nvPr/>
        </p:nvSpPr>
        <p:spPr>
          <a:xfrm>
            <a:off x="54864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a:t>
            </a:r>
          </a:p>
        </p:txBody>
      </p:sp>
      <p:sp>
        <p:nvSpPr>
          <p:cNvPr id="5" name="TextBox 4"/>
          <p:cNvSpPr txBox="1"/>
          <p:nvPr/>
        </p:nvSpPr>
        <p:spPr>
          <a:xfrm>
            <a:off x="114300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Apriori — generar y podar</a:t>
            </a:r>
          </a:p>
        </p:txBody>
      </p:sp>
      <p:sp>
        <p:nvSpPr>
          <p:cNvPr id="6" name="TextBox 5"/>
          <p:cNvSpPr txBox="1"/>
          <p:nvPr/>
        </p:nvSpPr>
        <p:spPr>
          <a:xfrm>
            <a:off x="62179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Cuenta itemsets frecuentes por nivel</a:t>
            </a:r>
          </a:p>
          <a:p>
            <a:pPr algn="l">
              <a:spcAft>
                <a:spcPts val="900"/>
              </a:spcAft>
            </a:pPr>
            <a:r>
              <a:rPr sz="1400">
                <a:solidFill>
                  <a:srgbClr val="2D2D2D"/>
                </a:solidFill>
                <a:latin typeface="Calibri"/>
              </a:rPr>
              <a:t>Poda por anti-monotonía del soporte</a:t>
            </a:r>
          </a:p>
          <a:p>
            <a:pPr algn="l">
              <a:spcAft>
                <a:spcPts val="900"/>
              </a:spcAft>
            </a:pPr>
            <a:r>
              <a:rPr sz="1400">
                <a:solidFill>
                  <a:srgbClr val="2D2D2D"/>
                </a:solidFill>
                <a:latin typeface="Calibri"/>
              </a:rPr>
              <a:t>Varias pasadas sobre los datos</a:t>
            </a:r>
          </a:p>
        </p:txBody>
      </p:sp>
      <p:sp>
        <p:nvSpPr>
          <p:cNvPr id="7" name="Oval 6"/>
          <p:cNvSpPr/>
          <p:nvPr/>
        </p:nvSpPr>
        <p:spPr>
          <a:xfrm>
            <a:off x="630936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FP</a:t>
            </a:r>
          </a:p>
        </p:txBody>
      </p:sp>
      <p:sp>
        <p:nvSpPr>
          <p:cNvPr id="8" name="TextBox 7"/>
          <p:cNvSpPr txBox="1"/>
          <p:nvPr/>
        </p:nvSpPr>
        <p:spPr>
          <a:xfrm>
            <a:off x="690372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FP-Growth — sin candidatos</a:t>
            </a:r>
          </a:p>
        </p:txBody>
      </p:sp>
      <p:sp>
        <p:nvSpPr>
          <p:cNvPr id="9" name="TextBox 8"/>
          <p:cNvSpPr txBox="1"/>
          <p:nvPr/>
        </p:nvSpPr>
        <p:spPr>
          <a:xfrm>
            <a:off x="638251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Comprime la base en un FP-tree</a:t>
            </a:r>
          </a:p>
          <a:p>
            <a:pPr algn="l">
              <a:spcAft>
                <a:spcPts val="900"/>
              </a:spcAft>
            </a:pPr>
            <a:r>
              <a:rPr sz="1400">
                <a:solidFill>
                  <a:srgbClr val="2D2D2D"/>
                </a:solidFill>
                <a:latin typeface="Calibri"/>
              </a:rPr>
              <a:t>Mina sin generar candidatos</a:t>
            </a:r>
          </a:p>
          <a:p>
            <a:pPr algn="l">
              <a:spcAft>
                <a:spcPts val="900"/>
              </a:spcAft>
            </a:pPr>
            <a:r>
              <a:rPr sz="1400">
                <a:solidFill>
                  <a:srgbClr val="2D2D2D"/>
                </a:solidFill>
                <a:latin typeface="Calibri"/>
              </a:rPr>
              <a:t>Solo dos pasadas: escala mejor</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3.4, celda 24</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ASÍ SE HACE — MINAR CON MLXTEND (APRIORI / FPGROWTH / ASSOCIATION_RULES)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Minar itemsets y reglas requiere unas pocas líneas</a:t>
            </a:r>
          </a:p>
        </p:txBody>
      </p:sp>
      <p:sp>
        <p:nvSpPr>
          <p:cNvPr id="4" name="TextBox 3"/>
          <p:cNvSpPr txBox="1"/>
          <p:nvPr/>
        </p:nvSpPr>
        <p:spPr>
          <a:xfrm>
            <a:off x="548640" y="1755648"/>
            <a:ext cx="11094720" cy="457200"/>
          </a:xfrm>
          <a:prstGeom prst="rect">
            <a:avLst/>
          </a:prstGeom>
          <a:noFill/>
        </p:spPr>
        <p:txBody>
          <a:bodyPr wrap="square" lIns="0" tIns="0" bIns="0">
            <a:spAutoFit/>
          </a:bodyPr>
          <a:lstStyle/>
          <a:p>
            <a:r>
              <a:rPr sz="1400" b="1">
                <a:solidFill>
                  <a:srgbClr val="9B1B30"/>
                </a:solidFill>
                <a:latin typeface="Calibri"/>
              </a:rPr>
              <a:t>▸ Qué hace:  </a:t>
            </a:r>
            <a:r>
              <a:rPr sz="1400">
                <a:solidFill>
                  <a:srgbClr val="2D2D2D"/>
                </a:solidFill>
                <a:latin typeface="Calibri"/>
              </a:rPr>
              <a:t>mina itemsets con Apriori y FP-Growth (mismo conjunto: 385, diferencia 0) y genera las 7 reglas con confianza ≥ 0,5.</a:t>
            </a:r>
          </a:p>
        </p:txBody>
      </p:sp>
      <p:sp>
        <p:nvSpPr>
          <p:cNvPr id="5" name="Rounded Rectangle 4"/>
          <p:cNvSpPr/>
          <p:nvPr/>
        </p:nvSpPr>
        <p:spPr>
          <a:xfrm>
            <a:off x="548640" y="2395728"/>
            <a:ext cx="11094720" cy="3346704"/>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542032"/>
            <a:ext cx="10637520" cy="256032"/>
          </a:xfrm>
          <a:prstGeom prst="rect">
            <a:avLst/>
          </a:prstGeom>
          <a:noFill/>
        </p:spPr>
        <p:txBody>
          <a:bodyPr wrap="none" lIns="0" tIns="0" bIns="0">
            <a:spAutoFit/>
          </a:bodyPr>
          <a:lstStyle/>
          <a:p>
            <a:r>
              <a:rPr sz="1050" b="1">
                <a:solidFill>
                  <a:srgbClr val="9B1B30"/>
                </a:solidFill>
                <a:latin typeface="Calibri"/>
              </a:rPr>
              <a:t>CÓDIGO REAL DEL CUADERNO</a:t>
            </a:r>
          </a:p>
        </p:txBody>
      </p:sp>
      <p:sp>
        <p:nvSpPr>
          <p:cNvPr id="7" name="TextBox 6"/>
          <p:cNvSpPr txBox="1"/>
          <p:nvPr/>
        </p:nvSpPr>
        <p:spPr>
          <a:xfrm>
            <a:off x="859536" y="2926080"/>
            <a:ext cx="10472928" cy="2743200"/>
          </a:xfrm>
          <a:prstGeom prst="rect">
            <a:avLst/>
          </a:prstGeom>
          <a:noFill/>
        </p:spPr>
        <p:txBody>
          <a:bodyPr wrap="square" lIns="0" tIns="0" bIns="0">
            <a:spAutoFit/>
          </a:bodyPr>
          <a:lstStyle/>
          <a:p>
            <a:pPr>
              <a:lnSpc>
                <a:spcPct val="130000"/>
              </a:lnSpc>
              <a:spcAft>
                <a:spcPts val="400"/>
              </a:spcAft>
            </a:pPr>
            <a:r>
              <a:rPr sz="1200">
                <a:solidFill>
                  <a:srgbClr val="2D2D2D"/>
                </a:solidFill>
                <a:latin typeface="Consolas"/>
              </a:rPr>
              <a:t>from mlxtend.frequent_patterns import apriori, fpgrowth, association_rules</a:t>
            </a:r>
          </a:p>
          <a:p>
            <a:pPr>
              <a:lnSpc>
                <a:spcPct val="130000"/>
              </a:lnSpc>
              <a:spcAft>
                <a:spcPts val="400"/>
              </a:spcAft>
            </a:pPr>
            <a:r>
              <a:rPr sz="1200">
                <a:solidFill>
                  <a:srgbClr val="2D2D2D"/>
                </a:solidFill>
                <a:latin typeface="Consolas"/>
              </a:rPr>
              <a:t/>
            </a:r>
          </a:p>
          <a:p>
            <a:pPr>
              <a:lnSpc>
                <a:spcPct val="130000"/>
              </a:lnSpc>
              <a:spcAft>
                <a:spcPts val="400"/>
              </a:spcAft>
            </a:pPr>
            <a:r>
              <a:rPr sz="1200">
                <a:solidFill>
                  <a:srgbClr val="2D2D2D"/>
                </a:solidFill>
                <a:latin typeface="Consolas"/>
              </a:rPr>
              <a:t>fi_ap = apriori(oh,  min_support=0.01, use_colnames=True)   # por niveles</a:t>
            </a:r>
          </a:p>
          <a:p>
            <a:pPr>
              <a:lnSpc>
                <a:spcPct val="130000"/>
              </a:lnSpc>
              <a:spcAft>
                <a:spcPts val="400"/>
              </a:spcAft>
            </a:pPr>
            <a:r>
              <a:rPr sz="1200">
                <a:solidFill>
                  <a:srgbClr val="2D2D2D"/>
                </a:solidFill>
                <a:latin typeface="Consolas"/>
              </a:rPr>
              <a:t>fi_fp = fpgrowth(oh, min_support=0.01, use_colnames=True)   # FP-tree, drop-in</a:t>
            </a:r>
          </a:p>
          <a:p>
            <a:pPr>
              <a:lnSpc>
                <a:spcPct val="130000"/>
              </a:lnSpc>
              <a:spcAft>
                <a:spcPts val="400"/>
              </a:spcAft>
            </a:pPr>
            <a:r>
              <a:rPr sz="1200">
                <a:solidFill>
                  <a:srgbClr val="2D2D2D"/>
                </a:solidFill>
                <a:latin typeface="Consolas"/>
              </a:rPr>
              <a:t>mismos = set(map(frozenset, fi_ap.itemsets)) == set(map(frozenset, fi_fp.itemsets))</a:t>
            </a:r>
          </a:p>
          <a:p>
            <a:pPr>
              <a:lnSpc>
                <a:spcPct val="130000"/>
              </a:lnSpc>
              <a:spcAft>
                <a:spcPts val="400"/>
              </a:spcAft>
            </a:pPr>
            <a:r>
              <a:rPr sz="1200">
                <a:solidFill>
                  <a:srgbClr val="2D2D2D"/>
                </a:solidFill>
                <a:latin typeface="Consolas"/>
              </a:rPr>
              <a:t>reglas = association_rules(fi_ap, metric="confidence", min_threshold=0.5)</a:t>
            </a:r>
          </a:p>
          <a:p>
            <a:pPr>
              <a:lnSpc>
                <a:spcPct val="130000"/>
              </a:lnSpc>
              <a:spcAft>
                <a:spcPts val="400"/>
              </a:spcAft>
            </a:pPr>
            <a:r>
              <a:rPr sz="1200">
                <a:solidFill>
                  <a:srgbClr val="2D2D2D"/>
                </a:solidFill>
                <a:latin typeface="Consolas"/>
              </a:rPr>
              <a:t>print(len(fi_ap), mismos, len(reglas))   # 385  True  7</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notebook celda 37 (minado Apriori + FP-Growth) y celda 40 (reglas) — resultados/S08_resultados.xlsx!asociacion_apriori (B2, B4, B5).</a:t>
            </a:r>
          </a:p>
        </p:txBody>
      </p:sp>
      <p:sp>
        <p:nvSpPr>
          <p:cNvPr id="9" name="Rounded Rectangle 8"/>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4, celda 37</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Las bases de datos implicadas en estas aplicaciones son muy grandes. Es imperativo, por tanto, disponer de algoritmos rápidos para esta tarea.</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Agrawal y Srikant, 1994 — Fast Algorithms for Mining Association Rules (p. 487)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 EL PAPER Y POR QUÉ USÓ LO QUE USÓ</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Tres decisiones explican todo el algoritmo</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De dónde provienen los candidatos</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AIS y SETM los generaban al leer cada ticket, y contaban montones que jamás serían frecuentes. Apriori los arma solo desde los frecuentes de la pasada anterior.</a:t>
            </a:r>
          </a:p>
        </p:txBody>
      </p:sp>
      <p:sp>
        <p:nvSpPr>
          <p:cNvPr id="8" name="TextBox 7"/>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La licencia: la anti-monotonía del soporte</a:t>
            </a:r>
          </a:p>
        </p:txBody>
      </p:sp>
      <p:sp>
        <p:nvSpPr>
          <p:cNvPr id="9" name="Rounded Rectangle 8"/>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Solo itemsets, no reglas</a:t>
            </a:r>
          </a:p>
        </p:txBody>
      </p:sp>
      <p:sp>
        <p:nvSpPr>
          <p:cNvPr id="12" name="TextBox 11"/>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artículo parte el problema en dos y despacha el segundo en un párrafo: todo el coste combinatorio vive en hallar los itemsets frecuentes.</a:t>
            </a:r>
          </a:p>
        </p:txBody>
      </p:sp>
      <p:sp>
        <p:nvSpPr>
          <p:cNvPr id="13" name="TextBox 12"/>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Por eso el target es un conteo, no una regla</a:t>
            </a:r>
          </a:p>
        </p:txBody>
      </p:sp>
      <p:sp>
        <p:nvSpPr>
          <p:cNvPr id="14" name="Rounded Rectangle 13"/>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Datos sintéticos, no una tienda</a:t>
            </a:r>
          </a:p>
        </p:txBody>
      </p:sp>
      <p:sp>
        <p:nvSpPr>
          <p:cNvPr id="17" name="TextBox 16"/>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objetivo era medir algoritmos, no describir un negocio: solo un generador permite variar de forma controlada lo que determina el coste.</a:t>
            </a:r>
          </a:p>
        </p:txBody>
      </p:sp>
      <p:sp>
        <p:nvSpPr>
          <p:cNvPr id="18" name="TextBox 17"/>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T10I4D100K es una fila de esa malla</a:t>
            </a:r>
          </a:p>
        </p:txBody>
      </p:sp>
      <p:sp>
        <p:nvSpPr>
          <p:cNvPr id="19" name="TextBox 18"/>
          <p:cNvSpPr txBox="1"/>
          <p:nvPr/>
        </p:nvSpPr>
        <p:spPr>
          <a:xfrm>
            <a:off x="548640" y="5806440"/>
            <a:ext cx="11094720" cy="292608"/>
          </a:xfrm>
          <a:prstGeom prst="rect">
            <a:avLst/>
          </a:prstGeom>
          <a:noFill/>
        </p:spPr>
        <p:txBody>
          <a:bodyPr wrap="square">
            <a:spAutoFit/>
          </a:bodyPr>
          <a:lstStyle/>
          <a:p>
            <a:r>
              <a:rPr sz="1000">
                <a:solidFill>
                  <a:srgbClr val="6E6E6E"/>
                </a:solidFill>
                <a:latin typeface="Calibri"/>
              </a:rPr>
              <a:t>Decisiones documentadas en el original: REPLICACION_PAPER Sección 0.3 (Agrawal y Srikant, 1994, pp. 488-493).</a:t>
            </a:r>
          </a:p>
        </p:txBody>
      </p:sp>
      <p:sp>
        <p:nvSpPr>
          <p:cNvPr id="20" name="Oval 1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22" name="TextBox 2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RÉPLICA SOBRE T10I4D100K — ITEMSETS IDÉNTICOS (VENV)</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Apriori y FP-Growth hallan los mismos 385 itemsets</a:t>
            </a:r>
          </a:p>
        </p:txBody>
      </p:sp>
      <p:pic>
        <p:nvPicPr>
          <p:cNvPr id="4" name="Picture 3" descr="deck_S08_itemsets_apriori_vs_fpgrowth.png"/>
          <p:cNvPicPr>
            <a:picLocks noChangeAspect="1"/>
          </p:cNvPicPr>
          <p:nvPr/>
        </p:nvPicPr>
        <p:blipFill>
          <a:blip r:embed="rId2"/>
          <a:stretch>
            <a:fillRect/>
          </a:stretch>
        </p:blipFill>
        <p:spPr>
          <a:xfrm>
            <a:off x="548640" y="1828800"/>
            <a:ext cx="5574091" cy="306324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Son algoritmos exactos: mismos 385 itemsets y 7 reglas. Solo cambia el tiempo, no el resultado.</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resultados/S08_resultados.xlsx!asociacion_apriori (venv, minsup 1 %). Benchmark comunitario ≈ 385, etiquetado.</a:t>
            </a:r>
          </a:p>
        </p:txBody>
      </p:sp>
      <p:sp>
        <p:nvSpPr>
          <p:cNvPr id="10" name="Rounded Rectangle 9"/>
          <p:cNvSpPr/>
          <p:nvPr/>
        </p:nvSpPr>
        <p:spPr>
          <a:xfrm>
            <a:off x="548640" y="5212080"/>
            <a:ext cx="7315200"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ook-open__E4002B.png"/>
          <p:cNvPicPr>
            <a:picLocks noChangeAspect="1"/>
          </p:cNvPicPr>
          <p:nvPr/>
        </p:nvPicPr>
        <p:blipFill>
          <a:blip r:embed="rId4"/>
          <a:stretch>
            <a:fillRect/>
          </a:stretch>
        </p:blipFill>
        <p:spPr>
          <a:xfrm>
            <a:off x="694944" y="5266944"/>
            <a:ext cx="219456" cy="219456"/>
          </a:xfrm>
          <a:prstGeom prst="rect">
            <a:avLst/>
          </a:prstGeom>
        </p:spPr>
      </p:pic>
      <p:sp>
        <p:nvSpPr>
          <p:cNvPr id="12" name="TextBox 11"/>
          <p:cNvSpPr txBox="1"/>
          <p:nvPr/>
        </p:nvSpPr>
        <p:spPr>
          <a:xfrm>
            <a:off x="1005840" y="5244084"/>
            <a:ext cx="6748272" cy="274320"/>
          </a:xfrm>
          <a:prstGeom prst="rect">
            <a:avLst/>
          </a:prstGeom>
          <a:noFill/>
        </p:spPr>
        <p:txBody>
          <a:bodyPr wrap="square" lIns="0" rIns="0" tIns="0" bIns="0">
            <a:spAutoFit/>
          </a:bodyPr>
          <a:lstStyle/>
          <a:p>
            <a:pPr algn="l"/>
            <a:r>
              <a:rPr sz="1200" b="1">
                <a:solidFill>
                  <a:srgbClr val="9B1B30"/>
                </a:solidFill>
                <a:latin typeface="Calibri"/>
              </a:rPr>
              <a:t>En el paper:  </a:t>
            </a:r>
            <a:r>
              <a:rPr sz="1200" b="1">
                <a:solidFill>
                  <a:srgbClr val="2D2D2D"/>
                </a:solidFill>
                <a:latin typeface="Calibri"/>
              </a:rPr>
              <a:t>Agrawal &amp; Srikant (1994), Fast Algorithms for Mining Association Rules, VLDB 1994</a:t>
            </a:r>
          </a:p>
        </p:txBody>
      </p:sp>
      <p:sp>
        <p:nvSpPr>
          <p:cNvPr id="13" name="Rounded Rectangle 12"/>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 Fig 1, celda 59</a:t>
            </a:r>
          </a:p>
        </p:txBody>
      </p:sp>
      <p:sp>
        <p:nvSpPr>
          <p:cNvPr id="14" name="Oval 1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16" name="TextBox 1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¿Se reporta el 385 del venv o el del benchmark?</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Debate rápido: el venv da 385 itemsets y el benchmark comunitario ≈ 385. ¿Cuál va en el informe y por qué?</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Cuatro papers, un libro y una librería para dominar las reglas</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ok-open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Agrawal, Imieliński &amp; Swami (1993) → Agrawal &amp; Srikant (1994) — Apriori</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Fundan el problema (soporte, confianza) y dan Apriori: candidatos + poda por anti-monotonía. El de la réplica.</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ok-open__FFFFFF.png"/>
          <p:cNvPicPr>
            <a:picLocks noChangeAspect="1"/>
          </p:cNvPicPr>
          <p:nvPr/>
        </p:nvPicPr>
        <p:blipFill>
          <a:blip r:embed="rId2"/>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Han, Pei &amp; Yin (2000), FP-Growth ,  Brin et al. (1997), lift y conviction</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Los mismos patrones sin generar candidatos (FP-tree); y las métricas que separan reglas útiles de triviales.</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atabase__FFFFFF.png"/>
          <p:cNvPicPr>
            <a:picLocks noChangeAspect="1"/>
          </p:cNvPicPr>
          <p:nvPr/>
        </p:nvPicPr>
        <p:blipFill>
          <a:blip r:embed="rId3"/>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Tan, Steinbach &amp; Kumar cap. 5  —  mlxtend frequent_patterns</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Tratamiento didáctico del principio Apriori; apriori/fpgrowth/association_rules/TransactionEncoder, la API del laboratorio.</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