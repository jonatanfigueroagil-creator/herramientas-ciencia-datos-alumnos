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87" r:id="rId21"/>
    <p:sldId id="282" r:id="rId34"/>
    <p:sldId id="277" r:id="rId29"/>
    <p:sldId id="278" r:id="rId30"/>
    <p:sldId id="288" r:id="rId22"/>
    <p:sldId id="276" r:id="rId28"/>
    <p:sldId id="280" r:id="rId32"/>
    <p:sldId id="281" r:id="rId33"/>
    <p:sldId id="289" r:id="rId23"/>
    <p:sldId id="279" r:id="rId31"/>
    <p:sldId id="283" r:id="rId35"/>
    <p:sldId id="291" r:id="rId25"/>
    <p:sldId id="290" r:id="rId24"/>
    <p:sldId id="286" r:id="rId20"/>
    <p:sldId id="285" r:id="rId37"/>
    <p:sldId id="284" r:id="rId3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20" Type="http://schemas.openxmlformats.org/officeDocument/2006/relationships/slide" Target="slides/slide16.xml"/><Relationship Id="rId21" Type="http://schemas.openxmlformats.org/officeDocument/2006/relationships/slide" Target="slides/slide3.xml"/><Relationship Id="rId22" Type="http://schemas.openxmlformats.org/officeDocument/2006/relationships/slide" Target="slides/slide7.xml"/><Relationship Id="rId23" Type="http://schemas.openxmlformats.org/officeDocument/2006/relationships/slide" Target="slides/slide11.xml"/><Relationship Id="rId24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slide" Target="slides/slide8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12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4.xml"/><Relationship Id="rId35" Type="http://schemas.openxmlformats.org/officeDocument/2006/relationships/slide" Target="slides/slide13.xml"/><Relationship Id="rId36" Type="http://schemas.openxmlformats.org/officeDocument/2006/relationships/slide" Target="slides/slide18.xml"/><Relationship Id="rId37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el bloque de técnicas separando CORRELACION de CAUSALIDAD. Promesa de la sesion: pasar de «que subio» a «que lo causo» y traducirlo en una decision con su incertidumbre. Se replican dos papers seminales (Card &amp; Krueger 1994; LaLonde/NSW) y se lleva la causalidad al negocio con DoWhy. Metodo del deck: cada cifra se muestra contra su fuente y se LEE del Excel de resultados (fidelidad verificada). El boton «Abrir en Colab» va al cuaderno.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Mapa en cuatro actos con pulso Contexto -&gt; Evidencia -&gt; Decision. Acto 1: el contrafactual, ATE/ATT y el A/B como patron oro (el A/B basico es de S02: aqui se EXTIENDE con poder y MDE). Acto 2: el DAG y la regla de la puerta trasera. Acto 3: la replica de Card &amp; Krueger (1994) con DiD. Acto 4: PSM sobre LaLonde —balance, soporte comun y refutacion—, las variables instrumentales y la decision de negocio. Supervivencia (S13) y recomendacion (S14) solo se nombran al cierre.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nombrando la frontera. Cada límite se dice en voz alta y se enlaza con la sesión que sí lo resuelve. No es una advertencia legal: es la competencia que separa a quien reporta un número de quien sabe qué autoriza. [Viernes, capítulo 12.9]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12.6. Se enuncia la pregunta tal como aparece en el sílabo, la ficha, el cuaderno y la guía: es el mismo código en todos. [Viernes, capítulo 12.6]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12.7. Se enuncia la pregunta tal como aparece en el sílabo, la ficha, el cuaderno y la guía: es el mismo código en todos. [Viernes, capítulo 12.7]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12.8. Se enuncia la pregunta tal como aparece en el sílabo, la ficha, el cuaderno y la guía: es el mismo código en todos. [Viernes, capítulo 12.8]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12.9. Se enuncia la pregunta tal como aparece en el sílabo, la ficha, el cuaderno y la guía: es el mismo código en todos. [Viernes, capítulo 12.9]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desarrolla el capítulo 12.8. Deriva de la Sección 6 de la guía docente y de la investigación de la sesión; las cifras salen del Excel de resultados. [Viernes, capítulo 12.8]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Mas datos NO corrigen el sesgo de seleccion: los tratados del programa eran mucho mas desfavorecidos que la poblacion general (CPS), asi que el naive es −$8 498 (destruye ingresos, dice el dato crudo). El PSM «pasa la prueba»: recupera el orden de magnitud y el SIGNO del experimento (+$1 745 vs +$1 794). Se juzga por cercania al benchmark, no por el decimal. EN EL PAPER: LaLonde (1986); Dehejia &amp; Wahba (2002). INTERPRETACION puntos 3, 6. [Viernes, capítulo 12.7]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SMD (estandarizado, sin unidades) es el criterio de balance, NO el p-valor de una t (depende del n). Regla practica |SMD| &lt; 0,1. Antes de emparejar hay que recortar al SOPORTE COMUN (positividad). Sin balance, el ATT no es creible y no se interpreta. La media de las barras coincide con causal_did B11/B12 (0,60 -&gt; 0,06). Drill 3. INTERPRETACION puntos 4-5. [Viernes, capítulo 12.6]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POSITIVIDAD (0 &lt; e(X) &lt; 1): para cada perfil deben existir tratados Y controles. El grafico muestra el solapamiento; se recorta al soporte comun (se descartan controles fuera de rango). Violar positividad vuelve extremos los pesos y obliga a redefinir el estimando (WATE/WATT). Es la advertencia tecnica del laboratorio. [Viernes, capítulo 12.6]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Los clientes ya buenos (alto engagement) fueron los mas contactados: el sesgo es AL ALZA. DoWhy identifica el conjunto de puerta trasera {engagement} y estima +7,95, que recupera el verdadero 8,0. Controlar SOLO el confusor basta para identificar; anadir tenure mejora precision pero no es necesario. Es el entregable de la sesion. INTERPRETACION punto 7. [Viernes, capítulo 12.8]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«Placebo new effect ≈ 0» es la senal BUENA (el efecto desaparece con un tratamiento falso: −0,05), no «no hay efecto». Random common cause: el efecto debe RESISTIR un confusor aleatorio (+7,95). Un analisis que FALLA cualquier refutacion es incorrecto y hay que arreglarlo (DAG, covariables, positividad). Refutar no es probar. Excel causal_did B13/B14. [Viernes, capítulo 12.7]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Tercera pausa y decision del entregable. La recomendacion combina tres piezas: MAGNITUD del efecto frente al umbral, INCERTIDUMBRE (¿el IC 95 % excluye el umbral?) y CREDIBILIDAD causal (soporte comun, balance, refutaciones). Cuenta cerrada en dinero (costo ILUSTRATIVO, no dato del caso): el efecto +7,95 USD/cliente es el breakeven; con costo 5 USD el margen es 2,95 y el ROI ~59 %. Con el naive inflado (+23,64) el breakeven aparente se inflaria y se sobreinvertiria. Solo si las tres piezas se alinean se escala. INTERPRETACION punto 9. [Viernes, capítulo 12.7]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cada decision se DIAGNOSTICA y luego se DECIDE con un metodo. (1) IGNORABILIDAD: DAG + backdoor {engagement}; refutar. (2) TENDENCIAS PARALELAS: DiD placebo ~0. (3) POSITIVIDAD: solapamiento del propensity; recortar al soporte comun. (4) BALANCE: |SMD| 0,60 -&gt; 0,06 &lt; 0,1. (5) COLLIDER uso_post: NO condicionar. Fuente: SUPUESTOS_S12.md. [Viernes, capítulo 12.6]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Tres fuentes recientes que anclan la sesion en la practica. Las dos primeras traducen «correlacion != causa» a presupuesto de marketing; la tercera es la advertencia tecnica del laboratorio (positividad / soporte comun). Todas con enlace verificado. [Viernes, capítulo 12.8]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Bibliografia verificada (BIBLIOGRAFIA_ALUMNOS.md). Rubin y Rosenbaum &amp; Rubin fundan el marco; Card &amp; Krueger y Pearl, los metodos de la sesion; Cunningham (The Mixtape, libre) desarrolla los DOS casos de la replica con codigo. La ruta del curso: empezar en el paper, replicar su resultado y recien entonces llevarlo a los datos de la organizacion.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Cierre. La entrega es individual, aunque el trabajo en clase sea en parejas. Recoge la promesa de la portada: del dato a la decision, ahora separando correlacion de causalidad. Cada cifra se mostro contra su fuente y se leyo del Excel (fidelidad verificada). El marco alimenta la fase de modelado/decision del proyecto integrador. S13 (supervivencia) y S14 (recomendacion) solo se nombran. Aplicar el control corto (~4 min). [Viernes, capítulo 12.9]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onatanfigueroagil-creator/Herramientas-de-Ciencias-de-Datos/blob/master/Sesiones/S12_inferencia_causal/notebook/S12_inferencia_causal.ipyn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4002B"/>
                </a:solidFill>
                <a:latin typeface="Calibri"/>
              </a:rPr>
              <a:t>S12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906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Inferencia causal:
de la correlación a la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990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CEDEE"/>
                </a:solidFill>
                <a:latin typeface="Calibri"/>
              </a:rPr>
              <a:t>Contrafactual, DAGs, DiD, PSM, del efecto a la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EDEE"/>
                </a:solidFill>
                <a:latin typeface="Calibri"/>
              </a:rPr>
              <a:t>Herramientas para la Ciencia de Datos, UPC, Facultad de Negocios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549640" y="502920"/>
            <a:ext cx="3154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4002B"/>
                </a:solidFill>
              </a:rPr>
              <a:t>▶  Abrir en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MAPA DEL VIERNES — CAPÍTULOS 12.6 A 12.9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viernes cierra la sesión en cuatro capítulos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¿Cuándo se puede confiar en un efecto estimado?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0-40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orkflo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12.7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40-65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-column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12.8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decisión habilita? El efecto de una campaña de retención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65-105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rending-up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12.9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no se puede afirmar, y qué sigue en S13?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105-120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Índice, celda 0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¿Cuándo se puede confiar en un efecto estimado?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12.6 — viernes, bloque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SUPUESTOS Y DECISIONES — SUPUESTOS_S12.MD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Cada decisión causal tiene su diagnóstico y su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3969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>
                <a:solidFill>
                  <a:srgbClr val="6E6E6E"/>
                </a:solidFill>
                <a:latin typeface="Calibri"/>
              </a:rPr>
              <a:t>La inferencia causal no se prueba, se identifica bajo supuestos. Cada punto lleva su señal y su método:</a:t>
            </a:r>
          </a:p>
        </p:txBody>
      </p:sp>
      <p:pic>
        <p:nvPicPr>
          <p:cNvPr id="5" name="Picture 4" descr="triangle-alert__E40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1518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DECISIÓN / SUPUESTO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615184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IDENTIFICA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6151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DECIDE (MÉTODO)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889504"/>
            <a:ext cx="11356848" cy="493776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889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Ignorabilidad / no confusión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53512"/>
            <a:ext cx="38862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DAG + criterio de puerta trasera {engagement}.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53512"/>
            <a:ext cx="420624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Controlar solo confusores; refutar con DoWhy (placebo, random common cause).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27889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Tendencias paralelas (DiD)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474720"/>
            <a:ext cx="38862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DiD placebo con tratamiento falso ≈ 0; el real cae fuera de la banda.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74720"/>
            <a:ext cx="420624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Comparabilidad NJ/PA; con dos olas no se testan pretendencias (honesto).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931920"/>
            <a:ext cx="11356848" cy="493776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95928"/>
            <a:ext cx="27889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Positividad / soporte común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995928"/>
            <a:ext cx="38862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Solapamiento del propensity 0 &lt; e(X) &lt; 1 por grupo.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995928"/>
            <a:ext cx="420624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Recortar al soporte común; si se viola, redefinir el estimando (WATE).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27889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Balance del PSM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17136"/>
            <a:ext cx="38862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|SMD| por covariable (0,60 → 0,06).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517136"/>
            <a:ext cx="420624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Emparejar 1-NN y exigir |SMD| &lt; 0,1; sin balance, no se interpreta.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" y="4974336"/>
            <a:ext cx="11356848" cy="493776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38344"/>
            <a:ext cx="27889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Collider uso_post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038344"/>
            <a:ext cx="38862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El DAG: uso_post recibe flechas de campaign y de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038344"/>
            <a:ext cx="420624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NO condicionar en él; controlarlo fabrica un sesgo que no existía.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Supuestos, celda 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50992"/>
            <a:ext cx="1109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Fuente única: la guía de supuestos de la sesión (Partes 2-6). Alcance S12: reconocer la decisión y decidir; el ajuste avanzado (IV, sensibilidad) solo se nombra.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RÉPLICA — BALANCE POR COVARIABLE (ANTES VS DESPUÉS)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emparejamiento baja el |SMD| de 0,60 a 0,06</a:t>
            </a:r>
          </a:p>
        </p:txBody>
      </p:sp>
      <p:pic>
        <p:nvPicPr>
          <p:cNvPr id="4" name="Picture 3" descr="S12deck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71743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Antes las covariables difieren; tras emparejar el |SMD| medio cae de 0,60 a 0,06, bajo el umbral 0,1.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Diferencia estandarizada de medias por covariable, umbral |SMD| &lt; 0,1, 1-NN sobre soporte común — reconstruido de Excel!balance (media = causal_did B11/B12).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Fig 3, celda 84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SUPUESTO — POSITIVIDAD / SOPORTE COMÚN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Sin soporte común, los pesos se vuelven extremos</a:t>
            </a:r>
          </a:p>
        </p:txBody>
      </p:sp>
      <p:pic>
        <p:nvPicPr>
          <p:cNvPr id="4" name="Picture 3" descr="S12deck_solap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87658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Tratados y controles se solapan en e(X): hay soporte común. Sin él, los pesos del propensity se vuelven extremos.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Densidad del propensity e(X) por grupo (185 tratados NSW, 15 992 controles CPS), reconstruido de Excel!solapamiento.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Fig 2, celda 82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12.7 — viernes, bloque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RÉPLICA — ATT SOBRE EL INGRESO (NAIVE VS PSM VS EXPERIMENTAL)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PSM recupera el efecto: de −$8 498 a +$1 745</a:t>
            </a:r>
          </a:p>
        </p:txBody>
      </p:sp>
      <p:pic>
        <p:nvPicPr>
          <p:cNvPr id="4" name="Picture 3" descr="S12deck_lalo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052486" cy="28803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naive cambia de signo por el sesgo de selección. El PSM recupera +$1 745, casi el experimental +$1 794.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LaLonde/NSW, tratados NSW + controles CPS, propensity logístico + 1-NN, reconstruido de Excel!comparacion_lalonde; benchmark Mixtape +$1 794 (etiquetado).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7772400" cy="329184"/>
          </a:xfrm>
          <a:prstGeom prst="roundRect">
            <a:avLst/>
          </a:prstGeom>
          <a:solidFill>
            <a:srgbClr val="FCEDEE"/>
          </a:solidFill>
          <a:ln w="1270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ok-open__E400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84064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5061204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En el paper:  </a:t>
            </a:r>
            <a:r>
              <a:rPr sz="1200" b="1">
                <a:solidFill>
                  <a:srgbClr val="2D2D2D"/>
                </a:solidFill>
                <a:latin typeface="Calibri"/>
              </a:rPr>
              <a:t>LaLonde (1986), Dehejia &amp; Wahba (2002), Review of Economics and Statistics 84(1)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Fig 4, celda 86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PRUEBAS DE ROBUSTEZ — DOWHY (SHARMA &amp; KICIMAN, 2020)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Refutar sube la confianza, pero no la prueba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261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le-check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83" y="2445959"/>
            <a:ext cx="289682" cy="2896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938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Placebo ≈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95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Con un tratamiento falso el efecto cae a −0,05: buena señal, el efecto real desaparece.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785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resh-c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" y="3969959"/>
            <a:ext cx="289682" cy="289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3462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Confusor aleatorio: inalterado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919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Al añadir ruido el efecto queda en +7,95: resiste, es robusto.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309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iangle-alert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83" y="5493959"/>
            <a:ext cx="289682" cy="2896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08760" y="4986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Refutar no es probar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443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Sube la confianza; una refutación fallida obliga a revisar el DAG, no a celebrar.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6, celda 64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¿Escalar la campaña o lanzar antes un A/B confirmatorio?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Costo ILUSTRATIVO 5 USD/contacto: el efecto +7,95 es el breakeven (margen 2,95; ROI ≈59%). Escalar solo si el IC 95% excluye ese umbral.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decisión habilita? El efecto de una campaña de retención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12.8 — viernes, bloque 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ENTREGABLE — NAIVE VS AJUSTADO VS VERDADERO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efecto crudo casi triplica el real: +23,64 vs. 8,0</a:t>
            </a:r>
          </a:p>
        </p:txBody>
      </p:sp>
      <p:pic>
        <p:nvPicPr>
          <p:cNvPr id="4" name="Picture 3" descr="S12deck_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75297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confusor engagement infla el naive. Controlar la puerta trasera {engagement} recupera +7,95 ≈ la verdad 8,0.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Campaña de retención (DGP semilla 20260719, N=5000), DoWhy backdoor, efecto verdadero 8,0 (ancla de diseño) — reconstruido de Excel!negocio.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01752"/>
            <a:ext cx="329184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Fig 5, celda 88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ACTUALIDAD — FUENTES_ACTUALIDAD_S12.MD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marketing causal ya decide presupuestos hoy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La correlación no prueba la causa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Measured — 08/07/2025  —  25 000+ experimentos: incrementalidad y DiD para el presupuesto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La incrementalidad dice si el gasto debe existir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Hey Stella — 15/06/2026  —  el A/B da la ejecución; la incrementalidad, la inversión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Sin soporte común, los pesos del propensity se vuelven extremos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arXiv 2511.10077 — 13/11/2025  —  positividad violada: redefinir el estimando (WATE/WATT)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12.8 — ¿QUÉ DECISIÓN HABILITA?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intervalo decide el presupuesto, no el punto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El efecto estimado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+8,0 puntos, intervalo [5,1 ; 10,9]. El crudo daba +23,64: casi el triple.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Bajo el supuesto de puerta trasera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La cuenta que 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Se cruza con el costo por contacto y el valor de un cliente retenido, en el extremo bajo.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0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5,1 es el escenario que debe pagar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Lo que aún falta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El ATT vale para los tratados; la cartera completa incluye otros perfiles.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756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Escalar es otra pregunta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no se puede afirmar, y qué sigue en S13?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12.9 — viernes, bloque 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12.9 — ¿QUÉ NO SE PUEDE AFIRMAR, Y QUÉ SIGUE EN S13?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Lo que esta sesión no autoriza a afirmar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65960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Ningún método observacional prueba causalidad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24328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Cada uno la sostiene sobre un supuesto que los datos no verifican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36976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Un efecto estimado sobre una población no se transporta a otra sin argumentar por qué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entregable va del efecto a la decisión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Entregable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Estimar el efecto causal de una campaña: DAG, conjunto de control, estimación, supuestos, refutación y recomendación con su incertidumbre.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Control corto de cierre + banco [S12]. Rúbrica vigesimal 0-20.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Próxima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S13 — Análisis de supervivencia — solo se nombra como conexión.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BIBLIOGRAFÍA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Cinco lecturas anclan la inferencia causal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Rubin (1974) — Estimating Causal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J. Educational Psychology 66(5)  —  resultados potenciales: el marco del contrafactual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Rosenbaum &amp; Rubin (1983) — Propensity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Biometrika 70(1)  —  el propensity como balanceador: base del PSM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Card &amp; Krueger (1994) — Minimum Wages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American Economic Review 84(4)  —  el caso canónico de DiD replicado hoy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71416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Pearl (2009) — Causality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82312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Cambridge University Press  —  DAGs, puerta trasera y colliders: qué controlar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67528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Cunningham (2021) — The Mixtape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78424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mixtape.scunning.com (acceso libre)  —  los dos casos con código y números exactos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S12 — Herramientas para la Ciencia de Datos, UPC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