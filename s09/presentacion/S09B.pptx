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89" r:id="rId21"/>
    <p:sldId id="271" r:id="rId23"/>
    <p:sldId id="272" r:id="rId24"/>
    <p:sldId id="273" r:id="rId25"/>
    <p:sldId id="274" r:id="rId26"/>
    <p:sldId id="275" r:id="rId27"/>
    <p:sldId id="276" r:id="rId28"/>
    <p:sldId id="293" r:id="rId17"/>
    <p:sldId id="290" r:id="rId20"/>
    <p:sldId id="291" r:id="rId19"/>
    <p:sldId id="281" r:id="rId33"/>
    <p:sldId id="282" r:id="rId34"/>
    <p:sldId id="283" r:id="rId35"/>
    <p:sldId id="284" r:id="rId36"/>
    <p:sldId id="285" r:id="rId37"/>
    <p:sldId id="294" r:id="rId29"/>
    <p:sldId id="292" r:id="rId18"/>
    <p:sldId id="288" r:id="rId22"/>
    <p:sldId id="287" r:id="rId39"/>
    <p:sldId id="286" r:id="rId3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schemas.openxmlformats.org/officeDocument/2006/relationships/slide" Target="slides/slide10.xml"/><Relationship Id="rId18" Type="http://schemas.openxmlformats.org/officeDocument/2006/relationships/slide" Target="slides/slide19.xml"/><Relationship Id="rId19" Type="http://schemas.openxmlformats.org/officeDocument/2006/relationships/slide" Target="slides/slide12.xml"/><Relationship Id="rId20" Type="http://schemas.openxmlformats.org/officeDocument/2006/relationships/slide" Target="slides/slide11.xml"/><Relationship Id="rId21" Type="http://schemas.openxmlformats.org/officeDocument/2006/relationships/slide" Target="slides/slide3.xml"/><Relationship Id="rId22" Type="http://schemas.openxmlformats.org/officeDocument/2006/relationships/slide" Target="slides/slide20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8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22.xml"/><Relationship Id="rId39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la sesión 9. La regresión lineal predice cantidades; hoy se pasa a la LOGÍSTICA, que predice la PROBABILIDAD de un evento binario (fuga sí/no, impago sí/no) siempre entre 0 y 1. Método de la sesión (P3): nada se afirma sin su contrafactual —cada cifra del venv se muestra contra su baseline (azar, clase mayoría, umbral por defecto) y/o su benchmark (ESL, literatura)—. Promesa: interpretar coeficientes en ODDS RATIO, generalizar con los GLM (Poisson), evaluar con matriz/ROC/AUC y elegir el UMBRAL por el costo del error. Alcance: el desbalance (SMOTE, LDA/QDA, Naive Bayes) es S10 y solo se nombra; KNN/SVM solo se referencian. El botón «Abrir en Colab» lleva al cuaderno.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ANUNCIAR LO QUE SE VA A MOSTRAR. Las cuatro tarjetas son los CUATRO ACTOS del deck —sus divisores, en el mismo orden— y dentro de cada uno los pasos que contiene; el chip apunta al mapa de la sesión del cuaderno (celda 0). DESARROLLAR CADA UNO EN VOZ ALTA: ACTO 1 MODELAR EL SÍ O EL NO (contexto) — por qué el OLS no sirve para una variable binaria, el paso a la logística: función logit, sigmoide, odds y odds ratio. ACTO 2 LA RÉPLICA DE ESL (evidencia) — el ejemplo canónico de SAheart: la vista del dataset, el tablero obtenido (venv) contra ESL Tabla 4.2, la lectura en odds ratio con exp(β), y los supuestos de la logística con su diagnóstico; la máxima verosimilitud, la deviance y el pseudo-R² de McFadden se dicen aquí. ACTO 3 UN SOLO MARCO: LOS GLM — familia exponencial y función de enlace como marco único (Nelder &amp; Wedderburn 1972), Poisson para conteos con offset de exposición y el control de la sobre-dispersión. ACTO 4 LA DECISIÓN: CHURN DE TELCO — matriz de confusión y el costo asimétrico del error, curva ROC y AUC, y la elección del UMBRAL por costo, que es el núcleo del entregable. El LABORATORIO (modelo de churn en telco) es el cierre y se presenta al final, por eso no es un acto. Hilo P3 «obtenido vs esperado» en los cuatro actos: cada cifra del venv se proyecta junto a su baseline o su benchmark publicado. Anunciar entregable y control corto.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desarrolla el capítulo 9.6. Deriva de la Sección 6 de la guía docente y de la investigación de la sesión; las cifras provienen del Excel de resultados. [Viernes, capítulo 9.6]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9.9. Se enuncia la pregunta tal como aparece en el sílabo, la ficha, el cuaderno y la guía: es el mismo código en todos. [Viernes, capítulo 9.9]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9.8. Se enuncia la pregunta tal como aparece en el sílabo, la ficha, el cuaderno y la guía: es el mismo código en todos. [Viernes, capítulo 9.8]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9.7. Se enuncia la pregunta tal como aparece en el sílabo, la ficha, el cuaderno y la guía: es el mismo código en todos. [Viernes, capítulo 9.7]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9.6. Se enuncia la pregunta tal como aparece en el sílabo, la ficha, el cuaderno y la guía: es el mismo código en todos. [Viernes, capítulo 9.6]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cerrar nombrando la frontera. Cada límite se dice en voz alta y se enlaza con la sesión que sí lo resuelve. No es una advertencia legal: es la competencia que separa a quien reporta un número de quien sabe qué autoriza. [Viernes, capítulo 9.9]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cada supuesto se DIAGNOSTICA y luego se CORRIGE con un método. La logística NO pide lo del OLS —normalidad ni varianza constante— pero descansa en estos. (1) LINEALIDAD EN EL LOGIT: se identifica con Box-Tidwell (x·ln x, p&lt;0,05) o residuos parciales; se corrige transformando (log/raíz), con polinomios/interacciones, y splines si hace falta (avanzado). (2) INDEPENDENCIA: se detecta revisando el diseño (repetidos, clústeres); se corrige con errores robustos por clúster, GEE o modelos mixtos GLMM (avanzado). (3) MULTICOLINEALIDAD: VIF&gt;5 preocupa y &gt;10 es severa; se corrige quitando/combinando predictores, con PCA o regularización L1/L2 (S05). (4) SEPARACIÓN PERFECTA: se reconoce por «no converge» y β/odds ratio desmesurados; se corrige quitando/combinando el predictor, o con Ridge L2 (S05) o Firth (avanzado). Detalle completo: la guía de supuestos de la sesión (Parte 1); DEFINICIONES Secciones 5 y 8; Anexo A4. [Viernes, capítulo 9.6]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la segunda evidencia. Nelder &amp; Wedderburn (1972, paper de la réplica GLM) mostraron que la regresión lineal, la logística y los modelos de conteo son casos de UNA misma estructura: una distribución de la familia exponencial + una función de enlace + estimación por máxima verosimilitud (IRLS). La logística que acabamos de ver ES el GLM binomial con enlace logit. Fuente: DEFINICIONES Secciones 9-11. [Viernes, capítulo 9.6]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Ampliar el marco con la definición de GLM. Tres piezas: componente aleatorio (la familia de la respuesta), componente sistemático (el predictor lineal η = Xβ) y la FUNCIÓN DE ENLACE g que une la media con η. Binomial con enlace logit = la logística (odds ratio). Poisson con enlace log = conteos (rate ratio). Gamma con enlace log = importes positivos sesgados. La lectura multiplicativa exp(β) es la MISMA en todas; solo cambia la familia según la variable objetivo. La regresión lineal es el GLM normal con enlace identidad. Fuente: DEFINICIONES Secciones 9-11. [Viernes, capítulo 9.6]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Concretar el GLM Poisson en ships (McCullagh &amp; Nelder Sección 6.3.2): incidentes de daño por olas en barcos de carga, con OFFSET log(meses de servicio) para modelar la TASA por unidad de exposición. Leer los rate ratios: los barcos de 1970-74 tienen ≈ 2,3× la tasa de daños de los de 1960-64 (baseline = 1), los de 1965-69 ≈ 2,0×, y operar en 1975-79 suma ≈ 1,5×; en rojo los significativos. Control obligatorio: deviance/gl = 1,55 (38,7 sobre 25 gl) → sobre-dispersión LEVE; como supera 1, conviene revisar (quasi-Poisson o binomial negativa) antes de confiar en los p-valores. El caso extremo es warpbreaks (φ ≈ 4,2), contraste del notebook. Fuente: INTERPRETACION Sección 4. [Viernes, capítulo 9.6]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control de calidad del Poisson, cada supuesto con diagnóstico y corrección. (1) EQUIDISPERSIÓN (Var=media): se identifica con deviance/gl (&gt;1,5 alerta, &gt;2 clara; aquí ships ≈ 1,55, leve) o χ²/gl de Pearson; se corrige con quasi-Poisson (escala los errores estándar) o binomial negativa (avanzado). (2) FORMA DEL ENLACE LOG: se detecta con residuos con patrón o linktest; se corrige transformando/polinomios o splines (avanzado). (3) INDEPENDENCIA de los conteos: revisar agrupamiento; corregir con errores robustos por clúster, GEE o Poisson mixto GLMM (avanzado). (4) OFFSET/EXPOSICIÓN: si la exposición es desigual se incluye offset=log(exposición) —aquí log(service) en ships—. El caso extremo es warpbreaks (φ ≈ 4,2). Detalle: la guía de supuestos de la sesión (Parte 2); DEFINICIONES Secciones 10 y 12; INTERPRETACION Sección 4. [Viernes, capítulo 9.6]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Segunda pausa, sobre el límite más costoso de la interpretación. Guiar: NO. Un odds ratio (o rate ratio) es una asociación CONDICIONAL dentro del modelo, no un efecto causal: famhist OR 2,6 dice 'quienes tienen antecedente familiar tienen 2,6× los odds', no 'el antecedente CAUSA 2,6× el riesgo' (puede haber confusores no medidos). Toda recomendación derivada es una HIPÓTESIS a validar con un experimento A/B (S02); la estimación causal formal es S12. En el material el OR se comunica como factor de riesgo ASOCIADO, con esa salvedad. Fuente: INTERPRETACION Sección 8. [Viernes, capítulo 9.6]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desarrolla el capítulo 9.8. Deriva de la Sección 6 de la guía docente y de la investigación de la sesión; las cifras provienen del Excel de resultados. [Viernes, capítulo 9.8]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núcleo del entregable: el umbral por COSTO. Se asignan costos SUPUESTOS ILUSTRATIVOS —C_FN = S/300 (margen anual del cliente que se pierde sin retenerlo) y C_FP = S/20 (contactar a quien se quedaba), relación 15:1 (consecuencia de esos supuestos, no un benchmark)— y se barre el umbral tabulando el COSTO DE ERRORES = C_FN·FN + C_FP·FP. El umbral óptimo teórico es la regla de Bayes t* = C_FP/(C_FP+C_FN) = 20/320 = 0,0625, válida bajo probabilidades calibradas; la malla {0,1…0,9} NO incluye 0,0625, así que el mínimo empírico cae en 0,1, el punto de malla MÁS CERCANO (aproximación, no una 'confirmación' del t* teórico). AVISO: ese S/16 720 es el COSTO DE ERRORES que elige el umbral, no el costo ni el ROI de la campaña —el costo de campaña contactaría a los 890 marcados (VP+FP) × S/20 = S/17 800, e incluiría el valor salvado (VP × tasa de salvamento × CLV)—. NO se optimiza exactitud (premiaría asignar a todos la clase 'no abandona') ni se deja 0,5 'porque es lo normal'; y el umbral se fija con validación, no mirando el test. CIFRAS DEL SALTO, DICHAS AQUÍ (ya no tienen slide propio): bajar el umbral de 0,5 a 0,1 sube el recall de 0,57 a 0,95 —se detecta ≈ 95 % de las fugas en vez del 57 %— y baja el costo de errores de S/50 000 a S/16 720, a cambio de más falsos positivos. El umbral es una PALANCA de política, no una constante; el remuestreo/SMOTE del desbalance es S10. Fuente: INTERPRETACION Sección 6, DEFINICIONES Sección 14. [Viernes, capítulo 9.8]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Tercera pausa, para separar modelo de política. Guiar: mover el umbral NO cambia el modelo ni su AUC (el ordenamiento es el mismo); cambia la POLÍTICA de decisión —cuántos falsos negativos y falsos positivos se aceptan—. Bajar el umbral a 0,1 es decidir 'prefiero molestar a varios que se quedaban antes que perder a uno que se iba', porque el FN cuesta 15 veces el FP. Es una decisión de NEGOCIO sobre el score, no una mejora técnica. Cerrar: el AUC evalúa el modelo; el umbral fija la acción. Enlaza con el entregable de retención. [Viernes, capítulo 9.8]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Cerrar la decisión traduciendo los coeficientes del churn en acciones. Los odds ratio del modelo de Telco (y la literatura SHAP de 2026) coinciden: CONTRATO mes a mes, ANTIGÜEDAD baja (&lt; 12 meses) y cargos mensuales altos elevan la fuga; el soporte técnico y los contratos largos la reducen. Cada factor de riesgo sugiere una palanca: migrar a contrato anual, reforzar el onboarding temprano, incluir soporte técnico. La recomendación se prioriza con el score (a quién, según el umbral por costo) y se comunica como hipótesis a validar con A/B (S02). Fuente: INTERPRETACION Sección 6, fuentes_actualidad_S09 Secciones 2-3. [Viernes, capítulo 9.8]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Presentar los pasos y lanzar el trabajo (parejas, entrega individual). Guía en laboratorio/GUIA_LABORATORIO_S09.md; motor en notebook/S09_logistica_glm.ipynb (botón «Abrir en Colab»); plantillas evaluacion_clasificador.md y guia_odds_ratio.md. Pasos: (1) preparar Telco —TotalCharges a numérico, tratar NaN, Churn a 1/0, one-hot, escalar—; (2) ajustar la logística en train (estratificado 80/20); (3) interpretar los coeficientes en odds ratio; (4) evaluar en test con ROC, AUC y matriz; (5) barrer el umbral y elegir el que minimiza el costo (drill 2); (6) redactar la recomendación de retención. Convención del curso: volcar a resultados/S09_resultados.xlsx y graficar LEYENDO ese Excel. Rúbrica 0-20 en evaluacion/entregable.md. DECIR AQUÍ QUE EL MÉTODO TRANSFIERE (ya no tiene slide propio): la misma maquinaria —logit/GLM + odds o rate ratio + umbral por costo— resuelve banca (default con odds ratio auditable), salud (tamizaje coronario), telecom (la retención que se acaba de ver), retail (conversión y embudo) y seguros (GLM Poisson que prioriza inspecciones por tasa); los cinco están resueltos y guiados en la Sección 7 del cuaderno, para quien quiera su sector. [Presentación 54-57, trabajo en parejas 57-85, acumulado: 85/90]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Conectar la sesión con 2025-2026. RCR Wireless: las telcos usan IA para el churn (fuga real 15-30 %) y la logística es la línea base frente a modelos más complejos. Frontiers (29/08/2025): sobre el MISMO dataset IBM Telco la logística obtiene AUC 0,88 —benchmark directo del target de la sesión, etiquetado—. Frontiers (10/02/2026): con IA explicable (SHAP) los factores de fuga son contrato, antigüedad y soporte técnico, y optimizar el umbral reduce los falsos negativos un 15 % (el drill 2 en un caso real). RiskSeal: la logística sigue siendo el estándar del credit scoring porque la EU AI Act (vigente ago-2026) exige modelos explicables —los odds ratio son auditables—. Verificado 18/07/2026 en las fuentes de actualidad de la sesión. [Viernes, capítulo 9.8]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Orientar el estudio. Lectura base: ISLR cap. 4.1-4.4 (statlearning.com, PDF libre). Paper de la réplica GLM: Nelder &amp; Wedderburn (1972, JRSS-A 135(3):370-384), que funda el marco de la familia exponencial; McCullagh &amp; Nelder (1989) es el tratado de referencia y de él proviene ships. Hosmer, Lemeshow &amp; Sturdivant (2013) para la interpretación del odds ratio; King &amp; Zeng (2001, PDF libre) para el umbral en eventos raros. Práctica: statsmodels (Logit/GLM) y scikit-learn (LogisticRegression, roc_auc_score, confusion_matrix). Todo verificado el 18/07/2026 en la bibliografía de la sesión.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Recapitular en una frase el arco de cuatro actos. Contexto —de la lineal a la logística: logit, odds y odds ratio = exp(β); un coeficiente NO es probabilidad—; Evidencia —la réplica de ESL/SAheart (tablero obtenido-vs-ESL, famhist OR ≈ 2,6) y la generalización a los GLM (Poisson de ships, deviance/gl = 1,55)—; Decisión —el churn de Telco: AUC 0,836, la matriz de confusión y el umbral por costo que baja hasta 0,1—. Cada cifra se mostró contra su contrafactual y se leyó del Excel (fidelidad verificada). Recordar el entregable (rúbrica vigesimal) y aplicar el control corto (~4 min). Despedir: sigue S10 (clasificadores y desbalance), hoy solo nombrada. [Viernes, capítulo 9.9]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jonatanfigueroagil-creator/Herramientas-de-Ciencias-de-Datos/blob/master/Sesiones/S09_logistica_glm/notebook/S09_logistica_glm.ipynb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2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4002B"/>
                </a:solidFill>
                <a:latin typeface="Calibri"/>
              </a:rPr>
              <a:t>S09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9906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Modelar la probabilidad de un sí o un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990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CEDEE"/>
                </a:solidFill>
                <a:latin typeface="Calibri"/>
              </a:rPr>
              <a:t>Regresión logística, odds ratio, GLM, ROC y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EDEE"/>
                </a:solidFill>
                <a:latin typeface="Calibri"/>
              </a:rPr>
              <a:t>Herramientas para la Ciencia de Datos, UPC, Facultad de Negocios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8549640" y="502920"/>
            <a:ext cx="3154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4002B"/>
                </a:solidFill>
              </a:rPr>
              <a:t>▶  Abrir en Google Colab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MAPA DEL VIERNES — CAPÍTULOS 9.6 A 9.9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viernes cierra la sesión en cuatro capítulos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it-branch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9.6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¿Cuándo se puede confiar, y qué procede si la variable no es binaria?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0-40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76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3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ook-open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8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4236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9.7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36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¿Cómo se verifica que el resultado es real?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36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40-65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88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48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orkflow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70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0748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9.8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decisión habilita? Abandono de clientes en telecomunicaciones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65-105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auge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822" y="2282341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7260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9.9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no se puede afirmar, y qué sigue en S10?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105-120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Índice, celda 0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¿Cuándo se puede confiar, y qué procede si la variable no es binaria?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9.6 — viernes, bloque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CÓMO SE IDENTIFICA CADA SUPUESTO Y CON QUÉ MÉTODO SE CORRIGE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Cada supuesto de la logística tiene diagnóstico y corrección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3969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>
                <a:solidFill>
                  <a:srgbClr val="6E6E6E"/>
                </a:solidFill>
                <a:latin typeface="Calibri"/>
              </a:rPr>
              <a:t>A diferencia del OLS no exige normalidad ni varianza constante; sí descansa en estos supuestos, cada uno con su diagnóstico y su método de corrección:</a:t>
            </a:r>
          </a:p>
        </p:txBody>
      </p:sp>
      <p:pic>
        <p:nvPicPr>
          <p:cNvPr id="5" name="Picture 4" descr="triangle-alert__E400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029968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615184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SUPUESTO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615184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CÓMO SE IDENTIFICA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61518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CÓMO SE CORRIGE (MÉTODO)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880360"/>
            <a:ext cx="11356848" cy="608076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278892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Linealidad en el logit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62656"/>
            <a:ext cx="388620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Box-Tidwell (término x·ln x con p &lt; 0,05); o residuos parciales con curva.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62656"/>
            <a:ext cx="420624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Transformar (log, raíz), polinomios o interacciones — splines (avanzado).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07308"/>
            <a:ext cx="278892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Independencia de las observaciones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607308"/>
            <a:ext cx="388620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Revisar el diseño: casos repetidos, clústeres o jerarquías.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607308"/>
            <a:ext cx="420624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Errores robustos por clúster, GEE o modelos mixtos GLMM (avanzado).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4169664"/>
            <a:ext cx="11356848" cy="608076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278892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Sin multicolinealidad severa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251960"/>
            <a:ext cx="388620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VIF &gt; 5 preocupa, &gt; 10 severa; correlaciones entre predictores &gt; 0,8.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251960"/>
            <a:ext cx="420624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Quitar o combinar predictores; PCA o regularización L1/L2 (S05).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96612"/>
            <a:ext cx="278892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Sin separación perfecta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896612"/>
            <a:ext cx="388620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«No converge»; β y odds ratio desmesurados; probabilidades próximas a 0 o 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896612"/>
            <a:ext cx="420624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Quitar o combinar el predictor; Ridge L2 (S05) o Firth (avanzado).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Anexo A4 — supuestos, celda 177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Supuestos completos: la guía de supuestos de la sesión (Parte 1). Notebook Anexo A4; DEFINICIONES Secciones 5 y 8.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¿Cuándo se puede confiar, y qué procede si la variable no es binaria?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¿Cuándo se puede confiar, y qué procede si la variable no es binaria?</a:t>
            </a:r>
          </a:p>
        </p:txBody>
      </p:sp>
      <p:pic>
        <p:nvPicPr>
          <p:cNvPr id="5" name="Picture 4" descr="workflow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6400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GLM = FAMILIA EXPONENCIAL + ENLACE — NELDER &amp; WEDDERBURN (1972), JRSS-A 135(3):370-384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GLM resuelve regresión, conteo y proporción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ircle-check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Binomial — enlace logit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La regresión logística ES un GLM; de aquí se obtiene el odds ratio = exp(β).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odds ratio = exp(β)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column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62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Poisson — enlace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Cuenta eventos —reclamos, visitas, incidentes—; su lectura es el rate ratio.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40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rate ratio = exp(β)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rending-up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78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Gamma — enlace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Montos positivos y sesgados: importes de siniestro, tiempos de servicio.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560" y="5303519"/>
            <a:ext cx="299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media = exp(Xβ)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1.4, celda 30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QUÉ SE HACE — GLM POISSON CON OFFSET DE EXPOSICIÓN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Los barcos de 1970-74 tienen 2,3 veces la tasa de daños</a:t>
            </a:r>
          </a:p>
        </p:txBody>
      </p:sp>
      <p:pic>
        <p:nvPicPr>
          <p:cNvPr id="4" name="Picture 3" descr="deck_ships_pois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091585" cy="18288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Rate ratio = exp(β), como el odds ratio. Cada categoría se compara con los barcos de 1960-64 (baseline = 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resultados/S09_resultados.xlsx!glm_poisson (venv, offset log-servicio). Benchmark: McCullagh &amp; Nelder (1989), GLM 2.ª ed., Sección 6.3.2 (ships).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67328"/>
            <a:ext cx="6903720" cy="329184"/>
          </a:xfrm>
          <a:prstGeom prst="roundRect">
            <a:avLst/>
          </a:prstGeom>
          <a:solidFill>
            <a:srgbClr val="FCEDEE"/>
          </a:solidFill>
          <a:ln w="12700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ook-open__E400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822192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3799332"/>
            <a:ext cx="6336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En el paper:  </a:t>
            </a:r>
            <a:r>
              <a:rPr sz="1200" b="1">
                <a:solidFill>
                  <a:srgbClr val="2D2D2D"/>
                </a:solidFill>
                <a:latin typeface="Calibri"/>
              </a:rPr>
              <a:t>McCullagh &amp; Nelder (1989), 2.ª ed. — Sección 6.3.2 (ships: deviance y rate ratios)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24528"/>
            <a:ext cx="6903720" cy="1357884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288536"/>
            <a:ext cx="6574536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 b="1">
                <a:solidFill>
                  <a:srgbClr val="9B1B30"/>
                </a:solidFill>
                <a:latin typeface="Calibri"/>
              </a:rPr>
              <a:t>Código real del cuaderno   —   celda 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507992"/>
            <a:ext cx="6592824" cy="256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050" b="1">
                <a:solidFill>
                  <a:srgbClr val="9B1B30"/>
                </a:solidFill>
                <a:latin typeface="Calibri"/>
              </a:rPr>
              <a:t>▸ Qué hace:  </a:t>
            </a:r>
            <a:r>
              <a:rPr sz="1050">
                <a:solidFill>
                  <a:srgbClr val="2D2D2D"/>
                </a:solidFill>
                <a:latin typeface="Calibri"/>
              </a:rPr>
              <a:t>Ajusta un GLM Poisson; offset=log(service) modela la tasa por mes de servicio.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82312"/>
            <a:ext cx="6592824" cy="73609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pois_ships = smf.glm("incidents ~ C(type) + C(year) + C(period)",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data=sh, family=sm.families.Poisson(),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offset=np.log(sh["service"])).fit()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977639"/>
            <a:ext cx="3886200" cy="1755648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ok-open__E400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4160519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85048" y="4133087"/>
            <a:ext cx="3172968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 b="1">
                <a:solidFill>
                  <a:srgbClr val="9B1B30"/>
                </a:solidFill>
                <a:latin typeface="Calibri"/>
              </a:rPr>
              <a:t>RATE RATIO Y DEVIANCE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5864" y="4480559"/>
            <a:ext cx="3429000" cy="116128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D2D2D"/>
                </a:solidFill>
                <a:latin typeface="Calibri"/>
              </a:rPr>
              <a:t>El GLM Poisson modela conteos con enlace log, así que exp(β) es un rate ratio: cuánto se multiplica la tasa de eventos por unidad. El offset log(servicio) corrige la exposición desigual. Si deviance/gl supera 1 —aquí 1,55— hay sobre-dispersión.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3, Pasos 1-3, celda 65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CÓMO SE IDENTIFICA CADA SUPUESTO Y CON QUÉ MÉTODO SE CORRIGE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GLM Poisson tiene supuestos con diagnóstico y corrección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3969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>
                <a:solidFill>
                  <a:srgbClr val="6E6E6E"/>
                </a:solidFill>
                <a:latin typeface="Calibri"/>
              </a:rPr>
              <a:t>El Poisson es exigente con la dispersión: ese control se hace ANTES de comunicar cualquier p-valor. Cada supuesto lleva su diagnóstico y su método de corrección:</a:t>
            </a:r>
          </a:p>
        </p:txBody>
      </p:sp>
      <p:pic>
        <p:nvPicPr>
          <p:cNvPr id="5" name="Picture 4" descr="triangle-alert__E400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029968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615184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SUPUESTO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615184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CÓMO SE IDENTIFICA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61518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CÓMO SE CORRIGE (MÉTODO)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880360"/>
            <a:ext cx="11356848" cy="608076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278892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Equidispersión (media = varianza)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62656"/>
            <a:ext cx="388620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deviance/gl &gt; 1,5 alerta, &gt; 2 clara (ships ≈ 1,55); o χ² de Pearson / gl.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62656"/>
            <a:ext cx="420624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Quasi-Poisson (escala los errores estándar) o binomial negativa (avanzado).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07308"/>
            <a:ext cx="278892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Forma funcional del enlace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607308"/>
            <a:ext cx="388620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Residuos (deviance o Pearson) con patrón frente a ajustados; linktest.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607308"/>
            <a:ext cx="420624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Transformar predictores o añadir polinomios — splines (avanzado).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4169664"/>
            <a:ext cx="11356848" cy="608076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278892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Independencia de los conteos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251960"/>
            <a:ext cx="388620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Revisar el diseño: conteos agrupados, repetidos o correlacionados.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251960"/>
            <a:ext cx="420624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Errores robustos por clúster, GEE o Poisson mixto GLMM (avanzado).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96612"/>
            <a:ext cx="278892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Offset / exposición correcta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896612"/>
            <a:ext cx="388620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¿Exposición desigual (tiempo o tamaño en riesgo)? Requisito de diseño.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896612"/>
            <a:ext cx="4206240" cy="553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Incluir offset = log(exposición); aquí offset = log(service) en ships.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3 — sobre-dispersión, celda 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Supuestos completos: la guía de supuestos de la sesión (Parte 2). Notebook Contraste #2 y Anexo A4; INTERPRETACION Sección 4.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¿Un odds ratio alto prueba que el factor causa la enfermedad?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Debate rápido: el OR mide asociación condicional, no causa. ¿La recomendación es una certeza o una hipótesis a validar?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9.6 — ¿QUÉ PROCEDE SI LA VARIABLE NO ES BINARIA?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La tasa por mes de servicio, no el conteo de averías</a:t>
            </a:r>
          </a:p>
        </p:txBody>
      </p:sp>
      <p:pic>
        <p:nvPicPr>
          <p:cNvPr id="4" name="Picture 3" descr="S09_fig_poisson_vs_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03067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El offset log(service) convierte el conteo en tasa por mes.
Sin él, más servicio parece más riesgo.
φ̂ ≈ 1,55: hay sobre-dispersión.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¿Cómo se verifica que el resultado es 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9.7 — viernes, bloque 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decisión habilita? Abandono de clientes en telecomunicaciones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9.8 — viernes, bloque 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QUÉ SE HACE — BARRER EL UMBRAL Y MINIMIZAR EL COSTO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umbral que minimiza el costo baja hasta 0,1</a:t>
            </a:r>
          </a:p>
        </p:txBody>
      </p:sp>
      <p:pic>
        <p:nvPicPr>
          <p:cNvPr id="4" name="Picture 3" descr="deck_costo_vs_umb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3191202" cy="2148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Con un falso negativo 15 veces más caro que un falso positivo, conviene marcar en riesgo a mucha más gente.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resultados/S09_resultados.xlsx!matriz_confusion_umbral (venv; C_FN = S/300, C_FP = S/20 supuestos ilustrativos, relación 15:1).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60520"/>
            <a:ext cx="6903720" cy="1572768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224528"/>
            <a:ext cx="6574536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 b="1">
                <a:solidFill>
                  <a:srgbClr val="9B1B30"/>
                </a:solidFill>
                <a:latin typeface="Calibri"/>
              </a:rPr>
              <a:t>Código real del cuaderno   —   celda 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443984"/>
            <a:ext cx="6592824" cy="256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050" b="1">
                <a:solidFill>
                  <a:srgbClr val="9B1B30"/>
                </a:solidFill>
                <a:latin typeface="Calibri"/>
              </a:rPr>
              <a:t>▸ Qué hace:  </a:t>
            </a:r>
            <a:r>
              <a:rPr sz="1050">
                <a:solidFill>
                  <a:srgbClr val="2D2D2D"/>
                </a:solidFill>
                <a:latin typeface="Calibri"/>
              </a:rPr>
              <a:t>Barre el umbral y calcula el costo de errores (FN 15× más caro que FP).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718304"/>
            <a:ext cx="6592824" cy="95097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C_FN, C_FP = 300, 20          # FN 15x más caro que FP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for t in np.arange(0.1, 0.91, 0.1):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tn, fp, fn, tp = confusion_matrix(yte, (prob_te &gt;= t).astype(int)).ravel()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costo = C_FN * fn + C_FP * fp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977639"/>
            <a:ext cx="3886200" cy="201168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ok-open__E400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4160519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85048" y="4133087"/>
            <a:ext cx="3172968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 b="1">
                <a:solidFill>
                  <a:srgbClr val="9B1B30"/>
                </a:solidFill>
                <a:latin typeface="Calibri"/>
              </a:rPr>
              <a:t>EL UMBRAL COMO POLÍTICA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5864" y="4480559"/>
            <a:ext cx="3429000" cy="1417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D2D2D"/>
                </a:solidFill>
                <a:latin typeface="Calibri"/>
              </a:rPr>
              <a:t>El umbral traduce la probabilidad en decisión: positivo si p ≥ t. El 0,5 rara vez es óptimo. El mínimo está en t* = C_FP/(C_FP+C_FN) (regla de Bayes, con probabilidades calibradas): si el FN cuesta mucho más, el umbral BAJA. Es el costo de ERRORES, no el ROI de campaña. Mover el umbral cambia la política, no el modelo.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4, umbral por costo, celda 97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¿Mover el umbral mejora el modelo o cambia la política?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Discusión: el modelo y su AUC no cambian al mover el umbral. ¿Qué se está decidiendo realmente al bajarlo?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DEL ODDS RATIO A LA ACCIÓN — INTERPRETACION SECCIÓN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Cada factor de fuga define una palanca de retención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9B1B30"/>
                </a:solidFill>
                <a:latin typeface="Calibri"/>
              </a:rPr>
              <a:t>Factores que elevan la fuga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606040"/>
            <a:ext cx="520293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Contrato mes a mes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Antigüedad menor a un año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Cargos mensuales altos</a:t>
            </a:r>
          </a:p>
        </p:txBody>
      </p:sp>
      <p:sp>
        <p:nvSpPr>
          <p:cNvPr id="7" name="Oval 6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87451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9B1B30"/>
                </a:solidFill>
                <a:latin typeface="Calibri"/>
              </a:rPr>
              <a:t>Palancas de retención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2606040"/>
            <a:ext cx="520293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Migrar a contrato anual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Onboarding en los primeros meses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Incluir soporte técnico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4, Paso 5, celda 105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LABORATORIO DE CHURN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laboratorio decide el umbral de retención en churn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1473200" y="2802255"/>
            <a:ext cx="9245600" cy="1905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0300" y="2468880"/>
            <a:ext cx="685800" cy="6858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Preparar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Telco: limpiar y codificar</a:t>
            </a:r>
          </a:p>
        </p:txBody>
      </p:sp>
      <p:sp>
        <p:nvSpPr>
          <p:cNvPr id="8" name="Oval 7"/>
          <p:cNvSpPr/>
          <p:nvPr/>
        </p:nvSpPr>
        <p:spPr>
          <a:xfrm>
            <a:off x="2979420" y="2468880"/>
            <a:ext cx="685800" cy="6858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091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Ajustar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091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Logística sobre train</a:t>
            </a:r>
          </a:p>
        </p:txBody>
      </p:sp>
      <p:sp>
        <p:nvSpPr>
          <p:cNvPr id="11" name="Oval 10"/>
          <p:cNvSpPr/>
          <p:nvPr/>
        </p:nvSpPr>
        <p:spPr>
          <a:xfrm>
            <a:off x="4828540" y="2468880"/>
            <a:ext cx="685800" cy="6858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3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Odds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3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Interpretar exp(β)</a:t>
            </a:r>
          </a:p>
        </p:txBody>
      </p:sp>
      <p:sp>
        <p:nvSpPr>
          <p:cNvPr id="14" name="Oval 13"/>
          <p:cNvSpPr/>
          <p:nvPr/>
        </p:nvSpPr>
        <p:spPr>
          <a:xfrm>
            <a:off x="6677660" y="2468880"/>
            <a:ext cx="685800" cy="6858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915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Evaluar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915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ROC, AUC y matriz</a:t>
            </a:r>
          </a:p>
        </p:txBody>
      </p:sp>
      <p:sp>
        <p:nvSpPr>
          <p:cNvPr id="17" name="Oval 16"/>
          <p:cNvSpPr/>
          <p:nvPr/>
        </p:nvSpPr>
        <p:spPr>
          <a:xfrm>
            <a:off x="8526780" y="2468880"/>
            <a:ext cx="685800" cy="6858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827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Umbral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827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Barrido por costo</a:t>
            </a:r>
          </a:p>
        </p:txBody>
      </p:sp>
      <p:sp>
        <p:nvSpPr>
          <p:cNvPr id="20" name="Oval 19"/>
          <p:cNvSpPr/>
          <p:nvPr/>
        </p:nvSpPr>
        <p:spPr>
          <a:xfrm>
            <a:off x="10375900" y="2468880"/>
            <a:ext cx="685800" cy="6858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6739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Recomendar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739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Acción de retención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9, celda 172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ACTUALIDAD — 2025-2026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La logística sigue vigente en churn y crédito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Cómo las telcos usan IA para predecir y prevenir la fuga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RCR Wireless News — 16/12/2025  —  la logística es la línea base del churn (fuga real 15-30 %).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Analítica predictiva para la retención en telecom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Frontiers in AI — 29/08/2025  —  la logística logra AUC 0,88 sobre el mismo dataset Telco (benchmark).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Fuga con IA explicable (SHAP) y umbral optimizado por costo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Frontiers in AI — 10/02/2026  —  mover el umbral reduce los falsos negativos un 15 %: el drill 2.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71416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La logística sigue siendo el estándar del credit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82312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RiskSeal — 05/08/2025  —  la EU AI Act exige modelos explicables: odds ratio auditables.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9, celda 172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9.8 — ¿QUÉ DECISIÓN HABILITA?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umbral no viene de los datos: viene de los dos costos</a:t>
            </a:r>
          </a:p>
        </p:txBody>
      </p:sp>
      <p:pic>
        <p:nvPicPr>
          <p:cNvPr id="4" name="Picture 3" descr="costo_vs_umb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23104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El mínimo de costo no está en 0,5.
Con umbral 0,1 el recall sube a 0,947 y el costo cae a S/16 720.
Cambió la decisión, no el modelo.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no se puede afirmar, y qué sigue en S10?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9.9 — viernes, bloque 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9.9 — ¿QUÉ NO SE PUEDE AFIRMAR, Y QUÉ SIGUE EN S10?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Lo que esta sesión no autoriza a afirmar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65960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Un odds ratio es asociación condicional, no causa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24328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Que famhist multiplique por 2,56 los odds no significa que intervenir sobre él cambie el riesgo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82696"/>
            <a:ext cx="256032" cy="25603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36976"/>
            <a:ext cx="1063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Calibri"/>
              </a:rPr>
              <a:t>Tampoco se reporta un umbral sin declarar los dos costos que lo fijaron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entregable modela y explica la fuga de clientes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Entregable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Ajustar la logística de churn, interpretar los odds ratio, evaluar con ROC/AUC y elegir el umbral por costo. Rúbrica vigesimal 0-20.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Control corto ahora (suma a controles); los tres drills practican el odds ratio, el umbral por costo y el GLM Poisson.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Próxima sesión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S10 — Clasificadores y desbalance (LDA/QDA, Naive Bayes, remuestreo). Hoy solo se nombra.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9, celda 172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BIBLIOGRAFÍA ACADÉMICA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Cinco lecturas anclan la logística y los GLM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ISLR, cap. 4.1-4.4 — lectura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James, Witten, Hastie &amp; Tibshirani (2021)  —  de la lineal a la logística, odds, matriz de confusión y ROC.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Generalized Linear Models — paper de la réplica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Nelder &amp; Wedderburn (1972), JRSS-A 135(3)  —  funda el marco: familia exponencial, enlace e IRLS.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Generalized Linear Models, 2.ª ed. — tratado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McCullagh &amp; Nelder (1989)  —  deviance, familias, sobre-dispersión; de aquí proviene ships.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71416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Applied Logistic Regression, 3.ª 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82312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Hosmer, Lemeshow &amp; Sturdivant (2013)  —  interpretación del odds ratio y construcción de modelos.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67528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Logistic Regression in Rare Events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78424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King &amp; Zeng (2001), Political Analysis 9(2)  —  por qué el umbral y la tasa base importan en eventos raros.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S09 — Herramientas para la Ciencia de Datos, UPC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