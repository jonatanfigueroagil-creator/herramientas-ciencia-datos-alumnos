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7" r:id="rId28"/>
    <p:sldId id="258" r:id="rId10"/>
    <p:sldId id="259" r:id="rId11"/>
    <p:sldId id="260" r:id="rId12"/>
    <p:sldId id="288" r:id="rId27"/>
    <p:sldId id="261" r:id="rId13"/>
    <p:sldId id="262" r:id="rId14"/>
    <p:sldId id="263" r:id="rId15"/>
    <p:sldId id="268" r:id="rId20"/>
    <p:sldId id="270" r:id="rId22"/>
    <p:sldId id="289" r:id="rId26"/>
    <p:sldId id="290" r:id="rId25"/>
    <p:sldId id="277" r:id="rId29"/>
    <p:sldId id="278" r:id="rId30"/>
    <p:sldId id="279" r:id="rId31"/>
    <p:sldId id="280" r:id="rId32"/>
    <p:sldId id="291" r:id="rId24"/>
    <p:sldId id="264" r:id="rId16"/>
    <p:sldId id="265" r:id="rId17"/>
    <p:sldId id="266" r:id="rId18"/>
    <p:sldId id="267" r:id="rId19"/>
    <p:sldId id="269" r:id="rId21"/>
    <p:sldId id="286" r:id="rId38"/>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20.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11.xml"/><Relationship Id="rId21" Type="http://schemas.openxmlformats.org/officeDocument/2006/relationships/slide" Target="slides/slide24.xml"/><Relationship Id="rId22" Type="http://schemas.openxmlformats.org/officeDocument/2006/relationships/slide" Target="slides/slide12.xml"/><Relationship Id="rId24" Type="http://schemas.openxmlformats.org/officeDocument/2006/relationships/slide" Target="slides/slide19.xml"/><Relationship Id="rId25" Type="http://schemas.openxmlformats.org/officeDocument/2006/relationships/slide" Target="slides/slide14.xml"/><Relationship Id="rId26" Type="http://schemas.openxmlformats.org/officeDocument/2006/relationships/slide" Target="slides/slide13.xml"/><Relationship Id="rId27" Type="http://schemas.openxmlformats.org/officeDocument/2006/relationships/slide" Target="slides/slide7.xml"/><Relationship Id="rId28" Type="http://schemas.openxmlformats.org/officeDocument/2006/relationships/slide" Target="slides/slide3.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8"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9. La regresión lineal predice cantidades; hoy se pasa a la LOGÍSTICA, que predice la PROBABILIDAD de un evento binario (fuga sí/no, impago sí/no) siempre entre 0 y 1. Método de la sesión (P3): nada se afirma sin su contrafactual —cada cifra del venv se muestra contra su baseline (azar, clase mayoría, umbral por defecto) y/o su benchmark (ESL, literatura)—. Promesa: interpretar coeficientes en ODDS RATIO, generalizar con los GLM (Poisson), evaluar con matriz/ROC/AUC y elegir el UMBRAL por el costo del error. Alcance: el desbalance (SMOTE, LDA/QDA, Naive Bayes) es S10 y solo se nombra; KNN/SVM solo se referencian. El botón «Abrir en Colab» lleva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DESARROLLAR CADA UNO EN VOZ ALTA: ACTO 1 MODELAR EL SÍ O EL NO (contexto) — por qué el OLS no sirve para una variable binaria, el paso a la logística: función logit, sigmoide, odds y odds ratio. ACTO 2 LA RÉPLICA DE ESL (evidencia) — el ejemplo canónico de SAheart: la vista del dataset, el tablero obtenido (venv) contra ESL Tabla 4.2, la lectura en odds ratio con exp(β), y los supuestos de la logística con su diagnóstico; la máxima verosimilitud, la deviance y el pseudo-R² de McFadden se dicen aquí. ACTO 3 UN SOLO MARCO: LOS GLM — familia exponencial y función de enlace como marco único (Nelder &amp; Wedderburn 1972), Poisson para conteos con offset de exposición y el control de la sobre-dispersión. ACTO 4 LA DECISIÓN: CHURN DE TELCO — matriz de confusión y el costo asimétrico del error, curva ROC y AUC, y la elección del UMBRAL por costo, que es el núcleo del entregable. El LABORATORIO (modelo de churn en telco) es el cierre y se presenta al final, por eso no es un acto. Hilo P3 «obtenido vs esperado» en los cuatro actos: cada cifra del venv se proyecta junto a su baseline o su benchmark publicado. Anunciar entregable y control corto.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La regresión lineal (S03-S05) predice una cantidad continua y puede devolver valores fuera de [0, 1]: no sirve para una probabilidad. La logística lo resuelve modelando el LOGIT (log-odds) como una recta y devolviendo la probabilidad por la sigmoide. Antes de ver resultados se fija el vocabulario: logit, odds, odds ratio. Fuente: DEFINICIONES Secciones 1-3. [Jueves, capítulo 9.1]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Dato de contexto. En el Telco preparado 26,6% de los clientes se fuga: uno de cada cuatro. El problema de negocio no es contar la fuga (eso es un KPI del tablero), sino PREDECIR quién se irá para actuar antes de que cancele —una variable objetivo binaria, fuga sí/no—. Ese salto, de contar a predecir una probabilidad acotada, es lo que resuelve la regresión logística. El valor mostrado es OPERATIVO (se lee de logistica_saheart!B7); la literatura reporta ≈ 26,5 % sobre el mismo dataset (Frontiers, 29/08/2025), citada ETIQUETADA como benchmark. [Jueves, capítulo 9.1]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Justificar el método ANTES de mostrarlo. La variable objetivo es BINARIA (fuga sí/no); ajustarle regresión lineal (OLS, de S03-S05) rompe cuatro supuestos. (1) La recta PREDICE fuera de (0, 1): probabilidades negativas o mayores que 1 —la zona imposible del panel izquierdo—. (2) Los ERRORES no son normales: la respuesta solo vale 0 o 1. (3) La varianza depende de p (HETEROCEDASTICIDAD), no es constante. (4) La relación no es lineal en la probabilidad, sino en el LOGIT. La logística (panel derecho) resuelve los cuatro: modela el logit como una recta y devuelve la probabilidad acotada por la sigmoide. El mismo argumento vale para CONTEOS: el OLS predice negativos y el GLM Poisson (enlace log) no. Fuente: notebook Sección 1.0 y Anexo A4; DEFINICIONES Sección 1. [Jueves, capítulo 9.1]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puente lineal → logística, con el código real al frente. Se modela logit(p) = ln(p/(1−p)) = β₀ + β₁x₁ + …, una RECTA en la escala de log-odds; su inversa es la función logística o SIGMOIDE (panel derecho), que transforma cualquier valor real en una probabilidad en (0, 1). Leer la curva: cuando el predictor lineal η es 0, la probabilidad es 0,5; al crecer η tiende a 1 y al decrecer a 0, sin cruzarlas nunca. Esa cota es justo lo que la regresión lineal no garantizaba: es la base de todo scoring de propensión (fuga, impago, compra). Fuente: DEFINICIONES Sección 1. [Jueves, capítulo 9.2]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Fijar la primera pieza de interpretación como concepto propio. El LOGIT es el logaritmo de los odds: la escala en la que la logística es lineal. Los ODDS = p/(1−p) son el cociente entre que ocurra y que no —el lenguaje del riesgo (odds 3 a 1 = probabilidad 0,75)—. El logit lleva la probabilidad, acotada a (0,1), a toda la recta real; por eso se puede modelar como β₀+β₁x. Advertencia que se repetirá: el coeficiente vive en log-odds, NO es un incremento de probabilidad. Fuente: DEFINICIONES Secciones 1-3. [Jueves, capítulo 9.2]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2 minutos y 2-3 respuestas. Guiar: NO. Un coeficiente de 0,9 está en LOG-ODDS; se exponencia para interpretarlo: exp(0,9) ≈ 2,46, es decir los odds se MULTIPLICAN por ≈ 2,5 (no la probabilidad, y no es +90 %). La traducción a probabilidad depende del nivel base, porque la sigmoide es no lineal: el mismo OR mueve mucho la probabilidad cerca de 0,5 y poco en los extremos. Es el error de lectura más frecuente de la sesión y enlaza con la evidencia: los odds ratio de SAheart. Fuente: INTERPRETACION Sección 2. [Jueves, capítulo 9.2]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evidencia. Se reproduce el ejemplo clásico de ESL (Elements of Statistical Learning, Sección 4.4.2, Tabla 4.2): una regresión logística de cardiopatía coronaria (chd) sobre factores de riesgo en 462 varones sudafricanos (≈ 35 % con la enfermedad), con EXACTAMENTE 7 predictores (sbp, tobacco, ldl, famhist, obesity, alcohol, age; se excluyen adiposity y typea). El objetivo es leer los coeficientes como ODDS RATIO. Regla de oro: el valor OPERATIVO es el del venv; ESL Tabla 4.2 se cita ETIQUETADA como benchmark. Primero la vista del dataset, luego el tablero de réplica y los odds ratio. Fuente: REPLICACION Secciones 1-4. [Jueves, capítulo 9.5]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coeficiente. El estudio del que proceden estos datos NO se propuso predecir infartos: se tituló 'Coronary risk factor screening in three rural communities' (Rossouw et al., 1983) y buscaba TAMIZAR factores de riesgo. La continuación de 1993 declara para qué servía esa línea de base: montar un programa de intervención comunitaria que se ejecutó con dos intensidades —campaña de medios en una comunidad, campaña MÁS visita interpersonal a los individuos de alto riesgo en otra, y una tercera de control—. La visita cara a cara es cara y no alcanza para todos, así que la pregunta real era '¿cuánto multiplica el riesgo cada factor, y a quién priorizo con un presupuesto limitado?'. Es, palabra por palabra, el problema del Acto 4 con clientes en vez de pacientes. AÑADIR EL SEGUNDO ORIGEN: Nelder y Wedderburn (1972) no traían datos, traían un desorden —el caso binario se llamaba 'probit analysis', el de conteos 'contingency tables'— y su artículo cierra con las implicaciones del marco PARA EL DISEÑO DE LOS CURSOS DE ESTADÍSTICA: el alumno está sentado en el curso que aquel artículo reorganizó. Preguntar al aula: '¿qué decisión dependía de la respuesta?'. Fuente: REPLICACION Sección 0.1. [Jueves, capítulo 9.5]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PRIMERA: la alternativa real no era 'nada', era el MODELO LINEAL DE PROBABILIDAD —un OLS sobre ceros y unos, cuyo coeficiente se lee como cambio de probabilidad—; se cae por rango (asigna probabilidades negativas o mayores que 1 justo en los extremos, que son los pacientes que interesa priorizar) y por varianza (la de un Bernoulli es p(1−p), de modo que la heterocedasticidad es estructural y los p-valores quedan mal calculados: con ellos se decidía QUÉ FACTOR merecía la campaña). SEGUNDA, la de mayor valor: el estándar de la época era el probit, y la logística de Berkson (1944) no ganó por ajustar mejor —las dos curvas son casi indistinguibles— sino porque su coeficiente, en log-odds, se exponencia y da un ODDS RATIO que se dice en voz alta ante quien firma el presupuesto. Decir la frase completa: 'ganó por comunicable'. TERCERA: la máxima verosimilitud cuesta la fórmula cerrada, pero se resuelve con IRLS —la misma máquina del OLS aplicada varias veces sobre una escala transformada—, y ese es exactamente el hallazgo que en 1972 unificó cuatro técnicas en un solo marco: el Acto 3. Fuente: REPLICACION Secciones 0.2 y 0.3. [Jueves, capítulo 9.5]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Orientar antes de los coeficientes. Esta es la MISMA vista que ESL Figura 4.12 (p. 122): la matriz de dispersión de los 7 factores de riesgo de SAheart, coloreada por chd (rojo = con cardiopatía, gris = sano). Idea única: las dos nubes se SOLAPAN en todos los pares —ninguna variable sola separa a enfermos de sanos—, por eso hace falta un modelo MULTIVARIANTE que combine los siete factores; ahí entra la logística. Reproducir la figura del paper (además de su Tabla 4.2) es parte de la réplica exacta. Fuente: figuras (venv), ESL Figura 4.12 — p. 122. [Jueves, capítulo 9.5]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competencia central de la sesión, como concepto propio. ODDS RATIO = exp(β): cuánto se MULTIPLICAN los odds cuando el predictor sube una unidad, con lo demás constante. OR &gt; 1 riesgo, OR &lt; 1 protector, OR = 1 sin efecto. Es MULTIPLICATIVO, no aditivo: un OR de 2,56 no es +2,56 de probabilidad. Ejemplo que se verá enseguida: famhist, exp(0,939) = 2,56. Convertir β → OR (drill 1) es lo que se evalúa. Fuente: INTERPRETACION Sección 2, DEFINICIONES Sección 3. [Jueves, capítulo 9.2]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slide-firma de P3, ahora como TABLA nativa. Enfrenta, fila a fila, el β OBTENIDO por el venv (statsmodels) y el β ESPERADO de ESL Tabla 4.2 (benchmark etiquetado), con su Δ y el verdicto de tolerancia. Mensaje: la réplica es FIEL —tobacco, ldl, famhist y age caen dentro de ±0,01/±0,02; a tres decimales ambos coinciden y el Δ (cuarto decimal) muestra que son cálculos independientes, no una copia—. Regla de oro: nunca se funden las dos columnas; el número que el material publica es el del venv, ESL va etiquetado. La MLE de statsmodels resuelve el mismo problema que R/S-Plus sobre el mismo modelo de 7 predictores. Fuente: REPLICACION Secciones 3-4, INTERPRETACION Sección 1. [Jueves, capítulo 9.5]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Núcleo de la interpretación logística. Leer el bosque de odds ratio: el ANTECEDENTE FAMILIAR (famhist Present) tiene OR ≈ 2,6 —lo multiplica por más de dos veces y media los odds de cardiopatía frente a no tenerlo—; LDL ≈ 1,2 (+20 % por unidad), TABACO ≈ 1,08 (+8 % por kg acumulado), EDAD ≈ 1,04 por año. En rojo los significativos (p &lt; 0,05, intervalo que NO cruza 1); en gris sbp, obesity y alcohol (intervalo cruza 1 = sin efecto detectable). El valor OPERATIVO del venv coincide con ESL Tabla 4.2, citada ETIQUETADA como benchmark, nunca mezclada. AÑADIR AQUÍ (ya no tiene slide propio): (a) la cadena completa del cálculo, odds ratio = exp(β) = exp(0,939) = 2,56 (Excel!odds_ratios!C6); (b) la traducción de la edad a la escala de DÉCADA, exp(10 × 0,0425) = 1,53, es decir cada década suma ≈ 53 % a los odds —útil porque 1,04 por año parece poco y por década ya no lo es—; y (c) la SALVEDAD OBLIGATORIA: un odds ratio es una asociación CONDICIONAL dentro del modelo, no una prueba de causa; se retoma en la pregunta 2. Fuente: INTERPRETACION Secciones 1-2, Excel!odds_ratios. [Jueves, capítulo 9.2]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9.5. Se enuncia la pregunta tal como aparece en el sílabo, la ficha, el cuaderno y la guía: es el mismo código en todos. [Jueves, capítulo 9.5]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9.4. Se enuncia la pregunta tal como aparece en el sílabo, la ficha, el cuaderno y la guía: es el mismo código en todos. [Jueves, capítulo 9.4]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9.3. Se enuncia la pregunta tal como aparece en el sílabo, la ficha, el cuaderno y la guía: es el mismo código en todos. [Jueves, capítulo 9.3]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9.2. Se enuncia la pregunta tal como aparece en el sílabo, la ficha, el cuaderno y la guía: es el mismo código en todos. [Jueves, capítulo 9.2]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9.1. Se enuncia la pregunta tal como aparece en el sílabo, la ficha, el cuaderno y la guía: es el mismo código en todos. [Jueves, capítulo 9.1]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decisión de negocio. Con la logística ajustada sobre el churn de Telco (7 043 clientes), no basta con predecir: hay que EVALUAR el clasificador (ROC, AUC, matriz de confusión) y ELEGIR el umbral según el costo del error, para traducirlo en una recomendación de retención. El contrafactual dominante aquí es el baseline trivial 'todos se quedan' (recall 0). Aviso: el desbalance se aborda moviendo el UMBRAL por costo; el remuestreo/SMOTE es S10. Fuente: REPLICACION Sección 2.4, INTERPRETACION Secciones 5-7. [Jueves, capítulo 9.4]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Antes de medir, encuadrar el costo del error. La matriz de confusión cruza lo real y lo predicho en cuatro celdas, pero en churn no pesan igual: el FALSO NEGATIVO (marcar 'se queda' a quien se va) es el caro —se pierde al cliente sin intentar retenerlo—, mientras que el falso positivo (ofrecer retención a quien se quedaba) solo cuesta el incentivo. Ese desbalance de costo, no la exactitud, es lo que guiará el umbral. Cuadrante conceptual (ilustrativo, sin cifras). Fuente: INTERPRETACION Secciones 5-6. [Jueves, capítulo 9.4]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objetivo de negocio. La curva ROC traza la sensibilidad (recall) frente a la tasa de falsos positivos al barrer el umbral; cuanto más se aproxima a la esquina superior izquierda, mejor. El AUC = 0,836 resume el poder de ORDENAMIENTO con independencia del umbral: probabilidad de que el modelo puntúe más alto a un cliente que se fuga que a uno que se queda (guía: 0,8-0,9 bueno), y queda muy por encima del baseline de azar (diagonal, AUC 0,5). REGLA DE ORO: 0,836 es el valor OPERATIVO del venv; la literatura (≈ 0,84-0,88 con logística sobre el mismo dataset IBM, Frontiers 29/08/2025) se cita ETIQUETADA como banda de referencia (handoff). Además, 0,836 es una ESTIMACIÓN PUNTUAL: al reportarlo se acompaña de su banda de incertidumbre (IC de DeLong o dispersión por validación cruzada), distinta de la banda de literatura. El AUC dice 'ordena bien'; la matriz, a un umbral, dirá 'qué decide y a qué costo'. Fuente: INTERPRETACION Sección 7, Excel!roc_churn. [Jueves, capítulo 9.4]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Bajar del AUC a la decisión concreta. Al fijar el umbral por defecto de 0,5, la matriz da VP = 215, FP = 115, FN = 159, VN = 918. Lo crítico en churn son los FALSOS NEGATIVOS: 159 clientes que se van y el modelo marca como 'se quedan' → recall = 0,57, apenas más de la mitad. La exactitud global se ve alta solo porque la mayoría no se fuga (contrafactual 'todos se quedan'): por eso NO se decide por exactitud. En negocio un FN (perder un cliente sin avisar) cuesta mucho más que un FP (ofrecer retención a quien se quedaba). Ese desbalance de costo justifica mover el umbral. Fuente: INTERPRETACION Sección 5, Excel!matriz_confusion_umbral. [Jueves, capítulo 9.4]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Orientar el estudio. Lectura base: ISLR cap. 4.1-4.4 (statlearning.com, PDF libre). Paper de la réplica GLM: Nelder &amp; Wedderburn (1972, JRSS-A 135(3):370-384), que funda el marco de la familia exponencial; McCullagh &amp; Nelder (1989) es el tratado de referencia y de él proviene ships. Hosmer, Lemeshow &amp; Sturdivant (2013) para la interpretación del odds ratio; King &amp; Zeng (2001, PDF libre) para el umbral en eventos raros. Práctica: statsmodels (Logit/GLM) y scikit-learn (LogisticRegression, roc_auc_score, confusion_matrix). Todo verificado el 18/07/2026 en la bibliografía de la sesión.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9_logistica_glm/notebook/S09_logistica_glm.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S09</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Modelar la probabilidad de un sí o un no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Regresión logística, odds ratio, GLM, ROC y AUC</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9.1 A 9.5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9.1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no se puede predecir una variable binaria mediante una recta?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9.2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son el logit, los odds y el odds ratio?</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workflow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9.3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estima el modelo cuando no existe solución cerrada?</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auge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9.4 y 9.5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un clasificador? ¿Se sostiene con datos reales? La réplica sobre SAheart</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no se puede predecir una variable binaria mediante una recta?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9.1 — jueves, bloques A1 y 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no se puede predecir una variable binaria mediante una recta?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no se puede predecir una variable binaria mediante una recta?</a:t>
            </a:r>
          </a:p>
        </p:txBody>
      </p:sp>
      <p:pic>
        <p:nvPicPr>
          <p:cNvPr id="5" name="Picture 4" descr="git-branch__FFFFFF.png"/>
          <p:cNvPicPr>
            <a:picLocks noChangeAspect="1"/>
          </p:cNvPicPr>
          <p:nvPr/>
        </p:nvPicPr>
        <p:blipFill>
          <a:blip r:embed="rId3"/>
          <a:stretch>
            <a:fillRect/>
          </a:stretch>
        </p:blipFill>
        <p:spPr>
          <a:xfrm>
            <a:off x="10195560" y="640080"/>
            <a:ext cx="1051560" cy="1051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26,6%</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Uno de cada cuatro clientes se fuga cada año</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El reto no es medir la fuga, sino señalar a QUIÉN se irá antes de que cancele. Ahí empieza la regresión logística.</a:t>
            </a:r>
          </a:p>
        </p:txBody>
      </p:sp>
      <p:sp>
        <p:nvSpPr>
          <p:cNvPr id="5" name="TextBox 4"/>
          <p:cNvSpPr txBox="1"/>
          <p:nvPr/>
        </p:nvSpPr>
        <p:spPr>
          <a:xfrm>
            <a:off x="548640" y="5870448"/>
            <a:ext cx="10607040" cy="292608"/>
          </a:xfrm>
          <a:prstGeom prst="rect">
            <a:avLst/>
          </a:prstGeom>
          <a:noFill/>
        </p:spPr>
        <p:txBody>
          <a:bodyPr wrap="square">
            <a:spAutoFit/>
          </a:bodyPr>
          <a:lstStyle/>
          <a:p>
            <a:r>
              <a:rPr sz="1000">
                <a:solidFill>
                  <a:srgbClr val="6E6E6E"/>
                </a:solidFill>
                <a:latin typeface="Calibri"/>
              </a:rPr>
              <a:t>Prevalencia del churn en el Telco preparado (venv) — resultados/S09_resultados.xlsx!logistica_saheart!B7. Literatura ≈ 26,5 % (Frontiers, 29/08/2025) = benchmark.</a:t>
            </a:r>
          </a:p>
        </p:txBody>
      </p:sp>
      <p:pic>
        <p:nvPicPr>
          <p:cNvPr id="6" name="Picture 5" descr="lightbulb__E4002B.png"/>
          <p:cNvPicPr>
            <a:picLocks noChangeAspect="1"/>
          </p:cNvPicPr>
          <p:nvPr/>
        </p:nvPicPr>
        <p:blipFill>
          <a:blip r:embed="rId3"/>
          <a:stretch>
            <a:fillRect/>
          </a:stretch>
        </p:blipFill>
        <p:spPr>
          <a:xfrm>
            <a:off x="6766560" y="1325880"/>
            <a:ext cx="658368" cy="658368"/>
          </a:xfrm>
          <a:prstGeom prst="rect">
            <a:avLst/>
          </a:prstGeom>
        </p:spPr>
      </p:pic>
      <p:sp>
        <p:nvSpPr>
          <p:cNvPr id="7" name="Rounded Rectangle 6"/>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Paso 1, celda 75</a:t>
            </a:r>
          </a:p>
        </p:txBody>
      </p:sp>
      <p:sp>
        <p:nvSpPr>
          <p:cNvPr id="8" name="Oval 7"/>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10" name="TextBox 9"/>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¿POR QUÉ REGRESIÓN LOGÍSTICA Y NO OLS? — NOTEBOOK SECCIÓN 1.0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OLS no sirve para un sí o un no; la logística sí</a:t>
            </a:r>
          </a:p>
        </p:txBody>
      </p:sp>
      <p:sp>
        <p:nvSpPr>
          <p:cNvPr id="4" name="Rounded Rectangle 3"/>
          <p:cNvSpPr/>
          <p:nvPr/>
        </p:nvSpPr>
        <p:spPr>
          <a:xfrm>
            <a:off x="54864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OLS: una recta sin cota</a:t>
            </a:r>
          </a:p>
        </p:txBody>
      </p:sp>
      <p:pic>
        <p:nvPicPr>
          <p:cNvPr id="6" name="Picture 5" descr="deck_ols_vs_logistica.png"/>
          <p:cNvPicPr>
            <a:picLocks noChangeAspect="1"/>
          </p:cNvPicPr>
          <p:nvPr/>
        </p:nvPicPr>
        <p:blipFill>
          <a:blip r:embed="rId2"/>
          <a:stretch>
            <a:fillRect/>
          </a:stretch>
        </p:blipFill>
        <p:spPr>
          <a:xfrm>
            <a:off x="1560748" y="2724912"/>
            <a:ext cx="3261016" cy="1874519"/>
          </a:xfrm>
          <a:prstGeom prst="rect">
            <a:avLst/>
          </a:prstGeom>
        </p:spPr>
      </p:pic>
      <p:sp>
        <p:nvSpPr>
          <p:cNvPr id="7" name="TextBox 6"/>
          <p:cNvSpPr txBox="1"/>
          <p:nvPr/>
        </p:nvSpPr>
        <p:spPr>
          <a:xfrm>
            <a:off x="877824" y="4745735"/>
            <a:ext cx="4626864" cy="512065"/>
          </a:xfrm>
          <a:prstGeom prst="rect">
            <a:avLst/>
          </a:prstGeom>
          <a:noFill/>
        </p:spPr>
        <p:txBody>
          <a:bodyPr wrap="square" anchor="t" lIns="0" rIns="0" tIns="0" bIns="0">
            <a:spAutoFit/>
          </a:bodyPr>
          <a:lstStyle/>
          <a:p>
            <a:pPr algn="l">
              <a:lnSpc>
                <a:spcPct val="120000"/>
              </a:lnSpc>
            </a:pPr>
            <a:r>
              <a:rPr sz="1300" b="0">
                <a:solidFill>
                  <a:srgbClr val="2D2D2D"/>
                </a:solidFill>
                <a:latin typeface="Calibri"/>
              </a:rPr>
              <a:t>Ajusta una recta que predice probabilidades negativas o mayores que 1.</a:t>
            </a:r>
          </a:p>
        </p:txBody>
      </p:sp>
      <p:sp>
        <p:nvSpPr>
          <p:cNvPr id="8" name="Rounded Rectangle 7"/>
          <p:cNvSpPr/>
          <p:nvPr/>
        </p:nvSpPr>
        <p:spPr>
          <a:xfrm>
            <a:off x="635508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4768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Logística: la sigmoide acota a (0,1)</a:t>
            </a:r>
          </a:p>
        </p:txBody>
      </p:sp>
      <p:sp>
        <p:nvSpPr>
          <p:cNvPr id="10" name="TextBox 9"/>
          <p:cNvSpPr txBox="1"/>
          <p:nvPr/>
        </p:nvSpPr>
        <p:spPr>
          <a:xfrm>
            <a:off x="6684264" y="2724912"/>
            <a:ext cx="4626864" cy="2532888"/>
          </a:xfrm>
          <a:prstGeom prst="rect">
            <a:avLst/>
          </a:prstGeom>
          <a:noFill/>
        </p:spPr>
        <p:txBody>
          <a:bodyPr wrap="square" lIns="0" tIns="0" bIns="0">
            <a:spAutoFit/>
          </a:bodyPr>
          <a:lstStyle/>
          <a:p>
            <a:pPr>
              <a:lnSpc>
                <a:spcPct val="105000"/>
              </a:lnSpc>
              <a:spcAft>
                <a:spcPts val="700"/>
              </a:spcAft>
            </a:pPr>
            <a:r>
              <a:rPr sz="1300">
                <a:solidFill>
                  <a:srgbClr val="E4002B"/>
                </a:solidFill>
                <a:latin typeface="Calibri"/>
              </a:rPr>
              <a:t>▪  </a:t>
            </a:r>
            <a:r>
              <a:rPr sz="1300">
                <a:solidFill>
                  <a:srgbClr val="2D2D2D"/>
                </a:solidFill>
                <a:latin typeface="Calibri"/>
              </a:rPr>
              <a:t>Devuelve una probabilidad válida</a:t>
            </a:r>
          </a:p>
          <a:p>
            <a:pPr>
              <a:lnSpc>
                <a:spcPct val="105000"/>
              </a:lnSpc>
              <a:spcAft>
                <a:spcPts val="700"/>
              </a:spcAft>
            </a:pPr>
            <a:r>
              <a:rPr sz="1300">
                <a:solidFill>
                  <a:srgbClr val="E4002B"/>
                </a:solidFill>
                <a:latin typeface="Calibri"/>
              </a:rPr>
              <a:t>▪  </a:t>
            </a:r>
            <a:r>
              <a:rPr sz="1300">
                <a:solidFill>
                  <a:srgbClr val="2D2D2D"/>
                </a:solidFill>
                <a:latin typeface="Calibri"/>
              </a:rPr>
              <a:t>Modela el logit como recta</a:t>
            </a:r>
          </a:p>
          <a:p>
            <a:pPr>
              <a:lnSpc>
                <a:spcPct val="105000"/>
              </a:lnSpc>
              <a:spcAft>
                <a:spcPts val="700"/>
              </a:spcAft>
            </a:pPr>
            <a:r>
              <a:rPr sz="1300">
                <a:solidFill>
                  <a:srgbClr val="E4002B"/>
                </a:solidFill>
                <a:latin typeface="Calibri"/>
              </a:rPr>
              <a:t>▪  </a:t>
            </a:r>
            <a:r>
              <a:rPr sz="1300">
                <a:solidFill>
                  <a:srgbClr val="2D2D2D"/>
                </a:solidFill>
                <a:latin typeface="Calibri"/>
              </a:rPr>
              <a:t>Verosimilitud binomial</a:t>
            </a:r>
          </a:p>
          <a:p>
            <a:pPr>
              <a:lnSpc>
                <a:spcPct val="105000"/>
              </a:lnSpc>
              <a:spcAft>
                <a:spcPts val="700"/>
              </a:spcAft>
            </a:pPr>
            <a:r>
              <a:rPr sz="1300">
                <a:solidFill>
                  <a:srgbClr val="E4002B"/>
                </a:solidFill>
                <a:latin typeface="Calibri"/>
              </a:rPr>
              <a:t>▪  </a:t>
            </a:r>
            <a:r>
              <a:rPr sz="1300">
                <a:solidFill>
                  <a:srgbClr val="2D2D2D"/>
                </a:solidFill>
                <a:latin typeface="Calibri"/>
              </a:rPr>
              <a:t>Odds ratio interpretable</a:t>
            </a:r>
          </a:p>
        </p:txBody>
      </p:sp>
      <p:sp>
        <p:nvSpPr>
          <p:cNvPr id="11" name="Oval 10"/>
          <p:cNvSpPr/>
          <p:nvPr/>
        </p:nvSpPr>
        <p:spPr>
          <a:xfrm>
            <a:off x="5897880" y="340614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vs</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figuras/S09_fig_ols_vs_logistica.png (esquema conceptual, venv). Supuestos: notebook Sección 1.0 y Anexo A4.</a:t>
            </a:r>
          </a:p>
        </p:txBody>
      </p:sp>
      <p:sp>
        <p:nvSpPr>
          <p:cNvPr id="13" name="TextBox 12"/>
          <p:cNvSpPr txBox="1"/>
          <p:nvPr/>
        </p:nvSpPr>
        <p:spPr>
          <a:xfrm>
            <a:off x="548640" y="5596128"/>
            <a:ext cx="11094720" cy="310896"/>
          </a:xfrm>
          <a:prstGeom prst="rect">
            <a:avLst/>
          </a:prstGeom>
          <a:noFill/>
        </p:spPr>
        <p:txBody>
          <a:bodyPr wrap="square" anchor="t" lIns="0" rIns="0" tIns="0" bIns="0">
            <a:spAutoFit/>
          </a:bodyPr>
          <a:lstStyle/>
          <a:p>
            <a:pPr algn="l">
              <a:lnSpc>
                <a:spcPct val="105000"/>
              </a:lnSpc>
            </a:pPr>
            <a:r>
              <a:rPr sz="1100" b="0">
                <a:solidFill>
                  <a:srgbClr val="6E6E6E"/>
                </a:solidFill>
                <a:latin typeface="Calibri"/>
              </a:rPr>
              <a:t>El OLS rompe cuatro supuestos: excede (0,1), errores no normales, heterocedasticidad — no lineal en probabilidad.</a:t>
            </a:r>
          </a:p>
        </p:txBody>
      </p:sp>
      <p:sp>
        <p:nvSpPr>
          <p:cNvPr id="14" name="Rounded Rectangle 13"/>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1.0, justificación, celda 10</a:t>
            </a:r>
          </a:p>
        </p:txBody>
      </p:sp>
      <p:sp>
        <p:nvSpPr>
          <p:cNvPr id="15" name="Oval 1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17" name="TextBox 1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son el logit, los odds y el odds ratio?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9.2 — jueves, bloques A1 y A2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AJUSTAR EL LOGIT Y TRAZAR LA SIGMOIDE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sigmoide acota cualquier score a (0,1)</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el logit por MLE y traza la sigmoide; disp=0 silencia el optimizador.</a:t>
            </a:r>
          </a:p>
        </p:txBody>
      </p:sp>
      <p:sp>
        <p:nvSpPr>
          <p:cNvPr id="5" name="Rounded Rectangle 4"/>
          <p:cNvSpPr/>
          <p:nvPr/>
        </p:nvSpPr>
        <p:spPr>
          <a:xfrm>
            <a:off x="548640" y="2395728"/>
            <a:ext cx="6903720" cy="2880360"/>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6446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6281928" cy="91440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p_true = 1 / (1 + np.exp(-(0.4 + 2.2 * x_fig)))</a:t>
            </a:r>
          </a:p>
          <a:p>
            <a:pPr>
              <a:lnSpc>
                <a:spcPct val="130000"/>
              </a:lnSpc>
              <a:spcAft>
                <a:spcPts val="400"/>
              </a:spcAft>
            </a:pPr>
            <a:r>
              <a:rPr sz="1200">
                <a:solidFill>
                  <a:srgbClr val="2D2D2D"/>
                </a:solidFill>
                <a:latin typeface="Consolas"/>
              </a:rPr>
              <a:t>mlog = sm.Logit(y_fig, sm.add_constant(x_fig)).fit(disp=0)</a:t>
            </a:r>
          </a:p>
        </p:txBody>
      </p:sp>
      <p:sp>
        <p:nvSpPr>
          <p:cNvPr id="8" name="TextBox 7"/>
          <p:cNvSpPr txBox="1"/>
          <p:nvPr/>
        </p:nvSpPr>
        <p:spPr>
          <a:xfrm>
            <a:off x="7818120" y="2395728"/>
            <a:ext cx="3825240" cy="274320"/>
          </a:xfrm>
          <a:prstGeom prst="rect">
            <a:avLst/>
          </a:prstGeom>
          <a:noFill/>
        </p:spPr>
        <p:txBody>
          <a:bodyPr wrap="none" lIns="0" tIns="0" bIns="0">
            <a:spAutoFit/>
          </a:bodyPr>
          <a:lstStyle/>
          <a:p>
            <a:r>
              <a:rPr sz="1050" b="1">
                <a:solidFill>
                  <a:srgbClr val="9B1B30"/>
                </a:solidFill>
                <a:latin typeface="Calibri"/>
              </a:rPr>
              <a:t>▹ RESULTADO</a:t>
            </a:r>
          </a:p>
        </p:txBody>
      </p:sp>
      <p:pic>
        <p:nvPicPr>
          <p:cNvPr id="9" name="Picture 8" descr="deck_demo_sigmoide.png"/>
          <p:cNvPicPr>
            <a:picLocks noChangeAspect="1"/>
          </p:cNvPicPr>
          <p:nvPr/>
        </p:nvPicPr>
        <p:blipFill>
          <a:blip r:embed="rId2"/>
          <a:stretch>
            <a:fillRect/>
          </a:stretch>
        </p:blipFill>
        <p:spPr>
          <a:xfrm>
            <a:off x="7818120" y="2779776"/>
            <a:ext cx="3825240" cy="2291285"/>
          </a:xfrm>
          <a:prstGeom prst="rect">
            <a:avLst/>
          </a:prstGeom>
        </p:spPr>
      </p:pic>
      <p:sp>
        <p:nvSpPr>
          <p:cNvPr id="10" name="TextBox 9"/>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figuras/demo_sigmoide.png (venv, réplica en figuras_deck). DEFINICIONES Sección 1.</a:t>
            </a:r>
          </a:p>
        </p:txBody>
      </p:sp>
      <p:sp>
        <p:nvSpPr>
          <p:cNvPr id="11" name="Rounded Rectangle 10"/>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1.1, demo, celda 14</a:t>
            </a:r>
          </a:p>
        </p:txBody>
      </p:sp>
      <p:sp>
        <p:nvSpPr>
          <p:cNvPr id="12" name="Oval 1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14" name="TextBox 1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EL VOCABULARIO DE LA LOGÍSTICA — DEFINICIONES SECCIÓN 1</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Logit</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El logaritmo de los odds; lleva la probabilidad (0, 1) a toda la recta real, donde la logística la modela como una recta.</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logit = ln(p/(1−p)); odds = p/(1−p): unos odds de 3 a 1 equivalen a p = 0,75.</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el glosario de la sesión (logit, odds, odds ratio).</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1.1, celda 12</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¿Un coeficiente de 0,9 significa un 90 % más de probabilidad?</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el coeficiente vive en log-odds. ¿Se lee como probabilidad, como odds o como odds ratio?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EL NÚCLEO DE LA LECTURA LOGÍSTICA — INTERPRETACION SECCIÓN 2</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Odds ratio = exp(β)</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Cuánto se multiplican los odds del evento por cada unidad del predictor, con lo demás igual. &gt;1 riesgo, &lt;1 protector, =1 sin efecto.</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famhist: exp(0,939) = 2,56 → los odds de cardiopatía se multiplican por 2,6.</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la guía de interpretación de resultados; resultados/S09_resultados.xlsx!odds_ratios.</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2, lectura OR, celda 55</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SE HACE — EXPONENCIAR LOS COEFICIENTES A ODDS RATIO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antecedente familiar multiplica por 2,6 los odds</a:t>
            </a:r>
          </a:p>
        </p:txBody>
      </p:sp>
      <p:pic>
        <p:nvPicPr>
          <p:cNvPr id="4" name="Picture 3" descr="deck_odds_ratio_saheart.png"/>
          <p:cNvPicPr>
            <a:picLocks noChangeAspect="1"/>
          </p:cNvPicPr>
          <p:nvPr/>
        </p:nvPicPr>
        <p:blipFill>
          <a:blip r:embed="rId2"/>
          <a:stretch>
            <a:fillRect/>
          </a:stretch>
        </p:blipFill>
        <p:spPr>
          <a:xfrm>
            <a:off x="548640" y="1828800"/>
            <a:ext cx="2942896" cy="182880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Rojo = significativo (p &lt; 0,05): famhist ≈ 2,6, ldl ≈ 1,2, tobacco ≈ 1,08. Si el intervalo cruza 1, no hay efecto.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resultados/S09_resultados.xlsx!odds_ratios (venv, 7 predictores). Benchmark: ESL (Hastie, Tibshirani &amp; Friedman, 2009), 2.ª ed., Sección 4.4.2, Tabla 4.2, p. 122.</a:t>
            </a:r>
          </a:p>
        </p:txBody>
      </p:sp>
      <p:sp>
        <p:nvSpPr>
          <p:cNvPr id="10" name="Rounded Rectangle 9"/>
          <p:cNvSpPr/>
          <p:nvPr/>
        </p:nvSpPr>
        <p:spPr>
          <a:xfrm>
            <a:off x="548640" y="3767328"/>
            <a:ext cx="690372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__E4002B.png"/>
          <p:cNvPicPr>
            <a:picLocks noChangeAspect="1"/>
          </p:cNvPicPr>
          <p:nvPr/>
        </p:nvPicPr>
        <p:blipFill>
          <a:blip r:embed="rId4"/>
          <a:stretch>
            <a:fillRect/>
          </a:stretch>
        </p:blipFill>
        <p:spPr>
          <a:xfrm>
            <a:off x="694944" y="3822192"/>
            <a:ext cx="219456" cy="219456"/>
          </a:xfrm>
          <a:prstGeom prst="rect">
            <a:avLst/>
          </a:prstGeom>
        </p:spPr>
      </p:pic>
      <p:sp>
        <p:nvSpPr>
          <p:cNvPr id="12" name="TextBox 11"/>
          <p:cNvSpPr txBox="1"/>
          <p:nvPr/>
        </p:nvSpPr>
        <p:spPr>
          <a:xfrm>
            <a:off x="1005840" y="3799332"/>
            <a:ext cx="633679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ESL Sección 4.4.2, Tabla 4.2, p. 122   (forest plot vs coeficientes publicados)</a:t>
            </a:r>
          </a:p>
        </p:txBody>
      </p:sp>
      <p:sp>
        <p:nvSpPr>
          <p:cNvPr id="13" name="Rounded Rectangle 12"/>
          <p:cNvSpPr/>
          <p:nvPr/>
        </p:nvSpPr>
        <p:spPr>
          <a:xfrm>
            <a:off x="548640" y="4224528"/>
            <a:ext cx="6903720" cy="135788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288536"/>
            <a:ext cx="6574536" cy="219456"/>
          </a:xfrm>
          <a:prstGeom prst="rect">
            <a:avLst/>
          </a:prstGeom>
          <a:noFill/>
        </p:spPr>
        <p:txBody>
          <a:bodyPr wrap="none" lIns="0" tIns="0" bIns="0">
            <a:spAutoFit/>
          </a:bodyPr>
          <a:lstStyle/>
          <a:p>
            <a:r>
              <a:rPr sz="1050" b="1">
                <a:solidFill>
                  <a:srgbClr val="9B1B30"/>
                </a:solidFill>
                <a:latin typeface="Calibri"/>
              </a:rPr>
              <a:t>Código real del cuaderno   —   celda 52</a:t>
            </a:r>
          </a:p>
        </p:txBody>
      </p:sp>
      <p:sp>
        <p:nvSpPr>
          <p:cNvPr id="15" name="TextBox 14"/>
          <p:cNvSpPr txBox="1"/>
          <p:nvPr/>
        </p:nvSpPr>
        <p:spPr>
          <a:xfrm>
            <a:off x="713232" y="4507992"/>
            <a:ext cx="6592824" cy="256032"/>
          </a:xfrm>
          <a:prstGeom prst="rect">
            <a:avLst/>
          </a:prstGeom>
          <a:noFill/>
        </p:spPr>
        <p:txBody>
          <a:bodyPr wrap="square" lIns="0" tIns="0" bIns="0">
            <a:spAutoFit/>
          </a:bodyPr>
          <a:lstStyle/>
          <a:p>
            <a:r>
              <a:rPr sz="1050" b="1">
                <a:solidFill>
                  <a:srgbClr val="9B1B30"/>
                </a:solidFill>
                <a:latin typeface="Calibri"/>
              </a:rPr>
              <a:t>▸ Qué hace:  </a:t>
            </a:r>
            <a:r>
              <a:rPr sz="1050">
                <a:solidFill>
                  <a:srgbClr val="2D2D2D"/>
                </a:solidFill>
                <a:latin typeface="Calibri"/>
              </a:rPr>
              <a:t>Exponencia los coeficientes: np.exp(β) convierte los log-odds en odds ratio.</a:t>
            </a:r>
          </a:p>
        </p:txBody>
      </p:sp>
      <p:sp>
        <p:nvSpPr>
          <p:cNvPr id="16" name="TextBox 15"/>
          <p:cNvSpPr txBox="1"/>
          <p:nvPr/>
        </p:nvSpPr>
        <p:spPr>
          <a:xfrm>
            <a:off x="713232" y="4782312"/>
            <a:ext cx="6592824" cy="736092"/>
          </a:xfrm>
          <a:prstGeom prst="rect">
            <a:avLst/>
          </a:prstGeom>
          <a:noFill/>
        </p:spPr>
        <p:txBody>
          <a:bodyPr wrap="square" lIns="0" tIns="0" bIns="0">
            <a:spAutoFit/>
          </a:bodyPr>
          <a:lstStyle/>
          <a:p>
            <a:pPr>
              <a:lnSpc>
                <a:spcPct val="100000"/>
              </a:lnSpc>
              <a:spcAft>
                <a:spcPts val="100"/>
              </a:spcAft>
            </a:pPr>
            <a:r>
              <a:rPr sz="1100">
                <a:solidFill>
                  <a:srgbClr val="2D2D2D"/>
                </a:solidFill>
                <a:latin typeface="Consolas"/>
              </a:rPr>
              <a:t>tabla_or = pd.DataFrame({</a:t>
            </a:r>
          </a:p>
          <a:p>
            <a:pPr>
              <a:lnSpc>
                <a:spcPct val="100000"/>
              </a:lnSpc>
              <a:spcAft>
                <a:spcPts val="100"/>
              </a:spcAft>
            </a:pPr>
            <a:r>
              <a:rPr sz="1100">
                <a:solidFill>
                  <a:srgbClr val="2D2D2D"/>
                </a:solidFill>
                <a:latin typeface="Consolas"/>
              </a:rPr>
              <a:t>    "coef (log-odds)": logit.params,</a:t>
            </a:r>
          </a:p>
          <a:p>
            <a:pPr>
              <a:lnSpc>
                <a:spcPct val="100000"/>
              </a:lnSpc>
              <a:spcAft>
                <a:spcPts val="100"/>
              </a:spcAft>
            </a:pPr>
            <a:r>
              <a:rPr sz="1100">
                <a:solidFill>
                  <a:srgbClr val="2D2D2D"/>
                </a:solidFill>
                <a:latin typeface="Consolas"/>
              </a:rPr>
              <a:t>    "odds_ratio = exp(β)": np.exp(logit.params),</a:t>
            </a:r>
          </a:p>
        </p:txBody>
      </p:sp>
      <p:sp>
        <p:nvSpPr>
          <p:cNvPr id="17" name="Rounded Rectangle 16"/>
          <p:cNvSpPr/>
          <p:nvPr/>
        </p:nvSpPr>
        <p:spPr>
          <a:xfrm>
            <a:off x="7818120" y="3977639"/>
            <a:ext cx="3886200" cy="1755648"/>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ok-open__E4002B.png"/>
          <p:cNvPicPr>
            <a:picLocks noChangeAspect="1"/>
          </p:cNvPicPr>
          <p:nvPr/>
        </p:nvPicPr>
        <p:blipFill>
          <a:blip r:embed="rId4"/>
          <a:stretch>
            <a:fillRect/>
          </a:stretch>
        </p:blipFill>
        <p:spPr>
          <a:xfrm>
            <a:off x="8055864" y="4160519"/>
            <a:ext cx="256032" cy="256032"/>
          </a:xfrm>
          <a:prstGeom prst="rect">
            <a:avLst/>
          </a:prstGeom>
        </p:spPr>
      </p:pic>
      <p:sp>
        <p:nvSpPr>
          <p:cNvPr id="19" name="TextBox 18"/>
          <p:cNvSpPr txBox="1"/>
          <p:nvPr/>
        </p:nvSpPr>
        <p:spPr>
          <a:xfrm>
            <a:off x="8385048" y="4133087"/>
            <a:ext cx="3172968" cy="274320"/>
          </a:xfrm>
          <a:prstGeom prst="rect">
            <a:avLst/>
          </a:prstGeom>
          <a:noFill/>
        </p:spPr>
        <p:txBody>
          <a:bodyPr wrap="none" lIns="0" tIns="0" bIns="0">
            <a:spAutoFit/>
          </a:bodyPr>
          <a:lstStyle/>
          <a:p>
            <a:r>
              <a:rPr sz="1050" b="1">
                <a:solidFill>
                  <a:srgbClr val="9B1B30"/>
                </a:solidFill>
                <a:latin typeface="Calibri"/>
              </a:rPr>
              <a:t>ODDS Y ODDS RATIO</a:t>
            </a:r>
          </a:p>
        </p:txBody>
      </p:sp>
      <p:sp>
        <p:nvSpPr>
          <p:cNvPr id="20" name="TextBox 19"/>
          <p:cNvSpPr txBox="1"/>
          <p:nvPr/>
        </p:nvSpPr>
        <p:spPr>
          <a:xfrm>
            <a:off x="8055864" y="4480559"/>
            <a:ext cx="3429000" cy="1161288"/>
          </a:xfrm>
          <a:prstGeom prst="rect">
            <a:avLst/>
          </a:prstGeom>
          <a:noFill/>
        </p:spPr>
        <p:txBody>
          <a:bodyPr wrap="square" lIns="0" tIns="0" bIns="0">
            <a:spAutoFit/>
          </a:bodyPr>
          <a:lstStyle/>
          <a:p>
            <a:pPr>
              <a:lnSpc>
                <a:spcPct val="110000"/>
              </a:lnSpc>
            </a:pPr>
            <a:r>
              <a:rPr sz="1200">
                <a:solidFill>
                  <a:srgbClr val="2D2D2D"/>
                </a:solidFill>
                <a:latin typeface="Calibri"/>
              </a:rPr>
              <a:t>Un odds es p/(1−p): cuántas veces es más probable el sí que el no. El coeficiente β vive en log-odds; al exponenciarlo, exp(β) es el odds ratio —cuánto se MULTIPLICAN los odds por unidad—. Es multiplicativo, no aditivo: un OR de 2,6 no es +2,6 de probabilidad.</a:t>
            </a:r>
          </a:p>
        </p:txBody>
      </p:sp>
      <p:sp>
        <p:nvSpPr>
          <p:cNvPr id="21" name="Rounded Rectangle 20"/>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2, odds ratio, celda 52</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estima el modelo cuando no existe solución cerrada?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9.3 — jueves, bloques A1 y A2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un clasificador?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9.4 — jueves, bloques A1 y A2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un clasificador?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mide un clasificador?</a:t>
            </a:r>
          </a:p>
        </p:txBody>
      </p:sp>
      <p:pic>
        <p:nvPicPr>
          <p:cNvPr id="5" name="Picture 4" descr="gauge__FFFFFF.png"/>
          <p:cNvPicPr>
            <a:picLocks noChangeAspect="1"/>
          </p:cNvPicPr>
          <p:nvPr/>
        </p:nvPicPr>
        <p:blipFill>
          <a:blip r:embed="rId3"/>
          <a:stretch>
            <a:fillRect/>
          </a:stretch>
        </p:blipFill>
        <p:spPr>
          <a:xfrm>
            <a:off x="10195560" y="640080"/>
            <a:ext cx="1051560" cy="10515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LOS DOS ERRORES NO CUESTAN IGUAL — NOTEBOOK SECCIÓN 1.5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churn el falso negativo es el error caro</a:t>
            </a:r>
          </a:p>
        </p:txBody>
      </p:sp>
      <p:sp>
        <p:nvSpPr>
          <p:cNvPr id="4" name="TextBox 3"/>
          <p:cNvSpPr txBox="1"/>
          <p:nvPr/>
        </p:nvSpPr>
        <p:spPr>
          <a:xfrm>
            <a:off x="548640" y="1627632"/>
            <a:ext cx="11094720" cy="320040"/>
          </a:xfrm>
          <a:prstGeom prst="rect">
            <a:avLst/>
          </a:prstGeom>
          <a:noFill/>
        </p:spPr>
        <p:txBody>
          <a:bodyPr wrap="square" anchor="t" lIns="0" rIns="0" tIns="0" bIns="0">
            <a:spAutoFit/>
          </a:bodyPr>
          <a:lstStyle/>
          <a:p>
            <a:pPr algn="l">
              <a:lnSpc>
                <a:spcPct val="110000"/>
              </a:lnSpc>
            </a:pPr>
            <a:r>
              <a:rPr sz="1300" b="0">
                <a:solidFill>
                  <a:srgbClr val="2D2D2D"/>
                </a:solidFill>
                <a:latin typeface="Calibri"/>
              </a:rPr>
              <a:t>La matriz cruza lo real y lo predicho en un umbral: sus cuatro celdas no valen lo mismo.</a:t>
            </a:r>
          </a:p>
        </p:txBody>
      </p:sp>
      <p:sp>
        <p:nvSpPr>
          <p:cNvPr id="5" name="TextBox 4"/>
          <p:cNvSpPr txBox="1"/>
          <p:nvPr/>
        </p:nvSpPr>
        <p:spPr>
          <a:xfrm>
            <a:off x="2331720" y="2084831"/>
            <a:ext cx="8759952" cy="274320"/>
          </a:xfrm>
          <a:prstGeom prst="rect">
            <a:avLst/>
          </a:prstGeom>
          <a:noFill/>
        </p:spPr>
        <p:txBody>
          <a:bodyPr wrap="square" anchor="t" lIns="0" rIns="0" tIns="0" bIns="0">
            <a:spAutoFit/>
          </a:bodyPr>
          <a:lstStyle/>
          <a:p>
            <a:pPr algn="ctr"/>
            <a:r>
              <a:rPr sz="1300" b="1">
                <a:solidFill>
                  <a:srgbClr val="9B1B30"/>
                </a:solidFill>
                <a:latin typeface="Calibri"/>
              </a:rPr>
              <a:t>PREDICHO</a:t>
            </a:r>
          </a:p>
        </p:txBody>
      </p:sp>
      <p:sp>
        <p:nvSpPr>
          <p:cNvPr id="6" name="TextBox 5"/>
          <p:cNvSpPr txBox="1"/>
          <p:nvPr/>
        </p:nvSpPr>
        <p:spPr>
          <a:xfrm>
            <a:off x="2331720" y="2377440"/>
            <a:ext cx="4251960" cy="310896"/>
          </a:xfrm>
          <a:prstGeom prst="rect">
            <a:avLst/>
          </a:prstGeom>
          <a:noFill/>
        </p:spPr>
        <p:txBody>
          <a:bodyPr wrap="square" anchor="t" lIns="0" rIns="0" tIns="0" bIns="0">
            <a:spAutoFit/>
          </a:bodyPr>
          <a:lstStyle/>
          <a:p>
            <a:pPr algn="ctr"/>
            <a:r>
              <a:rPr sz="1300" b="1">
                <a:solidFill>
                  <a:srgbClr val="2D2D2D"/>
                </a:solidFill>
                <a:latin typeface="Calibri"/>
              </a:rPr>
              <a:t>Se va</a:t>
            </a:r>
          </a:p>
        </p:txBody>
      </p:sp>
      <p:sp>
        <p:nvSpPr>
          <p:cNvPr id="7" name="TextBox 6"/>
          <p:cNvSpPr txBox="1"/>
          <p:nvPr/>
        </p:nvSpPr>
        <p:spPr>
          <a:xfrm>
            <a:off x="6839712" y="2377440"/>
            <a:ext cx="4251960" cy="310896"/>
          </a:xfrm>
          <a:prstGeom prst="rect">
            <a:avLst/>
          </a:prstGeom>
          <a:noFill/>
        </p:spPr>
        <p:txBody>
          <a:bodyPr wrap="square" anchor="t" lIns="0" rIns="0" tIns="0" bIns="0">
            <a:spAutoFit/>
          </a:bodyPr>
          <a:lstStyle/>
          <a:p>
            <a:pPr algn="ctr"/>
            <a:r>
              <a:rPr sz="1300" b="1">
                <a:solidFill>
                  <a:srgbClr val="2D2D2D"/>
                </a:solidFill>
                <a:latin typeface="Calibri"/>
              </a:rPr>
              <a:t>Se queda</a:t>
            </a:r>
          </a:p>
        </p:txBody>
      </p:sp>
      <p:sp>
        <p:nvSpPr>
          <p:cNvPr id="8" name="TextBox 7"/>
          <p:cNvSpPr txBox="1"/>
          <p:nvPr/>
        </p:nvSpPr>
        <p:spPr>
          <a:xfrm>
            <a:off x="457200" y="2377440"/>
            <a:ext cx="1691640" cy="310896"/>
          </a:xfrm>
          <a:prstGeom prst="rect">
            <a:avLst/>
          </a:prstGeom>
          <a:noFill/>
        </p:spPr>
        <p:txBody>
          <a:bodyPr wrap="square" anchor="t" lIns="0" rIns="0" tIns="0" bIns="0">
            <a:spAutoFit/>
          </a:bodyPr>
          <a:lstStyle/>
          <a:p>
            <a:pPr algn="r"/>
            <a:r>
              <a:rPr sz="1300" b="1">
                <a:solidFill>
                  <a:srgbClr val="9B1B30"/>
                </a:solidFill>
                <a:latin typeface="Calibri"/>
              </a:rPr>
              <a:t>REAL</a:t>
            </a:r>
          </a:p>
        </p:txBody>
      </p:sp>
      <p:sp>
        <p:nvSpPr>
          <p:cNvPr id="9" name="TextBox 8"/>
          <p:cNvSpPr txBox="1"/>
          <p:nvPr/>
        </p:nvSpPr>
        <p:spPr>
          <a:xfrm>
            <a:off x="457200" y="2743200"/>
            <a:ext cx="1691640" cy="1371600"/>
          </a:xfrm>
          <a:prstGeom prst="rect">
            <a:avLst/>
          </a:prstGeom>
          <a:noFill/>
        </p:spPr>
        <p:txBody>
          <a:bodyPr wrap="square" anchor="ctr" lIns="0" rIns="0" tIns="0" bIns="0">
            <a:spAutoFit/>
          </a:bodyPr>
          <a:lstStyle/>
          <a:p>
            <a:pPr algn="r"/>
            <a:r>
              <a:rPr sz="1300" b="1">
                <a:solidFill>
                  <a:srgbClr val="2D2D2D"/>
                </a:solidFill>
                <a:latin typeface="Calibri"/>
              </a:rPr>
              <a:t>Se va</a:t>
            </a:r>
          </a:p>
        </p:txBody>
      </p:sp>
      <p:sp>
        <p:nvSpPr>
          <p:cNvPr id="10" name="TextBox 9"/>
          <p:cNvSpPr txBox="1"/>
          <p:nvPr/>
        </p:nvSpPr>
        <p:spPr>
          <a:xfrm>
            <a:off x="457200" y="4370832"/>
            <a:ext cx="1691640" cy="1371600"/>
          </a:xfrm>
          <a:prstGeom prst="rect">
            <a:avLst/>
          </a:prstGeom>
          <a:noFill/>
        </p:spPr>
        <p:txBody>
          <a:bodyPr wrap="square" anchor="ctr" lIns="0" rIns="0" tIns="0" bIns="0">
            <a:spAutoFit/>
          </a:bodyPr>
          <a:lstStyle/>
          <a:p>
            <a:pPr algn="r"/>
            <a:r>
              <a:rPr sz="1300" b="1">
                <a:solidFill>
                  <a:srgbClr val="2D2D2D"/>
                </a:solidFill>
                <a:latin typeface="Calibri"/>
              </a:rPr>
              <a:t>Se queda</a:t>
            </a:r>
          </a:p>
        </p:txBody>
      </p:sp>
      <p:sp>
        <p:nvSpPr>
          <p:cNvPr id="11" name="Rounded Rectangle 10"/>
          <p:cNvSpPr/>
          <p:nvPr/>
        </p:nvSpPr>
        <p:spPr>
          <a:xfrm>
            <a:off x="2331720" y="2743200"/>
            <a:ext cx="4251960" cy="13716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6040" y="2926080"/>
            <a:ext cx="3703320" cy="457200"/>
          </a:xfrm>
          <a:prstGeom prst="rect">
            <a:avLst/>
          </a:prstGeom>
          <a:noFill/>
        </p:spPr>
        <p:txBody>
          <a:bodyPr wrap="square" anchor="t" lIns="0" rIns="0" tIns="0" bIns="0">
            <a:spAutoFit/>
          </a:bodyPr>
          <a:lstStyle/>
          <a:p>
            <a:pPr algn="l"/>
            <a:r>
              <a:rPr sz="1500" b="1">
                <a:solidFill>
                  <a:srgbClr val="9B1B30"/>
                </a:solidFill>
                <a:latin typeface="Calibri"/>
              </a:rPr>
              <a:t>Verdadero positivo</a:t>
            </a:r>
          </a:p>
        </p:txBody>
      </p:sp>
      <p:sp>
        <p:nvSpPr>
          <p:cNvPr id="13" name="TextBox 12"/>
          <p:cNvSpPr txBox="1"/>
          <p:nvPr/>
        </p:nvSpPr>
        <p:spPr>
          <a:xfrm>
            <a:off x="2606040" y="3401568"/>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Se detecta la fuga y se intenta retener. Acierto.</a:t>
            </a:r>
          </a:p>
        </p:txBody>
      </p:sp>
      <p:sp>
        <p:nvSpPr>
          <p:cNvPr id="14" name="Rounded Rectangle 13"/>
          <p:cNvSpPr/>
          <p:nvPr/>
        </p:nvSpPr>
        <p:spPr>
          <a:xfrm>
            <a:off x="6839712" y="2743200"/>
            <a:ext cx="4251960" cy="1371600"/>
          </a:xfrm>
          <a:prstGeom prst="roundRect">
            <a:avLst/>
          </a:prstGeom>
          <a:solidFill>
            <a:srgbClr val="FCEDEE"/>
          </a:solidFill>
          <a:ln w="2222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4032" y="2926080"/>
            <a:ext cx="3703320" cy="457200"/>
          </a:xfrm>
          <a:prstGeom prst="rect">
            <a:avLst/>
          </a:prstGeom>
          <a:noFill/>
        </p:spPr>
        <p:txBody>
          <a:bodyPr wrap="square" anchor="t" lIns="0" rIns="0" tIns="0" bIns="0">
            <a:spAutoFit/>
          </a:bodyPr>
          <a:lstStyle/>
          <a:p>
            <a:pPr algn="l"/>
            <a:r>
              <a:rPr sz="1500" b="1">
                <a:solidFill>
                  <a:srgbClr val="E4002B"/>
                </a:solidFill>
                <a:latin typeface="Calibri"/>
              </a:rPr>
              <a:t>Falso negativo</a:t>
            </a:r>
          </a:p>
        </p:txBody>
      </p:sp>
      <p:sp>
        <p:nvSpPr>
          <p:cNvPr id="16" name="TextBox 15"/>
          <p:cNvSpPr txBox="1"/>
          <p:nvPr/>
        </p:nvSpPr>
        <p:spPr>
          <a:xfrm>
            <a:off x="7114032" y="3401568"/>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Se marca «se queda» a quien se va: se pierde sin avisar. El error caro.</a:t>
            </a:r>
          </a:p>
        </p:txBody>
      </p:sp>
      <p:sp>
        <p:nvSpPr>
          <p:cNvPr id="17" name="Rounded Rectangle 16"/>
          <p:cNvSpPr/>
          <p:nvPr/>
        </p:nvSpPr>
        <p:spPr>
          <a:xfrm>
            <a:off x="2331720" y="4370832"/>
            <a:ext cx="4251960" cy="13716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06040" y="4553712"/>
            <a:ext cx="3703320" cy="457200"/>
          </a:xfrm>
          <a:prstGeom prst="rect">
            <a:avLst/>
          </a:prstGeom>
          <a:noFill/>
        </p:spPr>
        <p:txBody>
          <a:bodyPr wrap="square" anchor="t" lIns="0" rIns="0" tIns="0" bIns="0">
            <a:spAutoFit/>
          </a:bodyPr>
          <a:lstStyle/>
          <a:p>
            <a:pPr algn="l"/>
            <a:r>
              <a:rPr sz="1500" b="1">
                <a:solidFill>
                  <a:srgbClr val="9B1B30"/>
                </a:solidFill>
                <a:latin typeface="Calibri"/>
              </a:rPr>
              <a:t>Falso positivo</a:t>
            </a:r>
          </a:p>
        </p:txBody>
      </p:sp>
      <p:sp>
        <p:nvSpPr>
          <p:cNvPr id="19" name="TextBox 18"/>
          <p:cNvSpPr txBox="1"/>
          <p:nvPr/>
        </p:nvSpPr>
        <p:spPr>
          <a:xfrm>
            <a:off x="2606040" y="5029200"/>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Se ofrece retención a quien se quedaba: solo cuesta el incentivo.</a:t>
            </a:r>
          </a:p>
        </p:txBody>
      </p:sp>
      <p:sp>
        <p:nvSpPr>
          <p:cNvPr id="20" name="Rounded Rectangle 19"/>
          <p:cNvSpPr/>
          <p:nvPr/>
        </p:nvSpPr>
        <p:spPr>
          <a:xfrm>
            <a:off x="6839712" y="4370832"/>
            <a:ext cx="4251960" cy="13716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2" y="4553712"/>
            <a:ext cx="3703320" cy="457200"/>
          </a:xfrm>
          <a:prstGeom prst="rect">
            <a:avLst/>
          </a:prstGeom>
          <a:noFill/>
        </p:spPr>
        <p:txBody>
          <a:bodyPr wrap="square" anchor="t" lIns="0" rIns="0" tIns="0" bIns="0">
            <a:spAutoFit/>
          </a:bodyPr>
          <a:lstStyle/>
          <a:p>
            <a:pPr algn="l"/>
            <a:r>
              <a:rPr sz="1500" b="1">
                <a:solidFill>
                  <a:srgbClr val="9B1B30"/>
                </a:solidFill>
                <a:latin typeface="Calibri"/>
              </a:rPr>
              <a:t>Verdadero negativo</a:t>
            </a:r>
          </a:p>
        </p:txBody>
      </p:sp>
      <p:sp>
        <p:nvSpPr>
          <p:cNvPr id="22" name="TextBox 21"/>
          <p:cNvSpPr txBox="1"/>
          <p:nvPr/>
        </p:nvSpPr>
        <p:spPr>
          <a:xfrm>
            <a:off x="7114032" y="5029200"/>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Se predice «se queda» y se queda. Acierto, sin acción.</a:t>
            </a:r>
          </a:p>
        </p:txBody>
      </p:sp>
      <p:sp>
        <p:nvSpPr>
          <p:cNvPr id="23" name="Rounded Rectangle 2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1.5, figura, celda 42</a:t>
            </a:r>
          </a:p>
        </p:txBody>
      </p:sp>
      <p:sp>
        <p:nvSpPr>
          <p:cNvPr id="24" name="TextBox 23"/>
          <p:cNvSpPr txBox="1"/>
          <p:nvPr/>
        </p:nvSpPr>
        <p:spPr>
          <a:xfrm>
            <a:off x="548640" y="5870448"/>
            <a:ext cx="10607040" cy="292608"/>
          </a:xfrm>
          <a:prstGeom prst="rect">
            <a:avLst/>
          </a:prstGeom>
          <a:noFill/>
        </p:spPr>
        <p:txBody>
          <a:bodyPr wrap="square">
            <a:spAutoFit/>
          </a:bodyPr>
          <a:lstStyle/>
          <a:p>
            <a:r>
              <a:rPr sz="1000">
                <a:solidFill>
                  <a:srgbClr val="6E6E6E"/>
                </a:solidFill>
                <a:latin typeface="Calibri"/>
              </a:rPr>
              <a:t>Esquema conceptual (venv) — notebook Sección 1.5; INTERPRETACION Secciones 5-6.</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SE HACE — ENTRENAR LA LOGÍSTICA Y MEDIR EL AUC</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logística ordena la fuga con AUC de 0,84</a:t>
            </a:r>
          </a:p>
        </p:txBody>
      </p:sp>
      <p:pic>
        <p:nvPicPr>
          <p:cNvPr id="4" name="Picture 3" descr="deck_roc_churn.png"/>
          <p:cNvPicPr>
            <a:picLocks noChangeAspect="1"/>
          </p:cNvPicPr>
          <p:nvPr/>
        </p:nvPicPr>
        <p:blipFill>
          <a:blip r:embed="rId2"/>
          <a:stretch>
            <a:fillRect/>
          </a:stretch>
        </p:blipFill>
        <p:spPr>
          <a:xfrm>
            <a:off x="548640" y="1874519"/>
            <a:ext cx="2913330" cy="214884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AUC es el poder de ORDENAMIENTO con independencia del umbral: 0,836, muy por encima del azar (0,5).</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resultados/S09_resultados.xlsx!roc_churn (venv, test). Literatura ≈ 0,84-0,88 en el mismo dataset = benchmark.</a:t>
            </a:r>
          </a:p>
        </p:txBody>
      </p:sp>
      <p:sp>
        <p:nvSpPr>
          <p:cNvPr id="10" name="Rounded Rectangle 9"/>
          <p:cNvSpPr/>
          <p:nvPr/>
        </p:nvSpPr>
        <p:spPr>
          <a:xfrm>
            <a:off x="548640" y="4160520"/>
            <a:ext cx="6903720" cy="135788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224528"/>
            <a:ext cx="6574536" cy="219456"/>
          </a:xfrm>
          <a:prstGeom prst="rect">
            <a:avLst/>
          </a:prstGeom>
          <a:noFill/>
        </p:spPr>
        <p:txBody>
          <a:bodyPr wrap="none" lIns="0" tIns="0" bIns="0">
            <a:spAutoFit/>
          </a:bodyPr>
          <a:lstStyle/>
          <a:p>
            <a:r>
              <a:rPr sz="1050" b="1">
                <a:solidFill>
                  <a:srgbClr val="9B1B30"/>
                </a:solidFill>
                <a:latin typeface="Calibri"/>
              </a:rPr>
              <a:t>Código real del cuaderno   —   celda 83</a:t>
            </a:r>
          </a:p>
        </p:txBody>
      </p:sp>
      <p:sp>
        <p:nvSpPr>
          <p:cNvPr id="12" name="TextBox 11"/>
          <p:cNvSpPr txBox="1"/>
          <p:nvPr/>
        </p:nvSpPr>
        <p:spPr>
          <a:xfrm>
            <a:off x="713232" y="4443984"/>
            <a:ext cx="6592824" cy="256032"/>
          </a:xfrm>
          <a:prstGeom prst="rect">
            <a:avLst/>
          </a:prstGeom>
          <a:noFill/>
        </p:spPr>
        <p:txBody>
          <a:bodyPr wrap="square" lIns="0" tIns="0" bIns="0">
            <a:spAutoFit/>
          </a:bodyPr>
          <a:lstStyle/>
          <a:p>
            <a:r>
              <a:rPr sz="1050" b="1">
                <a:solidFill>
                  <a:srgbClr val="9B1B30"/>
                </a:solidFill>
                <a:latin typeface="Calibri"/>
              </a:rPr>
              <a:t>▸ Qué hace:  </a:t>
            </a:r>
            <a:r>
              <a:rPr sz="1050">
                <a:solidFill>
                  <a:srgbClr val="2D2D2D"/>
                </a:solidFill>
                <a:latin typeface="Calibri"/>
              </a:rPr>
              <a:t>Entrena la logística y mide el AUC con las probabilidades de test.</a:t>
            </a:r>
          </a:p>
        </p:txBody>
      </p:sp>
      <p:sp>
        <p:nvSpPr>
          <p:cNvPr id="13" name="TextBox 12"/>
          <p:cNvSpPr txBox="1"/>
          <p:nvPr/>
        </p:nvSpPr>
        <p:spPr>
          <a:xfrm>
            <a:off x="713232" y="4718304"/>
            <a:ext cx="6592824" cy="736092"/>
          </a:xfrm>
          <a:prstGeom prst="rect">
            <a:avLst/>
          </a:prstGeom>
          <a:noFill/>
        </p:spPr>
        <p:txBody>
          <a:bodyPr wrap="square" lIns="0" tIns="0" bIns="0">
            <a:spAutoFit/>
          </a:bodyPr>
          <a:lstStyle/>
          <a:p>
            <a:pPr>
              <a:lnSpc>
                <a:spcPct val="100000"/>
              </a:lnSpc>
              <a:spcAft>
                <a:spcPts val="100"/>
              </a:spcAft>
            </a:pPr>
            <a:r>
              <a:rPr sz="1100">
                <a:solidFill>
                  <a:srgbClr val="2D2D2D"/>
                </a:solidFill>
                <a:latin typeface="Consolas"/>
              </a:rPr>
              <a:t>clf = LogisticRegression(max_iter=1000).fit(Xtr, ytr)</a:t>
            </a:r>
          </a:p>
          <a:p>
            <a:pPr>
              <a:lnSpc>
                <a:spcPct val="100000"/>
              </a:lnSpc>
              <a:spcAft>
                <a:spcPts val="100"/>
              </a:spcAft>
            </a:pPr>
            <a:r>
              <a:rPr sz="1100">
                <a:solidFill>
                  <a:srgbClr val="2D2D2D"/>
                </a:solidFill>
                <a:latin typeface="Consolas"/>
              </a:rPr>
              <a:t>prob_te = clf.predict_proba(Xte)[:, 1]</a:t>
            </a:r>
          </a:p>
          <a:p>
            <a:pPr>
              <a:lnSpc>
                <a:spcPct val="100000"/>
              </a:lnSpc>
              <a:spcAft>
                <a:spcPts val="100"/>
              </a:spcAft>
            </a:pPr>
            <a:r>
              <a:rPr sz="1100">
                <a:solidFill>
                  <a:srgbClr val="2D2D2D"/>
                </a:solidFill>
                <a:latin typeface="Consolas"/>
              </a:rPr>
              <a:t>auc_churn = float(roc_auc_score(yte, prob_te))</a:t>
            </a:r>
          </a:p>
        </p:txBody>
      </p:sp>
      <p:sp>
        <p:nvSpPr>
          <p:cNvPr id="14" name="Rounded Rectangle 13"/>
          <p:cNvSpPr/>
          <p:nvPr/>
        </p:nvSpPr>
        <p:spPr>
          <a:xfrm>
            <a:off x="7818120" y="3977639"/>
            <a:ext cx="3886200" cy="1755648"/>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ook-open__E4002B.png"/>
          <p:cNvPicPr>
            <a:picLocks noChangeAspect="1"/>
          </p:cNvPicPr>
          <p:nvPr/>
        </p:nvPicPr>
        <p:blipFill>
          <a:blip r:embed="rId4"/>
          <a:stretch>
            <a:fillRect/>
          </a:stretch>
        </p:blipFill>
        <p:spPr>
          <a:xfrm>
            <a:off x="8055864" y="4160519"/>
            <a:ext cx="256032" cy="256032"/>
          </a:xfrm>
          <a:prstGeom prst="rect">
            <a:avLst/>
          </a:prstGeom>
        </p:spPr>
      </p:pic>
      <p:sp>
        <p:nvSpPr>
          <p:cNvPr id="16" name="TextBox 15"/>
          <p:cNvSpPr txBox="1"/>
          <p:nvPr/>
        </p:nvSpPr>
        <p:spPr>
          <a:xfrm>
            <a:off x="8385048" y="4133087"/>
            <a:ext cx="3172968" cy="274320"/>
          </a:xfrm>
          <a:prstGeom prst="rect">
            <a:avLst/>
          </a:prstGeom>
          <a:noFill/>
        </p:spPr>
        <p:txBody>
          <a:bodyPr wrap="none" lIns="0" tIns="0" bIns="0">
            <a:spAutoFit/>
          </a:bodyPr>
          <a:lstStyle/>
          <a:p>
            <a:r>
              <a:rPr sz="1050" b="1">
                <a:solidFill>
                  <a:srgbClr val="9B1B30"/>
                </a:solidFill>
                <a:latin typeface="Calibri"/>
              </a:rPr>
              <a:t>QUÉ MIDE EL AUC</a:t>
            </a:r>
          </a:p>
        </p:txBody>
      </p:sp>
      <p:sp>
        <p:nvSpPr>
          <p:cNvPr id="17" name="TextBox 16"/>
          <p:cNvSpPr txBox="1"/>
          <p:nvPr/>
        </p:nvSpPr>
        <p:spPr>
          <a:xfrm>
            <a:off x="8055864" y="4480559"/>
            <a:ext cx="3429000" cy="1161288"/>
          </a:xfrm>
          <a:prstGeom prst="rect">
            <a:avLst/>
          </a:prstGeom>
          <a:noFill/>
        </p:spPr>
        <p:txBody>
          <a:bodyPr wrap="square" lIns="0" tIns="0" bIns="0">
            <a:spAutoFit/>
          </a:bodyPr>
          <a:lstStyle/>
          <a:p>
            <a:pPr>
              <a:lnSpc>
                <a:spcPct val="110000"/>
              </a:lnSpc>
            </a:pPr>
            <a:r>
              <a:rPr sz="1200">
                <a:solidFill>
                  <a:srgbClr val="2D2D2D"/>
                </a:solidFill>
                <a:latin typeface="Calibri"/>
              </a:rPr>
              <a:t>El AUC es el área bajo la curva ROC y resume el poder de ORDENAMIENTO del modelo, sin depender del umbral. Se lee como probabilidad: la de puntuar más alto a un cliente que se fuga que a uno que se queda. 0,5 es azar; 1, perfecto; 0,8–0,9, bueno. Es una estimación puntual: al reportarlo va con banda de incertidumbre (IC de DeLong o validación cruzada).</a:t>
            </a:r>
          </a:p>
        </p:txBody>
      </p:sp>
      <p:sp>
        <p:nvSpPr>
          <p:cNvPr id="18" name="Rounded Rectangle 1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AUC en test, celda 83</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SE HACE — MATRIZ DE CONFUSIÓN AL UMBRAL POR DEFECTO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el umbral 0,5 no se detectan 159 fugas reales</a:t>
            </a:r>
          </a:p>
        </p:txBody>
      </p:sp>
      <p:pic>
        <p:nvPicPr>
          <p:cNvPr id="4" name="Picture 3" descr="deck_matriz_confusion_churn.png"/>
          <p:cNvPicPr>
            <a:picLocks noChangeAspect="1"/>
          </p:cNvPicPr>
          <p:nvPr/>
        </p:nvPicPr>
        <p:blipFill>
          <a:blip r:embed="rId2"/>
          <a:stretch>
            <a:fillRect/>
          </a:stretch>
        </p:blipFill>
        <p:spPr>
          <a:xfrm>
            <a:off x="548640" y="1874519"/>
            <a:ext cx="2730508" cy="214884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Con el corte por defecto el recall es solo 0,57: casi la mitad de quienes se van no se detectan.</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resultados/S09_resultados.xlsx!matriz_confusion_umbral (venv, umbral 0,5).</a:t>
            </a:r>
          </a:p>
        </p:txBody>
      </p:sp>
      <p:sp>
        <p:nvSpPr>
          <p:cNvPr id="10" name="Rounded Rectangle 9"/>
          <p:cNvSpPr/>
          <p:nvPr/>
        </p:nvSpPr>
        <p:spPr>
          <a:xfrm>
            <a:off x="548640" y="4160520"/>
            <a:ext cx="6903720" cy="1143000"/>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224528"/>
            <a:ext cx="6574536" cy="219456"/>
          </a:xfrm>
          <a:prstGeom prst="rect">
            <a:avLst/>
          </a:prstGeom>
          <a:noFill/>
        </p:spPr>
        <p:txBody>
          <a:bodyPr wrap="none" lIns="0" tIns="0" bIns="0">
            <a:spAutoFit/>
          </a:bodyPr>
          <a:lstStyle/>
          <a:p>
            <a:r>
              <a:rPr sz="1050" b="1">
                <a:solidFill>
                  <a:srgbClr val="9B1B30"/>
                </a:solidFill>
                <a:latin typeface="Calibri"/>
              </a:rPr>
              <a:t>Código real del cuaderno   —   celda 83</a:t>
            </a:r>
          </a:p>
        </p:txBody>
      </p:sp>
      <p:sp>
        <p:nvSpPr>
          <p:cNvPr id="12" name="TextBox 11"/>
          <p:cNvSpPr txBox="1"/>
          <p:nvPr/>
        </p:nvSpPr>
        <p:spPr>
          <a:xfrm>
            <a:off x="713232" y="4443984"/>
            <a:ext cx="6592824" cy="256032"/>
          </a:xfrm>
          <a:prstGeom prst="rect">
            <a:avLst/>
          </a:prstGeom>
          <a:noFill/>
        </p:spPr>
        <p:txBody>
          <a:bodyPr wrap="square" lIns="0" tIns="0" bIns="0">
            <a:spAutoFit/>
          </a:bodyPr>
          <a:lstStyle/>
          <a:p>
            <a:r>
              <a:rPr sz="1050" b="1">
                <a:solidFill>
                  <a:srgbClr val="9B1B30"/>
                </a:solidFill>
                <a:latin typeface="Calibri"/>
              </a:rPr>
              <a:t>▸ Qué hace:  </a:t>
            </a:r>
            <a:r>
              <a:rPr sz="1050">
                <a:solidFill>
                  <a:srgbClr val="2D2D2D"/>
                </a:solidFill>
                <a:latin typeface="Calibri"/>
              </a:rPr>
              <a:t>Cuenta VP, VN, FP y FN al umbral 0,5 con confusion_matrix.</a:t>
            </a:r>
          </a:p>
        </p:txBody>
      </p:sp>
      <p:sp>
        <p:nvSpPr>
          <p:cNvPr id="13" name="TextBox 12"/>
          <p:cNvSpPr txBox="1"/>
          <p:nvPr/>
        </p:nvSpPr>
        <p:spPr>
          <a:xfrm>
            <a:off x="713232" y="4718304"/>
            <a:ext cx="6592824" cy="521208"/>
          </a:xfrm>
          <a:prstGeom prst="rect">
            <a:avLst/>
          </a:prstGeom>
          <a:noFill/>
        </p:spPr>
        <p:txBody>
          <a:bodyPr wrap="square" lIns="0" tIns="0" bIns="0">
            <a:spAutoFit/>
          </a:bodyPr>
          <a:lstStyle/>
          <a:p>
            <a:pPr>
              <a:lnSpc>
                <a:spcPct val="100000"/>
              </a:lnSpc>
              <a:spcAft>
                <a:spcPts val="100"/>
              </a:spcAft>
            </a:pPr>
            <a:r>
              <a:rPr sz="1100">
                <a:solidFill>
                  <a:srgbClr val="2D2D2D"/>
                </a:solidFill>
                <a:latin typeface="Consolas"/>
              </a:rPr>
              <a:t>cm05 = confusion_matrix(yte, (prob_te &gt;= 0.5).astype(int))</a:t>
            </a:r>
          </a:p>
          <a:p>
            <a:pPr>
              <a:lnSpc>
                <a:spcPct val="100000"/>
              </a:lnSpc>
              <a:spcAft>
                <a:spcPts val="100"/>
              </a:spcAft>
            </a:pPr>
            <a:r>
              <a:rPr sz="1100">
                <a:solidFill>
                  <a:srgbClr val="2D2D2D"/>
                </a:solidFill>
                <a:latin typeface="Consolas"/>
              </a:rPr>
              <a:t>tn, fp, fn, tp = cm05.ravel()</a:t>
            </a:r>
          </a:p>
        </p:txBody>
      </p:sp>
      <p:sp>
        <p:nvSpPr>
          <p:cNvPr id="14" name="Rounded Rectangle 13"/>
          <p:cNvSpPr/>
          <p:nvPr/>
        </p:nvSpPr>
        <p:spPr>
          <a:xfrm>
            <a:off x="7818120" y="3977639"/>
            <a:ext cx="3886200" cy="1755648"/>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ook-open__E4002B.png"/>
          <p:cNvPicPr>
            <a:picLocks noChangeAspect="1"/>
          </p:cNvPicPr>
          <p:nvPr/>
        </p:nvPicPr>
        <p:blipFill>
          <a:blip r:embed="rId4"/>
          <a:stretch>
            <a:fillRect/>
          </a:stretch>
        </p:blipFill>
        <p:spPr>
          <a:xfrm>
            <a:off x="8055864" y="4160519"/>
            <a:ext cx="256032" cy="256032"/>
          </a:xfrm>
          <a:prstGeom prst="rect">
            <a:avLst/>
          </a:prstGeom>
        </p:spPr>
      </p:pic>
      <p:sp>
        <p:nvSpPr>
          <p:cNvPr id="16" name="TextBox 15"/>
          <p:cNvSpPr txBox="1"/>
          <p:nvPr/>
        </p:nvSpPr>
        <p:spPr>
          <a:xfrm>
            <a:off x="8385048" y="4133087"/>
            <a:ext cx="3172968" cy="274320"/>
          </a:xfrm>
          <a:prstGeom prst="rect">
            <a:avLst/>
          </a:prstGeom>
          <a:noFill/>
        </p:spPr>
        <p:txBody>
          <a:bodyPr wrap="none" lIns="0" tIns="0" bIns="0">
            <a:spAutoFit/>
          </a:bodyPr>
          <a:lstStyle/>
          <a:p>
            <a:r>
              <a:rPr sz="1050" b="1">
                <a:solidFill>
                  <a:srgbClr val="9B1B30"/>
                </a:solidFill>
                <a:latin typeface="Calibri"/>
              </a:rPr>
              <a:t>RECALL VS EXACTITUD</a:t>
            </a:r>
          </a:p>
        </p:txBody>
      </p:sp>
      <p:sp>
        <p:nvSpPr>
          <p:cNvPr id="17" name="TextBox 16"/>
          <p:cNvSpPr txBox="1"/>
          <p:nvPr/>
        </p:nvSpPr>
        <p:spPr>
          <a:xfrm>
            <a:off x="8055864" y="4480559"/>
            <a:ext cx="3429000" cy="1161288"/>
          </a:xfrm>
          <a:prstGeom prst="rect">
            <a:avLst/>
          </a:prstGeom>
          <a:noFill/>
        </p:spPr>
        <p:txBody>
          <a:bodyPr wrap="square" lIns="0" tIns="0" bIns="0">
            <a:spAutoFit/>
          </a:bodyPr>
          <a:lstStyle/>
          <a:p>
            <a:pPr>
              <a:lnSpc>
                <a:spcPct val="110000"/>
              </a:lnSpc>
            </a:pPr>
            <a:r>
              <a:rPr sz="1200">
                <a:solidFill>
                  <a:srgbClr val="2D2D2D"/>
                </a:solidFill>
                <a:latin typeface="Calibri"/>
              </a:rPr>
              <a:t>El recall (sensibilidad) responde: de los que se van, ¿cuántos se detectaron? = VP/(VP+FN). La exactitud induce a error con clases desbalanceadas, porque asignar a todos la clase «no abandona» ya acierta mucho. Por eso en fuga se mira el recall y el costo de los FN, no la exactitud.</a:t>
            </a:r>
          </a:p>
        </p:txBody>
      </p:sp>
      <p:sp>
        <p:nvSpPr>
          <p:cNvPr id="18" name="Rounded Rectangle 1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matriz 0,5, celda 83</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sobre SAheart</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9.5 — jueves, bloques A1 y A2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sobre SAheart</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¿Se sostiene con datos reales? La réplica sobre SAheart</a:t>
            </a:r>
          </a:p>
        </p:txBody>
      </p:sp>
      <p:pic>
        <p:nvPicPr>
          <p:cNvPr id="5" name="Picture 4" descr="book-open__FFFFFF.png"/>
          <p:cNvPicPr>
            <a:picLocks noChangeAspect="1"/>
          </p:cNvPicPr>
          <p:nvPr/>
        </p:nvPicPr>
        <p:blipFill>
          <a:blip r:embed="rId3"/>
          <a:stretch>
            <a:fillRect/>
          </a:stretch>
        </p:blipFill>
        <p:spPr>
          <a:xfrm>
            <a:off x="10195560" y="640080"/>
            <a:ext cx="1051560" cy="10515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La viabilidad y la eficacia de un programa multifactorial de intervención comunitaria para reducir los niveles de los factores de riesgo de cardiopatía coronaria.</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Rossouw et al., 1993 — objetivo declarado de la continuación del estudio CORIS, del que proceden los datos SAheart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ESTUDIO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Ninguna de estas decisiones fue casual</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no la recta sobre 0/1</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modelo lineal de probabilidad da valores fuera de [0, 1] y su varianza, p(1−p), nunca es constante: los errores estándar resultan incorrectos.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Un riesgo de −0,12 no prioriza a nadie</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ghtbulb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el logit y no el probit</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Las dos curvas casi coinciden en el rango útil. Lo que las separa es que exp(β) del logit ES un odds ratio, y el coeficiente probit no se traduce.</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Ganó por comunicable, no por ajustar mejor</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workflow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verosimilitud y no mínimos cuadrados</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Lo que se modela es una probabilidad, así que se maximiza la verosimilitud. El precio: no hay fórmula cerrada; la ganancia: IRLS reutiliza la máquina del OLS.</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 ahí proviene el marco GLM de 1972</a:t>
            </a:r>
          </a:p>
        </p:txBody>
      </p:sp>
      <p:sp>
        <p:nvSpPr>
          <p:cNvPr id="22" name="TextBox 21"/>
          <p:cNvSpPr txBox="1"/>
          <p:nvPr/>
        </p:nvSpPr>
        <p:spPr>
          <a:xfrm>
            <a:off x="548640" y="5870448"/>
            <a:ext cx="10607040" cy="292608"/>
          </a:xfrm>
          <a:prstGeom prst="rect">
            <a:avLst/>
          </a:prstGeom>
          <a:noFill/>
        </p:spPr>
        <p:txBody>
          <a:bodyPr wrap="square">
            <a:spAutoFit/>
          </a:bodyPr>
          <a:lstStyle/>
          <a:p>
            <a:r>
              <a:rPr sz="1000">
                <a:solidFill>
                  <a:srgbClr val="6E6E6E"/>
                </a:solidFill>
                <a:latin typeface="Calibri"/>
              </a:rPr>
              <a:t>Decisiones de método documentadas y verificadas en REPLICACION_PAPER Sección 0.3 (CORIS 1983/1993; Berkson 1944; Cox 1958; Nelder &amp; Wedderburn 1972).</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VE EL DATASET DEL PAPER — SAHEART, 7 FACTORES DE RIESGO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Ninguna variable sola separa a enfermos de sanos</a:t>
            </a:r>
          </a:p>
        </p:txBody>
      </p:sp>
      <p:pic>
        <p:nvPicPr>
          <p:cNvPr id="4" name="Picture 3" descr="deck_scatter_matrix_esl412.png"/>
          <p:cNvPicPr>
            <a:picLocks noChangeAspect="1"/>
          </p:cNvPicPr>
          <p:nvPr/>
        </p:nvPicPr>
        <p:blipFill>
          <a:blip r:embed="rId2"/>
          <a:stretch>
            <a:fillRect/>
          </a:stretch>
        </p:blipFill>
        <p:spPr>
          <a:xfrm>
            <a:off x="640080" y="1874519"/>
            <a:ext cx="3922776" cy="3977639"/>
          </a:xfrm>
          <a:prstGeom prst="rect">
            <a:avLst/>
          </a:prstGeom>
        </p:spPr>
      </p:pic>
      <p:pic>
        <p:nvPicPr>
          <p:cNvPr id="5" name="Picture 4" descr="lightbulb__E4002B.png"/>
          <p:cNvPicPr>
            <a:picLocks noChangeAspect="1"/>
          </p:cNvPicPr>
          <p:nvPr/>
        </p:nvPicPr>
        <p:blipFill>
          <a:blip r:embed="rId3"/>
          <a:stretch>
            <a:fillRect/>
          </a:stretch>
        </p:blipFill>
        <p:spPr>
          <a:xfrm>
            <a:off x="4892040" y="1938528"/>
            <a:ext cx="365760" cy="365760"/>
          </a:xfrm>
          <a:prstGeom prst="rect">
            <a:avLst/>
          </a:prstGeom>
        </p:spPr>
      </p:pic>
      <p:sp>
        <p:nvSpPr>
          <p:cNvPr id="6" name="TextBox 5"/>
          <p:cNvSpPr txBox="1"/>
          <p:nvPr/>
        </p:nvSpPr>
        <p:spPr>
          <a:xfrm>
            <a:off x="5349240" y="1975104"/>
            <a:ext cx="6217920" cy="36576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4892040" y="2542032"/>
            <a:ext cx="6766560" cy="960120"/>
          </a:xfrm>
          <a:prstGeom prst="rect">
            <a:avLst/>
          </a:prstGeom>
          <a:noFill/>
        </p:spPr>
        <p:txBody>
          <a:bodyPr wrap="square" anchor="t" lIns="0" rIns="0" tIns="0" bIns="0">
            <a:spAutoFit/>
          </a:bodyPr>
          <a:lstStyle/>
          <a:p>
            <a:pPr algn="l">
              <a:lnSpc>
                <a:spcPct val="122000"/>
              </a:lnSpc>
            </a:pPr>
            <a:r>
              <a:rPr sz="1500" b="0">
                <a:solidFill>
                  <a:srgbClr val="2D2D2D"/>
                </a:solidFill>
                <a:latin typeface="Calibri"/>
              </a:rPr>
              <a:t>Rojo (con cardiopatía) y gris (sano) se solapan en todos los pares: ningún factor aislado separa las clases.</a:t>
            </a:r>
          </a:p>
        </p:txBody>
      </p:sp>
      <p:sp>
        <p:nvSpPr>
          <p:cNvPr id="8" name="Rounded Rectangle 7"/>
          <p:cNvSpPr/>
          <p:nvPr/>
        </p:nvSpPr>
        <p:spPr>
          <a:xfrm>
            <a:off x="4892040" y="3657600"/>
            <a:ext cx="676656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ok-open__E4002B.png"/>
          <p:cNvPicPr>
            <a:picLocks noChangeAspect="1"/>
          </p:cNvPicPr>
          <p:nvPr/>
        </p:nvPicPr>
        <p:blipFill>
          <a:blip r:embed="rId4"/>
          <a:stretch>
            <a:fillRect/>
          </a:stretch>
        </p:blipFill>
        <p:spPr>
          <a:xfrm>
            <a:off x="5038344" y="3712464"/>
            <a:ext cx="219456" cy="219456"/>
          </a:xfrm>
          <a:prstGeom prst="rect">
            <a:avLst/>
          </a:prstGeom>
        </p:spPr>
      </p:pic>
      <p:sp>
        <p:nvSpPr>
          <p:cNvPr id="10" name="TextBox 9"/>
          <p:cNvSpPr txBox="1"/>
          <p:nvPr/>
        </p:nvSpPr>
        <p:spPr>
          <a:xfrm>
            <a:off x="5349240" y="3689604"/>
            <a:ext cx="619963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ESL, 2.ª ed., Figura 4.12, p. 122 (matriz de dispersión de SAheart por chd)</a:t>
            </a:r>
          </a:p>
        </p:txBody>
      </p:sp>
      <p:sp>
        <p:nvSpPr>
          <p:cNvPr id="11" name="Rounded Rectangle 10"/>
          <p:cNvSpPr/>
          <p:nvPr/>
        </p:nvSpPr>
        <p:spPr>
          <a:xfrm>
            <a:off x="4892040" y="4160520"/>
            <a:ext cx="6766560" cy="14173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E4002B.png"/>
          <p:cNvPicPr>
            <a:picLocks noChangeAspect="1"/>
          </p:cNvPicPr>
          <p:nvPr/>
        </p:nvPicPr>
        <p:blipFill>
          <a:blip r:embed="rId4"/>
          <a:stretch>
            <a:fillRect/>
          </a:stretch>
        </p:blipFill>
        <p:spPr>
          <a:xfrm>
            <a:off x="5129784" y="4343400"/>
            <a:ext cx="256032" cy="256032"/>
          </a:xfrm>
          <a:prstGeom prst="rect">
            <a:avLst/>
          </a:prstGeom>
        </p:spPr>
      </p:pic>
      <p:sp>
        <p:nvSpPr>
          <p:cNvPr id="13" name="TextBox 12"/>
          <p:cNvSpPr txBox="1"/>
          <p:nvPr/>
        </p:nvSpPr>
        <p:spPr>
          <a:xfrm>
            <a:off x="5458968" y="4315968"/>
            <a:ext cx="6053328" cy="274320"/>
          </a:xfrm>
          <a:prstGeom prst="rect">
            <a:avLst/>
          </a:prstGeom>
          <a:noFill/>
        </p:spPr>
        <p:txBody>
          <a:bodyPr wrap="none" lIns="0" tIns="0" bIns="0">
            <a:spAutoFit/>
          </a:bodyPr>
          <a:lstStyle/>
          <a:p>
            <a:r>
              <a:rPr sz="1050" b="1">
                <a:solidFill>
                  <a:srgbClr val="9B1B30"/>
                </a:solidFill>
                <a:latin typeface="Calibri"/>
              </a:rPr>
              <a:t>POR QUÉ UNA MATRIZ DE DISPERSIÓN</a:t>
            </a:r>
          </a:p>
        </p:txBody>
      </p:sp>
      <p:sp>
        <p:nvSpPr>
          <p:cNvPr id="14" name="TextBox 13"/>
          <p:cNvSpPr txBox="1"/>
          <p:nvPr/>
        </p:nvSpPr>
        <p:spPr>
          <a:xfrm>
            <a:off x="5129784" y="4663440"/>
            <a:ext cx="6309360" cy="822960"/>
          </a:xfrm>
          <a:prstGeom prst="rect">
            <a:avLst/>
          </a:prstGeom>
          <a:noFill/>
        </p:spPr>
        <p:txBody>
          <a:bodyPr wrap="square" lIns="0" tIns="0" bIns="0">
            <a:spAutoFit/>
          </a:bodyPr>
          <a:lstStyle/>
          <a:p>
            <a:pPr>
              <a:lnSpc>
                <a:spcPct val="110000"/>
              </a:lnSpc>
            </a:pPr>
            <a:r>
              <a:rPr sz="1200">
                <a:solidFill>
                  <a:srgbClr val="2D2D2D"/>
                </a:solidFill>
                <a:latin typeface="Calibri"/>
              </a:rPr>
              <a:t>Una matriz de dispersión cruza cada par de variables y colorea por la clase. Aquí las nubes se mezclan en todos los paneles: por eso la clasificación necesita un modelo multivariante —la logística— que combine los siete factores a la vez.</a:t>
            </a:r>
          </a:p>
        </p:txBody>
      </p:sp>
      <p:sp>
        <p:nvSpPr>
          <p:cNvPr id="15" name="Rounded Rectangle 14"/>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Figura 6, celda 131</a:t>
            </a:r>
          </a:p>
        </p:txBody>
      </p:sp>
      <p:sp>
        <p:nvSpPr>
          <p:cNvPr id="16" name="TextBox 15"/>
          <p:cNvSpPr txBox="1"/>
          <p:nvPr/>
        </p:nvSpPr>
        <p:spPr>
          <a:xfrm>
            <a:off x="548640" y="5870448"/>
            <a:ext cx="10607040" cy="292608"/>
          </a:xfrm>
          <a:prstGeom prst="rect">
            <a:avLst/>
          </a:prstGeom>
          <a:noFill/>
        </p:spPr>
        <p:txBody>
          <a:bodyPr wrap="square">
            <a:spAutoFit/>
          </a:bodyPr>
          <a:lstStyle/>
          <a:p>
            <a:r>
              <a:rPr sz="1000">
                <a:solidFill>
                  <a:srgbClr val="6E6E6E"/>
                </a:solidFill>
                <a:latin typeface="Calibri"/>
              </a:rPr>
              <a:t>figuras/S09_fig_scatter_matrix_esl412.png (venv; scatter_matrix de SAheart por chd). Reproduce ESL (Hastie, Tibshirani &amp; Friedman, 2009), 2.ª ed., Figura 4.12 — p. 122.</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TABLERO DE RÉPLICA — OBTENIDO VS ESPERADO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venv reproduce ESL Tabla 4.2 dentro de tolerancia</a:t>
            </a:r>
          </a:p>
        </p:txBody>
      </p:sp>
      <p:graphicFrame>
        <p:nvGraphicFramePr>
          <p:cNvPr id="4" name="Table 3"/>
          <p:cNvGraphicFramePr>
            <a:graphicFrameLocks noGrp="1"/>
          </p:cNvGraphicFramePr>
          <p:nvPr/>
        </p:nvGraphicFramePr>
        <p:xfrm>
          <a:off x="548640" y="1828800"/>
          <a:ext cx="11094720" cy="2103120"/>
        </p:xfrm>
        <a:graphic>
          <a:graphicData uri="http://schemas.openxmlformats.org/drawingml/2006/table">
            <a:tbl>
              <a:tblPr firstRow="1" bandRow="1">
                <a:tableStyleId>{5C22544A-7EE6-4342-B048-85BDC9FD1C3A}</a:tableStyleId>
              </a:tblPr>
              <a:tblGrid>
                <a:gridCol w="2218944"/>
                <a:gridCol w="2218944"/>
                <a:gridCol w="2218944"/>
                <a:gridCol w="2218944"/>
                <a:gridCol w="2218944"/>
              </a:tblGrid>
              <a:tr h="420624">
                <a:tc>
                  <a:txBody>
                    <a:bodyPr/>
                    <a:lstStyle/>
                    <a:p>
                      <a:r>
                        <a:rPr sz="1400" b="1">
                          <a:solidFill>
                            <a:srgbClr val="FFFFFF"/>
                          </a:solidFill>
                          <a:latin typeface="Calibri"/>
                        </a:rPr>
                        <a:t>Factor de riesgo</a:t>
                      </a:r>
                    </a:p>
                  </a:txBody>
                  <a:tcPr>
                    <a:solidFill>
                      <a:srgbClr val="9B1B30"/>
                    </a:solidFill>
                  </a:tcPr>
                </a:tc>
                <a:tc>
                  <a:txBody>
                    <a:bodyPr/>
                    <a:lstStyle/>
                    <a:p>
                      <a:r>
                        <a:rPr sz="1400" b="1">
                          <a:solidFill>
                            <a:srgbClr val="FFFFFF"/>
                          </a:solidFill>
                          <a:latin typeface="Calibri"/>
                        </a:rPr>
                        <a:t>β obtenido (venv)</a:t>
                      </a:r>
                    </a:p>
                  </a:txBody>
                  <a:tcPr>
                    <a:solidFill>
                      <a:srgbClr val="9B1B30"/>
                    </a:solidFill>
                  </a:tcPr>
                </a:tc>
                <a:tc>
                  <a:txBody>
                    <a:bodyPr/>
                    <a:lstStyle/>
                    <a:p>
                      <a:r>
                        <a:rPr sz="1400" b="1">
                          <a:solidFill>
                            <a:srgbClr val="FFFFFF"/>
                          </a:solidFill>
                          <a:latin typeface="Calibri"/>
                        </a:rPr>
                        <a:t>β esperado (ESL 4.2)</a:t>
                      </a:r>
                    </a:p>
                  </a:txBody>
                  <a:tcPr>
                    <a:solidFill>
                      <a:srgbClr val="9B1B30"/>
                    </a:solidFill>
                  </a:tcPr>
                </a:tc>
                <a:tc>
                  <a:txBody>
                    <a:bodyPr/>
                    <a:lstStyle/>
                    <a:p>
                      <a:r>
                        <a:rPr sz="1400" b="1">
                          <a:solidFill>
                            <a:srgbClr val="FFFFFF"/>
                          </a:solidFill>
                          <a:latin typeface="Calibri"/>
                        </a:rPr>
                        <a:t>Δ = obt − esp</a:t>
                      </a:r>
                    </a:p>
                  </a:txBody>
                  <a:tcPr>
                    <a:solidFill>
                      <a:srgbClr val="9B1B30"/>
                    </a:solidFill>
                  </a:tcPr>
                </a:tc>
                <a:tc>
                  <a:txBody>
                    <a:bodyPr/>
                    <a:lstStyle/>
                    <a:p>
                      <a:r>
                        <a:rPr sz="1400" b="1">
                          <a:solidFill>
                            <a:srgbClr val="FFFFFF"/>
                          </a:solidFill>
                          <a:latin typeface="Calibri"/>
                        </a:rPr>
                        <a:t>¿en tolerancia?</a:t>
                      </a:r>
                    </a:p>
                  </a:txBody>
                  <a:tcPr>
                    <a:solidFill>
                      <a:srgbClr val="9B1B30"/>
                    </a:solidFill>
                  </a:tcPr>
                </a:tc>
              </a:tr>
              <a:tr h="420624">
                <a:tc>
                  <a:txBody>
                    <a:bodyPr wrap="square"/>
                    <a:lstStyle/>
                    <a:p>
                      <a:r>
                        <a:rPr sz="1400">
                          <a:solidFill>
                            <a:srgbClr val="2D2D2D"/>
                          </a:solidFill>
                          <a:latin typeface="Calibri"/>
                        </a:rPr>
                        <a:t>tobacco (kg)</a:t>
                      </a:r>
                    </a:p>
                  </a:txBody>
                  <a:tcPr>
                    <a:solidFill>
                      <a:srgbClr val="FFFFFF"/>
                    </a:solidFill>
                  </a:tcPr>
                </a:tc>
                <a:tc>
                  <a:txBody>
                    <a:bodyPr wrap="square"/>
                    <a:lstStyle/>
                    <a:p>
                      <a:r>
                        <a:rPr sz="1400">
                          <a:solidFill>
                            <a:srgbClr val="2D2D2D"/>
                          </a:solidFill>
                          <a:latin typeface="Calibri"/>
                        </a:rPr>
                        <a:t>0,080</a:t>
                      </a:r>
                    </a:p>
                  </a:txBody>
                  <a:tcPr>
                    <a:solidFill>
                      <a:srgbClr val="FFFFFF"/>
                    </a:solidFill>
                  </a:tcPr>
                </a:tc>
                <a:tc>
                  <a:txBody>
                    <a:bodyPr wrap="square"/>
                    <a:lstStyle/>
                    <a:p>
                      <a:r>
                        <a:rPr sz="1400">
                          <a:solidFill>
                            <a:srgbClr val="2D2D2D"/>
                          </a:solidFill>
                          <a:latin typeface="Calibri"/>
                        </a:rPr>
                        <a:t>0,080</a:t>
                      </a:r>
                    </a:p>
                  </a:txBody>
                  <a:tcPr>
                    <a:solidFill>
                      <a:srgbClr val="FFFFFF"/>
                    </a:solidFill>
                  </a:tcPr>
                </a:tc>
                <a:tc>
                  <a:txBody>
                    <a:bodyPr wrap="square"/>
                    <a:lstStyle/>
                    <a:p>
                      <a:r>
                        <a:rPr sz="1400">
                          <a:solidFill>
                            <a:srgbClr val="2D2D2D"/>
                          </a:solidFill>
                          <a:latin typeface="Calibri"/>
                        </a:rPr>
                        <a:t>−0,0005</a:t>
                      </a:r>
                    </a:p>
                  </a:txBody>
                  <a:tcPr>
                    <a:solidFill>
                      <a:srgbClr val="FFFFFF"/>
                    </a:solidFill>
                  </a:tcPr>
                </a:tc>
                <a:tc>
                  <a:txBody>
                    <a:bodyPr wrap="square"/>
                    <a:lstStyle/>
                    <a:p>
                      <a:r>
                        <a:rPr sz="1400">
                          <a:solidFill>
                            <a:srgbClr val="2D2D2D"/>
                          </a:solidFill>
                          <a:latin typeface="Calibri"/>
                        </a:rPr>
                        <a:t>Sí — ±0,01</a:t>
                      </a:r>
                    </a:p>
                  </a:txBody>
                  <a:tcPr>
                    <a:solidFill>
                      <a:srgbClr val="FFFFFF"/>
                    </a:solidFill>
                  </a:tcPr>
                </a:tc>
              </a:tr>
              <a:tr h="420624">
                <a:tc>
                  <a:txBody>
                    <a:bodyPr wrap="square"/>
                    <a:lstStyle/>
                    <a:p>
                      <a:r>
                        <a:rPr sz="1400">
                          <a:solidFill>
                            <a:srgbClr val="2D2D2D"/>
                          </a:solidFill>
                          <a:latin typeface="Calibri"/>
                        </a:rPr>
                        <a:t>ldl</a:t>
                      </a:r>
                    </a:p>
                  </a:txBody>
                  <a:tcPr>
                    <a:solidFill>
                      <a:srgbClr val="FCEDEE"/>
                    </a:solidFill>
                  </a:tcPr>
                </a:tc>
                <a:tc>
                  <a:txBody>
                    <a:bodyPr wrap="square"/>
                    <a:lstStyle/>
                    <a:p>
                      <a:r>
                        <a:rPr sz="1400">
                          <a:solidFill>
                            <a:srgbClr val="2D2D2D"/>
                          </a:solidFill>
                          <a:latin typeface="Calibri"/>
                        </a:rPr>
                        <a:t>0,185</a:t>
                      </a:r>
                    </a:p>
                  </a:txBody>
                  <a:tcPr>
                    <a:solidFill>
                      <a:srgbClr val="FCEDEE"/>
                    </a:solidFill>
                  </a:tcPr>
                </a:tc>
                <a:tc>
                  <a:txBody>
                    <a:bodyPr wrap="square"/>
                    <a:lstStyle/>
                    <a:p>
                      <a:r>
                        <a:rPr sz="1400">
                          <a:solidFill>
                            <a:srgbClr val="2D2D2D"/>
                          </a:solidFill>
                          <a:latin typeface="Calibri"/>
                        </a:rPr>
                        <a:t>0,185</a:t>
                      </a:r>
                    </a:p>
                  </a:txBody>
                  <a:tcPr>
                    <a:solidFill>
                      <a:srgbClr val="FCEDEE"/>
                    </a:solidFill>
                  </a:tcPr>
                </a:tc>
                <a:tc>
                  <a:txBody>
                    <a:bodyPr wrap="square"/>
                    <a:lstStyle/>
                    <a:p>
                      <a:r>
                        <a:rPr sz="1400">
                          <a:solidFill>
                            <a:srgbClr val="2D2D2D"/>
                          </a:solidFill>
                          <a:latin typeface="Calibri"/>
                        </a:rPr>
                        <a:t>−0,0002</a:t>
                      </a:r>
                    </a:p>
                  </a:txBody>
                  <a:tcPr>
                    <a:solidFill>
                      <a:srgbClr val="FCEDEE"/>
                    </a:solidFill>
                  </a:tcPr>
                </a:tc>
                <a:tc>
                  <a:txBody>
                    <a:bodyPr wrap="square"/>
                    <a:lstStyle/>
                    <a:p>
                      <a:r>
                        <a:rPr sz="1400">
                          <a:solidFill>
                            <a:srgbClr val="2D2D2D"/>
                          </a:solidFill>
                          <a:latin typeface="Calibri"/>
                        </a:rPr>
                        <a:t>Sí — ±0,02</a:t>
                      </a:r>
                    </a:p>
                  </a:txBody>
                  <a:tcPr>
                    <a:solidFill>
                      <a:srgbClr val="FCEDEE"/>
                    </a:solidFill>
                  </a:tcPr>
                </a:tc>
              </a:tr>
              <a:tr h="420624">
                <a:tc>
                  <a:txBody>
                    <a:bodyPr wrap="square"/>
                    <a:lstStyle/>
                    <a:p>
                      <a:r>
                        <a:rPr sz="1400">
                          <a:solidFill>
                            <a:srgbClr val="2D2D2D"/>
                          </a:solidFill>
                          <a:latin typeface="Calibri"/>
                        </a:rPr>
                        <a:t>famhist</a:t>
                      </a:r>
                    </a:p>
                  </a:txBody>
                  <a:tcPr>
                    <a:solidFill>
                      <a:srgbClr val="FFFFFF"/>
                    </a:solidFill>
                  </a:tcPr>
                </a:tc>
                <a:tc>
                  <a:txBody>
                    <a:bodyPr wrap="square"/>
                    <a:lstStyle/>
                    <a:p>
                      <a:r>
                        <a:rPr sz="1400">
                          <a:solidFill>
                            <a:srgbClr val="2D2D2D"/>
                          </a:solidFill>
                          <a:latin typeface="Calibri"/>
                        </a:rPr>
                        <a:t>0,939</a:t>
                      </a:r>
                    </a:p>
                  </a:txBody>
                  <a:tcPr>
                    <a:solidFill>
                      <a:srgbClr val="FFFFFF"/>
                    </a:solidFill>
                  </a:tcPr>
                </a:tc>
                <a:tc>
                  <a:txBody>
                    <a:bodyPr wrap="square"/>
                    <a:lstStyle/>
                    <a:p>
                      <a:r>
                        <a:rPr sz="1400">
                          <a:solidFill>
                            <a:srgbClr val="2D2D2D"/>
                          </a:solidFill>
                          <a:latin typeface="Calibri"/>
                        </a:rPr>
                        <a:t>0,939</a:t>
                      </a:r>
                    </a:p>
                  </a:txBody>
                  <a:tcPr>
                    <a:solidFill>
                      <a:srgbClr val="FFFFFF"/>
                    </a:solidFill>
                  </a:tcPr>
                </a:tc>
                <a:tc>
                  <a:txBody>
                    <a:bodyPr wrap="square"/>
                    <a:lstStyle/>
                    <a:p>
                      <a:r>
                        <a:rPr sz="1400">
                          <a:solidFill>
                            <a:srgbClr val="2D2D2D"/>
                          </a:solidFill>
                          <a:latin typeface="Calibri"/>
                        </a:rPr>
                        <a:t>+0,0002</a:t>
                      </a:r>
                    </a:p>
                  </a:txBody>
                  <a:tcPr>
                    <a:solidFill>
                      <a:srgbClr val="FFFFFF"/>
                    </a:solidFill>
                  </a:tcPr>
                </a:tc>
                <a:tc>
                  <a:txBody>
                    <a:bodyPr wrap="square"/>
                    <a:lstStyle/>
                    <a:p>
                      <a:r>
                        <a:rPr sz="1400">
                          <a:solidFill>
                            <a:srgbClr val="2D2D2D"/>
                          </a:solidFill>
                          <a:latin typeface="Calibri"/>
                        </a:rPr>
                        <a:t>Sí — ±0,02</a:t>
                      </a:r>
                    </a:p>
                  </a:txBody>
                  <a:tcPr>
                    <a:solidFill>
                      <a:srgbClr val="FFFFFF"/>
                    </a:solidFill>
                  </a:tcPr>
                </a:tc>
              </a:tr>
              <a:tr h="420624">
                <a:tc>
                  <a:txBody>
                    <a:bodyPr wrap="square"/>
                    <a:lstStyle/>
                    <a:p>
                      <a:r>
                        <a:rPr sz="1400">
                          <a:solidFill>
                            <a:srgbClr val="2D2D2D"/>
                          </a:solidFill>
                          <a:latin typeface="Calibri"/>
                        </a:rPr>
                        <a:t>age (años)</a:t>
                      </a:r>
                    </a:p>
                  </a:txBody>
                  <a:tcPr>
                    <a:solidFill>
                      <a:srgbClr val="FCEDEE"/>
                    </a:solidFill>
                  </a:tcPr>
                </a:tc>
                <a:tc>
                  <a:txBody>
                    <a:bodyPr wrap="square"/>
                    <a:lstStyle/>
                    <a:p>
                      <a:r>
                        <a:rPr sz="1400">
                          <a:solidFill>
                            <a:srgbClr val="2D2D2D"/>
                          </a:solidFill>
                          <a:latin typeface="Calibri"/>
                        </a:rPr>
                        <a:t>0,043</a:t>
                      </a:r>
                    </a:p>
                  </a:txBody>
                  <a:tcPr>
                    <a:solidFill>
                      <a:srgbClr val="FCEDEE"/>
                    </a:solidFill>
                  </a:tcPr>
                </a:tc>
                <a:tc>
                  <a:txBody>
                    <a:bodyPr wrap="square"/>
                    <a:lstStyle/>
                    <a:p>
                      <a:r>
                        <a:rPr sz="1400">
                          <a:solidFill>
                            <a:srgbClr val="2D2D2D"/>
                          </a:solidFill>
                          <a:latin typeface="Calibri"/>
                        </a:rPr>
                        <a:t>0,043</a:t>
                      </a:r>
                    </a:p>
                  </a:txBody>
                  <a:tcPr>
                    <a:solidFill>
                      <a:srgbClr val="FCEDEE"/>
                    </a:solidFill>
                  </a:tcPr>
                </a:tc>
                <a:tc>
                  <a:txBody>
                    <a:bodyPr wrap="square"/>
                    <a:lstStyle/>
                    <a:p>
                      <a:r>
                        <a:rPr sz="1400">
                          <a:solidFill>
                            <a:srgbClr val="2D2D2D"/>
                          </a:solidFill>
                          <a:latin typeface="Calibri"/>
                        </a:rPr>
                        <a:t>−0,0005</a:t>
                      </a:r>
                    </a:p>
                  </a:txBody>
                  <a:tcPr>
                    <a:solidFill>
                      <a:srgbClr val="FCEDEE"/>
                    </a:solidFill>
                  </a:tcPr>
                </a:tc>
                <a:tc>
                  <a:txBody>
                    <a:bodyPr wrap="square"/>
                    <a:lstStyle/>
                    <a:p>
                      <a:r>
                        <a:rPr sz="1400">
                          <a:solidFill>
                            <a:srgbClr val="2D2D2D"/>
                          </a:solidFill>
                          <a:latin typeface="Calibri"/>
                        </a:rPr>
                        <a:t>Sí — ±0,01</a:t>
                      </a:r>
                    </a:p>
                  </a:txBody>
                  <a:tcPr>
                    <a:solidFill>
                      <a:srgbClr val="FCEDEE"/>
                    </a:solidFill>
                  </a:tcPr>
                </a:tc>
              </a:tr>
            </a:tbl>
          </a:graphicData>
        </a:graphic>
      </p:graphicFrame>
      <p:sp>
        <p:nvSpPr>
          <p:cNvPr id="5" name="Rounded Rectangle 4"/>
          <p:cNvSpPr/>
          <p:nvPr/>
        </p:nvSpPr>
        <p:spPr>
          <a:xfrm>
            <a:off x="548640" y="4297680"/>
            <a:ext cx="11091672"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E4002B.png"/>
          <p:cNvPicPr>
            <a:picLocks noChangeAspect="1"/>
          </p:cNvPicPr>
          <p:nvPr/>
        </p:nvPicPr>
        <p:blipFill>
          <a:blip r:embed="rId2"/>
          <a:stretch>
            <a:fillRect/>
          </a:stretch>
        </p:blipFill>
        <p:spPr>
          <a:xfrm>
            <a:off x="694944" y="4352544"/>
            <a:ext cx="219456" cy="219456"/>
          </a:xfrm>
          <a:prstGeom prst="rect">
            <a:avLst/>
          </a:prstGeom>
        </p:spPr>
      </p:pic>
      <p:sp>
        <p:nvSpPr>
          <p:cNvPr id="7" name="TextBox 6"/>
          <p:cNvSpPr txBox="1"/>
          <p:nvPr/>
        </p:nvSpPr>
        <p:spPr>
          <a:xfrm>
            <a:off x="1005840" y="4329684"/>
            <a:ext cx="10524744" cy="274320"/>
          </a:xfrm>
          <a:prstGeom prst="rect">
            <a:avLst/>
          </a:prstGeom>
          <a:noFill/>
        </p:spPr>
        <p:txBody>
          <a:bodyPr wrap="square" lIns="0" rIns="0" tIns="0" bIns="0">
            <a:spAutoFit/>
          </a:bodyPr>
          <a:lstStyle/>
          <a:p>
            <a:pPr algn="l"/>
            <a:r>
              <a:rPr sz="1200" b="1">
                <a:solidFill>
                  <a:srgbClr val="9B1B30"/>
                </a:solidFill>
                <a:latin typeface="Calibri"/>
              </a:rPr>
              <a:t>En el paper:  ESL Sección 4.4.2, Tabla 4.2, p. 122   (cada β esperado proviene de esa tabla)</a:t>
            </a:r>
            <a:r>
              <a:rPr sz="1200" b="1">
                <a:solidFill>
                  <a:srgbClr val="2D2D2D"/>
                </a:solidFill>
                <a:latin typeface="Calibri"/>
              </a:rPr>
              <a:t/>
            </a:r>
          </a:p>
        </p:txBody>
      </p:sp>
      <p:sp>
        <p:nvSpPr>
          <p:cNvPr id="8" name="TextBox 7"/>
          <p:cNvSpPr txBox="1"/>
          <p:nvPr/>
        </p:nvSpPr>
        <p:spPr>
          <a:xfrm>
            <a:off x="548640" y="4846320"/>
            <a:ext cx="11091672" cy="731520"/>
          </a:xfrm>
          <a:prstGeom prst="rect">
            <a:avLst/>
          </a:prstGeom>
          <a:noFill/>
        </p:spPr>
        <p:txBody>
          <a:bodyPr wrap="square" anchor="t" lIns="0" rIns="0" tIns="0" bIns="0">
            <a:spAutoFit/>
          </a:bodyPr>
          <a:lstStyle/>
          <a:p>
            <a:pPr algn="l">
              <a:lnSpc>
                <a:spcPct val="118000"/>
              </a:lnSpc>
            </a:pPr>
            <a:r>
              <a:rPr sz="1300" b="0">
                <a:solidFill>
                  <a:srgbClr val="2D2D2D"/>
                </a:solidFill>
                <a:latin typeface="Calibri"/>
              </a:rPr>
              <a:t>Réplica fiel: los cuatro coeficientes caen dentro de tolerancia. «Obtenido» es el venv; «esperado», ESL como benchmark. El Δ confirma cálculos independientes.</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2, Contraste #1, celda 59</a:t>
            </a:r>
          </a:p>
        </p:txBody>
      </p:sp>
      <p:sp>
        <p:nvSpPr>
          <p:cNvPr id="10" name="TextBox 9"/>
          <p:cNvSpPr txBox="1"/>
          <p:nvPr/>
        </p:nvSpPr>
        <p:spPr>
          <a:xfrm>
            <a:off x="548640" y="5870448"/>
            <a:ext cx="10607040" cy="292608"/>
          </a:xfrm>
          <a:prstGeom prst="rect">
            <a:avLst/>
          </a:prstGeom>
          <a:noFill/>
        </p:spPr>
        <p:txBody>
          <a:bodyPr wrap="square">
            <a:spAutoFit/>
          </a:bodyPr>
          <a:lstStyle/>
          <a:p>
            <a:r>
              <a:rPr sz="1000">
                <a:solidFill>
                  <a:srgbClr val="6E6E6E"/>
                </a:solidFill>
                <a:latin typeface="Calibri"/>
              </a:rPr>
              <a:t>resultados/S09_resultados.xlsx!odds_ratios (coef, venv). Benchmark: ESL (Hastie, Tibshirani &amp; Friedman, 2009), 2.ª ed., Tabla 4.2 — p. 122; tolerancias de REPLICACION Sección 4.</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ACADÉMICA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logística y los GLM</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ISLR, cap. 4.1-4.4 — lectura base</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James, Witten, Hastie &amp; Tibshirani (2021)  —  de la lineal a la logística, odds, matriz de confusión y ROC.</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Generalized Linear Models — paper de la réplica</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Nelder &amp; Wedderburn (1972), JRSS-A 135(3)  —  funda el marco: familia exponencial, enlace e IRLS.</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Generalized Linear Models, 2.ª ed. — tratado</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McCullagh &amp; Nelder (1989)  —  deviance, familias, sobre-dispersión; de aquí proviene ships.</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Applied Logistic Regression, 3.ª ed.</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Hosmer, Lemeshow &amp; Sturdivant (2013)  —  interpretación del odds ratio y construcción de modelos.</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Logistic Regression in Rare Events Data</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King &amp; Zeng (2001), Political Analysis 9(2)  —  por qué el umbral y la tasa base importan en eventos raros.</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S09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