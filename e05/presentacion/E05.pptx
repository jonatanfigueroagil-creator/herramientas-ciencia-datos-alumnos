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Dar la bienvenida a la sesión E5 del programa EPE. Promesa: al terminar, cada participante sabrá PREDECIR una categoría de negocio (fuga sí/no, fraude sí/no) con regresión logística, INTERPRETAR el resultado en probabilidad y odds ratio, EVALUAR el modelo con matriz de confusión, ROC-AUC, PR-AUC, precisión y recall, y DECIDIR el umbral según el costo del error. Enfoque EPE: intuición y decisión de negocio por encima del formalismo; LDA/QDA y los GLM Poisson/gamma solo se nombran. El botón «Abrir en Colab» lleva al cuaderno de la sesión. [Min 0-2 — acumulado: 2/170]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Presentar el recorrido como los CUATRO ACTOS del deck, en el mismo orden en que aparecerán sus divisores. Acto 1 PREDECIR EL SÍ O EL NO (min 4-19, celda 4): la logística devuelve una probabilidad entre 0 y 1 mediante la sigmoide, y el lenguaje del riesgo se dice en logit, odds y odds ratio. Acto 2 LEER LOS ODDS Y ELEGIR EL UMBRAL (min 19-40, celdas 12 y 15): exp(b) sobre Telco —la fibra casi triplica los odds de fuga—, la matriz de confusión y el corte que minimiza el costo del error, falso negativo frente a falso positivo. Acto 3 CUANDO LA CLASE CASI NO EXISTE (min 40-53, celdas 20 y 24): el desbalance 99:1 del fraude, la paradoja de la exactitud y las métricas honestas (precisión, recall, ROC-AUC frente a PR-AUC). Acto 4 TRATAR EL DESBALANCE Y DECIDIR (min 53-70, celda 27): SMOTE, el trade-off entre recall y precisión y la recomendación de negocio. Después de los actos vienen el laboratorio y el entregable evaluable (clasificador de churn + lectura del fraude). [Min 2-4 — acumulado: 4/170]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Abrir el primer acto. La regresión lineal (E2) predice una cantidad continua y puede devolver valores fuera de [0, 1]: no sirve para una probabilidad. La logística lo resuelve modelando el logit (log-odds) como una recta y devolviendo la probabilidad por la sigmoide. Antes de ver resultados se fija el vocabulario. Fuente: DEFINICIONES (reúso S09). [Min 4-5 — acumulado: 5/170]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Cifra de contexto. En el dataset de Telco el 26,6% de los clientes se fuga: uno de cada cuatro. El problema de negocio no es contar la fuga (eso es un KPI del tablero), sino PREDECIR quién se irá para actuar antes de que cancele: una variable objetivo binaria, fuga sí/no. Ese salto —de contar a predecir una probabilidad acotada— es justo lo que resuelve la regresión logística. La cifra es descriptiva del dataset, no un resultado del modelo. [Min 4-7 · acumulado: 7/170]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Abrir el primer acto. La regresión lineal (E2) predice una cantidad continua y puede devolver valores fuera de [0, 1]: no sirve para una probabilidad. La logística lo resuelve modelando el logit (log-odds) como una recta y devolviendo la probabilidad por la sigmoide. Antes de ver resultados se fija el vocabulario. Fuente: DEFINICIONES. [Min 7-8 · acumulado: 8/170]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El puente de la lineal a la logística. Se modela logit(p) = ln(p/(1-p)) = b0 + b1*x1 + ..., una RECTA en la escala de log-odds; su inversa es la SIGMOIDE, la fórmula que da nombre al método: sigma(z) = 1/(1+e^(-z)), con z el score lineal. Transforma cualquier valor real en una probabilidad dentro de (0, 1). EN LA PIZARRA: dibujar la S y marcar tres puntos —sigma(0) = 0,5 (score 0 -&gt; p 0,5), sigma(2) ~ 0,88 y sigma(-2) ~ 0,12—; al crecer z tiende a 1 y al decrecer a 0, sin cruzarlas nunca. Esa cota es lo que la lineal no garantizaba: es la base de todo scoring de propensión (fuga, impago, compra). Fuente: DEFINICIONES Sección 1. [Min 8-12 · acumulado: 12/170]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Fijar las tres piezas de interpretación. (1) LOGIT: el logaritmo de los odds, la escala en la que la logística es lineal. (2) ODDS = p/(1-p): el cociente entre que ocurra y que no, el lenguaje del riesgo (odds 3 a 1 = probabilidad 0,75). (3) ODDS RATIO = exp(b): cuánto se MULTIPLICAN los odds al subir el predictor una unidad, con lo demás constante; &gt;1 aumenta la fuga, &lt;1 protege, =1 sin efecto. Mención de scope EPE: la logística es el GLM binomial; Naive Bayes, LDA/QDA y los GLM Poisson/gamma solo se nombran, no se ajustan. Fuente: DEFINICIONES Secciones 1-3. [Min 12-16 · acumulado: 16/170]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Primera pausa de discusión. 2 minutos y 2-3 respuestas. Guiar: NO. Un coeficiente de 0,9 está en LOG-ODDS; se exponencia para interpretarlo: exp(0,9) ~ 2,46, es decir los odds se MULTIPLICAN por ~2,5 (no la probabilidad, y no es +90%). La traducción a probabilidad depende del nivel base, porque la sigmoide es no lineal: el mismo OR mueve mucho la probabilidad cerca de 0,5 y poco en los extremos. Es el error de lectura más frecuente y enlaza con la evidencia de los odds ratio del churn. [Min 16-19 — acumulado: 19/170]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Abrir el segundo acto, el núcleo del caso churn. Con la logística ajustada sobre Telco (7 043 clientes), se pasa de la probabilidad a dos decisiones de negocio: leer qué FACTORES mueven la fuga (odds ratio) y elegir el UMBRAL de acción según cuánto cuesta cada tipo de error. Fuente: INTERPRETACION. [Min 19-20 · acumulado: 20/170]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Núcleo de la interpretación. Leer el bosque de odds ratio: la FIBRA ÓPTICA tiene OR ~ 2,85 (casi triplica los odds de fuga frente al servicio base); el CONTRATO a dos años, OR ~ 0,18 (los baja a una quinta parte: protege), y cada año de ANTIGÜEDAD multiplica por 0,68 (a más tiempo, menos fuga). En rojo los significativos (p &lt; 0,05, intervalo que NO cruza 1); MonthlyCharges sale en gris (cruza 1, sin efecto detectable). Cada factor de riesgo sugiere una PALANCA de retención: migrar a contrato largo, reforzar el onboarding temprano. Salvedad: el OR es asociación condicional, no causa (el A/B de E1 la valida). Fuente: INTERPRETACION Secciones 1-2, Excel!churn_odds_ratio. [Min 20-25 · acumulado: 25/170]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Bajar de la probabilidad a la decisión concreta. Al fijar el umbral por defecto de 0,5, la matriz da VN = 918, FP = 115, FN = 159, VP = 215. Lo crítico en churn son los FALSOS NEGATIVOS: 159 clientes que se van y el modelo marca como «se quedan» -&gt; recall = 0,57, apenas más de la mitad de las 374 fugas. La exactitud global se ve alta solo porque la mayoría no se fuga: por eso NO se decide por exactitud. Un FN (perder un cliente sin avisar) cuesta mucho más que un FP (ofrecer retención a quien se quedaba); ese desbalance de costo justifica mover el umbral. Fuente: INTERPRETACION Sección 5, Excel!churn_confusion_umbral. [Min 25-29 · acumulado: 29/170]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El núcleo del entregable: el umbral por COSTO. Se asignan costos —C_FN = S/300 (valor de vida del cliente, CLV: el margen que aún aportaría durante su permanencia, margen anual x años de vida; NO «un cliente perdido» genérico) y C_FP = S/20 (contactar a quien se quedaba)— y se barre el umbral tabulando el costo esperado = C_FN*FN + C_FP*FP. El umbral óptimo teórico es t* = C_FP/(C_FP+C_FN) = 20/320 ~ 0,06, así que el mínimo empírico cae en 0,1: se marca «en riesgo» a mucha más gente para no perder fugas. NO se optimiza exactitud (favorecería predecir «nadie se va») ni se deja 0,5 «porque es lo normal»; el umbral se fija con validación, no mirando el test. CAVEAT: el costo es ESPERADO del error, no dinero ya ahorrado; supone que contactar retiene —la efectividad real, o save-rate, se valida con un A/B (detectar la fuga no es salvarla)—. Fuente: INTERPRETACION Sección 6. [Min 29-33 · acumulado: 33/170]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Anclar el «dato» de la decisión. Bajar el umbral de 0,5 a 0,1 sube el recall de 0,57 a 0,95 (se detectan 354 de 374 fugas, ~95%, frente a 215) y baja el costo esperado de S/50 000 a S/16 720, a cambio de más falsos positivos (536 contactos de retención, FN cae a 20). LÍMITE de negocio: esos 536 contactos son la CAPACIDAD que el equipo debe poder atender; y es costo ESPERADO del error, no un ahorro realizado (depende del save-rate de la retención, que se mide con un A/B). Mensaje operativo: el umbral es una PALANCA de política, no una constante; se elige según cuánto cuesta cada tipo de error. Cifra del Excel de resultados. [Min 33-36 — acumulado: 36/170]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Segunda pausa, para separar modelo de política. Guiar: mover el umbral NO cambia el modelo ni su AUC (el ordenamiento es el mismo); cambia la POLÍTICA de decisión —cuántos falsos negativos y falsos positivos se aceptan—. Bajar el umbral a 0,1 es decidir «es preferible contactar a varios que se quedaban antes que perder a uno que se iba», porque el FN cuesta 15 veces el FP. Es una decisión de NEGOCIO sobre el score, no una mejora técnica. El AUC evalúa el modelo; el umbral fija la acción. [Min 36-40 — acumulado: 40/170]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Salto del churn (moderadamente desbalanceado, 26,6% ~ 2,76:1) al fraude, donde la clase que importa es muy poco frecuente (0,17%). En fraude, enfermedad o impago la clase positiva es minúscula; ahí la exactitud induce a error y hay que cambiar de métrica. Este acto trabaja sobre resultados operativos ya validados sobre el dataset ULB. Fuente: DEFINICIONES. [Min 40-41 · acumulado: 41/170]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Cifra de apertura del caso fraude. Sobre el dataset ULB (284 807 transacciones, 492 fraudes = 0,17%), un clasificador trivial que predice «todo legítimo» obtiene exactitud 1,00 y recall de fraude EXACTAMENTE 0 (no detecta nada). Es la demostración canónica de la «paradoja de la exactitud»: en desbalance, el acierto global no sirve. Dejar la tensión abierta: hay que medir la clase rara con otras métricas. [Min 41-44 — acumulado: 44/170]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Las dos métricas que sí importan en desbalance, sobre la clase positiva (fraude). PRECISIÓN = VP/(VP+FP) = 0,85: de 107 alertas, 91 eran fraude real. RECALL = VP/(VP+FN) = 0,61: de 148 fraudes reales, se detectaron 91 (57 quedaron sin detectar). La precisión se liga al costo de las falsas alarmas; el recall, al de los fraudes no detectados. El negocio fija el peso de cada uno. Conteos EXACTOS del Excel!fraude_confusion. [Min 44-49 — acumulado: 49/170]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Misma logística base, dos lecturas. El ROC-AUC (0,957) permanece alto porque la tasa de falsos positivos se diluye entre ~284 000 legítimas. El PR-AUC / average precision (0,708) sí penaliza que muchas alertas sean falsas: es el número HONESTO en 99:1. Su línea base no es 0,5, sino la prevalencia (0,0017). En desbalance se compara y se elige por PR-AUC, no por exactitud ni por ROC-AUC. CAUTELA estadística: ese PR-AUC (0,708) se estima sobre ~148 fraudes del test, con intervalo ancho; diferencias de ~±0,04 entre modelos caen dentro del ruido muestral, así que se decide por el intervalo, no por el punto. Fuente: Saito &amp; Rehmsmeier (2015), Excel!fraude_metricas. [Min 49-53 — acumulado: 53/170]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Último acto. Con la métrica honesta fijada, toca actuar sobre el desbalance. La técnica de referencia es SMOTE (sobremuestreo sintético de la clase rara). Se verá su efecto real y por qué la decisión final es de negocio, no del modelo. Fuente: DEFINICIONES. [Min 53-54 · acumulado: 54/170]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El trade-off, en conteos exactos del test. BASE (umbral 0,5): VP=91, FN=57, FP=16 -&gt; recall 0,61, precisión 0,85. POST-SMOTE: VP=130, FN=18, FP=1 885 -&gt; el recall SUBE a 0,88 (se detectan más fraudes) pero la precisión CAE a 0,06 (muchas más falsas alarmas). No es una mejora sin costo: es una decisión de negocio. LA MATRIZ DE COSTO lo cierra en dinero: con C_FN = S/1 200 (fraude no detectado) y C_FP = S/3 (alerta revisada) —un FN cuesta 400x un FP—, el costo esperado del error baja de S/68 448 (base) a S/27 255 (SMOTE): aquí CONVIENE SMOTE, siempre que el equipo absorba las 1 885 alertas (capacidad); si bloquear tarjetas legítimas encareciera el FP, el resultado se invierte. ADVERTENCIA CRÍTICA: SMOTE se aplica SOLO al train; hacerlo antes del split es data leakage e infla las métricas (recall «99,9%» engañoso). Fuente: Chawla et al. (2002), Excel!fraude_confusion. [Min 54-59 — acumulado: 59/170]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Tercera pausa de discusión, sobre el umbral por costo aplicado al fraude (vínculo con el acto 2). Con la matriz de costo concreta —un fraude no detectado (S/1 200) cuesta ~400 veces revisar una alerta (S/3)— se baja el umbral para subir el recall aunque caiga la precisión: el costo esperado del error pasa de S/68 448 (base) a S/27 255 (SMOTE). La decisión es de NEGOCIO, no del modelo: depende del costo relativo de FN vs FP y de la capacidad del equipo. Cerrar con reproducibilidad: semilla, versiones y SMOTE solo en el train, todo documentado. [Min 59-63 — acumulado: 63/170]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Conectar la sesión con 2025-2026 (fuentes verificadas). RCR Wireless: las telcos usan IA para el churn (fuga real 15-30%) y la logística es la línea base. Nilson Report: el fraude con tarjeta costó US$33,41 mil millones en 2024 (proyección US$41 mil M a 2030) -&gt; el valor económico de acertar en la clase rara. Frontiers (Albalawi &amp; Dardouri, 08/10/2025): SMOTE lleva la logística a recall 100% / precisión 24% -&gt; el trade-off es real y la decisión es de negocio. Verificado en las fuentes de actualidad de la sesión. [Min 63-67 — acumulado: 67/170]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Bibliografía académica de la sesión. ISLR cap. 4 (statlearning.com, PDF libre) para la lectura conceptual de clasificación; Provost &amp; Fawcett (2013) cap. 7-8 para la evaluación de clasificadores y las curvas ROC/PR; Chawla et al. (2002) es el paper original de SMOTE. Las tres se retoman en el proyecto integrador EPE (fase de modelado). [Min 67-70 — acumulado: 70/170]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Presentar los pasos y lanzar el trabajo (parejas, entrega individual, todo en el cuaderno de Colab). Parte A (churn, ~50 min): preparar Telco, ajustar la logística, interpretar los odds ratio, evaluar con matriz/ROC/AUC y elegir el umbral por costo. Parte B (fraude, ~40 min): ver la paradoja de la exactitud, medir precisión/recall y PR-AUC, y comparar el modelo con y sin SMOTE. Guía en laboratorio/GUIA_LABORATORIO_E05.md; motor en el notebook; convención del curso: volcar a resultados/E05_resultados.xlsx y graficar LEYENDO ese Excel. Rúbrica vigesimal 0-20. [Presentación 70-74, trabajo en parejas 74-160, acumulado: 160/170]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GUION: Recapitular en una frase el arco de cuatro actos. PREDECIR —de la lineal a la logística: logit, odds y odds ratio; un coeficiente NO es probabilidad—; INTERPRETAR —la fibra óptica OR 2,85, el contrato a dos años OR 0,18, y el umbral por costo que baja hasta 0,1 (AUC 0,836)—; EVALUAR —la paradoja de la exactitud (99,83%) y el PR-AUC (0,708) como número honesto—; DECIDIR —SMOTE sube el recall a 0,88 pero la precisión cae de forma abrupta, y la decisión es de negocio—. Recordar el entregable (rúbrica 0-20) y aplicar el control corto. Despedir: sigue E6 (series y causalidad), hoy solo nombrada. [Min 160-170 — acumulado: 170/170]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olab.research.google.com/github/jonatanfigueroagil-creator/Herramientas-de-Ciencias-de-Datos/blob/master/Sesiones_EPE/E05_churn_fraude/notebook/EPE_S5_clasificacion.ipynb" TargetMode="Externa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00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640080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E4002B"/>
                </a:solidFill>
                <a:latin typeface="Calibri"/>
              </a:rPr>
              <a:t>E5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91840"/>
            <a:ext cx="9906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800" b="1">
                <a:solidFill>
                  <a:srgbClr val="FFFFFF"/>
                </a:solidFill>
                <a:latin typeface="Calibri"/>
              </a:rPr>
              <a:t>Del dato a la decisión: predecir churn y fraude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94960"/>
            <a:ext cx="990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FCEDEE"/>
                </a:solidFill>
                <a:latin typeface="Calibri"/>
              </a:rPr>
              <a:t>Regresión logística, odds ratio, umbral por costo y clases desbalanceadas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109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CEDEE"/>
                </a:solidFill>
                <a:latin typeface="Calibri"/>
              </a:rPr>
              <a:t>Herramientas para la Ciencia de Datos, UPC, Facultad de Negocios</a:t>
            </a:r>
          </a:p>
        </p:txBody>
      </p:sp>
      <p:sp>
        <p:nvSpPr>
          <p:cNvPr id="6" name="Rounded Rectangle 5">
            <a:hlinkClick r:id="rId2"/>
          </p:cNvPr>
          <p:cNvSpPr/>
          <p:nvPr/>
        </p:nvSpPr>
        <p:spPr>
          <a:xfrm>
            <a:off x="8549640" y="502920"/>
            <a:ext cx="3154680" cy="475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4002B"/>
                </a:solidFill>
              </a:rPr>
              <a:t>▶  Abrir en Google Colab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MAPA DE LA SESIÓN — LOS CUATRO ACTOS Y SUS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En cuatro actos: del churn al fraude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249936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it-branch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462" y="2282341"/>
            <a:ext cx="281636" cy="2816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2926079"/>
            <a:ext cx="204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Predecir el sí o el 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11879"/>
            <a:ext cx="2042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La sigmoide: de un score a probabilidad.
Logit, odds y odds ratio.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303519"/>
            <a:ext cx="2042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Min 4-19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3760" y="1874519"/>
            <a:ext cx="249936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4236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gauge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1582" y="2282341"/>
            <a:ext cx="281636" cy="2816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42360" y="2926079"/>
            <a:ext cx="204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Leer los odds y elegir el umbral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360" y="3611879"/>
            <a:ext cx="2042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exp(b): la fibra triplica los odds.
El umbral que minimiza el costo.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2360" y="5303519"/>
            <a:ext cx="2042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Min 19-40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880" y="1874519"/>
            <a:ext cx="249936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0748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triangle-alert_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702" y="2282341"/>
            <a:ext cx="281636" cy="2816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07480" y="2926079"/>
            <a:ext cx="204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Cuando la clase casi no existe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480" y="3611879"/>
            <a:ext cx="2042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Fraude 99:1: la exactitud induce a error.
Precisión, recall y ROC-AUC.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480" y="5303519"/>
            <a:ext cx="2042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Min 40-53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1874519"/>
            <a:ext cx="249936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7260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award_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1822" y="2282341"/>
            <a:ext cx="281636" cy="28163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372600" y="2926079"/>
            <a:ext cx="204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Tratar el desbalance y decidir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3611879"/>
            <a:ext cx="2042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SMOTE: sube el recall, cae la precisión.
El trade-off y la recomendación.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5303519"/>
            <a:ext cx="2042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B1B30"/>
                </a:solidFill>
                <a:latin typeface="Calibri"/>
              </a:rPr>
              <a:t>Min 53-70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58200" y="301752"/>
            <a:ext cx="3200400" cy="402336"/>
          </a:xfrm>
          <a:prstGeom prst="roundRect">
            <a:avLst/>
          </a:prstGeom>
          <a:solidFill>
            <a:srgbClr val="FCEDEE"/>
          </a:solidFill>
          <a:ln w="15875">
            <a:solidFill>
              <a:srgbClr val="E40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300" b="1">
                <a:solidFill>
                  <a:srgbClr val="9B1B30"/>
                </a:solidFill>
                <a:latin typeface="Calibri"/>
              </a:rPr>
              <a:t>▶  Notebook, Índice, celda 0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E5 — Herramientas para la Ciencia de Datos, UPC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2 /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2103120"/>
            <a:ext cx="2377440" cy="2377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0" b="1">
                <a:solidFill>
                  <a:srgbClr val="9B1B30"/>
                </a:solidFill>
                <a:latin typeface="Calibri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2651760"/>
            <a:ext cx="7589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Predecir el sí o el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3977639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CEDEE"/>
                </a:solidFill>
                <a:latin typeface="Calibri"/>
              </a:rPr>
              <a:t>De la cantidad a la probabilidad entre 0 y 1</a:t>
            </a:r>
          </a:p>
        </p:txBody>
      </p:sp>
      <p:pic>
        <p:nvPicPr>
          <p:cNvPr id="5" name="Picture 4" descr="git-branch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64008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58521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0" b="1">
                <a:solidFill>
                  <a:srgbClr val="E4002B"/>
                </a:solidFill>
                <a:latin typeface="Calibri"/>
              </a:rPr>
              <a:t>26,6%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0" y="228600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D2D2D"/>
                </a:solidFill>
                <a:latin typeface="Calibri"/>
              </a:rPr>
              <a:t>Uno de cada cuatro clientes se fuga cada año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3749039"/>
            <a:ext cx="48463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E6E6E"/>
                </a:solidFill>
                <a:latin typeface="Calibri"/>
              </a:rPr>
              <a:t>El reto no es contar la fuga, sino señalar a quién se irá antes de que cancele: ahí empieza la regresión logística.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70448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E6E6E"/>
                </a:solidFill>
                <a:latin typeface="Calibri"/>
              </a:rPr>
              <a:t>resultados/E05_resultados.xlsx (churn_metricas) · Telco (7 043 clientes).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E5 — Herramientas para la Ciencia de Datos, UPC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4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2103120"/>
            <a:ext cx="2377440" cy="2377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0" b="1">
                <a:solidFill>
                  <a:srgbClr val="9B1B30"/>
                </a:solidFill>
                <a:latin typeface="Calibri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2651760"/>
            <a:ext cx="7589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Predecir el sí o el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3977639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CEDEE"/>
                </a:solidFill>
                <a:latin typeface="Calibri"/>
              </a:rPr>
              <a:t>De la cantidad a la probabilidad entre 0 y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REGRESIÓN LOGÍSTICA · MODELA LA PROBABILIDAD DE UN SÍ/NO, ACOTADA A (0, 1) · DEFINICIONES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La sigmoide convierte un score en una probabilidad</a:t>
            </a:r>
          </a:p>
        </p:txBody>
      </p:sp>
      <p:pic>
        <p:nvPicPr>
          <p:cNvPr id="4" name="Picture 3" descr="demo_sigmo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328954" cy="388620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7955279" y="2011680"/>
            <a:ext cx="548640" cy="5486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ightbulb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898" y="2165299"/>
            <a:ext cx="241402" cy="2414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B1B30"/>
                </a:solidFill>
                <a:latin typeface="Calibri"/>
              </a:rPr>
              <a:t>Lectura de negocio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880360"/>
            <a:ext cx="36576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D2D2D"/>
                </a:solidFill>
                <a:latin typeface="Calibri"/>
              </a:rPr>
              <a:t>El logit modela una recta; la sigmoide la devuelve entre 0 y 1. En el centro del score, la probabilidad es 0,5.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61888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Calibri"/>
              </a:rPr>
              <a:t>figuras/demo_sigmoide.png · laboratorio E5.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E5 — Herramientas para la Ciencia de Datos, UPC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6 /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EL VOCABULARIO DEL RIESGO · DEFINICIONES · NAIVE BAYES / LDA-QDA / GLM: SOLO MENCIÓN (EPE)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Logit, odds y odds ratio: el lenguaje del riesgo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2261616"/>
            <a:ext cx="658368" cy="65836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rending-up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983" y="2445959"/>
            <a:ext cx="289682" cy="2896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08760" y="1938528"/>
            <a:ext cx="10134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Logit = ln(odds)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395728"/>
            <a:ext cx="10134600" cy="883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D2D2D"/>
                </a:solidFill>
                <a:latin typeface="Calibri"/>
              </a:rPr>
              <a:t>Lleva la probabilidad al eje real; la logística lo modela como una recta.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785616"/>
            <a:ext cx="658368" cy="65836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gauge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983" y="3969959"/>
            <a:ext cx="289682" cy="28968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08760" y="3462528"/>
            <a:ext cx="10134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Odds = p / (1 - 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919728"/>
            <a:ext cx="10134600" cy="883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D2D2D"/>
                </a:solidFill>
                <a:latin typeface="Calibri"/>
              </a:rPr>
              <a:t>El lenguaje de las apuestas: odds de 3 a 1 equivalen a una probabilidad de 0,75.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309616"/>
            <a:ext cx="658368" cy="65836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git-branch_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983" y="5493959"/>
            <a:ext cx="289682" cy="28968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508760" y="4986528"/>
            <a:ext cx="10134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Odds ratio = exp(b)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5443728"/>
            <a:ext cx="10134600" cy="883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D2D2D"/>
                </a:solidFill>
                <a:latin typeface="Calibri"/>
              </a:rPr>
              <a:t>Cuánto se multiplican los odds por unidad; mayor que 1 aumenta la fuga, menor protege.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E5 — Herramientas para la Ciencia de Datos, UPC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7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D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93080" y="914400"/>
            <a:ext cx="1005840" cy="10058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9448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9B1B30"/>
                </a:solidFill>
                <a:latin typeface="Calibri"/>
              </a:rPr>
              <a:t>¿Un coeficiente de 0,9 significa un 90% más de probabilidad?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4754880"/>
            <a:ext cx="8168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2D2D2D"/>
                </a:solidFill>
                <a:latin typeface="Calibri"/>
              </a:rPr>
              <a:t>Discusión en parejas (2 min): el coeficiente vive en log-odds. ¿Se lee como probabilidad, como odds o como odds ratio?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2103120"/>
            <a:ext cx="2377440" cy="2377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0" b="1">
                <a:solidFill>
                  <a:srgbClr val="9B1B30"/>
                </a:solidFill>
                <a:latin typeface="Calibr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2651760"/>
            <a:ext cx="7589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Leer los odds y elegir el umbral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3977639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CEDEE"/>
                </a:solidFill>
                <a:latin typeface="Calibri"/>
              </a:rPr>
              <a:t>Interpretar exp(b) y decidir según el costo del error</a:t>
            </a:r>
          </a:p>
        </p:txBody>
      </p:sp>
      <p:pic>
        <p:nvPicPr>
          <p:cNvPr id="5" name="Picture 4" descr="gauge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64008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ODDS RATIO = EXP(B) · ROJO = SIGNIFICATIVO (P &lt; 0,05)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La fibra óptica casi triplica los odds de fuga</a:t>
            </a:r>
          </a:p>
        </p:txBody>
      </p:sp>
      <p:pic>
        <p:nvPicPr>
          <p:cNvPr id="4" name="Picture 3" descr="churn_odds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949440" cy="3634513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7955279" y="2011680"/>
            <a:ext cx="548640" cy="5486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ightbulb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898" y="2165299"/>
            <a:ext cx="241402" cy="2414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B1B30"/>
                </a:solidFill>
                <a:latin typeface="Calibri"/>
              </a:rPr>
              <a:t>Lectura de negocio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880360"/>
            <a:ext cx="36576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D2D2D"/>
                </a:solidFill>
                <a:latin typeface="Calibri"/>
              </a:rPr>
              <a:t>La fibra óptica multiplica por 2,85 los odds de fuga; el contrato a dos años los baja a 0,18.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61888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Calibri"/>
              </a:rPr>
              <a:t>resultados/E05_resultados.xlsx (churn_odds_ratio) · Telco, regresión logística.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E5 — Herramientas para la Ciencia de Datos, UPC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10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MATRIZ DE CONFUSIÓN · CRUZA CLASE REAL Y PREDICHA EN VN, FP, FN Y VP · DEFINICIONES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En el umbral 0,5 no se detectan 159 fugas reales</a:t>
            </a:r>
          </a:p>
        </p:txBody>
      </p:sp>
      <p:pic>
        <p:nvPicPr>
          <p:cNvPr id="4" name="Picture 3" descr="churn_matriz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4884551" cy="388620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7955279" y="2011680"/>
            <a:ext cx="548640" cy="5486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ightbulb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898" y="2165299"/>
            <a:ext cx="241402" cy="2414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B1B30"/>
                </a:solidFill>
                <a:latin typeface="Calibri"/>
              </a:rPr>
              <a:t>Lectura de negocio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880360"/>
            <a:ext cx="36576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D2D2D"/>
                </a:solidFill>
                <a:latin typeface="Calibri"/>
              </a:rPr>
              <a:t>El modelo (AUC 0,836) acierta 918 y 215, pero deja sin detectar 159 fugas: recall de solo 0,57.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61888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Calibri"/>
              </a:rPr>
              <a:t>resultados/E05_resultados.xlsx (churn_confusion_umbral, umbral 0,5).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E5 — Herramientas para la Ciencia de Datos, UPC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11 /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UMBRAL POR COSTO · SE ELIGE EL CORTE QUE MINIMIZA C_FN·FN + C_FP·FP · DEFINICIONES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El umbral que minimiza el costo baja hasta 0,1</a:t>
            </a:r>
          </a:p>
        </p:txBody>
      </p:sp>
      <p:pic>
        <p:nvPicPr>
          <p:cNvPr id="4" name="Picture 3" descr="churn_costo_umb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383033" cy="388620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7955279" y="2011680"/>
            <a:ext cx="548640" cy="5486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ightbulb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898" y="2165299"/>
            <a:ext cx="241402" cy="2414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B1B30"/>
                </a:solidFill>
                <a:latin typeface="Calibri"/>
              </a:rPr>
              <a:t>Lectura de negocio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880360"/>
            <a:ext cx="36576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D2D2D"/>
                </a:solidFill>
                <a:latin typeface="Calibri"/>
              </a:rPr>
              <a:t>Con un falso negativo 15 veces más caro que un falso positivo, el costo mínimo cae en el umbral 0,1, no en 0,5.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61888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Calibri"/>
              </a:rPr>
              <a:t>resultados/E05_resultados.xlsx (churn_confusion_umbral; C_FN = S/300, C_FP = S/20).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E5 — Herramientas para la Ciencia de Datos, UPC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12 /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58521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0" b="1">
                <a:solidFill>
                  <a:srgbClr val="E4002B"/>
                </a:solidFill>
                <a:latin typeface="Calibri"/>
              </a:rPr>
              <a:t>S/16 720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0" y="228600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D2D2D"/>
                </a:solidFill>
                <a:latin typeface="Calibri"/>
              </a:rPr>
              <a:t>El umbral por costo recorta el costo esperado del error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3749039"/>
            <a:ext cx="48463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E6E6E"/>
                </a:solidFill>
                <a:latin typeface="Calibri"/>
              </a:rPr>
              <a:t>Baja el costo esperado de S/50 000 a S/16 720 y sube el recall de 0,57 a 0,95: detecta 354 de 374 fugas.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70448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E6E6E"/>
                </a:solidFill>
                <a:latin typeface="Calibri"/>
              </a:rPr>
              <a:t>resultados/E05_resultados.xlsx (churn_confusion_umbral; C_FN = S/300, C_FP = S/20).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E5 — Herramientas para la Ciencia de Datos, UPC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13 /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D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93080" y="914400"/>
            <a:ext cx="1005840" cy="10058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9448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9B1B30"/>
                </a:solidFill>
                <a:latin typeface="Calibri"/>
              </a:rPr>
              <a:t>¿Mover el umbral mejora el modelo o cambia la política?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4754880"/>
            <a:ext cx="8168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2D2D2D"/>
                </a:solidFill>
                <a:latin typeface="Calibri"/>
              </a:rPr>
              <a:t>Discusión (3 min): el AUC no cambia al mover el umbral. ¿Qué se decide realmente al bajarlo hasta 0,1?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2103120"/>
            <a:ext cx="2377440" cy="2377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0" b="1">
                <a:solidFill>
                  <a:srgbClr val="9B1B30"/>
                </a:solidFill>
                <a:latin typeface="Calibri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2651760"/>
            <a:ext cx="7589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Cuando la clase casi no existe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3977639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CEDEE"/>
                </a:solidFill>
                <a:latin typeface="Calibri"/>
              </a:rPr>
              <a:t>El desbalance de clases y la paradoja de la exactitud</a:t>
            </a:r>
          </a:p>
        </p:txBody>
      </p:sp>
      <p:pic>
        <p:nvPicPr>
          <p:cNvPr id="5" name="Picture 4" descr="triangle-alert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64008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58521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0" b="1">
                <a:solidFill>
                  <a:srgbClr val="E4002B"/>
                </a:solidFill>
                <a:latin typeface="Calibri"/>
              </a:rPr>
              <a:t>99,83%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0" y="228600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D2D2D"/>
                </a:solidFill>
                <a:latin typeface="Calibri"/>
              </a:rPr>
              <a:t>Una exactitud que no detecta un solo fraude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3749039"/>
            <a:ext cx="48463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E6E6E"/>
                </a:solidFill>
                <a:latin typeface="Calibri"/>
              </a:rPr>
              <a:t>Un modelo que siempre predice «legítima» acierta el 99,83% y detecta 0 de 492 fraudes. La exactitud induce a error cuando una clase es rara.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70448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E6E6E"/>
                </a:solidFill>
                <a:latin typeface="Calibri"/>
              </a:rPr>
              <a:t>resultados/E05_resultados.xlsx (fraude_metricas) · 1 - 492/284 807 · dataset ULB.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E5 — Herramientas para la Ciencia de Datos, UPC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16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DEFINICIÓN · SCIKIT-LEARN (METRICS) · CLASE POSITIVA = FRAUDE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La precisión mide alarmas; el recall mide fraudes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874519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9B1B30"/>
                </a:solidFill>
                <a:latin typeface="Calibri"/>
              </a:rPr>
              <a:t>Precisión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606040"/>
            <a:ext cx="5202936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400">
                <a:solidFill>
                  <a:srgbClr val="2D2D2D"/>
                </a:solidFill>
                <a:latin typeface="Calibri"/>
              </a:rPr>
              <a:t>VP / (VP + FP)</a:t>
            </a:r>
          </a:p>
          <a:p>
            <a:pPr algn="l">
              <a:spcAft>
                <a:spcPts val="900"/>
              </a:spcAft>
            </a:pPr>
            <a:r>
              <a:rPr sz="1400">
                <a:solidFill>
                  <a:srgbClr val="2D2D2D"/>
                </a:solidFill>
                <a:latin typeface="Calibri"/>
              </a:rPr>
              <a:t>¿Cuántas alertas eran fraude?</a:t>
            </a:r>
          </a:p>
          <a:p>
            <a:pPr algn="l">
              <a:spcAft>
                <a:spcPts val="900"/>
              </a:spcAft>
            </a:pPr>
            <a:r>
              <a:rPr sz="1400">
                <a:solidFill>
                  <a:srgbClr val="2D2D2D"/>
                </a:solidFill>
                <a:latin typeface="Calibri"/>
              </a:rPr>
              <a:t>Base: 0,85 → 91 de 107</a:t>
            </a:r>
          </a:p>
          <a:p>
            <a:pPr algn="l">
              <a:spcAft>
                <a:spcPts val="900"/>
              </a:spcAft>
            </a:pPr>
            <a:r>
              <a:rPr sz="1400">
                <a:solidFill>
                  <a:srgbClr val="2D2D2D"/>
                </a:solidFill>
                <a:latin typeface="Calibri"/>
              </a:rPr>
              <a:t>Sube al bajar falsas alarmas</a:t>
            </a:r>
          </a:p>
        </p:txBody>
      </p:sp>
      <p:sp>
        <p:nvSpPr>
          <p:cNvPr id="7" name="Oval 6"/>
          <p:cNvSpPr/>
          <p:nvPr/>
        </p:nvSpPr>
        <p:spPr>
          <a:xfrm>
            <a:off x="6309360" y="1828800"/>
            <a:ext cx="457200" cy="45720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1874519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9B1B30"/>
                </a:solidFill>
                <a:latin typeface="Calibri"/>
              </a:rPr>
              <a:t>Recall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2512" y="2606040"/>
            <a:ext cx="5202936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400">
                <a:solidFill>
                  <a:srgbClr val="2D2D2D"/>
                </a:solidFill>
                <a:latin typeface="Calibri"/>
              </a:rPr>
              <a:t>VP / (VP + FN)</a:t>
            </a:r>
          </a:p>
          <a:p>
            <a:pPr algn="l">
              <a:spcAft>
                <a:spcPts val="900"/>
              </a:spcAft>
            </a:pPr>
            <a:r>
              <a:rPr sz="1400">
                <a:solidFill>
                  <a:srgbClr val="2D2D2D"/>
                </a:solidFill>
                <a:latin typeface="Calibri"/>
              </a:rPr>
              <a:t>¿Cuántos fraudes se detectaron?</a:t>
            </a:r>
          </a:p>
          <a:p>
            <a:pPr algn="l">
              <a:spcAft>
                <a:spcPts val="900"/>
              </a:spcAft>
            </a:pPr>
            <a:r>
              <a:rPr sz="1400">
                <a:solidFill>
                  <a:srgbClr val="2D2D2D"/>
                </a:solidFill>
                <a:latin typeface="Calibri"/>
              </a:rPr>
              <a:t>Base: 0,61 → 91 de 148</a:t>
            </a:r>
          </a:p>
          <a:p>
            <a:pPr algn="l">
              <a:spcAft>
                <a:spcPts val="900"/>
              </a:spcAft>
            </a:pPr>
            <a:r>
              <a:rPr sz="1400">
                <a:solidFill>
                  <a:srgbClr val="2D2D2D"/>
                </a:solidFill>
                <a:latin typeface="Calibri"/>
              </a:rPr>
              <a:t>Sube al detectar más fraudes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E5 — Herramientas para la Ciencia de Datos, UPC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17 /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PR-AUC VS ROC-AUC · SAITO &amp; REHMSMEIER (2015)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El ROC dice 0,957 pero el PR-AUC dice 0,708</a:t>
            </a:r>
          </a:p>
        </p:txBody>
      </p:sp>
      <p:pic>
        <p:nvPicPr>
          <p:cNvPr id="4" name="Picture 3" descr="fraude_roc_vs_p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949440" cy="3827802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7955279" y="2011680"/>
            <a:ext cx="548640" cy="5486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ightbulb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898" y="2165299"/>
            <a:ext cx="241402" cy="2414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B1B30"/>
                </a:solidFill>
                <a:latin typeface="Calibri"/>
              </a:rPr>
              <a:t>Lectura de negocio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880360"/>
            <a:ext cx="36576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D2D2D"/>
                </a:solidFill>
                <a:latin typeface="Calibri"/>
              </a:rPr>
              <a:t>El ROC-AUC resulta alto porque los falsos positivos se diluyen entre 284 000 legítimas; el PR-AUC (0,708) es el número honesto.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61888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Calibri"/>
              </a:rPr>
              <a:t>resultados/E05_resultados.xlsx (fraude_metricas) · logística base, dataset ULB.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E5 — Herramientas para la Ciencia de Datos, UPC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18 /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2103120"/>
            <a:ext cx="2377440" cy="2377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0" b="1">
                <a:solidFill>
                  <a:srgbClr val="9B1B30"/>
                </a:solidFill>
                <a:latin typeface="Calibri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0" y="2651760"/>
            <a:ext cx="7589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Tratar el desbalance y decidir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3977639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CEDEE"/>
                </a:solidFill>
                <a:latin typeface="Calibri"/>
              </a:rPr>
              <a:t>SMOTE, el trade-off recall-precisión y la recomendación</a:t>
            </a:r>
          </a:p>
        </p:txBody>
      </p:sp>
      <p:pic>
        <p:nvPicPr>
          <p:cNvPr id="5" name="Picture 4" descr="award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64008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SMOTE = SOBREMUESTREO SINTÉTICO DE LA CLASE RARA, SOLO EN EL TRAIN · CHAWLA ET AL. (2002)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SMOTE sube el recall a costa de la precisión</a:t>
            </a:r>
          </a:p>
        </p:txBody>
      </p:sp>
      <p:pic>
        <p:nvPicPr>
          <p:cNvPr id="4" name="Picture 3" descr="fraude_precision_recall_sm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949440" cy="3771064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7955279" y="2011680"/>
            <a:ext cx="548640" cy="5486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ightbulb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898" y="2165299"/>
            <a:ext cx="241402" cy="2414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B1B30"/>
                </a:solidFill>
                <a:latin typeface="Calibri"/>
              </a:rPr>
              <a:t>Lectura de negocio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880360"/>
            <a:ext cx="36576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D2D2D"/>
                </a:solidFill>
                <a:latin typeface="Calibri"/>
              </a:rPr>
              <a:t>Con SMOTE se detectan 130 de 148 fraudes (recall 0,61→0,88), pero las falsas alarmas aumentan de 16 a 1 885.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61888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Calibri"/>
              </a:rPr>
              <a:t>resultados/E05_resultados.xlsx (fraude_metricas / fraude_confusion).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E5 — Herramientas para la Ciencia de Datos, UPC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20 /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D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93080" y="914400"/>
            <a:ext cx="1005840" cy="100584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9448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9B1B30"/>
                </a:solidFill>
                <a:latin typeface="Calibri"/>
              </a:rPr>
              <a:t>¿Cuánto recall vale sacrificar si un fraude cuesta 400 veces una alerta?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4754880"/>
            <a:ext cx="8168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2D2D2D"/>
                </a:solidFill>
                <a:latin typeface="Calibri"/>
              </a:rPr>
              <a:t>Discusión (3 min): un fraude no detectado pesa más que una falsa alarma. ¿Quién fija el balance, el modelo o el negocio?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ACTUALIDAD 2025-2026 — FUENTES_ACTUALIDAD_E05.MD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La industria paga caro cada fraude no detectado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810512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Las telcos usan IA para predecir y prevenir la fuga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93976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RCR Wireless — 16/12/2025  —  la logística es la línea base del churn (fuga 15-30%)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06624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79192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El fraude con tarjeta costó US$33,41 mil millones en 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0088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Nilson Report — 07/01/2026  —  cada punto de recall vale millones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602736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75304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SMOTE lleva el recall a 100% y la precisión a 24%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86200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Frontiers in AI — 08/10/2025  —  el trade-off es una decisión de negocio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E5 — Herramientas para la Ciencia de Datos, UPC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22 /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BIBLIOGRAFÍA · la ficha de la sesión de la sesiónCIÓN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Tres lecturas anclan la logística y el desbalance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810512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An Introduction to Statistical Learning, cap.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93976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James, Witten, Hastie &amp; Tibshirani (2021)  —  de la lineal a la logística y a la evaluación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06624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79192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Data Science for Business, cap. 7-8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0088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Provost &amp; Fawcett (2013)  —  evaluación de clasificadores y curvas ROC/PR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602736"/>
            <a:ext cx="384048" cy="384048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75304"/>
            <a:ext cx="1054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Calibri"/>
              </a:rPr>
              <a:t>SMOTE — sobremuestreo sintético de la clase rara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86200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Chawla et al. (2002), JAIR 16  —  tratar el desbalance sin inventar datos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E5 — Herramientas para la Ciencia de Datos, UPC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23 /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El laboratorio modela la fuga y decide sobre el fraude</a:t>
            </a:r>
          </a:p>
        </p:txBody>
      </p:sp>
      <p:sp>
        <p:nvSpPr>
          <p:cNvPr id="3" name="Rectangle 2"/>
          <p:cNvSpPr/>
          <p:nvPr/>
        </p:nvSpPr>
        <p:spPr>
          <a:xfrm>
            <a:off x="1473200" y="2802255"/>
            <a:ext cx="9245600" cy="1905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0300" y="2468880"/>
            <a:ext cx="685800" cy="68580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3319272"/>
            <a:ext cx="170281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D2D2D"/>
                </a:solidFill>
                <a:latin typeface="Calibri"/>
              </a:rPr>
              <a:t>Preparar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3931920"/>
            <a:ext cx="170281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E6E6E"/>
                </a:solidFill>
                <a:latin typeface="Calibri"/>
              </a:rPr>
              <a:t>Telco: limpiar y codificar</a:t>
            </a:r>
          </a:p>
        </p:txBody>
      </p:sp>
      <p:sp>
        <p:nvSpPr>
          <p:cNvPr id="7" name="Oval 6"/>
          <p:cNvSpPr/>
          <p:nvPr/>
        </p:nvSpPr>
        <p:spPr>
          <a:xfrm>
            <a:off x="2979420" y="2468880"/>
            <a:ext cx="685800" cy="685800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70912" y="3319272"/>
            <a:ext cx="170281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D2D2D"/>
                </a:solidFill>
                <a:latin typeface="Calibri"/>
              </a:rPr>
              <a:t>Ajustar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70912" y="3931920"/>
            <a:ext cx="170281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E6E6E"/>
                </a:solidFill>
                <a:latin typeface="Calibri"/>
              </a:rPr>
              <a:t>Logística de churn</a:t>
            </a:r>
          </a:p>
        </p:txBody>
      </p:sp>
      <p:sp>
        <p:nvSpPr>
          <p:cNvPr id="10" name="Oval 9"/>
          <p:cNvSpPr/>
          <p:nvPr/>
        </p:nvSpPr>
        <p:spPr>
          <a:xfrm>
            <a:off x="4828540" y="2468880"/>
            <a:ext cx="685800" cy="68580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32" y="3319272"/>
            <a:ext cx="170281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D2D2D"/>
                </a:solidFill>
                <a:latin typeface="Calibri"/>
              </a:rPr>
              <a:t>Umbral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32" y="3931920"/>
            <a:ext cx="170281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E6E6E"/>
                </a:solidFill>
                <a:latin typeface="Calibri"/>
              </a:rPr>
              <a:t>Barrido por costo</a:t>
            </a:r>
          </a:p>
        </p:txBody>
      </p:sp>
      <p:sp>
        <p:nvSpPr>
          <p:cNvPr id="13" name="Oval 12"/>
          <p:cNvSpPr/>
          <p:nvPr/>
        </p:nvSpPr>
        <p:spPr>
          <a:xfrm>
            <a:off x="6677660" y="2468880"/>
            <a:ext cx="685800" cy="685800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69152" y="3319272"/>
            <a:ext cx="170281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D2D2D"/>
                </a:solidFill>
                <a:latin typeface="Calibri"/>
              </a:rPr>
              <a:t>Evaluar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9152" y="3931920"/>
            <a:ext cx="170281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E6E6E"/>
                </a:solidFill>
                <a:latin typeface="Calibri"/>
              </a:rPr>
              <a:t>Matriz, ROC y PR-AUC</a:t>
            </a:r>
          </a:p>
        </p:txBody>
      </p:sp>
      <p:sp>
        <p:nvSpPr>
          <p:cNvPr id="16" name="Oval 15"/>
          <p:cNvSpPr/>
          <p:nvPr/>
        </p:nvSpPr>
        <p:spPr>
          <a:xfrm>
            <a:off x="8526780" y="2468880"/>
            <a:ext cx="685800" cy="68580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8272" y="3319272"/>
            <a:ext cx="170281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D2D2D"/>
                </a:solidFill>
                <a:latin typeface="Calibri"/>
              </a:rPr>
              <a:t>SMOTE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8272" y="3931920"/>
            <a:ext cx="170281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E6E6E"/>
                </a:solidFill>
                <a:latin typeface="Calibri"/>
              </a:rPr>
              <a:t>Fraude con y sin</a:t>
            </a:r>
          </a:p>
        </p:txBody>
      </p:sp>
      <p:sp>
        <p:nvSpPr>
          <p:cNvPr id="19" name="Oval 18"/>
          <p:cNvSpPr/>
          <p:nvPr/>
        </p:nvSpPr>
        <p:spPr>
          <a:xfrm>
            <a:off x="10375900" y="2468880"/>
            <a:ext cx="685800" cy="685800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67392" y="3319272"/>
            <a:ext cx="170281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D2D2D"/>
                </a:solidFill>
                <a:latin typeface="Calibri"/>
              </a:rPr>
              <a:t>Recomendar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67392" y="3931920"/>
            <a:ext cx="170281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E6E6E"/>
                </a:solidFill>
                <a:latin typeface="Calibri"/>
              </a:rPr>
              <a:t>Acción en una frase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E5 — Herramientas para la Ciencia de Datos, UPC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24 /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B1B30"/>
                </a:solidFill>
                <a:latin typeface="Calibri"/>
              </a:rP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Calibri"/>
              </a:rPr>
              <a:t>El entregable predice la fuga y lee el fraude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345440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26079"/>
            <a:ext cx="2997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Entregable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11879"/>
            <a:ext cx="2997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Clasificador de churn (odds ratio, ROC/AUC y umbral por costo) y lectura del fraude (PR-AUC, precisión/recall, SMOTE) con recomendación. Rúbrica 0-20.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8800" y="1874519"/>
            <a:ext cx="345440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9740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7400" y="2926079"/>
            <a:ext cx="2997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Evaluación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7400" y="3611879"/>
            <a:ext cx="2997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Control corto al cierre; los drills practican el odds ratio, el umbral por costo y el efecto de SMOTE.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8960" y="1874519"/>
            <a:ext cx="3454400" cy="4114800"/>
          </a:xfrm>
          <a:prstGeom prst="roundRect">
            <a:avLst/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7560" y="2103119"/>
            <a:ext cx="640080" cy="640080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7560" y="2926079"/>
            <a:ext cx="2997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B1B30"/>
                </a:solidFill>
                <a:latin typeface="Calibri"/>
              </a:rPr>
              <a:t>Próxima sesión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7560" y="3611879"/>
            <a:ext cx="2997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D2D2D"/>
                </a:solidFill>
                <a:latin typeface="Calibri"/>
              </a:rPr>
              <a:t>E6 — Series temporales y análisis causal: del patrón de hoy al tiempo y al efecto. Hoy solo se nombra.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6473952"/>
            <a:ext cx="100584" cy="100584"/>
          </a:xfrm>
          <a:prstGeom prst="ellipse">
            <a:avLst/>
          </a:prstGeom>
          <a:solidFill>
            <a:srgbClr val="E40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643737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Calibri"/>
              </a:rPr>
              <a:t>E5 — Herramientas para la Ciencia de Datos, UPC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320" y="643737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Calibri"/>
              </a:rPr>
              <a:t>25 /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